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6.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7.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8.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9.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10.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54" r:id="rId5"/>
    <p:sldMasterId id="2147483657" r:id="rId6"/>
    <p:sldMasterId id="2147483660" r:id="rId7"/>
    <p:sldMasterId id="2147483665" r:id="rId8"/>
    <p:sldMasterId id="2147483674" r:id="rId9"/>
    <p:sldMasterId id="2147483678" r:id="rId10"/>
    <p:sldMasterId id="2147483714" r:id="rId11"/>
    <p:sldMasterId id="2147483721" r:id="rId12"/>
    <p:sldMasterId id="2147483726" r:id="rId13"/>
    <p:sldMasterId id="2147483767" r:id="rId14"/>
  </p:sldMasterIdLst>
  <p:notesMasterIdLst>
    <p:notesMasterId r:id="rId54"/>
  </p:notesMasterIdLst>
  <p:sldIdLst>
    <p:sldId id="4481" r:id="rId15"/>
    <p:sldId id="4480" r:id="rId16"/>
    <p:sldId id="2076136252" r:id="rId17"/>
    <p:sldId id="2076136292" r:id="rId18"/>
    <p:sldId id="2076136265" r:id="rId19"/>
    <p:sldId id="2076136266" r:id="rId20"/>
    <p:sldId id="2076136253" r:id="rId21"/>
    <p:sldId id="1762" r:id="rId22"/>
    <p:sldId id="2076136262" r:id="rId23"/>
    <p:sldId id="2076136282" r:id="rId24"/>
    <p:sldId id="2076136269" r:id="rId25"/>
    <p:sldId id="2076136254" r:id="rId26"/>
    <p:sldId id="2076136261" r:id="rId27"/>
    <p:sldId id="2076136274" r:id="rId28"/>
    <p:sldId id="2076136260" r:id="rId29"/>
    <p:sldId id="2076136283" r:id="rId30"/>
    <p:sldId id="2076136273" r:id="rId31"/>
    <p:sldId id="2076136284" r:id="rId32"/>
    <p:sldId id="2076136276" r:id="rId33"/>
    <p:sldId id="2076136285" r:id="rId34"/>
    <p:sldId id="2076136286" r:id="rId35"/>
    <p:sldId id="2076136275" r:id="rId36"/>
    <p:sldId id="2076136278" r:id="rId37"/>
    <p:sldId id="2076136277" r:id="rId38"/>
    <p:sldId id="2076136287" r:id="rId39"/>
    <p:sldId id="2076136288" r:id="rId40"/>
    <p:sldId id="2076136289" r:id="rId41"/>
    <p:sldId id="2076136259" r:id="rId42"/>
    <p:sldId id="2076136270" r:id="rId43"/>
    <p:sldId id="2076136291" r:id="rId44"/>
    <p:sldId id="2076136272" r:id="rId45"/>
    <p:sldId id="2076136268" r:id="rId46"/>
    <p:sldId id="2076136279" r:id="rId47"/>
    <p:sldId id="2076136281" r:id="rId48"/>
    <p:sldId id="2076136257" r:id="rId49"/>
    <p:sldId id="2076136290" r:id="rId50"/>
    <p:sldId id="2076136267" r:id="rId51"/>
    <p:sldId id="2076136258" r:id="rId52"/>
    <p:sldId id="2076136264"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081D5D3-92C9-45F6-B25E-809A5EB5854D}">
          <p14:sldIdLst>
            <p14:sldId id="4481"/>
          </p14:sldIdLst>
        </p14:section>
        <p14:section name="Background and Overview" id="{21D37170-63AC-4F63-95FC-345D517EF830}">
          <p14:sldIdLst>
            <p14:sldId id="4480"/>
            <p14:sldId id="2076136252"/>
            <p14:sldId id="2076136292"/>
            <p14:sldId id="2076136265"/>
            <p14:sldId id="2076136266"/>
          </p14:sldIdLst>
        </p14:section>
        <p14:section name="History" id="{0C445D57-84B0-40FC-B4EB-538EFA9CCB3C}">
          <p14:sldIdLst>
            <p14:sldId id="2076136253"/>
            <p14:sldId id="1762"/>
          </p14:sldIdLst>
        </p14:section>
        <p14:section name="Coverage and Planned Work" id="{C198D622-918A-40A0-96F8-E31CB309463C}">
          <p14:sldIdLst>
            <p14:sldId id="2076136262"/>
            <p14:sldId id="2076136282"/>
            <p14:sldId id="2076136269"/>
            <p14:sldId id="2076136254"/>
            <p14:sldId id="2076136261"/>
          </p14:sldIdLst>
        </p14:section>
        <p14:section name="Collateral" id="{012AE47C-0F31-4FB3-89BE-2733660F0966}">
          <p14:sldIdLst>
            <p14:sldId id="2076136274"/>
            <p14:sldId id="2076136260"/>
            <p14:sldId id="2076136283"/>
            <p14:sldId id="2076136273"/>
            <p14:sldId id="2076136284"/>
            <p14:sldId id="2076136276"/>
            <p14:sldId id="2076136285"/>
            <p14:sldId id="2076136286"/>
            <p14:sldId id="2076136275"/>
            <p14:sldId id="2076136278"/>
            <p14:sldId id="2076136277"/>
            <p14:sldId id="2076136287"/>
            <p14:sldId id="2076136288"/>
            <p14:sldId id="2076136289"/>
          </p14:sldIdLst>
        </p14:section>
        <p14:section name="DRR" id="{649CE285-E684-4951-A23C-B0DB992A9C1E}">
          <p14:sldIdLst>
            <p14:sldId id="2076136259"/>
            <p14:sldId id="2076136270"/>
            <p14:sldId id="2076136291"/>
            <p14:sldId id="2076136272"/>
          </p14:sldIdLst>
        </p14:section>
        <p14:section name="Other Use Cases" id="{5FD11A2D-63CA-4CA0-BB38-59F455D4FB57}">
          <p14:sldIdLst>
            <p14:sldId id="2076136268"/>
            <p14:sldId id="2076136279"/>
            <p14:sldId id="2076136281"/>
            <p14:sldId id="2076136257"/>
          </p14:sldIdLst>
        </p14:section>
        <p14:section name="Get Involved" id="{B03482D7-8D0B-4849-AA3A-6165017E4242}">
          <p14:sldIdLst>
            <p14:sldId id="2076136290"/>
            <p14:sldId id="2076136267"/>
            <p14:sldId id="2076136258"/>
            <p14:sldId id="207613626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30B9C9-305A-3BB9-BE4A-9F18DAC26A74}" name="Gabriel Callsen" initials="GC" userId="S::gabriel.callsen@icmagroup.org::1d004095-ff0d-4cba-8b87-8383e94aff3c" providerId="AD"/>
  <p188:author id="{713BD1E6-DD82-B5CC-EA6E-0B75A3D75449}" name="Eleonora Acuna" initials="EA" userId="S::eacuna@isda.org::d3ddb76c-19bd-4cec-8510-050a1b24b16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wan Varrall" initials="RV" lastIdx="4" clrIdx="0">
    <p:extLst>
      <p:ext uri="{19B8F6BF-5375-455C-9EA6-DF929625EA0E}">
        <p15:presenceInfo xmlns:p15="http://schemas.microsoft.com/office/powerpoint/2012/main" userId="S::Rowan.Varrall@icmagroup.org::cf3aa0e9-56d0-41e9-a26b-d33a78c996f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007D"/>
    <a:srgbClr val="77C2C0"/>
    <a:srgbClr val="005640"/>
    <a:srgbClr val="D8BF82"/>
    <a:srgbClr val="A1D5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66" y="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slide" Target="slides/slide25.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slide" Target="slides/slide28.xml"/><Relationship Id="rId47" Type="http://schemas.openxmlformats.org/officeDocument/2006/relationships/slide" Target="slides/slide33.xml"/><Relationship Id="rId50" Type="http://schemas.openxmlformats.org/officeDocument/2006/relationships/slide" Target="slides/slide36.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2.xml"/><Relationship Id="rId29" Type="http://schemas.openxmlformats.org/officeDocument/2006/relationships/slide" Target="slides/slide15.xml"/><Relationship Id="rId11" Type="http://schemas.openxmlformats.org/officeDocument/2006/relationships/slideMaster" Target="slideMasters/slideMaster8.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slide" Target="slides/slide31.xml"/><Relationship Id="rId53" Type="http://schemas.openxmlformats.org/officeDocument/2006/relationships/slide" Target="slides/slide39.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5.xml"/><Relationship Id="rId14" Type="http://schemas.openxmlformats.org/officeDocument/2006/relationships/slideMaster" Target="slideMasters/slideMaster1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slide" Target="slides/slide34.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37.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slide" Target="slides/slide32.xml"/><Relationship Id="rId59" Type="http://schemas.openxmlformats.org/officeDocument/2006/relationships/tableStyles" Target="tableStyles.xml"/><Relationship Id="rId20" Type="http://schemas.openxmlformats.org/officeDocument/2006/relationships/slide" Target="slides/slide6.xml"/><Relationship Id="rId41" Type="http://schemas.openxmlformats.org/officeDocument/2006/relationships/slide" Target="slides/slide2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slide" Target="slides/slide35.xml"/><Relationship Id="rId57" Type="http://schemas.openxmlformats.org/officeDocument/2006/relationships/viewProps" Target="viewProps.xml"/><Relationship Id="rId10" Type="http://schemas.openxmlformats.org/officeDocument/2006/relationships/slideMaster" Target="slideMasters/slideMaster7.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slide" Target="slides/slide3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Sawyer" userId="c78f9a04-479b-4536-8871-703778b2595a" providerId="ADAL" clId="{C6EB6F20-CB72-41EB-84FA-73AFFDFD1F98}"/>
    <pc:docChg chg="custSel modSld">
      <pc:chgData name="Nick Sawyer" userId="c78f9a04-479b-4536-8871-703778b2595a" providerId="ADAL" clId="{C6EB6F20-CB72-41EB-84FA-73AFFDFD1F98}" dt="2023-11-23T17:20:37.398" v="105" actId="6549"/>
      <pc:docMkLst>
        <pc:docMk/>
      </pc:docMkLst>
      <pc:sldChg chg="modSp mod">
        <pc:chgData name="Nick Sawyer" userId="c78f9a04-479b-4536-8871-703778b2595a" providerId="ADAL" clId="{C6EB6F20-CB72-41EB-84FA-73AFFDFD1F98}" dt="2023-11-23T17:16:25.707" v="21" actId="20577"/>
        <pc:sldMkLst>
          <pc:docMk/>
          <pc:sldMk cId="678910947" sldId="4480"/>
        </pc:sldMkLst>
        <pc:spChg chg="mod">
          <ac:chgData name="Nick Sawyer" userId="c78f9a04-479b-4536-8871-703778b2595a" providerId="ADAL" clId="{C6EB6F20-CB72-41EB-84FA-73AFFDFD1F98}" dt="2023-11-23T17:16:05.293" v="13" actId="6549"/>
          <ac:spMkLst>
            <pc:docMk/>
            <pc:sldMk cId="678910947" sldId="4480"/>
            <ac:spMk id="5" creationId="{8C68BE10-0978-EEE4-B48F-66B0645DBEB4}"/>
          </ac:spMkLst>
        </pc:spChg>
        <pc:spChg chg="mod">
          <ac:chgData name="Nick Sawyer" userId="c78f9a04-479b-4536-8871-703778b2595a" providerId="ADAL" clId="{C6EB6F20-CB72-41EB-84FA-73AFFDFD1F98}" dt="2023-11-23T17:16:25.707" v="21" actId="20577"/>
          <ac:spMkLst>
            <pc:docMk/>
            <pc:sldMk cId="678910947" sldId="4480"/>
            <ac:spMk id="302" creationId="{EB49691F-A2DD-5FAB-05EA-D249FACBAC75}"/>
          </ac:spMkLst>
        </pc:spChg>
        <pc:spChg chg="mod">
          <ac:chgData name="Nick Sawyer" userId="c78f9a04-479b-4536-8871-703778b2595a" providerId="ADAL" clId="{C6EB6F20-CB72-41EB-84FA-73AFFDFD1F98}" dt="2023-11-23T17:16:14.772" v="19" actId="313"/>
          <ac:spMkLst>
            <pc:docMk/>
            <pc:sldMk cId="678910947" sldId="4480"/>
            <ac:spMk id="303" creationId="{896D56E7-279B-D635-3567-178F6D2F1CBA}"/>
          </ac:spMkLst>
        </pc:spChg>
      </pc:sldChg>
      <pc:sldChg chg="modSp mod">
        <pc:chgData name="Nick Sawyer" userId="c78f9a04-479b-4536-8871-703778b2595a" providerId="ADAL" clId="{C6EB6F20-CB72-41EB-84FA-73AFFDFD1F98}" dt="2023-11-23T17:15:58.978" v="9" actId="6549"/>
        <pc:sldMkLst>
          <pc:docMk/>
          <pc:sldMk cId="0" sldId="4481"/>
        </pc:sldMkLst>
        <pc:spChg chg="mod">
          <ac:chgData name="Nick Sawyer" userId="c78f9a04-479b-4536-8871-703778b2595a" providerId="ADAL" clId="{C6EB6F20-CB72-41EB-84FA-73AFFDFD1F98}" dt="2023-11-23T17:15:58.978" v="9" actId="6549"/>
          <ac:spMkLst>
            <pc:docMk/>
            <pc:sldMk cId="0" sldId="4481"/>
            <ac:spMk id="2" creationId="{52004F27-750E-9E4E-1ABF-807D8D28C031}"/>
          </ac:spMkLst>
        </pc:spChg>
      </pc:sldChg>
      <pc:sldChg chg="modSp mod">
        <pc:chgData name="Nick Sawyer" userId="c78f9a04-479b-4536-8871-703778b2595a" providerId="ADAL" clId="{C6EB6F20-CB72-41EB-84FA-73AFFDFD1F98}" dt="2023-11-23T17:17:19.704" v="28" actId="20577"/>
        <pc:sldMkLst>
          <pc:docMk/>
          <pc:sldMk cId="4028208101" sldId="2076136252"/>
        </pc:sldMkLst>
        <pc:spChg chg="mod">
          <ac:chgData name="Nick Sawyer" userId="c78f9a04-479b-4536-8871-703778b2595a" providerId="ADAL" clId="{C6EB6F20-CB72-41EB-84FA-73AFFDFD1F98}" dt="2023-11-23T17:17:16.761" v="26" actId="20577"/>
          <ac:spMkLst>
            <pc:docMk/>
            <pc:sldMk cId="4028208101" sldId="2076136252"/>
            <ac:spMk id="2" creationId="{51F0CF7F-8ED6-6375-737D-6DB332893689}"/>
          </ac:spMkLst>
        </pc:spChg>
        <pc:spChg chg="mod">
          <ac:chgData name="Nick Sawyer" userId="c78f9a04-479b-4536-8871-703778b2595a" providerId="ADAL" clId="{C6EB6F20-CB72-41EB-84FA-73AFFDFD1F98}" dt="2023-11-23T17:17:19.704" v="28" actId="20577"/>
          <ac:spMkLst>
            <pc:docMk/>
            <pc:sldMk cId="4028208101" sldId="2076136252"/>
            <ac:spMk id="4" creationId="{126D128E-12FA-4C5A-97FE-DBB7EE789FFC}"/>
          </ac:spMkLst>
        </pc:spChg>
        <pc:spChg chg="mod">
          <ac:chgData name="Nick Sawyer" userId="c78f9a04-479b-4536-8871-703778b2595a" providerId="ADAL" clId="{C6EB6F20-CB72-41EB-84FA-73AFFDFD1F98}" dt="2023-11-23T17:16:52.308" v="23" actId="313"/>
          <ac:spMkLst>
            <pc:docMk/>
            <pc:sldMk cId="4028208101" sldId="2076136252"/>
            <ac:spMk id="17" creationId="{88C4FF94-86C0-8F0C-0E3B-85F4EEBD76F8}"/>
          </ac:spMkLst>
        </pc:spChg>
      </pc:sldChg>
      <pc:sldChg chg="modSp mod">
        <pc:chgData name="Nick Sawyer" userId="c78f9a04-479b-4536-8871-703778b2595a" providerId="ADAL" clId="{C6EB6F20-CB72-41EB-84FA-73AFFDFD1F98}" dt="2023-11-23T17:18:47.160" v="66" actId="6549"/>
        <pc:sldMkLst>
          <pc:docMk/>
          <pc:sldMk cId="2581691504" sldId="2076136265"/>
        </pc:sldMkLst>
        <pc:spChg chg="mod">
          <ac:chgData name="Nick Sawyer" userId="c78f9a04-479b-4536-8871-703778b2595a" providerId="ADAL" clId="{C6EB6F20-CB72-41EB-84FA-73AFFDFD1F98}" dt="2023-11-23T17:18:47.160" v="66" actId="6549"/>
          <ac:spMkLst>
            <pc:docMk/>
            <pc:sldMk cId="2581691504" sldId="2076136265"/>
            <ac:spMk id="5" creationId="{8C68BE10-0978-EEE4-B48F-66B0645DBEB4}"/>
          </ac:spMkLst>
        </pc:spChg>
      </pc:sldChg>
      <pc:sldChg chg="modSp mod">
        <pc:chgData name="Nick Sawyer" userId="c78f9a04-479b-4536-8871-703778b2595a" providerId="ADAL" clId="{C6EB6F20-CB72-41EB-84FA-73AFFDFD1F98}" dt="2023-11-23T17:20:37.398" v="105" actId="6549"/>
        <pc:sldMkLst>
          <pc:docMk/>
          <pc:sldMk cId="882343735" sldId="2076136266"/>
        </pc:sldMkLst>
        <pc:spChg chg="mod">
          <ac:chgData name="Nick Sawyer" userId="c78f9a04-479b-4536-8871-703778b2595a" providerId="ADAL" clId="{C6EB6F20-CB72-41EB-84FA-73AFFDFD1F98}" dt="2023-11-23T17:20:37.398" v="105" actId="6549"/>
          <ac:spMkLst>
            <pc:docMk/>
            <pc:sldMk cId="882343735" sldId="2076136266"/>
            <ac:spMk id="31" creationId="{FCCB0A6B-DEF6-E029-F6FB-1ED8BEAF7754}"/>
          </ac:spMkLst>
        </pc:spChg>
      </pc:sldChg>
      <pc:sldChg chg="modSp mod">
        <pc:chgData name="Nick Sawyer" userId="c78f9a04-479b-4536-8871-703778b2595a" providerId="ADAL" clId="{C6EB6F20-CB72-41EB-84FA-73AFFDFD1F98}" dt="2023-11-23T17:18:41.065" v="62" actId="20577"/>
        <pc:sldMkLst>
          <pc:docMk/>
          <pc:sldMk cId="2386026496" sldId="2076136292"/>
        </pc:sldMkLst>
        <pc:spChg chg="mod">
          <ac:chgData name="Nick Sawyer" userId="c78f9a04-479b-4536-8871-703778b2595a" providerId="ADAL" clId="{C6EB6F20-CB72-41EB-84FA-73AFFDFD1F98}" dt="2023-11-23T17:18:41.065" v="62" actId="20577"/>
          <ac:spMkLst>
            <pc:docMk/>
            <pc:sldMk cId="2386026496" sldId="2076136292"/>
            <ac:spMk id="2" creationId="{51F0CF7F-8ED6-6375-737D-6DB33289368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69057D-043F-45FC-B53C-58F242623178}"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IE"/>
        </a:p>
      </dgm:t>
    </dgm:pt>
    <dgm:pt modelId="{89727E62-A65B-4157-A65E-A46DAC0BF0CD}">
      <dgm:prSet phldrT="[Text]" custT="1"/>
      <dgm:spPr>
        <a:xfrm>
          <a:off x="538350" y="15239"/>
          <a:ext cx="7536905" cy="442800"/>
        </a:xfrm>
        <a:prstGeom prst="roundRect">
          <a:avLst/>
        </a:prstGeom>
        <a:solidFill>
          <a:srgbClr val="5B9BD5">
            <a:hueOff val="0"/>
            <a:satOff val="0"/>
            <a:lumOff val="0"/>
            <a:alphaOff val="0"/>
          </a:srgbClr>
        </a:solidFill>
        <a:ln w="12700" cap="flat" cmpd="sng" algn="ctr">
          <a:solidFill>
            <a:sysClr val="window" lastClr="FFFFFF">
              <a:hueOff val="0"/>
              <a:satOff val="0"/>
              <a:lumOff val="0"/>
              <a:alphaOff val="0"/>
            </a:sysClr>
          </a:solidFill>
          <a:prstDash val="solid"/>
          <a:miter lim="800000"/>
        </a:ln>
        <a:effectLst>
          <a:outerShdw blurRad="76200" dir="13500000" sy="23000" kx="1200000" algn="br" rotWithShape="0">
            <a:prstClr val="black">
              <a:alpha val="20000"/>
            </a:prstClr>
          </a:outerShdw>
        </a:effectLst>
        <a:scene3d>
          <a:camera prst="orthographicFront"/>
          <a:lightRig rig="threePt" dir="t"/>
        </a:scene3d>
        <a:sp3d>
          <a:bevelT prst="angle"/>
        </a:sp3d>
      </dgm:spPr>
      <dgm:t>
        <a:bodyPr/>
        <a:lstStyle/>
        <a:p>
          <a:pPr>
            <a:buFont typeface="Arial" panose="020B0604020202020204" pitchFamily="34" charset="0"/>
            <a:buNone/>
          </a:pPr>
          <a:r>
            <a:rPr lang="en-GB" sz="1600" b="1" i="0" u="none" strike="noStrike" dirty="0">
              <a:solidFill>
                <a:sysClr val="window" lastClr="FFFFFF"/>
              </a:solidFill>
              <a:effectLst/>
              <a:latin typeface="Calibri"/>
              <a:ea typeface="+mn-ea"/>
              <a:cs typeface="Calibri"/>
            </a:rPr>
            <a:t>Mutualize regulatory reporting compliance effort</a:t>
          </a:r>
          <a:endParaRPr lang="en-IE" sz="1600" dirty="0">
            <a:solidFill>
              <a:sysClr val="window" lastClr="FFFFFF"/>
            </a:solidFill>
            <a:latin typeface="Calibri"/>
            <a:ea typeface="+mn-ea"/>
            <a:cs typeface="Calibri"/>
          </a:endParaRPr>
        </a:p>
      </dgm:t>
    </dgm:pt>
    <dgm:pt modelId="{655B2F0D-8F63-4C5D-8985-EFCA842F0B24}" type="parTrans" cxnId="{4E13F572-BF25-4374-9E5D-F535E3081050}">
      <dgm:prSet/>
      <dgm:spPr/>
      <dgm:t>
        <a:bodyPr/>
        <a:lstStyle/>
        <a:p>
          <a:endParaRPr lang="en-IE"/>
        </a:p>
      </dgm:t>
    </dgm:pt>
    <dgm:pt modelId="{9E03FC86-61EE-4BD1-8849-83BEFB806818}" type="sibTrans" cxnId="{4E13F572-BF25-4374-9E5D-F535E3081050}">
      <dgm:prSet/>
      <dgm:spPr/>
      <dgm:t>
        <a:bodyPr/>
        <a:lstStyle/>
        <a:p>
          <a:endParaRPr lang="en-IE"/>
        </a:p>
      </dgm:t>
    </dgm:pt>
    <dgm:pt modelId="{8B2AD4C3-7A5B-4B65-9E8B-374798D6C68D}">
      <dgm:prSet custT="1"/>
      <dgm:spPr>
        <a:xfrm>
          <a:off x="0" y="236639"/>
          <a:ext cx="10767008" cy="649687"/>
        </a:xfrm>
        <a:prstGeom prst="rect">
          <a:avLst/>
        </a:prstGeom>
        <a:solidFill>
          <a:sysClr val="window" lastClr="FFFFFF">
            <a:alpha val="90000"/>
            <a:hueOff val="0"/>
            <a:satOff val="0"/>
            <a:lumOff val="0"/>
            <a:alphaOff val="0"/>
          </a:sysClr>
        </a:solidFill>
        <a:ln w="12700" cap="flat" cmpd="sng" algn="ctr">
          <a:solidFill>
            <a:srgbClr val="5B9BD5">
              <a:hueOff val="0"/>
              <a:satOff val="0"/>
              <a:lumOff val="0"/>
              <a:alphaOff val="0"/>
            </a:srgbClr>
          </a:solidFill>
          <a:prstDash val="solid"/>
          <a:miter lim="800000"/>
        </a:ln>
        <a:effectLst/>
      </dgm:spPr>
      <dgm:t>
        <a:bodyPr/>
        <a:lstStyle/>
        <a:p>
          <a:pPr>
            <a:buChar char="•"/>
          </a:pPr>
          <a:r>
            <a:rPr lang="en-GB" sz="1600" dirty="0">
              <a:solidFill>
                <a:sysClr val="windowText" lastClr="000000">
                  <a:hueOff val="0"/>
                  <a:satOff val="0"/>
                  <a:lumOff val="0"/>
                  <a:alphaOff val="0"/>
                </a:sysClr>
              </a:solidFill>
              <a:latin typeface="Calibri"/>
              <a:ea typeface="+mn-ea"/>
              <a:cs typeface="Calibri"/>
            </a:rPr>
            <a:t>R</a:t>
          </a:r>
          <a:r>
            <a:rPr lang="en-GB" sz="1600" b="0" i="0" u="none" strike="noStrike" dirty="0">
              <a:solidFill>
                <a:sysClr val="windowText" lastClr="000000">
                  <a:hueOff val="0"/>
                  <a:satOff val="0"/>
                  <a:lumOff val="0"/>
                  <a:alphaOff val="0"/>
                </a:sysClr>
              </a:solidFill>
              <a:effectLst/>
              <a:latin typeface="Calibri"/>
              <a:ea typeface="+mn-ea"/>
              <a:cs typeface="Calibri"/>
            </a:rPr>
            <a:t>ule interpretations and compliance effort is spread across the industry</a:t>
          </a:r>
          <a:endParaRPr lang="en-US" sz="1600" b="0" i="0" dirty="0">
            <a:solidFill>
              <a:sysClr val="windowText" lastClr="000000">
                <a:hueOff val="0"/>
                <a:satOff val="0"/>
                <a:lumOff val="0"/>
                <a:alphaOff val="0"/>
              </a:sysClr>
            </a:solidFill>
            <a:effectLst/>
            <a:latin typeface="Calibri"/>
            <a:ea typeface="+mn-ea"/>
            <a:cs typeface="Calibri"/>
          </a:endParaRPr>
        </a:p>
      </dgm:t>
    </dgm:pt>
    <dgm:pt modelId="{E8FB66EF-1EA1-4703-8762-E072B40CF2C7}" type="parTrans" cxnId="{8517893D-365A-4C54-AD1E-C4FB178473C8}">
      <dgm:prSet/>
      <dgm:spPr/>
      <dgm:t>
        <a:bodyPr/>
        <a:lstStyle/>
        <a:p>
          <a:endParaRPr lang="en-IE"/>
        </a:p>
      </dgm:t>
    </dgm:pt>
    <dgm:pt modelId="{1F69BBFF-456F-4872-8447-38A497F867BD}" type="sibTrans" cxnId="{8517893D-365A-4C54-AD1E-C4FB178473C8}">
      <dgm:prSet/>
      <dgm:spPr/>
      <dgm:t>
        <a:bodyPr/>
        <a:lstStyle/>
        <a:p>
          <a:endParaRPr lang="en-IE"/>
        </a:p>
      </dgm:t>
    </dgm:pt>
    <dgm:pt modelId="{838DBC59-ADBF-4074-8DB8-02C0A0B0ACD6}">
      <dgm:prSet custT="1"/>
      <dgm:spPr>
        <a:xfrm>
          <a:off x="538350" y="967327"/>
          <a:ext cx="7536905" cy="442800"/>
        </a:xfrm>
        <a:prstGeom prst="roundRect">
          <a:avLst/>
        </a:prstGeom>
        <a:solidFill>
          <a:srgbClr val="5B9BD5">
            <a:hueOff val="-1689636"/>
            <a:satOff val="-4355"/>
            <a:lumOff val="-2941"/>
            <a:alphaOff val="0"/>
          </a:srgbClr>
        </a:solidFill>
        <a:ln w="12700" cap="flat" cmpd="sng" algn="ctr">
          <a:solidFill>
            <a:sysClr val="window" lastClr="FFFFFF">
              <a:hueOff val="0"/>
              <a:satOff val="0"/>
              <a:lumOff val="0"/>
              <a:alphaOff val="0"/>
            </a:sysClr>
          </a:solidFill>
          <a:prstDash val="solid"/>
          <a:miter lim="800000"/>
        </a:ln>
        <a:effectLst/>
        <a:scene3d>
          <a:camera prst="orthographicFront"/>
          <a:lightRig rig="threePt" dir="t"/>
        </a:scene3d>
        <a:sp3d>
          <a:bevelT prst="angle"/>
        </a:sp3d>
      </dgm:spPr>
      <dgm:t>
        <a:bodyPr/>
        <a:lstStyle/>
        <a:p>
          <a:pPr>
            <a:buNone/>
          </a:pPr>
          <a:r>
            <a:rPr lang="en-GB" sz="1600" b="1" dirty="0">
              <a:solidFill>
                <a:sysClr val="window" lastClr="FFFFFF"/>
              </a:solidFill>
              <a:latin typeface="Calibri"/>
              <a:ea typeface="+mn-ea"/>
              <a:cs typeface="Calibri"/>
            </a:rPr>
            <a:t>Gives you</a:t>
          </a:r>
          <a:r>
            <a:rPr lang="en-GB" sz="1600" b="1" i="0" u="none" strike="noStrike" dirty="0">
              <a:solidFill>
                <a:sysClr val="window" lastClr="FFFFFF"/>
              </a:solidFill>
              <a:effectLst/>
              <a:latin typeface="Calibri"/>
              <a:ea typeface="+mn-ea"/>
              <a:cs typeface="Calibri"/>
            </a:rPr>
            <a:t> an unambiguous rule interpretation</a:t>
          </a:r>
          <a:endParaRPr lang="en-GB" sz="1600" dirty="0">
            <a:solidFill>
              <a:sysClr val="window" lastClr="FFFFFF"/>
            </a:solidFill>
            <a:latin typeface="Calibri"/>
            <a:ea typeface="+mn-ea"/>
            <a:cs typeface="Calibri"/>
          </a:endParaRPr>
        </a:p>
      </dgm:t>
    </dgm:pt>
    <dgm:pt modelId="{F222862F-A67C-4850-850D-D16F83598C3F}" type="parTrans" cxnId="{335B691E-6F65-4DE0-84FE-B7BA90D7FCD6}">
      <dgm:prSet/>
      <dgm:spPr/>
      <dgm:t>
        <a:bodyPr/>
        <a:lstStyle/>
        <a:p>
          <a:endParaRPr lang="en-IE"/>
        </a:p>
      </dgm:t>
    </dgm:pt>
    <dgm:pt modelId="{032DC3A7-56C8-4054-9B32-80E869383603}" type="sibTrans" cxnId="{335B691E-6F65-4DE0-84FE-B7BA90D7FCD6}">
      <dgm:prSet/>
      <dgm:spPr/>
      <dgm:t>
        <a:bodyPr/>
        <a:lstStyle/>
        <a:p>
          <a:endParaRPr lang="en-IE"/>
        </a:p>
      </dgm:t>
    </dgm:pt>
    <dgm:pt modelId="{5FBDE539-641F-4BE5-AB94-E6AC356B243D}">
      <dgm:prSet custT="1"/>
      <dgm:spPr>
        <a:xfrm>
          <a:off x="0" y="1188727"/>
          <a:ext cx="10767008" cy="649687"/>
        </a:xfrm>
        <a:prstGeom prst="rect">
          <a:avLst/>
        </a:prstGeom>
        <a:solidFill>
          <a:sysClr val="window" lastClr="FFFFFF">
            <a:alpha val="90000"/>
            <a:hueOff val="0"/>
            <a:satOff val="0"/>
            <a:lumOff val="0"/>
            <a:alphaOff val="0"/>
          </a:sysClr>
        </a:solidFill>
        <a:ln w="12700" cap="flat" cmpd="sng" algn="ctr">
          <a:solidFill>
            <a:srgbClr val="5B9BD5">
              <a:hueOff val="-1689636"/>
              <a:satOff val="-4355"/>
              <a:lumOff val="-2941"/>
              <a:alphaOff val="0"/>
            </a:srgbClr>
          </a:solidFill>
          <a:prstDash val="solid"/>
          <a:miter lim="800000"/>
        </a:ln>
        <a:effectLst/>
      </dgm:spPr>
      <dgm:t>
        <a:bodyPr/>
        <a:lstStyle/>
        <a:p>
          <a:pPr>
            <a:buChar char="•"/>
          </a:pPr>
          <a:r>
            <a:rPr lang="en-GB" sz="1600" b="0" i="0" u="none" strike="noStrike" dirty="0">
              <a:solidFill>
                <a:sysClr val="windowText" lastClr="000000">
                  <a:hueOff val="0"/>
                  <a:satOff val="0"/>
                  <a:lumOff val="0"/>
                  <a:alphaOff val="0"/>
                </a:sysClr>
              </a:solidFill>
              <a:effectLst/>
              <a:latin typeface="Calibri"/>
              <a:ea typeface="+mn-ea"/>
              <a:cs typeface="Calibri"/>
            </a:rPr>
            <a:t>Reflects rules, guidance and industry best practices in an unambiguous way within the DRR model</a:t>
          </a:r>
          <a:endParaRPr lang="en-US" sz="1600" b="0" i="0" dirty="0">
            <a:solidFill>
              <a:sysClr val="windowText" lastClr="000000">
                <a:hueOff val="0"/>
                <a:satOff val="0"/>
                <a:lumOff val="0"/>
                <a:alphaOff val="0"/>
              </a:sysClr>
            </a:solidFill>
            <a:effectLst/>
            <a:latin typeface="Calibri"/>
            <a:ea typeface="+mn-ea"/>
            <a:cs typeface="Calibri"/>
          </a:endParaRPr>
        </a:p>
      </dgm:t>
    </dgm:pt>
    <dgm:pt modelId="{01694D62-0B77-41E8-80D4-7A5C88C49E33}" type="parTrans" cxnId="{EB130DA8-B3C1-4D36-81AC-9A1C0F9C0E48}">
      <dgm:prSet/>
      <dgm:spPr/>
      <dgm:t>
        <a:bodyPr/>
        <a:lstStyle/>
        <a:p>
          <a:endParaRPr lang="en-IE"/>
        </a:p>
      </dgm:t>
    </dgm:pt>
    <dgm:pt modelId="{4EF99F08-0261-4139-9D7A-D5C7AD08E40B}" type="sibTrans" cxnId="{EB130DA8-B3C1-4D36-81AC-9A1C0F9C0E48}">
      <dgm:prSet/>
      <dgm:spPr/>
      <dgm:t>
        <a:bodyPr/>
        <a:lstStyle/>
        <a:p>
          <a:endParaRPr lang="en-IE"/>
        </a:p>
      </dgm:t>
    </dgm:pt>
    <dgm:pt modelId="{4662293C-A11E-4D1E-AF4A-3F6CFCDE907B}">
      <dgm:prSet custT="1"/>
      <dgm:spPr>
        <a:xfrm>
          <a:off x="538350" y="1919414"/>
          <a:ext cx="7536905" cy="442800"/>
        </a:xfrm>
        <a:prstGeom prst="roundRect">
          <a:avLst/>
        </a:prstGeom>
        <a:solidFill>
          <a:srgbClr val="5B9BD5">
            <a:hueOff val="-3379271"/>
            <a:satOff val="-8710"/>
            <a:lumOff val="-5883"/>
            <a:alphaOff val="0"/>
          </a:srgbClr>
        </a:solidFill>
        <a:ln w="12700" cap="flat" cmpd="sng" algn="ctr">
          <a:solidFill>
            <a:sysClr val="window" lastClr="FFFFFF">
              <a:hueOff val="0"/>
              <a:satOff val="0"/>
              <a:lumOff val="0"/>
              <a:alphaOff val="0"/>
            </a:sysClr>
          </a:solidFill>
          <a:prstDash val="solid"/>
          <a:miter lim="800000"/>
        </a:ln>
        <a:effectLst/>
        <a:scene3d>
          <a:camera prst="orthographicFront"/>
          <a:lightRig rig="threePt" dir="t"/>
        </a:scene3d>
        <a:sp3d>
          <a:bevelT prst="angle"/>
        </a:sp3d>
      </dgm:spPr>
      <dgm:t>
        <a:bodyPr/>
        <a:lstStyle/>
        <a:p>
          <a:pPr>
            <a:buNone/>
          </a:pPr>
          <a:r>
            <a:rPr lang="en-GB" sz="1600" b="1" dirty="0">
              <a:solidFill>
                <a:sysClr val="window" lastClr="FFFFFF"/>
              </a:solidFill>
              <a:latin typeface="Calibri"/>
              <a:ea typeface="+mn-ea"/>
              <a:cs typeface="Calibri"/>
            </a:rPr>
            <a:t>DRR is open-access and increases transparency</a:t>
          </a:r>
        </a:p>
      </dgm:t>
    </dgm:pt>
    <dgm:pt modelId="{FD8051DB-77EA-41C3-8D56-A868068E6F83}" type="parTrans" cxnId="{409E7088-C971-40C4-B526-4FA36BF19394}">
      <dgm:prSet/>
      <dgm:spPr/>
      <dgm:t>
        <a:bodyPr/>
        <a:lstStyle/>
        <a:p>
          <a:endParaRPr lang="en-IE"/>
        </a:p>
      </dgm:t>
    </dgm:pt>
    <dgm:pt modelId="{7D4B8CA1-9005-4DDA-9756-B2909B6A554F}" type="sibTrans" cxnId="{409E7088-C971-40C4-B526-4FA36BF19394}">
      <dgm:prSet/>
      <dgm:spPr/>
      <dgm:t>
        <a:bodyPr/>
        <a:lstStyle/>
        <a:p>
          <a:endParaRPr lang="en-IE"/>
        </a:p>
      </dgm:t>
    </dgm:pt>
    <dgm:pt modelId="{A07303E9-CCAA-4B2E-A179-9DD6D58626E2}">
      <dgm:prSet custT="1"/>
      <dgm:spPr>
        <a:xfrm>
          <a:off x="538350" y="2871502"/>
          <a:ext cx="7536905" cy="442800"/>
        </a:xfrm>
        <a:prstGeom prst="roundRect">
          <a:avLst/>
        </a:prstGeom>
        <a:solidFill>
          <a:srgbClr val="5B9BD5">
            <a:hueOff val="-5068907"/>
            <a:satOff val="-13064"/>
            <a:lumOff val="-8824"/>
            <a:alphaOff val="0"/>
          </a:srgbClr>
        </a:solidFill>
        <a:ln w="12700" cap="flat" cmpd="sng" algn="ctr">
          <a:solidFill>
            <a:sysClr val="window" lastClr="FFFFFF">
              <a:hueOff val="0"/>
              <a:satOff val="0"/>
              <a:lumOff val="0"/>
              <a:alphaOff val="0"/>
            </a:sysClr>
          </a:solidFill>
          <a:prstDash val="solid"/>
          <a:miter lim="800000"/>
        </a:ln>
        <a:effectLst/>
        <a:scene3d>
          <a:camera prst="orthographicFront"/>
          <a:lightRig rig="threePt" dir="t"/>
        </a:scene3d>
        <a:sp3d>
          <a:bevelT prst="angle"/>
        </a:sp3d>
      </dgm:spPr>
      <dgm:t>
        <a:bodyPr/>
        <a:lstStyle/>
        <a:p>
          <a:pPr rtl="0">
            <a:buNone/>
          </a:pPr>
          <a:r>
            <a:rPr lang="en-GB" sz="1600" b="1" dirty="0">
              <a:solidFill>
                <a:sysClr val="window" lastClr="FFFFFF"/>
              </a:solidFill>
              <a:latin typeface="Calibri"/>
              <a:ea typeface="+mn-ea"/>
              <a:cs typeface="Calibri"/>
            </a:rPr>
            <a:t>D</a:t>
          </a:r>
          <a:r>
            <a:rPr lang="en-GB" sz="1600" b="1" i="0" u="none" strike="noStrike" dirty="0">
              <a:solidFill>
                <a:sysClr val="window" lastClr="FFFFFF"/>
              </a:solidFill>
              <a:effectLst/>
              <a:latin typeface="Calibri"/>
              <a:ea typeface="+mn-ea"/>
              <a:cs typeface="Calibri"/>
            </a:rPr>
            <a:t>efines core regulatory reporting ruleset only once</a:t>
          </a:r>
          <a:endParaRPr lang="en-GB" sz="1600" dirty="0">
            <a:solidFill>
              <a:sysClr val="window" lastClr="FFFFFF"/>
            </a:solidFill>
            <a:latin typeface="Calibri"/>
            <a:ea typeface="+mn-ea"/>
            <a:cs typeface="Calibri"/>
          </a:endParaRPr>
        </a:p>
      </dgm:t>
    </dgm:pt>
    <dgm:pt modelId="{66987BF4-CA92-4C55-AE6A-1CE5FBC385F6}" type="parTrans" cxnId="{BC108F25-7BE3-4468-927C-62812E0C4E13}">
      <dgm:prSet/>
      <dgm:spPr/>
      <dgm:t>
        <a:bodyPr/>
        <a:lstStyle/>
        <a:p>
          <a:endParaRPr lang="en-IE"/>
        </a:p>
      </dgm:t>
    </dgm:pt>
    <dgm:pt modelId="{A525A5F0-0C13-46BB-A9C2-63CF12521388}" type="sibTrans" cxnId="{BC108F25-7BE3-4468-927C-62812E0C4E13}">
      <dgm:prSet/>
      <dgm:spPr/>
      <dgm:t>
        <a:bodyPr/>
        <a:lstStyle/>
        <a:p>
          <a:endParaRPr lang="en-IE"/>
        </a:p>
      </dgm:t>
    </dgm:pt>
    <dgm:pt modelId="{ECAADFB1-CC7F-4F58-B73C-3A73D79E2A20}">
      <dgm:prSet custT="1"/>
      <dgm:spPr>
        <a:xfrm>
          <a:off x="0" y="3092902"/>
          <a:ext cx="10767008" cy="1134000"/>
        </a:xfrm>
        <a:prstGeom prst="rect">
          <a:avLst/>
        </a:prstGeom>
        <a:solidFill>
          <a:sysClr val="window" lastClr="FFFFFF">
            <a:alpha val="90000"/>
            <a:hueOff val="0"/>
            <a:satOff val="0"/>
            <a:lumOff val="0"/>
            <a:alphaOff val="0"/>
          </a:sysClr>
        </a:solidFill>
        <a:ln w="12700" cap="flat" cmpd="sng" algn="ctr">
          <a:solidFill>
            <a:srgbClr val="5B9BD5">
              <a:hueOff val="-5068907"/>
              <a:satOff val="-13064"/>
              <a:lumOff val="-8824"/>
              <a:alphaOff val="0"/>
            </a:srgbClr>
          </a:solidFill>
          <a:prstDash val="solid"/>
          <a:miter lim="800000"/>
        </a:ln>
        <a:effectLst/>
      </dgm:spPr>
      <dgm:t>
        <a:bodyPr/>
        <a:lstStyle/>
        <a:p>
          <a:pPr>
            <a:buChar char="•"/>
          </a:pPr>
          <a:r>
            <a:rPr lang="en-GB" sz="1600" b="0" i="0" u="none" strike="noStrike" dirty="0">
              <a:solidFill>
                <a:sysClr val="windowText" lastClr="000000">
                  <a:hueOff val="0"/>
                  <a:satOff val="0"/>
                  <a:lumOff val="0"/>
                  <a:alphaOff val="0"/>
                </a:sysClr>
              </a:solidFill>
              <a:effectLst/>
              <a:latin typeface="Calibri"/>
              <a:ea typeface="+mn-ea"/>
              <a:cs typeface="Calibri"/>
            </a:rPr>
            <a:t>Thereafter, only incremental efforts are required to extend the DRR model to other jurisdictions and future changes to reporting rules</a:t>
          </a:r>
        </a:p>
      </dgm:t>
    </dgm:pt>
    <dgm:pt modelId="{85493D4B-B5F8-4D56-BFB3-D628CA469A32}" type="parTrans" cxnId="{63506E47-BBF3-48CF-BA9F-8B55B38C4764}">
      <dgm:prSet/>
      <dgm:spPr/>
      <dgm:t>
        <a:bodyPr/>
        <a:lstStyle/>
        <a:p>
          <a:endParaRPr lang="en-IE"/>
        </a:p>
      </dgm:t>
    </dgm:pt>
    <dgm:pt modelId="{C3C6DAB7-F3AF-40A1-B40B-A4B01F9BDC4D}" type="sibTrans" cxnId="{63506E47-BBF3-48CF-BA9F-8B55B38C4764}">
      <dgm:prSet/>
      <dgm:spPr/>
      <dgm:t>
        <a:bodyPr/>
        <a:lstStyle/>
        <a:p>
          <a:endParaRPr lang="en-IE"/>
        </a:p>
      </dgm:t>
    </dgm:pt>
    <dgm:pt modelId="{164A0BE0-DA50-4243-80EA-3358659FAC0F}">
      <dgm:prSet custT="1"/>
      <dgm:spPr>
        <a:xfrm>
          <a:off x="538350" y="4307902"/>
          <a:ext cx="7536905" cy="442800"/>
        </a:xfrm>
        <a:prstGeom prst="roundRect">
          <a:avLst/>
        </a:prstGeom>
        <a:solidFill>
          <a:srgbClr val="5B9BD5">
            <a:hueOff val="-6758543"/>
            <a:satOff val="-17419"/>
            <a:lumOff val="-11765"/>
            <a:alphaOff val="0"/>
          </a:srgbClr>
        </a:solidFill>
        <a:ln w="12700" cap="flat" cmpd="sng" algn="ctr">
          <a:solidFill>
            <a:sysClr val="window" lastClr="FFFFFF">
              <a:hueOff val="0"/>
              <a:satOff val="0"/>
              <a:lumOff val="0"/>
              <a:alphaOff val="0"/>
            </a:sysClr>
          </a:solidFill>
          <a:prstDash val="solid"/>
          <a:miter lim="800000"/>
        </a:ln>
        <a:effectLst/>
        <a:scene3d>
          <a:camera prst="orthographicFront"/>
          <a:lightRig rig="threePt" dir="t"/>
        </a:scene3d>
        <a:sp3d>
          <a:bevelT prst="angle"/>
        </a:sp3d>
      </dgm:spPr>
      <dgm:t>
        <a:bodyPr/>
        <a:lstStyle/>
        <a:p>
          <a:pPr>
            <a:buNone/>
          </a:pPr>
          <a:r>
            <a:rPr lang="en-GB" sz="1600" b="1" i="0" u="none" strike="noStrike" dirty="0">
              <a:solidFill>
                <a:sysClr val="window" lastClr="FFFFFF"/>
              </a:solidFill>
              <a:effectLst/>
              <a:latin typeface="Calibri"/>
              <a:ea typeface="+mn-ea"/>
              <a:cs typeface="Calibri"/>
            </a:rPr>
            <a:t>Significant resource and cost savings</a:t>
          </a:r>
          <a:endParaRPr lang="en-GB" sz="1600" b="1" dirty="0">
            <a:solidFill>
              <a:sysClr val="window" lastClr="FFFFFF"/>
            </a:solidFill>
            <a:latin typeface="Calibri"/>
            <a:ea typeface="+mn-ea"/>
            <a:cs typeface="Calibri"/>
          </a:endParaRPr>
        </a:p>
      </dgm:t>
    </dgm:pt>
    <dgm:pt modelId="{38BC8572-083D-468F-B84A-81B31D520EC2}" type="parTrans" cxnId="{35F89633-F913-4519-9058-3DB5BFF06D42}">
      <dgm:prSet/>
      <dgm:spPr/>
      <dgm:t>
        <a:bodyPr/>
        <a:lstStyle/>
        <a:p>
          <a:endParaRPr lang="en-IE"/>
        </a:p>
      </dgm:t>
    </dgm:pt>
    <dgm:pt modelId="{3753F211-1240-408F-AF8D-D4C15883E227}" type="sibTrans" cxnId="{35F89633-F913-4519-9058-3DB5BFF06D42}">
      <dgm:prSet/>
      <dgm:spPr/>
      <dgm:t>
        <a:bodyPr/>
        <a:lstStyle/>
        <a:p>
          <a:endParaRPr lang="en-IE"/>
        </a:p>
      </dgm:t>
    </dgm:pt>
    <dgm:pt modelId="{C18D8118-3A29-43AD-88A3-3D2954FF9D80}">
      <dgm:prSet custT="1"/>
      <dgm:spPr>
        <a:xfrm>
          <a:off x="0" y="4529302"/>
          <a:ext cx="10767008" cy="874125"/>
        </a:xfrm>
        <a:prstGeom prst="rect">
          <a:avLst/>
        </a:prstGeom>
        <a:solidFill>
          <a:sysClr val="window" lastClr="FFFFFF">
            <a:alpha val="90000"/>
            <a:hueOff val="0"/>
            <a:satOff val="0"/>
            <a:lumOff val="0"/>
            <a:alphaOff val="0"/>
          </a:sysClr>
        </a:solidFill>
        <a:ln w="12700" cap="flat" cmpd="sng" algn="ctr">
          <a:solidFill>
            <a:srgbClr val="5B9BD5">
              <a:hueOff val="-6758543"/>
              <a:satOff val="-17419"/>
              <a:lumOff val="-11765"/>
              <a:alphaOff val="0"/>
            </a:srgbClr>
          </a:solidFill>
          <a:prstDash val="solid"/>
          <a:miter lim="800000"/>
        </a:ln>
        <a:effectLst/>
      </dgm:spPr>
      <dgm:t>
        <a:bodyPr/>
        <a:lstStyle/>
        <a:p>
          <a:pPr>
            <a:buChar char="•"/>
          </a:pPr>
          <a:r>
            <a:rPr lang="en-GB" sz="1600" b="0" i="0" u="none" strike="noStrike" dirty="0">
              <a:solidFill>
                <a:sysClr val="windowText" lastClr="000000">
                  <a:hueOff val="0"/>
                  <a:satOff val="0"/>
                  <a:lumOff val="0"/>
                  <a:alphaOff val="0"/>
                </a:sysClr>
              </a:solidFill>
              <a:effectLst/>
              <a:latin typeface="Calibri"/>
              <a:ea typeface="+mn-ea"/>
              <a:cs typeface="Calibri"/>
            </a:rPr>
            <a:t>Through the mutualized effort, firms leveraging DRR using the CDM will reap significant compliance, reporting and implementation project savings</a:t>
          </a:r>
          <a:endParaRPr lang="en-US" sz="1600" b="0" i="0" dirty="0">
            <a:solidFill>
              <a:sysClr val="windowText" lastClr="000000">
                <a:hueOff val="0"/>
                <a:satOff val="0"/>
                <a:lumOff val="0"/>
                <a:alphaOff val="0"/>
              </a:sysClr>
            </a:solidFill>
            <a:effectLst/>
            <a:latin typeface="Calibri"/>
            <a:ea typeface="+mn-ea"/>
            <a:cs typeface="Calibri"/>
          </a:endParaRPr>
        </a:p>
      </dgm:t>
    </dgm:pt>
    <dgm:pt modelId="{0D5F78EC-D07F-4042-A3CB-DEF03DB27476}" type="parTrans" cxnId="{6936D585-82AA-4DAC-8F37-9A9EE6EB42FD}">
      <dgm:prSet/>
      <dgm:spPr/>
      <dgm:t>
        <a:bodyPr/>
        <a:lstStyle/>
        <a:p>
          <a:endParaRPr lang="en-IE"/>
        </a:p>
      </dgm:t>
    </dgm:pt>
    <dgm:pt modelId="{2535CA69-D4B7-4191-B237-F5879B3637DE}" type="sibTrans" cxnId="{6936D585-82AA-4DAC-8F37-9A9EE6EB42FD}">
      <dgm:prSet/>
      <dgm:spPr/>
      <dgm:t>
        <a:bodyPr/>
        <a:lstStyle/>
        <a:p>
          <a:endParaRPr lang="en-IE"/>
        </a:p>
      </dgm:t>
    </dgm:pt>
    <dgm:pt modelId="{AD1ABA71-9610-4561-A81A-8570CF7463F3}">
      <dgm:prSet custT="1"/>
      <dgm:spPr>
        <a:xfrm>
          <a:off x="0" y="2140814"/>
          <a:ext cx="10767008" cy="649687"/>
        </a:xfrm>
        <a:prstGeom prst="rect">
          <a:avLst/>
        </a:prstGeom>
        <a:solidFill>
          <a:sysClr val="window" lastClr="FFFFFF">
            <a:alpha val="90000"/>
            <a:hueOff val="0"/>
            <a:satOff val="0"/>
            <a:lumOff val="0"/>
            <a:alphaOff val="0"/>
          </a:sysClr>
        </a:solidFill>
        <a:ln w="12700" cap="flat" cmpd="sng" algn="ctr">
          <a:solidFill>
            <a:srgbClr val="5B9BD5">
              <a:hueOff val="-3379271"/>
              <a:satOff val="-8710"/>
              <a:lumOff val="-5883"/>
              <a:alphaOff val="0"/>
            </a:srgbClr>
          </a:solidFill>
          <a:prstDash val="solid"/>
          <a:miter lim="800000"/>
        </a:ln>
        <a:effectLst/>
      </dgm:spPr>
      <dgm:t>
        <a:bodyPr/>
        <a:lstStyle/>
        <a:p>
          <a:pPr>
            <a:buChar char="•"/>
          </a:pPr>
          <a:r>
            <a:rPr lang="en-GB" sz="1600" dirty="0">
              <a:solidFill>
                <a:sysClr val="windowText" lastClr="000000">
                  <a:hueOff val="0"/>
                  <a:satOff val="0"/>
                  <a:lumOff val="0"/>
                  <a:alphaOff val="0"/>
                </a:sysClr>
              </a:solidFill>
              <a:latin typeface="Calibri"/>
              <a:ea typeface="+mn-ea"/>
              <a:cs typeface="Calibri"/>
            </a:rPr>
            <a:t>The DRR will be accessible to regulators and market participants</a:t>
          </a:r>
          <a:endParaRPr lang="en-GB" sz="1600" b="0" i="0" u="none" strike="noStrike" dirty="0">
            <a:solidFill>
              <a:sysClr val="windowText" lastClr="000000">
                <a:hueOff val="0"/>
                <a:satOff val="0"/>
                <a:lumOff val="0"/>
                <a:alphaOff val="0"/>
              </a:sysClr>
            </a:solidFill>
            <a:effectLst/>
            <a:latin typeface="Calibri"/>
            <a:ea typeface="+mn-ea"/>
            <a:cs typeface="Calibri"/>
          </a:endParaRPr>
        </a:p>
      </dgm:t>
    </dgm:pt>
    <dgm:pt modelId="{B04A3366-2FC4-4FC0-8AA7-5A9F0503186A}" type="parTrans" cxnId="{D45D064D-C357-454B-921D-C212DA77120A}">
      <dgm:prSet/>
      <dgm:spPr/>
      <dgm:t>
        <a:bodyPr/>
        <a:lstStyle/>
        <a:p>
          <a:endParaRPr lang="en-GB"/>
        </a:p>
      </dgm:t>
    </dgm:pt>
    <dgm:pt modelId="{0201D5E0-A497-4BFE-BE20-A31C05AF66D6}" type="sibTrans" cxnId="{D45D064D-C357-454B-921D-C212DA77120A}">
      <dgm:prSet/>
      <dgm:spPr/>
      <dgm:t>
        <a:bodyPr/>
        <a:lstStyle/>
        <a:p>
          <a:endParaRPr lang="en-GB"/>
        </a:p>
      </dgm:t>
    </dgm:pt>
    <dgm:pt modelId="{C0D24544-4B2B-489F-9E90-6CFCCB222693}">
      <dgm:prSet custT="1"/>
      <dgm:spPr>
        <a:xfrm>
          <a:off x="0" y="3092902"/>
          <a:ext cx="10767008" cy="1134000"/>
        </a:xfrm>
        <a:prstGeom prst="rect">
          <a:avLst/>
        </a:prstGeom>
        <a:solidFill>
          <a:sysClr val="window" lastClr="FFFFFF">
            <a:alpha val="90000"/>
            <a:hueOff val="0"/>
            <a:satOff val="0"/>
            <a:lumOff val="0"/>
            <a:alphaOff val="0"/>
          </a:sysClr>
        </a:solidFill>
        <a:ln w="12700" cap="flat" cmpd="sng" algn="ctr">
          <a:solidFill>
            <a:srgbClr val="5B9BD5">
              <a:hueOff val="-5068907"/>
              <a:satOff val="-13064"/>
              <a:lumOff val="-8824"/>
              <a:alphaOff val="0"/>
            </a:srgbClr>
          </a:solidFill>
          <a:prstDash val="solid"/>
          <a:miter lim="800000"/>
        </a:ln>
        <a:effectLst/>
      </dgm:spPr>
      <dgm:t>
        <a:bodyPr/>
        <a:lstStyle/>
        <a:p>
          <a:pPr>
            <a:buChar char="•"/>
          </a:pPr>
          <a:r>
            <a:rPr lang="en-GB" sz="1600" b="0" i="0" u="none" strike="noStrike" dirty="0">
              <a:solidFill>
                <a:sysClr val="windowText" lastClr="000000">
                  <a:hueOff val="0"/>
                  <a:satOff val="0"/>
                  <a:lumOff val="0"/>
                  <a:alphaOff val="0"/>
                </a:sysClr>
              </a:solidFill>
              <a:effectLst/>
              <a:latin typeface="Calibri"/>
              <a:ea typeface="+mn-ea"/>
              <a:cs typeface="Calibri"/>
            </a:rPr>
            <a:t>And such updates will be delivered through centralized DRR model changes</a:t>
          </a:r>
          <a:endParaRPr lang="en-US" sz="1600" b="0" i="0" dirty="0">
            <a:solidFill>
              <a:sysClr val="windowText" lastClr="000000">
                <a:hueOff val="0"/>
                <a:satOff val="0"/>
                <a:lumOff val="0"/>
                <a:alphaOff val="0"/>
              </a:sysClr>
            </a:solidFill>
            <a:effectLst/>
            <a:latin typeface="Calibri"/>
            <a:ea typeface="+mn-ea"/>
            <a:cs typeface="Calibri"/>
          </a:endParaRPr>
        </a:p>
      </dgm:t>
    </dgm:pt>
    <dgm:pt modelId="{92782DAC-6E1A-4377-90A1-106BF49E8BC9}" type="parTrans" cxnId="{8ECD60D1-C2A7-4AC6-874A-8ABE5A5C3A7A}">
      <dgm:prSet/>
      <dgm:spPr/>
      <dgm:t>
        <a:bodyPr/>
        <a:lstStyle/>
        <a:p>
          <a:endParaRPr lang="en-GB"/>
        </a:p>
      </dgm:t>
    </dgm:pt>
    <dgm:pt modelId="{69B726F0-A8B4-4AFE-B9F5-B11CFFE40734}" type="sibTrans" cxnId="{8ECD60D1-C2A7-4AC6-874A-8ABE5A5C3A7A}">
      <dgm:prSet/>
      <dgm:spPr/>
      <dgm:t>
        <a:bodyPr/>
        <a:lstStyle/>
        <a:p>
          <a:endParaRPr lang="en-GB"/>
        </a:p>
      </dgm:t>
    </dgm:pt>
    <dgm:pt modelId="{AC6E26F2-544C-4051-B766-BE6022B83FDA}" type="pres">
      <dgm:prSet presAssocID="{2869057D-043F-45FC-B53C-58F242623178}" presName="linear" presStyleCnt="0">
        <dgm:presLayoutVars>
          <dgm:dir/>
          <dgm:animLvl val="lvl"/>
          <dgm:resizeHandles val="exact"/>
        </dgm:presLayoutVars>
      </dgm:prSet>
      <dgm:spPr/>
    </dgm:pt>
    <dgm:pt modelId="{337E4D52-4BF5-47F1-B52E-B021A4C982F6}" type="pres">
      <dgm:prSet presAssocID="{89727E62-A65B-4157-A65E-A46DAC0BF0CD}" presName="parentLin" presStyleCnt="0"/>
      <dgm:spPr/>
    </dgm:pt>
    <dgm:pt modelId="{CE2F8564-D26E-4C2A-A44E-27FED01AEED1}" type="pres">
      <dgm:prSet presAssocID="{89727E62-A65B-4157-A65E-A46DAC0BF0CD}" presName="parentLeftMargin" presStyleLbl="node1" presStyleIdx="0" presStyleCnt="5"/>
      <dgm:spPr/>
    </dgm:pt>
    <dgm:pt modelId="{91C171FA-FA0A-4E9F-BAAB-E3DA5A65778D}" type="pres">
      <dgm:prSet presAssocID="{89727E62-A65B-4157-A65E-A46DAC0BF0CD}" presName="parentText" presStyleLbl="node1" presStyleIdx="0" presStyleCnt="5">
        <dgm:presLayoutVars>
          <dgm:chMax val="0"/>
          <dgm:bulletEnabled val="1"/>
        </dgm:presLayoutVars>
      </dgm:prSet>
      <dgm:spPr/>
    </dgm:pt>
    <dgm:pt modelId="{E4463A06-3A33-4852-8948-2FA431D6657E}" type="pres">
      <dgm:prSet presAssocID="{89727E62-A65B-4157-A65E-A46DAC0BF0CD}" presName="negativeSpace" presStyleCnt="0"/>
      <dgm:spPr/>
    </dgm:pt>
    <dgm:pt modelId="{55600A26-4D8F-4B68-AA71-EBAFE8B46D4D}" type="pres">
      <dgm:prSet presAssocID="{89727E62-A65B-4157-A65E-A46DAC0BF0CD}" presName="childText" presStyleLbl="conFgAcc1" presStyleIdx="0" presStyleCnt="5">
        <dgm:presLayoutVars>
          <dgm:bulletEnabled val="1"/>
        </dgm:presLayoutVars>
      </dgm:prSet>
      <dgm:spPr/>
    </dgm:pt>
    <dgm:pt modelId="{11AD5FBB-246E-4C01-B9C5-ED63F7FA08CA}" type="pres">
      <dgm:prSet presAssocID="{9E03FC86-61EE-4BD1-8849-83BEFB806818}" presName="spaceBetweenRectangles" presStyleCnt="0"/>
      <dgm:spPr/>
    </dgm:pt>
    <dgm:pt modelId="{2CA3D22E-848E-486C-AAE4-F8FBB0B2B0D4}" type="pres">
      <dgm:prSet presAssocID="{838DBC59-ADBF-4074-8DB8-02C0A0B0ACD6}" presName="parentLin" presStyleCnt="0"/>
      <dgm:spPr/>
    </dgm:pt>
    <dgm:pt modelId="{6570C6C1-FD6E-44E1-9344-F84953A61506}" type="pres">
      <dgm:prSet presAssocID="{838DBC59-ADBF-4074-8DB8-02C0A0B0ACD6}" presName="parentLeftMargin" presStyleLbl="node1" presStyleIdx="0" presStyleCnt="5"/>
      <dgm:spPr/>
    </dgm:pt>
    <dgm:pt modelId="{A3E8F3C6-9D73-4061-8600-8980629AB4AA}" type="pres">
      <dgm:prSet presAssocID="{838DBC59-ADBF-4074-8DB8-02C0A0B0ACD6}" presName="parentText" presStyleLbl="node1" presStyleIdx="1" presStyleCnt="5">
        <dgm:presLayoutVars>
          <dgm:chMax val="0"/>
          <dgm:bulletEnabled val="1"/>
        </dgm:presLayoutVars>
      </dgm:prSet>
      <dgm:spPr/>
    </dgm:pt>
    <dgm:pt modelId="{F49469EA-7D1E-458D-9299-4369B328A414}" type="pres">
      <dgm:prSet presAssocID="{838DBC59-ADBF-4074-8DB8-02C0A0B0ACD6}" presName="negativeSpace" presStyleCnt="0"/>
      <dgm:spPr/>
    </dgm:pt>
    <dgm:pt modelId="{296A94A4-08B7-48C7-BCD6-17C0B57F648D}" type="pres">
      <dgm:prSet presAssocID="{838DBC59-ADBF-4074-8DB8-02C0A0B0ACD6}" presName="childText" presStyleLbl="conFgAcc1" presStyleIdx="1" presStyleCnt="5">
        <dgm:presLayoutVars>
          <dgm:bulletEnabled val="1"/>
        </dgm:presLayoutVars>
      </dgm:prSet>
      <dgm:spPr/>
    </dgm:pt>
    <dgm:pt modelId="{00C433C1-8525-4D0D-A5FE-967A0357319E}" type="pres">
      <dgm:prSet presAssocID="{032DC3A7-56C8-4054-9B32-80E869383603}" presName="spaceBetweenRectangles" presStyleCnt="0"/>
      <dgm:spPr/>
    </dgm:pt>
    <dgm:pt modelId="{13C11F50-6CA4-484F-AB42-C78BC20C603E}" type="pres">
      <dgm:prSet presAssocID="{4662293C-A11E-4D1E-AF4A-3F6CFCDE907B}" presName="parentLin" presStyleCnt="0"/>
      <dgm:spPr/>
    </dgm:pt>
    <dgm:pt modelId="{92D276D8-E042-43B8-9E26-CCDDF2B71D8C}" type="pres">
      <dgm:prSet presAssocID="{4662293C-A11E-4D1E-AF4A-3F6CFCDE907B}" presName="parentLeftMargin" presStyleLbl="node1" presStyleIdx="1" presStyleCnt="5"/>
      <dgm:spPr/>
    </dgm:pt>
    <dgm:pt modelId="{E56D2F57-DABE-4D78-89A0-4FC546A54FA8}" type="pres">
      <dgm:prSet presAssocID="{4662293C-A11E-4D1E-AF4A-3F6CFCDE907B}" presName="parentText" presStyleLbl="node1" presStyleIdx="2" presStyleCnt="5">
        <dgm:presLayoutVars>
          <dgm:chMax val="0"/>
          <dgm:bulletEnabled val="1"/>
        </dgm:presLayoutVars>
      </dgm:prSet>
      <dgm:spPr/>
    </dgm:pt>
    <dgm:pt modelId="{9396C022-6F49-402F-BE30-7A11D2622E7E}" type="pres">
      <dgm:prSet presAssocID="{4662293C-A11E-4D1E-AF4A-3F6CFCDE907B}" presName="negativeSpace" presStyleCnt="0"/>
      <dgm:spPr/>
    </dgm:pt>
    <dgm:pt modelId="{5342BE7E-914D-4485-ABAA-A99EAF98E008}" type="pres">
      <dgm:prSet presAssocID="{4662293C-A11E-4D1E-AF4A-3F6CFCDE907B}" presName="childText" presStyleLbl="conFgAcc1" presStyleIdx="2" presStyleCnt="5">
        <dgm:presLayoutVars>
          <dgm:bulletEnabled val="1"/>
        </dgm:presLayoutVars>
      </dgm:prSet>
      <dgm:spPr/>
    </dgm:pt>
    <dgm:pt modelId="{9C6763C1-E471-4447-B8BD-028E3D6F23F0}" type="pres">
      <dgm:prSet presAssocID="{7D4B8CA1-9005-4DDA-9756-B2909B6A554F}" presName="spaceBetweenRectangles" presStyleCnt="0"/>
      <dgm:spPr/>
    </dgm:pt>
    <dgm:pt modelId="{11F0C309-FF8F-4AF3-8904-078E2D470966}" type="pres">
      <dgm:prSet presAssocID="{A07303E9-CCAA-4B2E-A179-9DD6D58626E2}" presName="parentLin" presStyleCnt="0"/>
      <dgm:spPr/>
    </dgm:pt>
    <dgm:pt modelId="{1180B0B0-B299-4B85-8701-A158FDC59F4D}" type="pres">
      <dgm:prSet presAssocID="{A07303E9-CCAA-4B2E-A179-9DD6D58626E2}" presName="parentLeftMargin" presStyleLbl="node1" presStyleIdx="2" presStyleCnt="5"/>
      <dgm:spPr/>
    </dgm:pt>
    <dgm:pt modelId="{1741F0D9-D103-4CDF-84EB-4C6931734CDE}" type="pres">
      <dgm:prSet presAssocID="{A07303E9-CCAA-4B2E-A179-9DD6D58626E2}" presName="parentText" presStyleLbl="node1" presStyleIdx="3" presStyleCnt="5">
        <dgm:presLayoutVars>
          <dgm:chMax val="0"/>
          <dgm:bulletEnabled val="1"/>
        </dgm:presLayoutVars>
      </dgm:prSet>
      <dgm:spPr/>
    </dgm:pt>
    <dgm:pt modelId="{F80CB853-94CD-45FB-B9A8-E8B0A3F3E3DC}" type="pres">
      <dgm:prSet presAssocID="{A07303E9-CCAA-4B2E-A179-9DD6D58626E2}" presName="negativeSpace" presStyleCnt="0"/>
      <dgm:spPr/>
    </dgm:pt>
    <dgm:pt modelId="{A67EBED1-C72B-4444-B1B4-23D0D1846BA4}" type="pres">
      <dgm:prSet presAssocID="{A07303E9-CCAA-4B2E-A179-9DD6D58626E2}" presName="childText" presStyleLbl="conFgAcc1" presStyleIdx="3" presStyleCnt="5">
        <dgm:presLayoutVars>
          <dgm:bulletEnabled val="1"/>
        </dgm:presLayoutVars>
      </dgm:prSet>
      <dgm:spPr/>
    </dgm:pt>
    <dgm:pt modelId="{85EDE37D-39A9-415F-81D8-41B9EFB3A7C8}" type="pres">
      <dgm:prSet presAssocID="{A525A5F0-0C13-46BB-A9C2-63CF12521388}" presName="spaceBetweenRectangles" presStyleCnt="0"/>
      <dgm:spPr/>
    </dgm:pt>
    <dgm:pt modelId="{EA2CCCBB-7A81-4E00-95F4-BBBCAF5B0E1D}" type="pres">
      <dgm:prSet presAssocID="{164A0BE0-DA50-4243-80EA-3358659FAC0F}" presName="parentLin" presStyleCnt="0"/>
      <dgm:spPr/>
    </dgm:pt>
    <dgm:pt modelId="{5C91F0EC-6677-4901-B260-8DA50F8CB5E9}" type="pres">
      <dgm:prSet presAssocID="{164A0BE0-DA50-4243-80EA-3358659FAC0F}" presName="parentLeftMargin" presStyleLbl="node1" presStyleIdx="3" presStyleCnt="5"/>
      <dgm:spPr/>
    </dgm:pt>
    <dgm:pt modelId="{C4C794F9-1B22-47C6-92BB-ED700A6EE50E}" type="pres">
      <dgm:prSet presAssocID="{164A0BE0-DA50-4243-80EA-3358659FAC0F}" presName="parentText" presStyleLbl="node1" presStyleIdx="4" presStyleCnt="5">
        <dgm:presLayoutVars>
          <dgm:chMax val="0"/>
          <dgm:bulletEnabled val="1"/>
        </dgm:presLayoutVars>
      </dgm:prSet>
      <dgm:spPr/>
    </dgm:pt>
    <dgm:pt modelId="{CE714318-5BAE-489A-993E-86B265C83659}" type="pres">
      <dgm:prSet presAssocID="{164A0BE0-DA50-4243-80EA-3358659FAC0F}" presName="negativeSpace" presStyleCnt="0"/>
      <dgm:spPr/>
    </dgm:pt>
    <dgm:pt modelId="{E2999B1B-A1DA-4C2E-9B80-B9C9988238D1}" type="pres">
      <dgm:prSet presAssocID="{164A0BE0-DA50-4243-80EA-3358659FAC0F}" presName="childText" presStyleLbl="conFgAcc1" presStyleIdx="4" presStyleCnt="5">
        <dgm:presLayoutVars>
          <dgm:bulletEnabled val="1"/>
        </dgm:presLayoutVars>
      </dgm:prSet>
      <dgm:spPr/>
    </dgm:pt>
  </dgm:ptLst>
  <dgm:cxnLst>
    <dgm:cxn modelId="{FA005403-EA5A-4470-8922-AF8713E25B33}" type="presOf" srcId="{89727E62-A65B-4157-A65E-A46DAC0BF0CD}" destId="{CE2F8564-D26E-4C2A-A44E-27FED01AEED1}" srcOrd="0" destOrd="0" presId="urn:microsoft.com/office/officeart/2005/8/layout/list1"/>
    <dgm:cxn modelId="{8E52010A-0BD6-419F-814A-DD2CAE19EA98}" type="presOf" srcId="{A07303E9-CCAA-4B2E-A179-9DD6D58626E2}" destId="{1180B0B0-B299-4B85-8701-A158FDC59F4D}" srcOrd="0" destOrd="0" presId="urn:microsoft.com/office/officeart/2005/8/layout/list1"/>
    <dgm:cxn modelId="{959EC41C-D280-4AF7-8887-A76F0643FF18}" type="presOf" srcId="{89727E62-A65B-4157-A65E-A46DAC0BF0CD}" destId="{91C171FA-FA0A-4E9F-BAAB-E3DA5A65778D}" srcOrd="1" destOrd="0" presId="urn:microsoft.com/office/officeart/2005/8/layout/list1"/>
    <dgm:cxn modelId="{335B691E-6F65-4DE0-84FE-B7BA90D7FCD6}" srcId="{2869057D-043F-45FC-B53C-58F242623178}" destId="{838DBC59-ADBF-4074-8DB8-02C0A0B0ACD6}" srcOrd="1" destOrd="0" parTransId="{F222862F-A67C-4850-850D-D16F83598C3F}" sibTransId="{032DC3A7-56C8-4054-9B32-80E869383603}"/>
    <dgm:cxn modelId="{D0F59121-95BE-4153-8474-3C1A81F8A8B0}" type="presOf" srcId="{8B2AD4C3-7A5B-4B65-9E8B-374798D6C68D}" destId="{55600A26-4D8F-4B68-AA71-EBAFE8B46D4D}" srcOrd="0" destOrd="0" presId="urn:microsoft.com/office/officeart/2005/8/layout/list1"/>
    <dgm:cxn modelId="{BC108F25-7BE3-4468-927C-62812E0C4E13}" srcId="{2869057D-043F-45FC-B53C-58F242623178}" destId="{A07303E9-CCAA-4B2E-A179-9DD6D58626E2}" srcOrd="3" destOrd="0" parTransId="{66987BF4-CA92-4C55-AE6A-1CE5FBC385F6}" sibTransId="{A525A5F0-0C13-46BB-A9C2-63CF12521388}"/>
    <dgm:cxn modelId="{35F89633-F913-4519-9058-3DB5BFF06D42}" srcId="{2869057D-043F-45FC-B53C-58F242623178}" destId="{164A0BE0-DA50-4243-80EA-3358659FAC0F}" srcOrd="4" destOrd="0" parTransId="{38BC8572-083D-468F-B84A-81B31D520EC2}" sibTransId="{3753F211-1240-408F-AF8D-D4C15883E227}"/>
    <dgm:cxn modelId="{8517893D-365A-4C54-AD1E-C4FB178473C8}" srcId="{89727E62-A65B-4157-A65E-A46DAC0BF0CD}" destId="{8B2AD4C3-7A5B-4B65-9E8B-374798D6C68D}" srcOrd="0" destOrd="0" parTransId="{E8FB66EF-1EA1-4703-8762-E072B40CF2C7}" sibTransId="{1F69BBFF-456F-4872-8447-38A497F867BD}"/>
    <dgm:cxn modelId="{81C00044-F867-41F3-8213-48662A2F8399}" type="presOf" srcId="{164A0BE0-DA50-4243-80EA-3358659FAC0F}" destId="{C4C794F9-1B22-47C6-92BB-ED700A6EE50E}" srcOrd="1" destOrd="0" presId="urn:microsoft.com/office/officeart/2005/8/layout/list1"/>
    <dgm:cxn modelId="{63506E47-BBF3-48CF-BA9F-8B55B38C4764}" srcId="{A07303E9-CCAA-4B2E-A179-9DD6D58626E2}" destId="{ECAADFB1-CC7F-4F58-B73C-3A73D79E2A20}" srcOrd="0" destOrd="0" parTransId="{85493D4B-B5F8-4D56-BFB3-D628CA469A32}" sibTransId="{C3C6DAB7-F3AF-40A1-B40B-A4B01F9BDC4D}"/>
    <dgm:cxn modelId="{548B2A6C-0E04-4467-A629-947FCEBC0B7B}" type="presOf" srcId="{ECAADFB1-CC7F-4F58-B73C-3A73D79E2A20}" destId="{A67EBED1-C72B-4444-B1B4-23D0D1846BA4}" srcOrd="0" destOrd="0" presId="urn:microsoft.com/office/officeart/2005/8/layout/list1"/>
    <dgm:cxn modelId="{D45D064D-C357-454B-921D-C212DA77120A}" srcId="{4662293C-A11E-4D1E-AF4A-3F6CFCDE907B}" destId="{AD1ABA71-9610-4561-A81A-8570CF7463F3}" srcOrd="0" destOrd="0" parTransId="{B04A3366-2FC4-4FC0-8AA7-5A9F0503186A}" sibTransId="{0201D5E0-A497-4BFE-BE20-A31C05AF66D6}"/>
    <dgm:cxn modelId="{6D2D966E-54EE-46CA-AE24-3CCC038DB02A}" type="presOf" srcId="{4662293C-A11E-4D1E-AF4A-3F6CFCDE907B}" destId="{E56D2F57-DABE-4D78-89A0-4FC546A54FA8}" srcOrd="1" destOrd="0" presId="urn:microsoft.com/office/officeart/2005/8/layout/list1"/>
    <dgm:cxn modelId="{C481D56E-C01A-4E74-8D33-D44FF49E4F8E}" type="presOf" srcId="{838DBC59-ADBF-4074-8DB8-02C0A0B0ACD6}" destId="{6570C6C1-FD6E-44E1-9344-F84953A61506}" srcOrd="0" destOrd="0" presId="urn:microsoft.com/office/officeart/2005/8/layout/list1"/>
    <dgm:cxn modelId="{4E13F572-BF25-4374-9E5D-F535E3081050}" srcId="{2869057D-043F-45FC-B53C-58F242623178}" destId="{89727E62-A65B-4157-A65E-A46DAC0BF0CD}" srcOrd="0" destOrd="0" parTransId="{655B2F0D-8F63-4C5D-8985-EFCA842F0B24}" sibTransId="{9E03FC86-61EE-4BD1-8849-83BEFB806818}"/>
    <dgm:cxn modelId="{01B60682-678A-41FF-9EFF-BA88FD2967AE}" type="presOf" srcId="{4662293C-A11E-4D1E-AF4A-3F6CFCDE907B}" destId="{92D276D8-E042-43B8-9E26-CCDDF2B71D8C}" srcOrd="0" destOrd="0" presId="urn:microsoft.com/office/officeart/2005/8/layout/list1"/>
    <dgm:cxn modelId="{6936D585-82AA-4DAC-8F37-9A9EE6EB42FD}" srcId="{164A0BE0-DA50-4243-80EA-3358659FAC0F}" destId="{C18D8118-3A29-43AD-88A3-3D2954FF9D80}" srcOrd="0" destOrd="0" parTransId="{0D5F78EC-D07F-4042-A3CB-DEF03DB27476}" sibTransId="{2535CA69-D4B7-4191-B237-F5879B3637DE}"/>
    <dgm:cxn modelId="{409E7088-C971-40C4-B526-4FA36BF19394}" srcId="{2869057D-043F-45FC-B53C-58F242623178}" destId="{4662293C-A11E-4D1E-AF4A-3F6CFCDE907B}" srcOrd="2" destOrd="0" parTransId="{FD8051DB-77EA-41C3-8D56-A868068E6F83}" sibTransId="{7D4B8CA1-9005-4DDA-9756-B2909B6A554F}"/>
    <dgm:cxn modelId="{0F6F3A8E-5AFB-4530-A80B-BDCDA1887EE7}" type="presOf" srcId="{838DBC59-ADBF-4074-8DB8-02C0A0B0ACD6}" destId="{A3E8F3C6-9D73-4061-8600-8980629AB4AA}" srcOrd="1" destOrd="0" presId="urn:microsoft.com/office/officeart/2005/8/layout/list1"/>
    <dgm:cxn modelId="{CAE47495-8914-457C-B159-AD7C808AA6F0}" type="presOf" srcId="{164A0BE0-DA50-4243-80EA-3358659FAC0F}" destId="{5C91F0EC-6677-4901-B260-8DA50F8CB5E9}" srcOrd="0" destOrd="0" presId="urn:microsoft.com/office/officeart/2005/8/layout/list1"/>
    <dgm:cxn modelId="{B3A7419D-69FA-4C5B-9E56-F8894DA96CEF}" type="presOf" srcId="{AD1ABA71-9610-4561-A81A-8570CF7463F3}" destId="{5342BE7E-914D-4485-ABAA-A99EAF98E008}" srcOrd="0" destOrd="0" presId="urn:microsoft.com/office/officeart/2005/8/layout/list1"/>
    <dgm:cxn modelId="{EB130DA8-B3C1-4D36-81AC-9A1C0F9C0E48}" srcId="{838DBC59-ADBF-4074-8DB8-02C0A0B0ACD6}" destId="{5FBDE539-641F-4BE5-AB94-E6AC356B243D}" srcOrd="0" destOrd="0" parTransId="{01694D62-0B77-41E8-80D4-7A5C88C49E33}" sibTransId="{4EF99F08-0261-4139-9D7A-D5C7AD08E40B}"/>
    <dgm:cxn modelId="{E823D0B7-4372-4727-A4D2-E7C10BC333FF}" type="presOf" srcId="{C0D24544-4B2B-489F-9E90-6CFCCB222693}" destId="{A67EBED1-C72B-4444-B1B4-23D0D1846BA4}" srcOrd="0" destOrd="1" presId="urn:microsoft.com/office/officeart/2005/8/layout/list1"/>
    <dgm:cxn modelId="{8ECD60D1-C2A7-4AC6-874A-8ABE5A5C3A7A}" srcId="{A07303E9-CCAA-4B2E-A179-9DD6D58626E2}" destId="{C0D24544-4B2B-489F-9E90-6CFCCB222693}" srcOrd="1" destOrd="0" parTransId="{92782DAC-6E1A-4377-90A1-106BF49E8BC9}" sibTransId="{69B726F0-A8B4-4AFE-B9F5-B11CFFE40734}"/>
    <dgm:cxn modelId="{FC7CAAD1-E8D3-44F5-9B19-59F8C3E163B4}" type="presOf" srcId="{C18D8118-3A29-43AD-88A3-3D2954FF9D80}" destId="{E2999B1B-A1DA-4C2E-9B80-B9C9988238D1}" srcOrd="0" destOrd="0" presId="urn:microsoft.com/office/officeart/2005/8/layout/list1"/>
    <dgm:cxn modelId="{2F9020D3-26EC-47B2-BE04-5CA04843475C}" type="presOf" srcId="{A07303E9-CCAA-4B2E-A179-9DD6D58626E2}" destId="{1741F0D9-D103-4CDF-84EB-4C6931734CDE}" srcOrd="1" destOrd="0" presId="urn:microsoft.com/office/officeart/2005/8/layout/list1"/>
    <dgm:cxn modelId="{C33791F5-9CAD-45A1-890B-0BDC63283BEB}" type="presOf" srcId="{5FBDE539-641F-4BE5-AB94-E6AC356B243D}" destId="{296A94A4-08B7-48C7-BCD6-17C0B57F648D}" srcOrd="0" destOrd="0" presId="urn:microsoft.com/office/officeart/2005/8/layout/list1"/>
    <dgm:cxn modelId="{FD5232F9-07AE-4B92-BA59-0404E46C830C}" type="presOf" srcId="{2869057D-043F-45FC-B53C-58F242623178}" destId="{AC6E26F2-544C-4051-B766-BE6022B83FDA}" srcOrd="0" destOrd="0" presId="urn:microsoft.com/office/officeart/2005/8/layout/list1"/>
    <dgm:cxn modelId="{698ABCB3-CA5C-4E08-9FC0-8D69EF6F52CF}" type="presParOf" srcId="{AC6E26F2-544C-4051-B766-BE6022B83FDA}" destId="{337E4D52-4BF5-47F1-B52E-B021A4C982F6}" srcOrd="0" destOrd="0" presId="urn:microsoft.com/office/officeart/2005/8/layout/list1"/>
    <dgm:cxn modelId="{7171C818-A5C6-4B89-8814-2645E2AAE18C}" type="presParOf" srcId="{337E4D52-4BF5-47F1-B52E-B021A4C982F6}" destId="{CE2F8564-D26E-4C2A-A44E-27FED01AEED1}" srcOrd="0" destOrd="0" presId="urn:microsoft.com/office/officeart/2005/8/layout/list1"/>
    <dgm:cxn modelId="{5CF2697C-4F4C-42A9-A9E9-9C28D76B040C}" type="presParOf" srcId="{337E4D52-4BF5-47F1-B52E-B021A4C982F6}" destId="{91C171FA-FA0A-4E9F-BAAB-E3DA5A65778D}" srcOrd="1" destOrd="0" presId="urn:microsoft.com/office/officeart/2005/8/layout/list1"/>
    <dgm:cxn modelId="{A056F110-2A6D-4C0B-82E6-1BA87BC21663}" type="presParOf" srcId="{AC6E26F2-544C-4051-B766-BE6022B83FDA}" destId="{E4463A06-3A33-4852-8948-2FA431D6657E}" srcOrd="1" destOrd="0" presId="urn:microsoft.com/office/officeart/2005/8/layout/list1"/>
    <dgm:cxn modelId="{3DCE5D7C-8F33-4F3E-8CCB-41998B010F2C}" type="presParOf" srcId="{AC6E26F2-544C-4051-B766-BE6022B83FDA}" destId="{55600A26-4D8F-4B68-AA71-EBAFE8B46D4D}" srcOrd="2" destOrd="0" presId="urn:microsoft.com/office/officeart/2005/8/layout/list1"/>
    <dgm:cxn modelId="{0B3284B3-DFE3-43C6-9A6C-F873A0997B20}" type="presParOf" srcId="{AC6E26F2-544C-4051-B766-BE6022B83FDA}" destId="{11AD5FBB-246E-4C01-B9C5-ED63F7FA08CA}" srcOrd="3" destOrd="0" presId="urn:microsoft.com/office/officeart/2005/8/layout/list1"/>
    <dgm:cxn modelId="{83BA0EED-7720-45F2-8881-1C54F2740438}" type="presParOf" srcId="{AC6E26F2-544C-4051-B766-BE6022B83FDA}" destId="{2CA3D22E-848E-486C-AAE4-F8FBB0B2B0D4}" srcOrd="4" destOrd="0" presId="urn:microsoft.com/office/officeart/2005/8/layout/list1"/>
    <dgm:cxn modelId="{3A9400D2-E4BA-4B7E-B750-03A393538D09}" type="presParOf" srcId="{2CA3D22E-848E-486C-AAE4-F8FBB0B2B0D4}" destId="{6570C6C1-FD6E-44E1-9344-F84953A61506}" srcOrd="0" destOrd="0" presId="urn:microsoft.com/office/officeart/2005/8/layout/list1"/>
    <dgm:cxn modelId="{4386D631-250D-420E-8023-FD67B650EB01}" type="presParOf" srcId="{2CA3D22E-848E-486C-AAE4-F8FBB0B2B0D4}" destId="{A3E8F3C6-9D73-4061-8600-8980629AB4AA}" srcOrd="1" destOrd="0" presId="urn:microsoft.com/office/officeart/2005/8/layout/list1"/>
    <dgm:cxn modelId="{A9540790-6DAB-439D-A77A-96516DA5342E}" type="presParOf" srcId="{AC6E26F2-544C-4051-B766-BE6022B83FDA}" destId="{F49469EA-7D1E-458D-9299-4369B328A414}" srcOrd="5" destOrd="0" presId="urn:microsoft.com/office/officeart/2005/8/layout/list1"/>
    <dgm:cxn modelId="{E0EFEA16-5455-4712-9946-38158899C87E}" type="presParOf" srcId="{AC6E26F2-544C-4051-B766-BE6022B83FDA}" destId="{296A94A4-08B7-48C7-BCD6-17C0B57F648D}" srcOrd="6" destOrd="0" presId="urn:microsoft.com/office/officeart/2005/8/layout/list1"/>
    <dgm:cxn modelId="{A80AB9CE-62ED-496A-85C2-7BABAE0602BE}" type="presParOf" srcId="{AC6E26F2-544C-4051-B766-BE6022B83FDA}" destId="{00C433C1-8525-4D0D-A5FE-967A0357319E}" srcOrd="7" destOrd="0" presId="urn:microsoft.com/office/officeart/2005/8/layout/list1"/>
    <dgm:cxn modelId="{676BD696-930F-482A-86F3-2377A3E3E9E4}" type="presParOf" srcId="{AC6E26F2-544C-4051-B766-BE6022B83FDA}" destId="{13C11F50-6CA4-484F-AB42-C78BC20C603E}" srcOrd="8" destOrd="0" presId="urn:microsoft.com/office/officeart/2005/8/layout/list1"/>
    <dgm:cxn modelId="{E8FA99CD-BE6A-4740-85FA-687F26AB3F13}" type="presParOf" srcId="{13C11F50-6CA4-484F-AB42-C78BC20C603E}" destId="{92D276D8-E042-43B8-9E26-CCDDF2B71D8C}" srcOrd="0" destOrd="0" presId="urn:microsoft.com/office/officeart/2005/8/layout/list1"/>
    <dgm:cxn modelId="{062F54FA-1279-44E9-859B-92438F33DA1C}" type="presParOf" srcId="{13C11F50-6CA4-484F-AB42-C78BC20C603E}" destId="{E56D2F57-DABE-4D78-89A0-4FC546A54FA8}" srcOrd="1" destOrd="0" presId="urn:microsoft.com/office/officeart/2005/8/layout/list1"/>
    <dgm:cxn modelId="{2D9CBC00-43B6-4511-A559-AD28E38871E7}" type="presParOf" srcId="{AC6E26F2-544C-4051-B766-BE6022B83FDA}" destId="{9396C022-6F49-402F-BE30-7A11D2622E7E}" srcOrd="9" destOrd="0" presId="urn:microsoft.com/office/officeart/2005/8/layout/list1"/>
    <dgm:cxn modelId="{CDA9FA10-7A02-48AF-A64C-57D3A3055306}" type="presParOf" srcId="{AC6E26F2-544C-4051-B766-BE6022B83FDA}" destId="{5342BE7E-914D-4485-ABAA-A99EAF98E008}" srcOrd="10" destOrd="0" presId="urn:microsoft.com/office/officeart/2005/8/layout/list1"/>
    <dgm:cxn modelId="{AAE748F2-12DA-49FC-B66C-B3E4A8140575}" type="presParOf" srcId="{AC6E26F2-544C-4051-B766-BE6022B83FDA}" destId="{9C6763C1-E471-4447-B8BD-028E3D6F23F0}" srcOrd="11" destOrd="0" presId="urn:microsoft.com/office/officeart/2005/8/layout/list1"/>
    <dgm:cxn modelId="{DDBF34E8-EB16-478D-AEE0-EB717F81974C}" type="presParOf" srcId="{AC6E26F2-544C-4051-B766-BE6022B83FDA}" destId="{11F0C309-FF8F-4AF3-8904-078E2D470966}" srcOrd="12" destOrd="0" presId="urn:microsoft.com/office/officeart/2005/8/layout/list1"/>
    <dgm:cxn modelId="{150D6A01-4DF0-45E4-A9FD-6188B737C126}" type="presParOf" srcId="{11F0C309-FF8F-4AF3-8904-078E2D470966}" destId="{1180B0B0-B299-4B85-8701-A158FDC59F4D}" srcOrd="0" destOrd="0" presId="urn:microsoft.com/office/officeart/2005/8/layout/list1"/>
    <dgm:cxn modelId="{8A1DF3A8-C19C-4A06-B114-CAE75C360086}" type="presParOf" srcId="{11F0C309-FF8F-4AF3-8904-078E2D470966}" destId="{1741F0D9-D103-4CDF-84EB-4C6931734CDE}" srcOrd="1" destOrd="0" presId="urn:microsoft.com/office/officeart/2005/8/layout/list1"/>
    <dgm:cxn modelId="{0EC69441-C64E-4AB0-BF01-571C0B327A73}" type="presParOf" srcId="{AC6E26F2-544C-4051-B766-BE6022B83FDA}" destId="{F80CB853-94CD-45FB-B9A8-E8B0A3F3E3DC}" srcOrd="13" destOrd="0" presId="urn:microsoft.com/office/officeart/2005/8/layout/list1"/>
    <dgm:cxn modelId="{6935B310-F34A-4634-9868-1F4FBDC0A10D}" type="presParOf" srcId="{AC6E26F2-544C-4051-B766-BE6022B83FDA}" destId="{A67EBED1-C72B-4444-B1B4-23D0D1846BA4}" srcOrd="14" destOrd="0" presId="urn:microsoft.com/office/officeart/2005/8/layout/list1"/>
    <dgm:cxn modelId="{0C79EB31-1FEB-4134-95BA-3A16D7F5EA2B}" type="presParOf" srcId="{AC6E26F2-544C-4051-B766-BE6022B83FDA}" destId="{85EDE37D-39A9-415F-81D8-41B9EFB3A7C8}" srcOrd="15" destOrd="0" presId="urn:microsoft.com/office/officeart/2005/8/layout/list1"/>
    <dgm:cxn modelId="{564C5921-192F-4096-A963-293B7B14973F}" type="presParOf" srcId="{AC6E26F2-544C-4051-B766-BE6022B83FDA}" destId="{EA2CCCBB-7A81-4E00-95F4-BBBCAF5B0E1D}" srcOrd="16" destOrd="0" presId="urn:microsoft.com/office/officeart/2005/8/layout/list1"/>
    <dgm:cxn modelId="{1AD9883B-E542-463E-8F69-A88240509658}" type="presParOf" srcId="{EA2CCCBB-7A81-4E00-95F4-BBBCAF5B0E1D}" destId="{5C91F0EC-6677-4901-B260-8DA50F8CB5E9}" srcOrd="0" destOrd="0" presId="urn:microsoft.com/office/officeart/2005/8/layout/list1"/>
    <dgm:cxn modelId="{D5E00B65-5967-455D-B1BA-893024753ADA}" type="presParOf" srcId="{EA2CCCBB-7A81-4E00-95F4-BBBCAF5B0E1D}" destId="{C4C794F9-1B22-47C6-92BB-ED700A6EE50E}" srcOrd="1" destOrd="0" presId="urn:microsoft.com/office/officeart/2005/8/layout/list1"/>
    <dgm:cxn modelId="{B508F07B-2F32-4AC0-8B9B-9BB79B61318C}" type="presParOf" srcId="{AC6E26F2-544C-4051-B766-BE6022B83FDA}" destId="{CE714318-5BAE-489A-993E-86B265C83659}" srcOrd="17" destOrd="0" presId="urn:microsoft.com/office/officeart/2005/8/layout/list1"/>
    <dgm:cxn modelId="{0EDA2A84-93FE-47EA-A58D-26A9B59262E8}" type="presParOf" srcId="{AC6E26F2-544C-4051-B766-BE6022B83FDA}" destId="{E2999B1B-A1DA-4C2E-9B80-B9C9988238D1}" srcOrd="18"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00A26-4D8F-4B68-AA71-EBAFE8B46D4D}">
      <dsp:nvSpPr>
        <dsp:cNvPr id="0" name=""/>
        <dsp:cNvSpPr/>
      </dsp:nvSpPr>
      <dsp:spPr>
        <a:xfrm>
          <a:off x="0" y="171573"/>
          <a:ext cx="9216349" cy="551250"/>
        </a:xfrm>
        <a:prstGeom prst="rect">
          <a:avLst/>
        </a:prstGeom>
        <a:solidFill>
          <a:sysClr val="window" lastClr="FFFFFF">
            <a:alpha val="90000"/>
            <a:hueOff val="0"/>
            <a:satOff val="0"/>
            <a:lumOff val="0"/>
            <a:alphaOff val="0"/>
          </a:sysClr>
        </a:solidFill>
        <a:ln w="12700" cap="flat" cmpd="sng" algn="ctr">
          <a:solidFill>
            <a:srgbClr val="5B9BD5">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5291" tIns="208280" rIns="715291"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solidFill>
                <a:sysClr val="windowText" lastClr="000000">
                  <a:hueOff val="0"/>
                  <a:satOff val="0"/>
                  <a:lumOff val="0"/>
                  <a:alphaOff val="0"/>
                </a:sysClr>
              </a:solidFill>
              <a:latin typeface="Calibri"/>
              <a:ea typeface="+mn-ea"/>
              <a:cs typeface="Calibri"/>
            </a:rPr>
            <a:t>R</a:t>
          </a:r>
          <a:r>
            <a:rPr lang="en-GB" sz="1600" b="0" i="0" u="none" strike="noStrike" kern="1200" dirty="0">
              <a:solidFill>
                <a:sysClr val="windowText" lastClr="000000">
                  <a:hueOff val="0"/>
                  <a:satOff val="0"/>
                  <a:lumOff val="0"/>
                  <a:alphaOff val="0"/>
                </a:sysClr>
              </a:solidFill>
              <a:effectLst/>
              <a:latin typeface="Calibri"/>
              <a:ea typeface="+mn-ea"/>
              <a:cs typeface="Calibri"/>
            </a:rPr>
            <a:t>ule interpretations and compliance effort is spread across the industry</a:t>
          </a:r>
          <a:endParaRPr lang="en-US" sz="1600" b="0" i="0" kern="1200" dirty="0">
            <a:solidFill>
              <a:sysClr val="windowText" lastClr="000000">
                <a:hueOff val="0"/>
                <a:satOff val="0"/>
                <a:lumOff val="0"/>
                <a:alphaOff val="0"/>
              </a:sysClr>
            </a:solidFill>
            <a:effectLst/>
            <a:latin typeface="Calibri"/>
            <a:ea typeface="+mn-ea"/>
            <a:cs typeface="Calibri"/>
          </a:endParaRPr>
        </a:p>
      </dsp:txBody>
      <dsp:txXfrm>
        <a:off x="0" y="171573"/>
        <a:ext cx="9216349" cy="551250"/>
      </dsp:txXfrm>
    </dsp:sp>
    <dsp:sp modelId="{91C171FA-FA0A-4E9F-BAAB-E3DA5A65778D}">
      <dsp:nvSpPr>
        <dsp:cNvPr id="0" name=""/>
        <dsp:cNvSpPr/>
      </dsp:nvSpPr>
      <dsp:spPr>
        <a:xfrm>
          <a:off x="460817" y="23973"/>
          <a:ext cx="6451445" cy="295200"/>
        </a:xfrm>
        <a:prstGeom prst="roundRect">
          <a:avLst/>
        </a:prstGeom>
        <a:solidFill>
          <a:srgbClr val="5B9BD5">
            <a:hueOff val="0"/>
            <a:satOff val="0"/>
            <a:lumOff val="0"/>
            <a:alphaOff val="0"/>
          </a:srgbClr>
        </a:solidFill>
        <a:ln w="12700" cap="flat" cmpd="sng" algn="ctr">
          <a:solidFill>
            <a:sysClr val="window" lastClr="FFFFFF">
              <a:hueOff val="0"/>
              <a:satOff val="0"/>
              <a:lumOff val="0"/>
              <a:alphaOff val="0"/>
            </a:sysClr>
          </a:solidFill>
          <a:prstDash val="solid"/>
          <a:miter lim="800000"/>
        </a:ln>
        <a:effectLst>
          <a:outerShdw blurRad="76200" dir="13500000" sy="23000" kx="1200000" algn="br" rotWithShape="0">
            <a:prstClr val="black">
              <a:alpha val="20000"/>
            </a:prstClr>
          </a:outerShdw>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43849" tIns="0" rIns="243849" bIns="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GB" sz="1600" b="1" i="0" u="none" strike="noStrike" kern="1200" dirty="0">
              <a:solidFill>
                <a:sysClr val="window" lastClr="FFFFFF"/>
              </a:solidFill>
              <a:effectLst/>
              <a:latin typeface="Calibri"/>
              <a:ea typeface="+mn-ea"/>
              <a:cs typeface="Calibri"/>
            </a:rPr>
            <a:t>Mutualize regulatory reporting compliance effort</a:t>
          </a:r>
          <a:endParaRPr lang="en-IE" sz="1600" kern="1200" dirty="0">
            <a:solidFill>
              <a:sysClr val="window" lastClr="FFFFFF"/>
            </a:solidFill>
            <a:latin typeface="Calibri"/>
            <a:ea typeface="+mn-ea"/>
            <a:cs typeface="Calibri"/>
          </a:endParaRPr>
        </a:p>
      </dsp:txBody>
      <dsp:txXfrm>
        <a:off x="475227" y="38383"/>
        <a:ext cx="6422625" cy="266380"/>
      </dsp:txXfrm>
    </dsp:sp>
    <dsp:sp modelId="{296A94A4-08B7-48C7-BCD6-17C0B57F648D}">
      <dsp:nvSpPr>
        <dsp:cNvPr id="0" name=""/>
        <dsp:cNvSpPr/>
      </dsp:nvSpPr>
      <dsp:spPr>
        <a:xfrm>
          <a:off x="0" y="924423"/>
          <a:ext cx="9216349" cy="771750"/>
        </a:xfrm>
        <a:prstGeom prst="rect">
          <a:avLst/>
        </a:prstGeom>
        <a:solidFill>
          <a:sysClr val="window" lastClr="FFFFFF">
            <a:alpha val="90000"/>
            <a:hueOff val="0"/>
            <a:satOff val="0"/>
            <a:lumOff val="0"/>
            <a:alphaOff val="0"/>
          </a:sysClr>
        </a:solidFill>
        <a:ln w="12700" cap="flat" cmpd="sng" algn="ctr">
          <a:solidFill>
            <a:srgbClr val="5B9BD5">
              <a:hueOff val="-1689636"/>
              <a:satOff val="-4355"/>
              <a:lumOff val="-2941"/>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5291" tIns="208280" rIns="715291" bIns="113792" numCol="1" spcCol="1270" anchor="t" anchorCtr="0">
          <a:noAutofit/>
        </a:bodyPr>
        <a:lstStyle/>
        <a:p>
          <a:pPr marL="171450" lvl="1" indent="-171450" algn="l" defTabSz="711200">
            <a:lnSpc>
              <a:spcPct val="90000"/>
            </a:lnSpc>
            <a:spcBef>
              <a:spcPct val="0"/>
            </a:spcBef>
            <a:spcAft>
              <a:spcPct val="15000"/>
            </a:spcAft>
            <a:buChar char="•"/>
          </a:pPr>
          <a:r>
            <a:rPr lang="en-GB" sz="1600" b="0" i="0" u="none" strike="noStrike" kern="1200" dirty="0">
              <a:solidFill>
                <a:sysClr val="windowText" lastClr="000000">
                  <a:hueOff val="0"/>
                  <a:satOff val="0"/>
                  <a:lumOff val="0"/>
                  <a:alphaOff val="0"/>
                </a:sysClr>
              </a:solidFill>
              <a:effectLst/>
              <a:latin typeface="Calibri"/>
              <a:ea typeface="+mn-ea"/>
              <a:cs typeface="Calibri"/>
            </a:rPr>
            <a:t>Reflects rules, guidance and industry best practices in an unambiguous way within the DRR model</a:t>
          </a:r>
          <a:endParaRPr lang="en-US" sz="1600" b="0" i="0" kern="1200" dirty="0">
            <a:solidFill>
              <a:sysClr val="windowText" lastClr="000000">
                <a:hueOff val="0"/>
                <a:satOff val="0"/>
                <a:lumOff val="0"/>
                <a:alphaOff val="0"/>
              </a:sysClr>
            </a:solidFill>
            <a:effectLst/>
            <a:latin typeface="Calibri"/>
            <a:ea typeface="+mn-ea"/>
            <a:cs typeface="Calibri"/>
          </a:endParaRPr>
        </a:p>
      </dsp:txBody>
      <dsp:txXfrm>
        <a:off x="0" y="924423"/>
        <a:ext cx="9216349" cy="771750"/>
      </dsp:txXfrm>
    </dsp:sp>
    <dsp:sp modelId="{A3E8F3C6-9D73-4061-8600-8980629AB4AA}">
      <dsp:nvSpPr>
        <dsp:cNvPr id="0" name=""/>
        <dsp:cNvSpPr/>
      </dsp:nvSpPr>
      <dsp:spPr>
        <a:xfrm>
          <a:off x="460817" y="776823"/>
          <a:ext cx="6451445" cy="295200"/>
        </a:xfrm>
        <a:prstGeom prst="roundRect">
          <a:avLst/>
        </a:prstGeom>
        <a:solidFill>
          <a:srgbClr val="5B9BD5">
            <a:hueOff val="-1689636"/>
            <a:satOff val="-4355"/>
            <a:lumOff val="-2941"/>
            <a:alphaOff val="0"/>
          </a:srgbClr>
        </a:solidFill>
        <a:ln w="12700" cap="flat" cmpd="sng" algn="ctr">
          <a:solidFill>
            <a:sysClr val="window" lastClr="FFFFFF">
              <a:hueOff val="0"/>
              <a:satOff val="0"/>
              <a:lumOff val="0"/>
              <a:alphaOff val="0"/>
            </a:sys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43849" tIns="0" rIns="243849" bIns="0" numCol="1" spcCol="1270" anchor="ctr" anchorCtr="0">
          <a:noAutofit/>
        </a:bodyPr>
        <a:lstStyle/>
        <a:p>
          <a:pPr marL="0" lvl="0" indent="0" algn="l" defTabSz="711200">
            <a:lnSpc>
              <a:spcPct val="90000"/>
            </a:lnSpc>
            <a:spcBef>
              <a:spcPct val="0"/>
            </a:spcBef>
            <a:spcAft>
              <a:spcPct val="35000"/>
            </a:spcAft>
            <a:buNone/>
          </a:pPr>
          <a:r>
            <a:rPr lang="en-GB" sz="1600" b="1" kern="1200" dirty="0">
              <a:solidFill>
                <a:sysClr val="window" lastClr="FFFFFF"/>
              </a:solidFill>
              <a:latin typeface="Calibri"/>
              <a:ea typeface="+mn-ea"/>
              <a:cs typeface="Calibri"/>
            </a:rPr>
            <a:t>Gives you</a:t>
          </a:r>
          <a:r>
            <a:rPr lang="en-GB" sz="1600" b="1" i="0" u="none" strike="noStrike" kern="1200" dirty="0">
              <a:solidFill>
                <a:sysClr val="window" lastClr="FFFFFF"/>
              </a:solidFill>
              <a:effectLst/>
              <a:latin typeface="Calibri"/>
              <a:ea typeface="+mn-ea"/>
              <a:cs typeface="Calibri"/>
            </a:rPr>
            <a:t> an unambiguous rule interpretation</a:t>
          </a:r>
          <a:endParaRPr lang="en-GB" sz="1600" kern="1200" dirty="0">
            <a:solidFill>
              <a:sysClr val="window" lastClr="FFFFFF"/>
            </a:solidFill>
            <a:latin typeface="Calibri"/>
            <a:ea typeface="+mn-ea"/>
            <a:cs typeface="Calibri"/>
          </a:endParaRPr>
        </a:p>
      </dsp:txBody>
      <dsp:txXfrm>
        <a:off x="475227" y="791233"/>
        <a:ext cx="6422625" cy="266380"/>
      </dsp:txXfrm>
    </dsp:sp>
    <dsp:sp modelId="{5342BE7E-914D-4485-ABAA-A99EAF98E008}">
      <dsp:nvSpPr>
        <dsp:cNvPr id="0" name=""/>
        <dsp:cNvSpPr/>
      </dsp:nvSpPr>
      <dsp:spPr>
        <a:xfrm>
          <a:off x="0" y="1897773"/>
          <a:ext cx="9216349" cy="551250"/>
        </a:xfrm>
        <a:prstGeom prst="rect">
          <a:avLst/>
        </a:prstGeom>
        <a:solidFill>
          <a:sysClr val="window" lastClr="FFFFFF">
            <a:alpha val="90000"/>
            <a:hueOff val="0"/>
            <a:satOff val="0"/>
            <a:lumOff val="0"/>
            <a:alphaOff val="0"/>
          </a:sysClr>
        </a:solidFill>
        <a:ln w="12700" cap="flat" cmpd="sng" algn="ctr">
          <a:solidFill>
            <a:srgbClr val="5B9BD5">
              <a:hueOff val="-3379271"/>
              <a:satOff val="-8710"/>
              <a:lumOff val="-5883"/>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5291" tIns="208280" rIns="715291"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solidFill>
                <a:sysClr val="windowText" lastClr="000000">
                  <a:hueOff val="0"/>
                  <a:satOff val="0"/>
                  <a:lumOff val="0"/>
                  <a:alphaOff val="0"/>
                </a:sysClr>
              </a:solidFill>
              <a:latin typeface="Calibri"/>
              <a:ea typeface="+mn-ea"/>
              <a:cs typeface="Calibri"/>
            </a:rPr>
            <a:t>The DRR will be accessible to regulators and market participants</a:t>
          </a:r>
          <a:endParaRPr lang="en-GB" sz="1600" b="0" i="0" u="none" strike="noStrike" kern="1200" dirty="0">
            <a:solidFill>
              <a:sysClr val="windowText" lastClr="000000">
                <a:hueOff val="0"/>
                <a:satOff val="0"/>
                <a:lumOff val="0"/>
                <a:alphaOff val="0"/>
              </a:sysClr>
            </a:solidFill>
            <a:effectLst/>
            <a:latin typeface="Calibri"/>
            <a:ea typeface="+mn-ea"/>
            <a:cs typeface="Calibri"/>
          </a:endParaRPr>
        </a:p>
      </dsp:txBody>
      <dsp:txXfrm>
        <a:off x="0" y="1897773"/>
        <a:ext cx="9216349" cy="551250"/>
      </dsp:txXfrm>
    </dsp:sp>
    <dsp:sp modelId="{E56D2F57-DABE-4D78-89A0-4FC546A54FA8}">
      <dsp:nvSpPr>
        <dsp:cNvPr id="0" name=""/>
        <dsp:cNvSpPr/>
      </dsp:nvSpPr>
      <dsp:spPr>
        <a:xfrm>
          <a:off x="460817" y="1750173"/>
          <a:ext cx="6451445" cy="295200"/>
        </a:xfrm>
        <a:prstGeom prst="roundRect">
          <a:avLst/>
        </a:prstGeom>
        <a:solidFill>
          <a:srgbClr val="5B9BD5">
            <a:hueOff val="-3379271"/>
            <a:satOff val="-8710"/>
            <a:lumOff val="-5883"/>
            <a:alphaOff val="0"/>
          </a:srgbClr>
        </a:solidFill>
        <a:ln w="12700" cap="flat" cmpd="sng" algn="ctr">
          <a:solidFill>
            <a:sysClr val="window" lastClr="FFFFFF">
              <a:hueOff val="0"/>
              <a:satOff val="0"/>
              <a:lumOff val="0"/>
              <a:alphaOff val="0"/>
            </a:sys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43849" tIns="0" rIns="243849" bIns="0" numCol="1" spcCol="1270" anchor="ctr" anchorCtr="0">
          <a:noAutofit/>
        </a:bodyPr>
        <a:lstStyle/>
        <a:p>
          <a:pPr marL="0" lvl="0" indent="0" algn="l" defTabSz="711200">
            <a:lnSpc>
              <a:spcPct val="90000"/>
            </a:lnSpc>
            <a:spcBef>
              <a:spcPct val="0"/>
            </a:spcBef>
            <a:spcAft>
              <a:spcPct val="35000"/>
            </a:spcAft>
            <a:buNone/>
          </a:pPr>
          <a:r>
            <a:rPr lang="en-GB" sz="1600" b="1" kern="1200" dirty="0">
              <a:solidFill>
                <a:sysClr val="window" lastClr="FFFFFF"/>
              </a:solidFill>
              <a:latin typeface="Calibri"/>
              <a:ea typeface="+mn-ea"/>
              <a:cs typeface="Calibri"/>
            </a:rPr>
            <a:t>DRR is open-access and increases transparency</a:t>
          </a:r>
        </a:p>
      </dsp:txBody>
      <dsp:txXfrm>
        <a:off x="475227" y="1764583"/>
        <a:ext cx="6422625" cy="266380"/>
      </dsp:txXfrm>
    </dsp:sp>
    <dsp:sp modelId="{A67EBED1-C72B-4444-B1B4-23D0D1846BA4}">
      <dsp:nvSpPr>
        <dsp:cNvPr id="0" name=""/>
        <dsp:cNvSpPr/>
      </dsp:nvSpPr>
      <dsp:spPr>
        <a:xfrm>
          <a:off x="0" y="2650624"/>
          <a:ext cx="9216349" cy="1039500"/>
        </a:xfrm>
        <a:prstGeom prst="rect">
          <a:avLst/>
        </a:prstGeom>
        <a:solidFill>
          <a:sysClr val="window" lastClr="FFFFFF">
            <a:alpha val="90000"/>
            <a:hueOff val="0"/>
            <a:satOff val="0"/>
            <a:lumOff val="0"/>
            <a:alphaOff val="0"/>
          </a:sysClr>
        </a:solidFill>
        <a:ln w="12700" cap="flat" cmpd="sng" algn="ctr">
          <a:solidFill>
            <a:srgbClr val="5B9BD5">
              <a:hueOff val="-5068907"/>
              <a:satOff val="-13064"/>
              <a:lumOff val="-8824"/>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5291" tIns="208280" rIns="715291" bIns="113792" numCol="1" spcCol="1270" anchor="t" anchorCtr="0">
          <a:noAutofit/>
        </a:bodyPr>
        <a:lstStyle/>
        <a:p>
          <a:pPr marL="171450" lvl="1" indent="-171450" algn="l" defTabSz="711200">
            <a:lnSpc>
              <a:spcPct val="90000"/>
            </a:lnSpc>
            <a:spcBef>
              <a:spcPct val="0"/>
            </a:spcBef>
            <a:spcAft>
              <a:spcPct val="15000"/>
            </a:spcAft>
            <a:buChar char="•"/>
          </a:pPr>
          <a:r>
            <a:rPr lang="en-GB" sz="1600" b="0" i="0" u="none" strike="noStrike" kern="1200" dirty="0">
              <a:solidFill>
                <a:sysClr val="windowText" lastClr="000000">
                  <a:hueOff val="0"/>
                  <a:satOff val="0"/>
                  <a:lumOff val="0"/>
                  <a:alphaOff val="0"/>
                </a:sysClr>
              </a:solidFill>
              <a:effectLst/>
              <a:latin typeface="Calibri"/>
              <a:ea typeface="+mn-ea"/>
              <a:cs typeface="Calibri"/>
            </a:rPr>
            <a:t>Thereafter, only incremental efforts are required to extend the DRR model to other jurisdictions and future changes to reporting rules</a:t>
          </a:r>
        </a:p>
        <a:p>
          <a:pPr marL="171450" lvl="1" indent="-171450" algn="l" defTabSz="711200">
            <a:lnSpc>
              <a:spcPct val="90000"/>
            </a:lnSpc>
            <a:spcBef>
              <a:spcPct val="0"/>
            </a:spcBef>
            <a:spcAft>
              <a:spcPct val="15000"/>
            </a:spcAft>
            <a:buChar char="•"/>
          </a:pPr>
          <a:r>
            <a:rPr lang="en-GB" sz="1600" b="0" i="0" u="none" strike="noStrike" kern="1200" dirty="0">
              <a:solidFill>
                <a:sysClr val="windowText" lastClr="000000">
                  <a:hueOff val="0"/>
                  <a:satOff val="0"/>
                  <a:lumOff val="0"/>
                  <a:alphaOff val="0"/>
                </a:sysClr>
              </a:solidFill>
              <a:effectLst/>
              <a:latin typeface="Calibri"/>
              <a:ea typeface="+mn-ea"/>
              <a:cs typeface="Calibri"/>
            </a:rPr>
            <a:t>And such updates will be delivered through centralized DRR model changes</a:t>
          </a:r>
          <a:endParaRPr lang="en-US" sz="1600" b="0" i="0" kern="1200" dirty="0">
            <a:solidFill>
              <a:sysClr val="windowText" lastClr="000000">
                <a:hueOff val="0"/>
                <a:satOff val="0"/>
                <a:lumOff val="0"/>
                <a:alphaOff val="0"/>
              </a:sysClr>
            </a:solidFill>
            <a:effectLst/>
            <a:latin typeface="Calibri"/>
            <a:ea typeface="+mn-ea"/>
            <a:cs typeface="Calibri"/>
          </a:endParaRPr>
        </a:p>
      </dsp:txBody>
      <dsp:txXfrm>
        <a:off x="0" y="2650624"/>
        <a:ext cx="9216349" cy="1039500"/>
      </dsp:txXfrm>
    </dsp:sp>
    <dsp:sp modelId="{1741F0D9-D103-4CDF-84EB-4C6931734CDE}">
      <dsp:nvSpPr>
        <dsp:cNvPr id="0" name=""/>
        <dsp:cNvSpPr/>
      </dsp:nvSpPr>
      <dsp:spPr>
        <a:xfrm>
          <a:off x="460817" y="2503023"/>
          <a:ext cx="6451445" cy="295200"/>
        </a:xfrm>
        <a:prstGeom prst="roundRect">
          <a:avLst/>
        </a:prstGeom>
        <a:solidFill>
          <a:srgbClr val="5B9BD5">
            <a:hueOff val="-5068907"/>
            <a:satOff val="-13064"/>
            <a:lumOff val="-8824"/>
            <a:alphaOff val="0"/>
          </a:srgbClr>
        </a:solidFill>
        <a:ln w="12700" cap="flat" cmpd="sng" algn="ctr">
          <a:solidFill>
            <a:sysClr val="window" lastClr="FFFFFF">
              <a:hueOff val="0"/>
              <a:satOff val="0"/>
              <a:lumOff val="0"/>
              <a:alphaOff val="0"/>
            </a:sys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43849" tIns="0" rIns="243849" bIns="0" numCol="1" spcCol="1270" anchor="ctr" anchorCtr="0">
          <a:noAutofit/>
        </a:bodyPr>
        <a:lstStyle/>
        <a:p>
          <a:pPr marL="0" lvl="0" indent="0" algn="l" defTabSz="711200" rtl="0">
            <a:lnSpc>
              <a:spcPct val="90000"/>
            </a:lnSpc>
            <a:spcBef>
              <a:spcPct val="0"/>
            </a:spcBef>
            <a:spcAft>
              <a:spcPct val="35000"/>
            </a:spcAft>
            <a:buNone/>
          </a:pPr>
          <a:r>
            <a:rPr lang="en-GB" sz="1600" b="1" kern="1200" dirty="0">
              <a:solidFill>
                <a:sysClr val="window" lastClr="FFFFFF"/>
              </a:solidFill>
              <a:latin typeface="Calibri"/>
              <a:ea typeface="+mn-ea"/>
              <a:cs typeface="Calibri"/>
            </a:rPr>
            <a:t>D</a:t>
          </a:r>
          <a:r>
            <a:rPr lang="en-GB" sz="1600" b="1" i="0" u="none" strike="noStrike" kern="1200" dirty="0">
              <a:solidFill>
                <a:sysClr val="window" lastClr="FFFFFF"/>
              </a:solidFill>
              <a:effectLst/>
              <a:latin typeface="Calibri"/>
              <a:ea typeface="+mn-ea"/>
              <a:cs typeface="Calibri"/>
            </a:rPr>
            <a:t>efines core regulatory reporting ruleset only once</a:t>
          </a:r>
          <a:endParaRPr lang="en-GB" sz="1600" kern="1200" dirty="0">
            <a:solidFill>
              <a:sysClr val="window" lastClr="FFFFFF"/>
            </a:solidFill>
            <a:latin typeface="Calibri"/>
            <a:ea typeface="+mn-ea"/>
            <a:cs typeface="Calibri"/>
          </a:endParaRPr>
        </a:p>
      </dsp:txBody>
      <dsp:txXfrm>
        <a:off x="475227" y="2517433"/>
        <a:ext cx="6422625" cy="266380"/>
      </dsp:txXfrm>
    </dsp:sp>
    <dsp:sp modelId="{E2999B1B-A1DA-4C2E-9B80-B9C9988238D1}">
      <dsp:nvSpPr>
        <dsp:cNvPr id="0" name=""/>
        <dsp:cNvSpPr/>
      </dsp:nvSpPr>
      <dsp:spPr>
        <a:xfrm>
          <a:off x="0" y="3891724"/>
          <a:ext cx="9216349" cy="771750"/>
        </a:xfrm>
        <a:prstGeom prst="rect">
          <a:avLst/>
        </a:prstGeom>
        <a:solidFill>
          <a:sysClr val="window" lastClr="FFFFFF">
            <a:alpha val="90000"/>
            <a:hueOff val="0"/>
            <a:satOff val="0"/>
            <a:lumOff val="0"/>
            <a:alphaOff val="0"/>
          </a:sysClr>
        </a:solidFill>
        <a:ln w="12700" cap="flat" cmpd="sng" algn="ctr">
          <a:solidFill>
            <a:srgbClr val="5B9BD5">
              <a:hueOff val="-6758543"/>
              <a:satOff val="-17419"/>
              <a:lumOff val="-11765"/>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5291" tIns="208280" rIns="715291" bIns="113792" numCol="1" spcCol="1270" anchor="t" anchorCtr="0">
          <a:noAutofit/>
        </a:bodyPr>
        <a:lstStyle/>
        <a:p>
          <a:pPr marL="171450" lvl="1" indent="-171450" algn="l" defTabSz="711200">
            <a:lnSpc>
              <a:spcPct val="90000"/>
            </a:lnSpc>
            <a:spcBef>
              <a:spcPct val="0"/>
            </a:spcBef>
            <a:spcAft>
              <a:spcPct val="15000"/>
            </a:spcAft>
            <a:buChar char="•"/>
          </a:pPr>
          <a:r>
            <a:rPr lang="en-GB" sz="1600" b="0" i="0" u="none" strike="noStrike" kern="1200" dirty="0">
              <a:solidFill>
                <a:sysClr val="windowText" lastClr="000000">
                  <a:hueOff val="0"/>
                  <a:satOff val="0"/>
                  <a:lumOff val="0"/>
                  <a:alphaOff val="0"/>
                </a:sysClr>
              </a:solidFill>
              <a:effectLst/>
              <a:latin typeface="Calibri"/>
              <a:ea typeface="+mn-ea"/>
              <a:cs typeface="Calibri"/>
            </a:rPr>
            <a:t>Through the mutualized effort, firms leveraging DRR using the CDM will reap significant compliance, reporting and implementation project savings</a:t>
          </a:r>
          <a:endParaRPr lang="en-US" sz="1600" b="0" i="0" kern="1200" dirty="0">
            <a:solidFill>
              <a:sysClr val="windowText" lastClr="000000">
                <a:hueOff val="0"/>
                <a:satOff val="0"/>
                <a:lumOff val="0"/>
                <a:alphaOff val="0"/>
              </a:sysClr>
            </a:solidFill>
            <a:effectLst/>
            <a:latin typeface="Calibri"/>
            <a:ea typeface="+mn-ea"/>
            <a:cs typeface="Calibri"/>
          </a:endParaRPr>
        </a:p>
      </dsp:txBody>
      <dsp:txXfrm>
        <a:off x="0" y="3891724"/>
        <a:ext cx="9216349" cy="771750"/>
      </dsp:txXfrm>
    </dsp:sp>
    <dsp:sp modelId="{C4C794F9-1B22-47C6-92BB-ED700A6EE50E}">
      <dsp:nvSpPr>
        <dsp:cNvPr id="0" name=""/>
        <dsp:cNvSpPr/>
      </dsp:nvSpPr>
      <dsp:spPr>
        <a:xfrm>
          <a:off x="460817" y="3744124"/>
          <a:ext cx="6451445" cy="295200"/>
        </a:xfrm>
        <a:prstGeom prst="roundRect">
          <a:avLst/>
        </a:prstGeom>
        <a:solidFill>
          <a:srgbClr val="5B9BD5">
            <a:hueOff val="-6758543"/>
            <a:satOff val="-17419"/>
            <a:lumOff val="-11765"/>
            <a:alphaOff val="0"/>
          </a:srgbClr>
        </a:solidFill>
        <a:ln w="12700" cap="flat" cmpd="sng" algn="ctr">
          <a:solidFill>
            <a:sysClr val="window" lastClr="FFFFFF">
              <a:hueOff val="0"/>
              <a:satOff val="0"/>
              <a:lumOff val="0"/>
              <a:alphaOff val="0"/>
            </a:sys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43849" tIns="0" rIns="243849" bIns="0" numCol="1" spcCol="1270" anchor="ctr" anchorCtr="0">
          <a:noAutofit/>
        </a:bodyPr>
        <a:lstStyle/>
        <a:p>
          <a:pPr marL="0" lvl="0" indent="0" algn="l" defTabSz="711200">
            <a:lnSpc>
              <a:spcPct val="90000"/>
            </a:lnSpc>
            <a:spcBef>
              <a:spcPct val="0"/>
            </a:spcBef>
            <a:spcAft>
              <a:spcPct val="35000"/>
            </a:spcAft>
            <a:buNone/>
          </a:pPr>
          <a:r>
            <a:rPr lang="en-GB" sz="1600" b="1" i="0" u="none" strike="noStrike" kern="1200" dirty="0">
              <a:solidFill>
                <a:sysClr val="window" lastClr="FFFFFF"/>
              </a:solidFill>
              <a:effectLst/>
              <a:latin typeface="Calibri"/>
              <a:ea typeface="+mn-ea"/>
              <a:cs typeface="Calibri"/>
            </a:rPr>
            <a:t>Significant resource and cost savings</a:t>
          </a:r>
          <a:endParaRPr lang="en-GB" sz="1600" b="1" kern="1200" dirty="0">
            <a:solidFill>
              <a:sysClr val="window" lastClr="FFFFFF"/>
            </a:solidFill>
            <a:latin typeface="Calibri"/>
            <a:ea typeface="+mn-ea"/>
            <a:cs typeface="Calibri"/>
          </a:endParaRPr>
        </a:p>
      </dsp:txBody>
      <dsp:txXfrm>
        <a:off x="475227" y="3758534"/>
        <a:ext cx="6422625" cy="26638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89EB08-9795-2549-A05D-B8BA0D9EB4C2}" type="datetimeFigureOut">
              <a:t>11/23/2023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14C2DA-65F0-5E4E-8F56-1560A2888D28}" type="slidenum">
              <a:t>‹#›</a:t>
            </a:fld>
            <a:endParaRPr lang="en-US"/>
          </a:p>
        </p:txBody>
      </p:sp>
    </p:spTree>
    <p:extLst>
      <p:ext uri="{BB962C8B-B14F-4D97-AF65-F5344CB8AC3E}">
        <p14:creationId xmlns:p14="http://schemas.microsoft.com/office/powerpoint/2010/main" val="3663702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1492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5795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479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1865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6564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8423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7FEA03-3A52-410F-9631-95E64E00B89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5519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6766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7654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47583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2944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5994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34308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9006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48509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89035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03977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65484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68611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32989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7968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99892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23484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44947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11194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58737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35893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15500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04213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1298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29803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8417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67643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15364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39034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742010-7A4A-45F8-90C5-3CF7FB38EB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1023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0.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11.xml"/><Relationship Id="rId4" Type="http://schemas.openxmlformats.org/officeDocument/2006/relationships/image" Target="../media/image11.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9201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8" name="Picture 7" descr="Internal_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609600" y="1709936"/>
            <a:ext cx="10972800" cy="710952"/>
          </a:xfrm>
          <a:prstGeom prst="rect">
            <a:avLst/>
          </a:prstGeom>
        </p:spPr>
        <p:txBody>
          <a:bodyPr anchor="t" anchorCtr="0"/>
          <a:lstStyle>
            <a:lvl1pPr>
              <a:defRPr sz="1800" baseline="0">
                <a:solidFill>
                  <a:srgbClr val="182065"/>
                </a:solidFill>
                <a:latin typeface="+mj-lt"/>
              </a:defRPr>
            </a:lvl1pPr>
          </a:lstStyle>
          <a:p>
            <a:r>
              <a:rPr lang="en-US" err="1"/>
              <a:t>Lorem</a:t>
            </a:r>
            <a:r>
              <a:rPr lang="en-US"/>
              <a:t> </a:t>
            </a:r>
            <a:r>
              <a:rPr lang="en-US" err="1"/>
              <a:t>ipsum</a:t>
            </a:r>
            <a:r>
              <a:rPr lang="en-US"/>
              <a:t> dolor sit </a:t>
            </a:r>
            <a:r>
              <a:rPr lang="en-US" err="1"/>
              <a:t>amet</a:t>
            </a:r>
            <a:r>
              <a:rPr lang="en-US"/>
              <a:t>, </a:t>
            </a:r>
            <a:r>
              <a:rPr lang="en-US" err="1"/>
              <a:t>consectetur</a:t>
            </a:r>
            <a:r>
              <a:rPr lang="en-US"/>
              <a:t> </a:t>
            </a:r>
            <a:r>
              <a:rPr lang="en-US" err="1"/>
              <a:t>adipisicing</a:t>
            </a:r>
            <a:r>
              <a:rPr lang="en-US"/>
              <a:t> </a:t>
            </a:r>
            <a:r>
              <a:rPr lang="en-US" err="1"/>
              <a:t>elit</a:t>
            </a:r>
            <a:r>
              <a:rPr lang="en-US"/>
              <a:t>, </a:t>
            </a:r>
            <a:r>
              <a:rPr lang="en-US" err="1"/>
              <a:t>sed</a:t>
            </a:r>
            <a:r>
              <a:rPr lang="en-US"/>
              <a:t> do </a:t>
            </a:r>
            <a:r>
              <a:rPr lang="en-US" err="1"/>
              <a:t>eiusmod</a:t>
            </a:r>
            <a:r>
              <a:rPr lang="en-US"/>
              <a:t> </a:t>
            </a:r>
            <a:r>
              <a:rPr lang="en-US" err="1"/>
              <a:t>tempor</a:t>
            </a:r>
            <a:r>
              <a:rPr lang="en-US"/>
              <a:t>.</a:t>
            </a:r>
          </a:p>
        </p:txBody>
      </p:sp>
      <p:sp>
        <p:nvSpPr>
          <p:cNvPr id="3" name="Content Placeholder 2"/>
          <p:cNvSpPr>
            <a:spLocks noGrp="1"/>
          </p:cNvSpPr>
          <p:nvPr>
            <p:ph idx="1"/>
          </p:nvPr>
        </p:nvSpPr>
        <p:spPr>
          <a:xfrm>
            <a:off x="609600" y="2564905"/>
            <a:ext cx="10972800" cy="3744416"/>
          </a:xfrm>
          <a:prstGeom prst="rect">
            <a:avLst/>
          </a:prstGeom>
        </p:spPr>
        <p:txBody>
          <a:bodyPr/>
          <a:lstStyle>
            <a:lvl1pPr>
              <a:defRPr sz="1700">
                <a:solidFill>
                  <a:schemeClr val="tx1"/>
                </a:solidFill>
                <a:latin typeface="+mn-lt"/>
              </a:defRPr>
            </a:lvl1pPr>
            <a:lvl2pPr>
              <a:defRPr sz="1600">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p:txBody>
      </p:sp>
      <p:sp>
        <p:nvSpPr>
          <p:cNvPr id="5" name="Text Placeholder 4"/>
          <p:cNvSpPr>
            <a:spLocks noGrp="1"/>
          </p:cNvSpPr>
          <p:nvPr>
            <p:ph type="body" sz="quarter" idx="10" hasCustomPrompt="1"/>
          </p:nvPr>
        </p:nvSpPr>
        <p:spPr>
          <a:xfrm>
            <a:off x="623393" y="0"/>
            <a:ext cx="10943167" cy="980728"/>
          </a:xfrm>
          <a:prstGeom prst="rect">
            <a:avLst/>
          </a:prstGeom>
        </p:spPr>
        <p:txBody>
          <a:bodyPr vert="horz" anchor="ctr" anchorCtr="0"/>
          <a:lstStyle>
            <a:lvl1pPr marL="0" indent="0">
              <a:buFontTx/>
              <a:buNone/>
              <a:defRPr sz="1400">
                <a:solidFill>
                  <a:schemeClr val="bg1"/>
                </a:solidFill>
              </a:defRPr>
            </a:lvl1pPr>
          </a:lstStyle>
          <a:p>
            <a:r>
              <a:rPr lang="en-US" b="0" i="0" err="1">
                <a:solidFill>
                  <a:schemeClr val="bg1"/>
                </a:solidFill>
                <a:latin typeface="Calibri Light"/>
                <a:cs typeface="Calibri Light"/>
              </a:rPr>
              <a:t>Lorem</a:t>
            </a:r>
            <a:r>
              <a:rPr lang="en-US" b="0" i="0">
                <a:solidFill>
                  <a:schemeClr val="bg1"/>
                </a:solidFill>
                <a:latin typeface="Calibri Light"/>
                <a:cs typeface="Calibri Light"/>
              </a:rPr>
              <a:t> </a:t>
            </a:r>
            <a:r>
              <a:rPr lang="en-US" b="0" i="0" err="1">
                <a:solidFill>
                  <a:schemeClr val="bg1"/>
                </a:solidFill>
                <a:latin typeface="Calibri Light"/>
                <a:cs typeface="Calibri Light"/>
              </a:rPr>
              <a:t>ipsum</a:t>
            </a:r>
            <a:r>
              <a:rPr lang="en-US" b="0" i="0">
                <a:solidFill>
                  <a:schemeClr val="bg1"/>
                </a:solidFill>
                <a:latin typeface="Calibri Light"/>
                <a:cs typeface="Calibri Light"/>
              </a:rPr>
              <a:t> dolor sit </a:t>
            </a:r>
            <a:r>
              <a:rPr lang="en-US" b="0" i="0" err="1">
                <a:solidFill>
                  <a:schemeClr val="bg1"/>
                </a:solidFill>
                <a:latin typeface="Calibri Light"/>
                <a:cs typeface="Calibri Light"/>
              </a:rPr>
              <a:t>amet</a:t>
            </a:r>
            <a:r>
              <a:rPr lang="en-US" b="0" i="0">
                <a:solidFill>
                  <a:schemeClr val="bg1"/>
                </a:solidFill>
                <a:latin typeface="Calibri Light"/>
                <a:cs typeface="Calibri Light"/>
              </a:rPr>
              <a:t>, </a:t>
            </a:r>
            <a:r>
              <a:rPr lang="en-US" b="0" i="0" err="1">
                <a:solidFill>
                  <a:schemeClr val="bg1"/>
                </a:solidFill>
                <a:latin typeface="Calibri Light"/>
                <a:cs typeface="Calibri Light"/>
              </a:rPr>
              <a:t>consectetur</a:t>
            </a:r>
            <a:r>
              <a:rPr lang="en-US" b="0" i="0">
                <a:solidFill>
                  <a:schemeClr val="bg1"/>
                </a:solidFill>
                <a:latin typeface="Calibri Light"/>
                <a:cs typeface="Calibri Light"/>
              </a:rPr>
              <a:t> </a:t>
            </a:r>
          </a:p>
        </p:txBody>
      </p:sp>
      <p:sp>
        <p:nvSpPr>
          <p:cNvPr id="6" name="Slide Number Placeholder 5">
            <a:extLst>
              <a:ext uri="{FF2B5EF4-FFF2-40B4-BE49-F238E27FC236}">
                <a16:creationId xmlns:a16="http://schemas.microsoft.com/office/drawing/2014/main" id="{F279F0E9-6B5D-4113-906E-6E166838DA6A}"/>
              </a:ext>
            </a:extLst>
          </p:cNvPr>
          <p:cNvSpPr>
            <a:spLocks noGrp="1"/>
          </p:cNvSpPr>
          <p:nvPr>
            <p:ph type="sldNum" sz="quarter" idx="12"/>
          </p:nvPr>
        </p:nvSpPr>
        <p:spPr>
          <a:xfrm>
            <a:off x="8823360" y="6359853"/>
            <a:ext cx="2743200" cy="365125"/>
          </a:xfrm>
        </p:spPr>
        <p:txBody>
          <a:bodyPr/>
          <a:lstStyle/>
          <a:p>
            <a:fld id="{0C0B4CF6-F71B-4164-BC22-4AAE52FA70E2}" type="slidenum">
              <a:rPr lang="en-US" smtClean="0"/>
              <a:t>‹#›</a:t>
            </a:fld>
            <a:endParaRPr lang="en-US"/>
          </a:p>
        </p:txBody>
      </p:sp>
    </p:spTree>
    <p:extLst>
      <p:ext uri="{BB962C8B-B14F-4D97-AF65-F5344CB8AC3E}">
        <p14:creationId xmlns:p14="http://schemas.microsoft.com/office/powerpoint/2010/main" val="127059172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ster page sing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a:normAutofit/>
          </a:bodyPr>
          <a:lstStyle>
            <a:lvl1pPr marL="0" indent="0">
              <a:buFontTx/>
              <a:buNone/>
              <a:defRPr sz="1600" b="0" i="0">
                <a:solidFill>
                  <a:schemeClr val="bg1">
                    <a:lumMod val="50000"/>
                  </a:schemeClr>
                </a:solidFill>
                <a:latin typeface="Helvetica" pitchFamily="2" charset="0"/>
              </a:defRPr>
            </a:lvl1pPr>
          </a:lstStyle>
          <a:p>
            <a:r>
              <a:rPr lang="en-US"/>
              <a:t>Body copy single column</a:t>
            </a:r>
          </a:p>
        </p:txBody>
      </p:sp>
      <p:sp>
        <p:nvSpPr>
          <p:cNvPr id="5" name="Title 2">
            <a:extLst>
              <a:ext uri="{FF2B5EF4-FFF2-40B4-BE49-F238E27FC236}">
                <a16:creationId xmlns:a16="http://schemas.microsoft.com/office/drawing/2014/main" id="{FD3E699B-B4EB-C045-BF78-11F6B2F3EF3A}"/>
              </a:ext>
            </a:extLst>
          </p:cNvPr>
          <p:cNvSpPr>
            <a:spLocks noGrp="1"/>
          </p:cNvSpPr>
          <p:nvPr>
            <p:ph type="title"/>
          </p:nvPr>
        </p:nvSpPr>
        <p:spPr>
          <a:xfrm>
            <a:off x="669851" y="251928"/>
            <a:ext cx="8586115" cy="871194"/>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120603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ster page doub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numCol="2">
            <a:normAutofit/>
          </a:bodyPr>
          <a:lstStyle>
            <a:lvl1pPr marL="0" marR="0" indent="0" algn="l" defTabSz="914400" rtl="0" eaLnBrk="1" fontAlgn="auto" latinLnBrk="0" hangingPunct="1">
              <a:lnSpc>
                <a:spcPct val="90000"/>
              </a:lnSpc>
              <a:spcBef>
                <a:spcPts val="1000"/>
              </a:spcBef>
              <a:spcAft>
                <a:spcPts val="0"/>
              </a:spcAft>
              <a:buClrTx/>
              <a:buSzTx/>
              <a:buFontTx/>
              <a:buNone/>
              <a:tabLst/>
              <a:defRPr sz="1600" b="0" i="0">
                <a:solidFill>
                  <a:schemeClr val="bg1">
                    <a:lumMod val="50000"/>
                  </a:schemeClr>
                </a:solidFill>
                <a:latin typeface="Helvetica" pitchFamily="2" charset="0"/>
              </a:defRPr>
            </a:lvl1pPr>
          </a:lstStyle>
          <a:p>
            <a:r>
              <a:rPr lang="en-US"/>
              <a:t>Body copy 2 column text box</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pPr marL="0" marR="0" lvl="0" indent="0" algn="l" defTabSz="914400" rtl="0" eaLnBrk="1" fontAlgn="auto" latinLnBrk="0" hangingPunct="1">
              <a:lnSpc>
                <a:spcPct val="90000"/>
              </a:lnSpc>
              <a:spcBef>
                <a:spcPts val="1000"/>
              </a:spcBef>
              <a:spcAft>
                <a:spcPts val="0"/>
              </a:spcAft>
              <a:buClrTx/>
              <a:buSzTx/>
              <a:buFontTx/>
              <a:buNone/>
              <a:tabLst/>
              <a:defRPr/>
            </a:pPr>
            <a:r>
              <a:rPr lang="en-US"/>
              <a:t>Body copy 2 column text box</a:t>
            </a:r>
          </a:p>
          <a:p>
            <a:endParaRPr lang="en-US"/>
          </a:p>
        </p:txBody>
      </p:sp>
      <p:sp>
        <p:nvSpPr>
          <p:cNvPr id="4" name="Title 2">
            <a:extLst>
              <a:ext uri="{FF2B5EF4-FFF2-40B4-BE49-F238E27FC236}">
                <a16:creationId xmlns:a16="http://schemas.microsoft.com/office/drawing/2014/main" id="{AEB3B659-F213-9E40-80D8-1BEE1825F8FF}"/>
              </a:ext>
            </a:extLst>
          </p:cNvPr>
          <p:cNvSpPr>
            <a:spLocks noGrp="1"/>
          </p:cNvSpPr>
          <p:nvPr>
            <p:ph type="title"/>
          </p:nvPr>
        </p:nvSpPr>
        <p:spPr>
          <a:xfrm>
            <a:off x="669852" y="251927"/>
            <a:ext cx="8335926" cy="871195"/>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2520881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8" name="Picture 7" descr="Internal_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609600" y="1709936"/>
            <a:ext cx="10972800" cy="710952"/>
          </a:xfrm>
          <a:prstGeom prst="rect">
            <a:avLst/>
          </a:prstGeom>
        </p:spPr>
        <p:txBody>
          <a:bodyPr anchor="t" anchorCtr="0"/>
          <a:lstStyle>
            <a:lvl1pPr>
              <a:defRPr sz="1800" baseline="0">
                <a:solidFill>
                  <a:srgbClr val="182065"/>
                </a:solidFill>
                <a:latin typeface="+mj-lt"/>
              </a:defRPr>
            </a:lvl1pPr>
          </a:lstStyle>
          <a:p>
            <a:r>
              <a:rPr lang="en-US" err="1"/>
              <a:t>Lorem</a:t>
            </a:r>
            <a:r>
              <a:rPr lang="en-US"/>
              <a:t> </a:t>
            </a:r>
            <a:r>
              <a:rPr lang="en-US" err="1"/>
              <a:t>ipsum</a:t>
            </a:r>
            <a:r>
              <a:rPr lang="en-US"/>
              <a:t> dolor sit </a:t>
            </a:r>
            <a:r>
              <a:rPr lang="en-US" err="1"/>
              <a:t>amet</a:t>
            </a:r>
            <a:r>
              <a:rPr lang="en-US"/>
              <a:t>, </a:t>
            </a:r>
            <a:r>
              <a:rPr lang="en-US" err="1"/>
              <a:t>consectetur</a:t>
            </a:r>
            <a:r>
              <a:rPr lang="en-US"/>
              <a:t> </a:t>
            </a:r>
            <a:r>
              <a:rPr lang="en-US" err="1"/>
              <a:t>adipisicing</a:t>
            </a:r>
            <a:r>
              <a:rPr lang="en-US"/>
              <a:t> </a:t>
            </a:r>
            <a:r>
              <a:rPr lang="en-US" err="1"/>
              <a:t>elit</a:t>
            </a:r>
            <a:r>
              <a:rPr lang="en-US"/>
              <a:t>, </a:t>
            </a:r>
            <a:r>
              <a:rPr lang="en-US" err="1"/>
              <a:t>sed</a:t>
            </a:r>
            <a:r>
              <a:rPr lang="en-US"/>
              <a:t> do </a:t>
            </a:r>
            <a:r>
              <a:rPr lang="en-US" err="1"/>
              <a:t>eiusmod</a:t>
            </a:r>
            <a:r>
              <a:rPr lang="en-US"/>
              <a:t> </a:t>
            </a:r>
            <a:r>
              <a:rPr lang="en-US" err="1"/>
              <a:t>tempor</a:t>
            </a:r>
            <a:r>
              <a:rPr lang="en-US"/>
              <a:t>.</a:t>
            </a:r>
          </a:p>
        </p:txBody>
      </p:sp>
      <p:sp>
        <p:nvSpPr>
          <p:cNvPr id="3" name="Content Placeholder 2"/>
          <p:cNvSpPr>
            <a:spLocks noGrp="1"/>
          </p:cNvSpPr>
          <p:nvPr>
            <p:ph idx="1"/>
          </p:nvPr>
        </p:nvSpPr>
        <p:spPr>
          <a:xfrm>
            <a:off x="609600" y="2564905"/>
            <a:ext cx="10972800" cy="3744416"/>
          </a:xfrm>
          <a:prstGeom prst="rect">
            <a:avLst/>
          </a:prstGeom>
        </p:spPr>
        <p:txBody>
          <a:bodyPr/>
          <a:lstStyle>
            <a:lvl1pPr>
              <a:defRPr sz="1700">
                <a:solidFill>
                  <a:schemeClr val="tx1"/>
                </a:solidFill>
                <a:latin typeface="+mn-lt"/>
              </a:defRPr>
            </a:lvl1pPr>
            <a:lvl2pPr>
              <a:defRPr sz="1600">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p:txBody>
      </p:sp>
      <p:sp>
        <p:nvSpPr>
          <p:cNvPr id="5" name="Text Placeholder 4"/>
          <p:cNvSpPr>
            <a:spLocks noGrp="1"/>
          </p:cNvSpPr>
          <p:nvPr>
            <p:ph type="body" sz="quarter" idx="10" hasCustomPrompt="1"/>
          </p:nvPr>
        </p:nvSpPr>
        <p:spPr>
          <a:xfrm>
            <a:off x="623393" y="0"/>
            <a:ext cx="10943167" cy="980728"/>
          </a:xfrm>
          <a:prstGeom prst="rect">
            <a:avLst/>
          </a:prstGeom>
        </p:spPr>
        <p:txBody>
          <a:bodyPr vert="horz" anchor="ctr" anchorCtr="0"/>
          <a:lstStyle>
            <a:lvl1pPr marL="0" indent="0">
              <a:buFontTx/>
              <a:buNone/>
              <a:defRPr sz="1400">
                <a:solidFill>
                  <a:schemeClr val="bg1"/>
                </a:solidFill>
              </a:defRPr>
            </a:lvl1pPr>
          </a:lstStyle>
          <a:p>
            <a:r>
              <a:rPr lang="en-US" b="0" i="0" err="1">
                <a:solidFill>
                  <a:schemeClr val="bg1"/>
                </a:solidFill>
                <a:latin typeface="Calibri Light"/>
                <a:cs typeface="Calibri Light"/>
              </a:rPr>
              <a:t>Lorem</a:t>
            </a:r>
            <a:r>
              <a:rPr lang="en-US" b="0" i="0">
                <a:solidFill>
                  <a:schemeClr val="bg1"/>
                </a:solidFill>
                <a:latin typeface="Calibri Light"/>
                <a:cs typeface="Calibri Light"/>
              </a:rPr>
              <a:t> </a:t>
            </a:r>
            <a:r>
              <a:rPr lang="en-US" b="0" i="0" err="1">
                <a:solidFill>
                  <a:schemeClr val="bg1"/>
                </a:solidFill>
                <a:latin typeface="Calibri Light"/>
                <a:cs typeface="Calibri Light"/>
              </a:rPr>
              <a:t>ipsum</a:t>
            </a:r>
            <a:r>
              <a:rPr lang="en-US" b="0" i="0">
                <a:solidFill>
                  <a:schemeClr val="bg1"/>
                </a:solidFill>
                <a:latin typeface="Calibri Light"/>
                <a:cs typeface="Calibri Light"/>
              </a:rPr>
              <a:t> dolor sit </a:t>
            </a:r>
            <a:r>
              <a:rPr lang="en-US" b="0" i="0" err="1">
                <a:solidFill>
                  <a:schemeClr val="bg1"/>
                </a:solidFill>
                <a:latin typeface="Calibri Light"/>
                <a:cs typeface="Calibri Light"/>
              </a:rPr>
              <a:t>amet</a:t>
            </a:r>
            <a:r>
              <a:rPr lang="en-US" b="0" i="0">
                <a:solidFill>
                  <a:schemeClr val="bg1"/>
                </a:solidFill>
                <a:latin typeface="Calibri Light"/>
                <a:cs typeface="Calibri Light"/>
              </a:rPr>
              <a:t>, </a:t>
            </a:r>
            <a:r>
              <a:rPr lang="en-US" b="0" i="0" err="1">
                <a:solidFill>
                  <a:schemeClr val="bg1"/>
                </a:solidFill>
                <a:latin typeface="Calibri Light"/>
                <a:cs typeface="Calibri Light"/>
              </a:rPr>
              <a:t>consectetur</a:t>
            </a:r>
            <a:r>
              <a:rPr lang="en-US" b="0" i="0">
                <a:solidFill>
                  <a:schemeClr val="bg1"/>
                </a:solidFill>
                <a:latin typeface="Calibri Light"/>
                <a:cs typeface="Calibri Light"/>
              </a:rPr>
              <a:t> </a:t>
            </a:r>
          </a:p>
        </p:txBody>
      </p:sp>
      <p:sp>
        <p:nvSpPr>
          <p:cNvPr id="6" name="Slide Number Placeholder 5">
            <a:extLst>
              <a:ext uri="{FF2B5EF4-FFF2-40B4-BE49-F238E27FC236}">
                <a16:creationId xmlns:a16="http://schemas.microsoft.com/office/drawing/2014/main" id="{F279F0E9-6B5D-4113-906E-6E166838DA6A}"/>
              </a:ext>
            </a:extLst>
          </p:cNvPr>
          <p:cNvSpPr>
            <a:spLocks noGrp="1"/>
          </p:cNvSpPr>
          <p:nvPr>
            <p:ph type="sldNum" sz="quarter" idx="12"/>
          </p:nvPr>
        </p:nvSpPr>
        <p:spPr>
          <a:xfrm>
            <a:off x="8823360" y="6359853"/>
            <a:ext cx="2743200" cy="365125"/>
          </a:xfrm>
        </p:spPr>
        <p:txBody>
          <a:bodyPr/>
          <a:lstStyle/>
          <a:p>
            <a:fld id="{0C0B4CF6-F71B-4164-BC22-4AAE52FA70E2}" type="slidenum">
              <a:rPr lang="en-US" smtClean="0"/>
              <a:t>‹#›</a:t>
            </a:fld>
            <a:endParaRPr lang="en-US"/>
          </a:p>
        </p:txBody>
      </p:sp>
    </p:spTree>
    <p:extLst>
      <p:ext uri="{BB962C8B-B14F-4D97-AF65-F5344CB8AC3E}">
        <p14:creationId xmlns:p14="http://schemas.microsoft.com/office/powerpoint/2010/main" val="287059626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1675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14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aster page sing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a:normAutofit/>
          </a:bodyPr>
          <a:lstStyle>
            <a:lvl1pPr marL="0" indent="0">
              <a:buFontTx/>
              <a:buNone/>
              <a:defRPr sz="1600" b="0" i="0">
                <a:solidFill>
                  <a:schemeClr val="bg1">
                    <a:lumMod val="50000"/>
                  </a:schemeClr>
                </a:solidFill>
                <a:latin typeface="Helvetica" pitchFamily="2" charset="0"/>
              </a:defRPr>
            </a:lvl1pPr>
          </a:lstStyle>
          <a:p>
            <a:r>
              <a:rPr lang="en-US"/>
              <a:t>Body copy single column</a:t>
            </a:r>
          </a:p>
        </p:txBody>
      </p:sp>
      <p:sp>
        <p:nvSpPr>
          <p:cNvPr id="5" name="Title 2">
            <a:extLst>
              <a:ext uri="{FF2B5EF4-FFF2-40B4-BE49-F238E27FC236}">
                <a16:creationId xmlns:a16="http://schemas.microsoft.com/office/drawing/2014/main" id="{FD3E699B-B4EB-C045-BF78-11F6B2F3EF3A}"/>
              </a:ext>
            </a:extLst>
          </p:cNvPr>
          <p:cNvSpPr>
            <a:spLocks noGrp="1"/>
          </p:cNvSpPr>
          <p:nvPr>
            <p:ph type="title"/>
          </p:nvPr>
        </p:nvSpPr>
        <p:spPr>
          <a:xfrm>
            <a:off x="669851" y="251928"/>
            <a:ext cx="8586115" cy="871194"/>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2608982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ster page doub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numCol="2">
            <a:normAutofit/>
          </a:bodyPr>
          <a:lstStyle>
            <a:lvl1pPr marL="0" marR="0" indent="0" algn="l" defTabSz="914400" rtl="0" eaLnBrk="1" fontAlgn="auto" latinLnBrk="0" hangingPunct="1">
              <a:lnSpc>
                <a:spcPct val="90000"/>
              </a:lnSpc>
              <a:spcBef>
                <a:spcPts val="1000"/>
              </a:spcBef>
              <a:spcAft>
                <a:spcPts val="0"/>
              </a:spcAft>
              <a:buClrTx/>
              <a:buSzTx/>
              <a:buFontTx/>
              <a:buNone/>
              <a:tabLst/>
              <a:defRPr sz="1600" b="0" i="0">
                <a:solidFill>
                  <a:schemeClr val="bg1">
                    <a:lumMod val="50000"/>
                  </a:schemeClr>
                </a:solidFill>
                <a:latin typeface="Helvetica" pitchFamily="2" charset="0"/>
              </a:defRPr>
            </a:lvl1pPr>
          </a:lstStyle>
          <a:p>
            <a:r>
              <a:rPr lang="en-US"/>
              <a:t>Body copy 2 column text box</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pPr marL="0" marR="0" lvl="0" indent="0" algn="l" defTabSz="914400" rtl="0" eaLnBrk="1" fontAlgn="auto" latinLnBrk="0" hangingPunct="1">
              <a:lnSpc>
                <a:spcPct val="90000"/>
              </a:lnSpc>
              <a:spcBef>
                <a:spcPts val="1000"/>
              </a:spcBef>
              <a:spcAft>
                <a:spcPts val="0"/>
              </a:spcAft>
              <a:buClrTx/>
              <a:buSzTx/>
              <a:buFontTx/>
              <a:buNone/>
              <a:tabLst/>
              <a:defRPr/>
            </a:pPr>
            <a:r>
              <a:rPr lang="en-US"/>
              <a:t>Body copy 2 column text box</a:t>
            </a:r>
          </a:p>
          <a:p>
            <a:endParaRPr lang="en-US"/>
          </a:p>
        </p:txBody>
      </p:sp>
      <p:sp>
        <p:nvSpPr>
          <p:cNvPr id="4" name="Title 2">
            <a:extLst>
              <a:ext uri="{FF2B5EF4-FFF2-40B4-BE49-F238E27FC236}">
                <a16:creationId xmlns:a16="http://schemas.microsoft.com/office/drawing/2014/main" id="{AEB3B659-F213-9E40-80D8-1BEE1825F8FF}"/>
              </a:ext>
            </a:extLst>
          </p:cNvPr>
          <p:cNvSpPr>
            <a:spLocks noGrp="1"/>
          </p:cNvSpPr>
          <p:nvPr>
            <p:ph type="title"/>
          </p:nvPr>
        </p:nvSpPr>
        <p:spPr>
          <a:xfrm>
            <a:off x="669852" y="251927"/>
            <a:ext cx="8335926" cy="871195"/>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1513453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ster page sing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a:normAutofit/>
          </a:bodyPr>
          <a:lstStyle>
            <a:lvl1pPr marL="0" indent="0">
              <a:buFontTx/>
              <a:buNone/>
              <a:defRPr sz="1600" b="0" i="0">
                <a:solidFill>
                  <a:schemeClr val="bg1">
                    <a:lumMod val="50000"/>
                  </a:schemeClr>
                </a:solidFill>
                <a:latin typeface="Helvetica" pitchFamily="2" charset="0"/>
              </a:defRPr>
            </a:lvl1pPr>
          </a:lstStyle>
          <a:p>
            <a:r>
              <a:rPr lang="en-US"/>
              <a:t>Body copy single column</a:t>
            </a:r>
          </a:p>
        </p:txBody>
      </p:sp>
      <p:sp>
        <p:nvSpPr>
          <p:cNvPr id="5" name="Title 2">
            <a:extLst>
              <a:ext uri="{FF2B5EF4-FFF2-40B4-BE49-F238E27FC236}">
                <a16:creationId xmlns:a16="http://schemas.microsoft.com/office/drawing/2014/main" id="{FD3E699B-B4EB-C045-BF78-11F6B2F3EF3A}"/>
              </a:ext>
            </a:extLst>
          </p:cNvPr>
          <p:cNvSpPr>
            <a:spLocks noGrp="1"/>
          </p:cNvSpPr>
          <p:nvPr>
            <p:ph type="title"/>
          </p:nvPr>
        </p:nvSpPr>
        <p:spPr>
          <a:xfrm>
            <a:off x="669851" y="251928"/>
            <a:ext cx="8586115" cy="871194"/>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398446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aster page doub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numCol="2">
            <a:normAutofit/>
          </a:bodyPr>
          <a:lstStyle>
            <a:lvl1pPr marL="0" marR="0" indent="0" algn="l" defTabSz="914400" rtl="0" eaLnBrk="1" fontAlgn="auto" latinLnBrk="0" hangingPunct="1">
              <a:lnSpc>
                <a:spcPct val="90000"/>
              </a:lnSpc>
              <a:spcBef>
                <a:spcPts val="1000"/>
              </a:spcBef>
              <a:spcAft>
                <a:spcPts val="0"/>
              </a:spcAft>
              <a:buClrTx/>
              <a:buSzTx/>
              <a:buFontTx/>
              <a:buNone/>
              <a:tabLst/>
              <a:defRPr sz="1600" b="0" i="0">
                <a:solidFill>
                  <a:schemeClr val="bg1">
                    <a:lumMod val="50000"/>
                  </a:schemeClr>
                </a:solidFill>
                <a:latin typeface="Helvetica" pitchFamily="2" charset="0"/>
              </a:defRPr>
            </a:lvl1pPr>
          </a:lstStyle>
          <a:p>
            <a:r>
              <a:rPr lang="en-US"/>
              <a:t>Body copy 2 column text box</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pPr marL="0" marR="0" lvl="0" indent="0" algn="l" defTabSz="914400" rtl="0" eaLnBrk="1" fontAlgn="auto" latinLnBrk="0" hangingPunct="1">
              <a:lnSpc>
                <a:spcPct val="90000"/>
              </a:lnSpc>
              <a:spcBef>
                <a:spcPts val="1000"/>
              </a:spcBef>
              <a:spcAft>
                <a:spcPts val="0"/>
              </a:spcAft>
              <a:buClrTx/>
              <a:buSzTx/>
              <a:buFontTx/>
              <a:buNone/>
              <a:tabLst/>
              <a:defRPr/>
            </a:pPr>
            <a:r>
              <a:rPr lang="en-US"/>
              <a:t>Body copy 2 column text box</a:t>
            </a:r>
          </a:p>
          <a:p>
            <a:endParaRPr lang="en-US"/>
          </a:p>
        </p:txBody>
      </p:sp>
      <p:sp>
        <p:nvSpPr>
          <p:cNvPr id="4" name="Title 2">
            <a:extLst>
              <a:ext uri="{FF2B5EF4-FFF2-40B4-BE49-F238E27FC236}">
                <a16:creationId xmlns:a16="http://schemas.microsoft.com/office/drawing/2014/main" id="{AEB3B659-F213-9E40-80D8-1BEE1825F8FF}"/>
              </a:ext>
            </a:extLst>
          </p:cNvPr>
          <p:cNvSpPr>
            <a:spLocks noGrp="1"/>
          </p:cNvSpPr>
          <p:nvPr>
            <p:ph type="title"/>
          </p:nvPr>
        </p:nvSpPr>
        <p:spPr>
          <a:xfrm>
            <a:off x="669852" y="251927"/>
            <a:ext cx="8335926" cy="871195"/>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1884931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8" name="Picture 7" descr="Internal_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609600" y="1709936"/>
            <a:ext cx="10972800" cy="710952"/>
          </a:xfrm>
          <a:prstGeom prst="rect">
            <a:avLst/>
          </a:prstGeom>
        </p:spPr>
        <p:txBody>
          <a:bodyPr anchor="t" anchorCtr="0"/>
          <a:lstStyle>
            <a:lvl1pPr>
              <a:defRPr sz="1800" baseline="0">
                <a:solidFill>
                  <a:srgbClr val="182065"/>
                </a:solidFill>
                <a:latin typeface="+mj-lt"/>
              </a:defRPr>
            </a:lvl1pPr>
          </a:lstStyle>
          <a:p>
            <a:r>
              <a:rPr lang="en-US" err="1"/>
              <a:t>Lorem</a:t>
            </a:r>
            <a:r>
              <a:rPr lang="en-US"/>
              <a:t> </a:t>
            </a:r>
            <a:r>
              <a:rPr lang="en-US" err="1"/>
              <a:t>ipsum</a:t>
            </a:r>
            <a:r>
              <a:rPr lang="en-US"/>
              <a:t> dolor sit </a:t>
            </a:r>
            <a:r>
              <a:rPr lang="en-US" err="1"/>
              <a:t>amet</a:t>
            </a:r>
            <a:r>
              <a:rPr lang="en-US"/>
              <a:t>, </a:t>
            </a:r>
            <a:r>
              <a:rPr lang="en-US" err="1"/>
              <a:t>consectetur</a:t>
            </a:r>
            <a:r>
              <a:rPr lang="en-US"/>
              <a:t> </a:t>
            </a:r>
            <a:r>
              <a:rPr lang="en-US" err="1"/>
              <a:t>adipisicing</a:t>
            </a:r>
            <a:r>
              <a:rPr lang="en-US"/>
              <a:t> </a:t>
            </a:r>
            <a:r>
              <a:rPr lang="en-US" err="1"/>
              <a:t>elit</a:t>
            </a:r>
            <a:r>
              <a:rPr lang="en-US"/>
              <a:t>, </a:t>
            </a:r>
            <a:r>
              <a:rPr lang="en-US" err="1"/>
              <a:t>sed</a:t>
            </a:r>
            <a:r>
              <a:rPr lang="en-US"/>
              <a:t> do </a:t>
            </a:r>
            <a:r>
              <a:rPr lang="en-US" err="1"/>
              <a:t>eiusmod</a:t>
            </a:r>
            <a:r>
              <a:rPr lang="en-US"/>
              <a:t> </a:t>
            </a:r>
            <a:r>
              <a:rPr lang="en-US" err="1"/>
              <a:t>tempor</a:t>
            </a:r>
            <a:r>
              <a:rPr lang="en-US"/>
              <a:t>.</a:t>
            </a:r>
          </a:p>
        </p:txBody>
      </p:sp>
      <p:sp>
        <p:nvSpPr>
          <p:cNvPr id="3" name="Content Placeholder 2"/>
          <p:cNvSpPr>
            <a:spLocks noGrp="1"/>
          </p:cNvSpPr>
          <p:nvPr>
            <p:ph idx="1"/>
          </p:nvPr>
        </p:nvSpPr>
        <p:spPr>
          <a:xfrm>
            <a:off x="609600" y="2564905"/>
            <a:ext cx="10972800" cy="3744416"/>
          </a:xfrm>
          <a:prstGeom prst="rect">
            <a:avLst/>
          </a:prstGeom>
        </p:spPr>
        <p:txBody>
          <a:bodyPr/>
          <a:lstStyle>
            <a:lvl1pPr>
              <a:defRPr sz="1700">
                <a:solidFill>
                  <a:schemeClr val="tx1"/>
                </a:solidFill>
                <a:latin typeface="+mn-lt"/>
              </a:defRPr>
            </a:lvl1pPr>
            <a:lvl2pPr>
              <a:defRPr sz="1600">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p:txBody>
      </p:sp>
      <p:sp>
        <p:nvSpPr>
          <p:cNvPr id="5" name="Text Placeholder 4"/>
          <p:cNvSpPr>
            <a:spLocks noGrp="1"/>
          </p:cNvSpPr>
          <p:nvPr>
            <p:ph type="body" sz="quarter" idx="10" hasCustomPrompt="1"/>
          </p:nvPr>
        </p:nvSpPr>
        <p:spPr>
          <a:xfrm>
            <a:off x="623393" y="0"/>
            <a:ext cx="10943167" cy="980728"/>
          </a:xfrm>
          <a:prstGeom prst="rect">
            <a:avLst/>
          </a:prstGeom>
        </p:spPr>
        <p:txBody>
          <a:bodyPr vert="horz" anchor="ctr" anchorCtr="0"/>
          <a:lstStyle>
            <a:lvl1pPr marL="0" indent="0">
              <a:buFontTx/>
              <a:buNone/>
              <a:defRPr sz="1400">
                <a:solidFill>
                  <a:schemeClr val="bg1"/>
                </a:solidFill>
              </a:defRPr>
            </a:lvl1pPr>
          </a:lstStyle>
          <a:p>
            <a:r>
              <a:rPr lang="en-US" b="0" i="0" err="1">
                <a:solidFill>
                  <a:schemeClr val="bg1"/>
                </a:solidFill>
                <a:latin typeface="Calibri Light"/>
                <a:cs typeface="Calibri Light"/>
              </a:rPr>
              <a:t>Lorem</a:t>
            </a:r>
            <a:r>
              <a:rPr lang="en-US" b="0" i="0">
                <a:solidFill>
                  <a:schemeClr val="bg1"/>
                </a:solidFill>
                <a:latin typeface="Calibri Light"/>
                <a:cs typeface="Calibri Light"/>
              </a:rPr>
              <a:t> </a:t>
            </a:r>
            <a:r>
              <a:rPr lang="en-US" b="0" i="0" err="1">
                <a:solidFill>
                  <a:schemeClr val="bg1"/>
                </a:solidFill>
                <a:latin typeface="Calibri Light"/>
                <a:cs typeface="Calibri Light"/>
              </a:rPr>
              <a:t>ipsum</a:t>
            </a:r>
            <a:r>
              <a:rPr lang="en-US" b="0" i="0">
                <a:solidFill>
                  <a:schemeClr val="bg1"/>
                </a:solidFill>
                <a:latin typeface="Calibri Light"/>
                <a:cs typeface="Calibri Light"/>
              </a:rPr>
              <a:t> dolor sit </a:t>
            </a:r>
            <a:r>
              <a:rPr lang="en-US" b="0" i="0" err="1">
                <a:solidFill>
                  <a:schemeClr val="bg1"/>
                </a:solidFill>
                <a:latin typeface="Calibri Light"/>
                <a:cs typeface="Calibri Light"/>
              </a:rPr>
              <a:t>amet</a:t>
            </a:r>
            <a:r>
              <a:rPr lang="en-US" b="0" i="0">
                <a:solidFill>
                  <a:schemeClr val="bg1"/>
                </a:solidFill>
                <a:latin typeface="Calibri Light"/>
                <a:cs typeface="Calibri Light"/>
              </a:rPr>
              <a:t>, </a:t>
            </a:r>
            <a:r>
              <a:rPr lang="en-US" b="0" i="0" err="1">
                <a:solidFill>
                  <a:schemeClr val="bg1"/>
                </a:solidFill>
                <a:latin typeface="Calibri Light"/>
                <a:cs typeface="Calibri Light"/>
              </a:rPr>
              <a:t>consectetur</a:t>
            </a:r>
            <a:r>
              <a:rPr lang="en-US" b="0" i="0">
                <a:solidFill>
                  <a:schemeClr val="bg1"/>
                </a:solidFill>
                <a:latin typeface="Calibri Light"/>
                <a:cs typeface="Calibri Light"/>
              </a:rPr>
              <a:t> </a:t>
            </a:r>
          </a:p>
        </p:txBody>
      </p:sp>
      <p:sp>
        <p:nvSpPr>
          <p:cNvPr id="6" name="Slide Number Placeholder 5">
            <a:extLst>
              <a:ext uri="{FF2B5EF4-FFF2-40B4-BE49-F238E27FC236}">
                <a16:creationId xmlns:a16="http://schemas.microsoft.com/office/drawing/2014/main" id="{F279F0E9-6B5D-4113-906E-6E166838DA6A}"/>
              </a:ext>
            </a:extLst>
          </p:cNvPr>
          <p:cNvSpPr>
            <a:spLocks noGrp="1"/>
          </p:cNvSpPr>
          <p:nvPr>
            <p:ph type="sldNum" sz="quarter" idx="12"/>
          </p:nvPr>
        </p:nvSpPr>
        <p:spPr>
          <a:xfrm>
            <a:off x="8823360" y="6359853"/>
            <a:ext cx="2743200" cy="365125"/>
          </a:xfrm>
        </p:spPr>
        <p:txBody>
          <a:bodyPr/>
          <a:lstStyle/>
          <a:p>
            <a:fld id="{0C0B4CF6-F71B-4164-BC22-4AAE52FA70E2}" type="slidenum">
              <a:rPr lang="en-US" smtClean="0"/>
              <a:t>‹#›</a:t>
            </a:fld>
            <a:endParaRPr lang="en-US"/>
          </a:p>
        </p:txBody>
      </p:sp>
    </p:spTree>
    <p:extLst>
      <p:ext uri="{BB962C8B-B14F-4D97-AF65-F5344CB8AC3E}">
        <p14:creationId xmlns:p14="http://schemas.microsoft.com/office/powerpoint/2010/main" val="40365542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ster page sing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a:normAutofit/>
          </a:bodyPr>
          <a:lstStyle>
            <a:lvl1pPr marL="0" indent="0">
              <a:buFontTx/>
              <a:buNone/>
              <a:defRPr sz="1600" b="0" i="0">
                <a:solidFill>
                  <a:schemeClr val="bg1">
                    <a:lumMod val="50000"/>
                  </a:schemeClr>
                </a:solidFill>
                <a:latin typeface="Helvetica" pitchFamily="2" charset="0"/>
              </a:defRPr>
            </a:lvl1pPr>
          </a:lstStyle>
          <a:p>
            <a:r>
              <a:rPr lang="en-US"/>
              <a:t>Body copy single column</a:t>
            </a:r>
          </a:p>
        </p:txBody>
      </p:sp>
      <p:sp>
        <p:nvSpPr>
          <p:cNvPr id="5" name="Title 2">
            <a:extLst>
              <a:ext uri="{FF2B5EF4-FFF2-40B4-BE49-F238E27FC236}">
                <a16:creationId xmlns:a16="http://schemas.microsoft.com/office/drawing/2014/main" id="{FD3E699B-B4EB-C045-BF78-11F6B2F3EF3A}"/>
              </a:ext>
            </a:extLst>
          </p:cNvPr>
          <p:cNvSpPr>
            <a:spLocks noGrp="1"/>
          </p:cNvSpPr>
          <p:nvPr>
            <p:ph type="title"/>
          </p:nvPr>
        </p:nvSpPr>
        <p:spPr>
          <a:xfrm>
            <a:off x="669851" y="251928"/>
            <a:ext cx="8586115" cy="871194"/>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1011370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ster page doub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numCol="2">
            <a:normAutofit/>
          </a:bodyPr>
          <a:lstStyle>
            <a:lvl1pPr marL="0" marR="0" indent="0" algn="l" defTabSz="914400" rtl="0" eaLnBrk="1" fontAlgn="auto" latinLnBrk="0" hangingPunct="1">
              <a:lnSpc>
                <a:spcPct val="90000"/>
              </a:lnSpc>
              <a:spcBef>
                <a:spcPts val="1000"/>
              </a:spcBef>
              <a:spcAft>
                <a:spcPts val="0"/>
              </a:spcAft>
              <a:buClrTx/>
              <a:buSzTx/>
              <a:buFontTx/>
              <a:buNone/>
              <a:tabLst/>
              <a:defRPr sz="1600" b="0" i="0">
                <a:solidFill>
                  <a:schemeClr val="bg1">
                    <a:lumMod val="50000"/>
                  </a:schemeClr>
                </a:solidFill>
                <a:latin typeface="Helvetica" pitchFamily="2" charset="0"/>
              </a:defRPr>
            </a:lvl1pPr>
          </a:lstStyle>
          <a:p>
            <a:r>
              <a:rPr lang="en-US"/>
              <a:t>Body copy 2 column text box</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pPr marL="0" marR="0" lvl="0" indent="0" algn="l" defTabSz="914400" rtl="0" eaLnBrk="1" fontAlgn="auto" latinLnBrk="0" hangingPunct="1">
              <a:lnSpc>
                <a:spcPct val="90000"/>
              </a:lnSpc>
              <a:spcBef>
                <a:spcPts val="1000"/>
              </a:spcBef>
              <a:spcAft>
                <a:spcPts val="0"/>
              </a:spcAft>
              <a:buClrTx/>
              <a:buSzTx/>
              <a:buFontTx/>
              <a:buNone/>
              <a:tabLst/>
              <a:defRPr/>
            </a:pPr>
            <a:r>
              <a:rPr lang="en-US"/>
              <a:t>Body copy 2 column text box</a:t>
            </a:r>
          </a:p>
          <a:p>
            <a:endParaRPr lang="en-US"/>
          </a:p>
        </p:txBody>
      </p:sp>
      <p:sp>
        <p:nvSpPr>
          <p:cNvPr id="4" name="Title 2">
            <a:extLst>
              <a:ext uri="{FF2B5EF4-FFF2-40B4-BE49-F238E27FC236}">
                <a16:creationId xmlns:a16="http://schemas.microsoft.com/office/drawing/2014/main" id="{AEB3B659-F213-9E40-80D8-1BEE1825F8FF}"/>
              </a:ext>
            </a:extLst>
          </p:cNvPr>
          <p:cNvSpPr>
            <a:spLocks noGrp="1"/>
          </p:cNvSpPr>
          <p:nvPr>
            <p:ph type="title"/>
          </p:nvPr>
        </p:nvSpPr>
        <p:spPr>
          <a:xfrm>
            <a:off x="669852" y="251927"/>
            <a:ext cx="8335926" cy="871195"/>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1094148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Shape 128"/>
        <p:cNvGrpSpPr/>
        <p:nvPr/>
      </p:nvGrpSpPr>
      <p:grpSpPr>
        <a:xfrm>
          <a:off x="0" y="0"/>
          <a:ext cx="0" cy="0"/>
          <a:chOff x="0" y="0"/>
          <a:chExt cx="0" cy="0"/>
        </a:xfrm>
      </p:grpSpPr>
      <p:sp>
        <p:nvSpPr>
          <p:cNvPr id="2" name="Title 1">
            <a:extLst>
              <a:ext uri="{FF2B5EF4-FFF2-40B4-BE49-F238E27FC236}">
                <a16:creationId xmlns:a16="http://schemas.microsoft.com/office/drawing/2014/main" id="{93EA6446-9B18-D249-8B31-5178C3938C31}"/>
              </a:ext>
            </a:extLst>
          </p:cNvPr>
          <p:cNvSpPr>
            <a:spLocks noGrp="1"/>
          </p:cNvSpPr>
          <p:nvPr>
            <p:ph type="title"/>
          </p:nvPr>
        </p:nvSpPr>
        <p:spPr/>
        <p:txBody>
          <a:bodyPr/>
          <a:lstStyle/>
          <a:p>
            <a:r>
              <a:rPr lang="en-GB"/>
              <a:t>Click to edit Master title style</a:t>
            </a:r>
          </a:p>
        </p:txBody>
      </p:sp>
      <p:sp>
        <p:nvSpPr>
          <p:cNvPr id="4" name="Content Placeholder 3">
            <a:extLst>
              <a:ext uri="{FF2B5EF4-FFF2-40B4-BE49-F238E27FC236}">
                <a16:creationId xmlns:a16="http://schemas.microsoft.com/office/drawing/2014/main" id="{98461B87-367A-B445-940A-3B19675C662D}"/>
              </a:ext>
            </a:extLst>
          </p:cNvPr>
          <p:cNvSpPr>
            <a:spLocks noGrp="1"/>
          </p:cNvSpPr>
          <p:nvPr>
            <p:ph sz="quarter" idx="13" hasCustomPrompt="1"/>
          </p:nvPr>
        </p:nvSpPr>
        <p:spPr>
          <a:xfrm>
            <a:off x="388572" y="819103"/>
            <a:ext cx="6153027" cy="735386"/>
          </a:xfrm>
        </p:spPr>
        <p:txBody>
          <a:bodyPr lIns="90000" anchor="b">
            <a:noAutofit/>
          </a:bodyPr>
          <a:lstStyle>
            <a:lvl1pPr>
              <a:defRPr sz="4236" b="1" i="0">
                <a:solidFill>
                  <a:schemeClr val="accent2"/>
                </a:solidFill>
                <a:latin typeface="Avenir Next Demi Bold" panose="00000000000000000000" pitchFamily="34" charset="0"/>
              </a:defRPr>
            </a:lvl1pPr>
          </a:lstStyle>
          <a:p>
            <a:pPr lvl="0"/>
            <a:r>
              <a:rPr lang="en-GB"/>
              <a:t>Click to edit Master subtitle styles</a:t>
            </a:r>
          </a:p>
        </p:txBody>
      </p:sp>
    </p:spTree>
    <p:extLst>
      <p:ext uri="{BB962C8B-B14F-4D97-AF65-F5344CB8AC3E}">
        <p14:creationId xmlns:p14="http://schemas.microsoft.com/office/powerpoint/2010/main" val="28236890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aster page sing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a:normAutofit/>
          </a:bodyPr>
          <a:lstStyle>
            <a:lvl1pPr marL="0" indent="0">
              <a:buFontTx/>
              <a:buNone/>
              <a:defRPr sz="1600" b="0" i="0">
                <a:solidFill>
                  <a:schemeClr val="bg1">
                    <a:lumMod val="50000"/>
                  </a:schemeClr>
                </a:solidFill>
                <a:latin typeface="Helvetica" pitchFamily="2" charset="0"/>
              </a:defRPr>
            </a:lvl1pPr>
          </a:lstStyle>
          <a:p>
            <a:r>
              <a:rPr lang="en-US"/>
              <a:t>Body copy single column</a:t>
            </a:r>
          </a:p>
        </p:txBody>
      </p:sp>
      <p:sp>
        <p:nvSpPr>
          <p:cNvPr id="5" name="Title 2">
            <a:extLst>
              <a:ext uri="{FF2B5EF4-FFF2-40B4-BE49-F238E27FC236}">
                <a16:creationId xmlns:a16="http://schemas.microsoft.com/office/drawing/2014/main" id="{FD3E699B-B4EB-C045-BF78-11F6B2F3EF3A}"/>
              </a:ext>
            </a:extLst>
          </p:cNvPr>
          <p:cNvSpPr>
            <a:spLocks noGrp="1"/>
          </p:cNvSpPr>
          <p:nvPr>
            <p:ph type="title"/>
          </p:nvPr>
        </p:nvSpPr>
        <p:spPr>
          <a:xfrm>
            <a:off x="669851" y="251928"/>
            <a:ext cx="8586115" cy="871194"/>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1791585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aster page doub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numCol="2">
            <a:normAutofit/>
          </a:bodyPr>
          <a:lstStyle>
            <a:lvl1pPr marL="0" marR="0" indent="0" algn="l" defTabSz="914400" rtl="0" eaLnBrk="1" fontAlgn="auto" latinLnBrk="0" hangingPunct="1">
              <a:lnSpc>
                <a:spcPct val="90000"/>
              </a:lnSpc>
              <a:spcBef>
                <a:spcPts val="1000"/>
              </a:spcBef>
              <a:spcAft>
                <a:spcPts val="0"/>
              </a:spcAft>
              <a:buClrTx/>
              <a:buSzTx/>
              <a:buFontTx/>
              <a:buNone/>
              <a:tabLst/>
              <a:defRPr sz="1600" b="0" i="0">
                <a:solidFill>
                  <a:schemeClr val="bg1">
                    <a:lumMod val="50000"/>
                  </a:schemeClr>
                </a:solidFill>
                <a:latin typeface="Helvetica" pitchFamily="2" charset="0"/>
              </a:defRPr>
            </a:lvl1pPr>
          </a:lstStyle>
          <a:p>
            <a:r>
              <a:rPr lang="en-US"/>
              <a:t>Body copy 2 column text box</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pPr marL="0" marR="0" lvl="0" indent="0" algn="l" defTabSz="914400" rtl="0" eaLnBrk="1" fontAlgn="auto" latinLnBrk="0" hangingPunct="1">
              <a:lnSpc>
                <a:spcPct val="90000"/>
              </a:lnSpc>
              <a:spcBef>
                <a:spcPts val="1000"/>
              </a:spcBef>
              <a:spcAft>
                <a:spcPts val="0"/>
              </a:spcAft>
              <a:buClrTx/>
              <a:buSzTx/>
              <a:buFontTx/>
              <a:buNone/>
              <a:tabLst/>
              <a:defRPr/>
            </a:pPr>
            <a:r>
              <a:rPr lang="en-US"/>
              <a:t>Body copy 2 column text box</a:t>
            </a:r>
          </a:p>
          <a:p>
            <a:endParaRPr lang="en-US"/>
          </a:p>
        </p:txBody>
      </p:sp>
      <p:sp>
        <p:nvSpPr>
          <p:cNvPr id="4" name="Title 2">
            <a:extLst>
              <a:ext uri="{FF2B5EF4-FFF2-40B4-BE49-F238E27FC236}">
                <a16:creationId xmlns:a16="http://schemas.microsoft.com/office/drawing/2014/main" id="{AEB3B659-F213-9E40-80D8-1BEE1825F8FF}"/>
              </a:ext>
            </a:extLst>
          </p:cNvPr>
          <p:cNvSpPr>
            <a:spLocks noGrp="1"/>
          </p:cNvSpPr>
          <p:nvPr>
            <p:ph type="title"/>
          </p:nvPr>
        </p:nvSpPr>
        <p:spPr>
          <a:xfrm>
            <a:off x="669852" y="251927"/>
            <a:ext cx="8335926" cy="871195"/>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36400883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Shape 128"/>
        <p:cNvGrpSpPr/>
        <p:nvPr/>
      </p:nvGrpSpPr>
      <p:grpSpPr>
        <a:xfrm>
          <a:off x="0" y="0"/>
          <a:ext cx="0" cy="0"/>
          <a:chOff x="0" y="0"/>
          <a:chExt cx="0" cy="0"/>
        </a:xfrm>
      </p:grpSpPr>
      <p:sp>
        <p:nvSpPr>
          <p:cNvPr id="2" name="Title 1">
            <a:extLst>
              <a:ext uri="{FF2B5EF4-FFF2-40B4-BE49-F238E27FC236}">
                <a16:creationId xmlns:a16="http://schemas.microsoft.com/office/drawing/2014/main" id="{93EA6446-9B18-D249-8B31-5178C3938C31}"/>
              </a:ext>
            </a:extLst>
          </p:cNvPr>
          <p:cNvSpPr>
            <a:spLocks noGrp="1"/>
          </p:cNvSpPr>
          <p:nvPr>
            <p:ph type="title"/>
          </p:nvPr>
        </p:nvSpPr>
        <p:spPr/>
        <p:txBody>
          <a:bodyPr/>
          <a:lstStyle/>
          <a:p>
            <a:r>
              <a:rPr lang="en-GB"/>
              <a:t>Click to edit Master title style</a:t>
            </a:r>
          </a:p>
        </p:txBody>
      </p:sp>
      <p:sp>
        <p:nvSpPr>
          <p:cNvPr id="4" name="Content Placeholder 3">
            <a:extLst>
              <a:ext uri="{FF2B5EF4-FFF2-40B4-BE49-F238E27FC236}">
                <a16:creationId xmlns:a16="http://schemas.microsoft.com/office/drawing/2014/main" id="{98461B87-367A-B445-940A-3B19675C662D}"/>
              </a:ext>
            </a:extLst>
          </p:cNvPr>
          <p:cNvSpPr>
            <a:spLocks noGrp="1"/>
          </p:cNvSpPr>
          <p:nvPr>
            <p:ph sz="quarter" idx="13" hasCustomPrompt="1"/>
          </p:nvPr>
        </p:nvSpPr>
        <p:spPr>
          <a:xfrm>
            <a:off x="388572" y="819103"/>
            <a:ext cx="6153027" cy="735386"/>
          </a:xfrm>
        </p:spPr>
        <p:txBody>
          <a:bodyPr lIns="90000" anchor="b">
            <a:noAutofit/>
          </a:bodyPr>
          <a:lstStyle>
            <a:lvl1pPr>
              <a:defRPr sz="4236" b="1" i="0">
                <a:solidFill>
                  <a:schemeClr val="accent2"/>
                </a:solidFill>
                <a:latin typeface="Avenir Next Demi Bold" panose="00000000000000000000" pitchFamily="34" charset="0"/>
              </a:defRPr>
            </a:lvl1pPr>
          </a:lstStyle>
          <a:p>
            <a:pPr lvl="0"/>
            <a:r>
              <a:rPr lang="en-GB"/>
              <a:t>Click to edit Master subtitle styles</a:t>
            </a:r>
          </a:p>
        </p:txBody>
      </p:sp>
    </p:spTree>
    <p:extLst>
      <p:ext uri="{BB962C8B-B14F-4D97-AF65-F5344CB8AC3E}">
        <p14:creationId xmlns:p14="http://schemas.microsoft.com/office/powerpoint/2010/main" val="16152201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0846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539750" y="1836000"/>
            <a:ext cx="11114088" cy="4343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3" name="Footer Placeholder 2">
            <a:extLst>
              <a:ext uri="{FF2B5EF4-FFF2-40B4-BE49-F238E27FC236}">
                <a16:creationId xmlns:a16="http://schemas.microsoft.com/office/drawing/2014/main" id="{1F649118-63E7-4125-9429-E8D6C3DB2E54}"/>
              </a:ext>
            </a:extLst>
          </p:cNvPr>
          <p:cNvSpPr>
            <a:spLocks noGrp="1"/>
          </p:cNvSpPr>
          <p:nvPr>
            <p:ph type="ftr" sz="quarter" idx="15"/>
          </p:nvPr>
        </p:nvSpPr>
        <p:spPr/>
        <p:txBody>
          <a:bodyPr/>
          <a:lstStyle/>
          <a:p>
            <a:endParaRPr lang="en-GB"/>
          </a:p>
        </p:txBody>
      </p:sp>
    </p:spTree>
    <p:extLst>
      <p:ext uri="{BB962C8B-B14F-4D97-AF65-F5344CB8AC3E}">
        <p14:creationId xmlns:p14="http://schemas.microsoft.com/office/powerpoint/2010/main" val="16032657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aster page sing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a:normAutofit/>
          </a:bodyPr>
          <a:lstStyle>
            <a:lvl1pPr marL="0" indent="0">
              <a:buFontTx/>
              <a:buNone/>
              <a:defRPr sz="1600" b="0" i="0">
                <a:solidFill>
                  <a:schemeClr val="bg1">
                    <a:lumMod val="50000"/>
                  </a:schemeClr>
                </a:solidFill>
                <a:latin typeface="Helvetica" pitchFamily="2" charset="0"/>
              </a:defRPr>
            </a:lvl1pPr>
          </a:lstStyle>
          <a:p>
            <a:r>
              <a:rPr lang="en-US"/>
              <a:t>Body copy single column</a:t>
            </a:r>
          </a:p>
        </p:txBody>
      </p:sp>
      <p:sp>
        <p:nvSpPr>
          <p:cNvPr id="5" name="Title 2">
            <a:extLst>
              <a:ext uri="{FF2B5EF4-FFF2-40B4-BE49-F238E27FC236}">
                <a16:creationId xmlns:a16="http://schemas.microsoft.com/office/drawing/2014/main" id="{FD3E699B-B4EB-C045-BF78-11F6B2F3EF3A}"/>
              </a:ext>
            </a:extLst>
          </p:cNvPr>
          <p:cNvSpPr>
            <a:spLocks noGrp="1"/>
          </p:cNvSpPr>
          <p:nvPr>
            <p:ph type="title"/>
          </p:nvPr>
        </p:nvSpPr>
        <p:spPr>
          <a:xfrm>
            <a:off x="669851" y="251928"/>
            <a:ext cx="8586115" cy="871194"/>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22890150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aster page doub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numCol="2">
            <a:normAutofit/>
          </a:bodyPr>
          <a:lstStyle>
            <a:lvl1pPr marL="0" marR="0" indent="0" algn="l" defTabSz="914400" rtl="0" eaLnBrk="1" fontAlgn="auto" latinLnBrk="0" hangingPunct="1">
              <a:lnSpc>
                <a:spcPct val="90000"/>
              </a:lnSpc>
              <a:spcBef>
                <a:spcPts val="1000"/>
              </a:spcBef>
              <a:spcAft>
                <a:spcPts val="0"/>
              </a:spcAft>
              <a:buClrTx/>
              <a:buSzTx/>
              <a:buFontTx/>
              <a:buNone/>
              <a:tabLst/>
              <a:defRPr sz="1600" b="0" i="0">
                <a:solidFill>
                  <a:schemeClr val="bg1">
                    <a:lumMod val="50000"/>
                  </a:schemeClr>
                </a:solidFill>
                <a:latin typeface="Helvetica" pitchFamily="2" charset="0"/>
              </a:defRPr>
            </a:lvl1pPr>
          </a:lstStyle>
          <a:p>
            <a:r>
              <a:rPr lang="en-US"/>
              <a:t>Body copy 2 column text box</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pPr marL="0" marR="0" lvl="0" indent="0" algn="l" defTabSz="914400" rtl="0" eaLnBrk="1" fontAlgn="auto" latinLnBrk="0" hangingPunct="1">
              <a:lnSpc>
                <a:spcPct val="90000"/>
              </a:lnSpc>
              <a:spcBef>
                <a:spcPts val="1000"/>
              </a:spcBef>
              <a:spcAft>
                <a:spcPts val="0"/>
              </a:spcAft>
              <a:buClrTx/>
              <a:buSzTx/>
              <a:buFontTx/>
              <a:buNone/>
              <a:tabLst/>
              <a:defRPr/>
            </a:pPr>
            <a:r>
              <a:rPr lang="en-US"/>
              <a:t>Body copy 2 column text box</a:t>
            </a:r>
          </a:p>
          <a:p>
            <a:endParaRPr lang="en-US"/>
          </a:p>
        </p:txBody>
      </p:sp>
      <p:sp>
        <p:nvSpPr>
          <p:cNvPr id="4" name="Title 2">
            <a:extLst>
              <a:ext uri="{FF2B5EF4-FFF2-40B4-BE49-F238E27FC236}">
                <a16:creationId xmlns:a16="http://schemas.microsoft.com/office/drawing/2014/main" id="{AEB3B659-F213-9E40-80D8-1BEE1825F8FF}"/>
              </a:ext>
            </a:extLst>
          </p:cNvPr>
          <p:cNvSpPr>
            <a:spLocks noGrp="1"/>
          </p:cNvSpPr>
          <p:nvPr>
            <p:ph type="title"/>
          </p:nvPr>
        </p:nvSpPr>
        <p:spPr>
          <a:xfrm>
            <a:off x="669852" y="251927"/>
            <a:ext cx="8335926" cy="871195"/>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29440330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8" name="Picture 7" descr="Internal_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609600" y="1709936"/>
            <a:ext cx="10972800" cy="710952"/>
          </a:xfrm>
          <a:prstGeom prst="rect">
            <a:avLst/>
          </a:prstGeom>
        </p:spPr>
        <p:txBody>
          <a:bodyPr anchor="t" anchorCtr="0"/>
          <a:lstStyle>
            <a:lvl1pPr>
              <a:defRPr sz="1800" baseline="0">
                <a:solidFill>
                  <a:srgbClr val="182065"/>
                </a:solidFill>
                <a:latin typeface="+mj-lt"/>
              </a:defRPr>
            </a:lvl1pPr>
          </a:lstStyle>
          <a:p>
            <a:r>
              <a:rPr lang="en-US" err="1"/>
              <a:t>Lorem</a:t>
            </a:r>
            <a:r>
              <a:rPr lang="en-US"/>
              <a:t> </a:t>
            </a:r>
            <a:r>
              <a:rPr lang="en-US" err="1"/>
              <a:t>ipsum</a:t>
            </a:r>
            <a:r>
              <a:rPr lang="en-US"/>
              <a:t> dolor sit </a:t>
            </a:r>
            <a:r>
              <a:rPr lang="en-US" err="1"/>
              <a:t>amet</a:t>
            </a:r>
            <a:r>
              <a:rPr lang="en-US"/>
              <a:t>, </a:t>
            </a:r>
            <a:r>
              <a:rPr lang="en-US" err="1"/>
              <a:t>consectetur</a:t>
            </a:r>
            <a:r>
              <a:rPr lang="en-US"/>
              <a:t> </a:t>
            </a:r>
            <a:r>
              <a:rPr lang="en-US" err="1"/>
              <a:t>adipisicing</a:t>
            </a:r>
            <a:r>
              <a:rPr lang="en-US"/>
              <a:t> </a:t>
            </a:r>
            <a:r>
              <a:rPr lang="en-US" err="1"/>
              <a:t>elit</a:t>
            </a:r>
            <a:r>
              <a:rPr lang="en-US"/>
              <a:t>, </a:t>
            </a:r>
            <a:r>
              <a:rPr lang="en-US" err="1"/>
              <a:t>sed</a:t>
            </a:r>
            <a:r>
              <a:rPr lang="en-US"/>
              <a:t> do </a:t>
            </a:r>
            <a:r>
              <a:rPr lang="en-US" err="1"/>
              <a:t>eiusmod</a:t>
            </a:r>
            <a:r>
              <a:rPr lang="en-US"/>
              <a:t> </a:t>
            </a:r>
            <a:r>
              <a:rPr lang="en-US" err="1"/>
              <a:t>tempor</a:t>
            </a:r>
            <a:r>
              <a:rPr lang="en-US"/>
              <a:t>.</a:t>
            </a:r>
          </a:p>
        </p:txBody>
      </p:sp>
      <p:sp>
        <p:nvSpPr>
          <p:cNvPr id="3" name="Content Placeholder 2"/>
          <p:cNvSpPr>
            <a:spLocks noGrp="1"/>
          </p:cNvSpPr>
          <p:nvPr>
            <p:ph idx="1"/>
          </p:nvPr>
        </p:nvSpPr>
        <p:spPr>
          <a:xfrm>
            <a:off x="609600" y="2564905"/>
            <a:ext cx="10972800" cy="3744416"/>
          </a:xfrm>
          <a:prstGeom prst="rect">
            <a:avLst/>
          </a:prstGeom>
        </p:spPr>
        <p:txBody>
          <a:bodyPr/>
          <a:lstStyle>
            <a:lvl1pPr>
              <a:defRPr sz="1700">
                <a:solidFill>
                  <a:schemeClr val="tx1"/>
                </a:solidFill>
                <a:latin typeface="+mn-lt"/>
              </a:defRPr>
            </a:lvl1pPr>
            <a:lvl2pPr>
              <a:defRPr sz="1600">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p:txBody>
      </p:sp>
      <p:sp>
        <p:nvSpPr>
          <p:cNvPr id="5" name="Text Placeholder 4"/>
          <p:cNvSpPr>
            <a:spLocks noGrp="1"/>
          </p:cNvSpPr>
          <p:nvPr>
            <p:ph type="body" sz="quarter" idx="10" hasCustomPrompt="1"/>
          </p:nvPr>
        </p:nvSpPr>
        <p:spPr>
          <a:xfrm>
            <a:off x="623393" y="0"/>
            <a:ext cx="10943167" cy="980728"/>
          </a:xfrm>
          <a:prstGeom prst="rect">
            <a:avLst/>
          </a:prstGeom>
        </p:spPr>
        <p:txBody>
          <a:bodyPr vert="horz" anchor="ctr" anchorCtr="0"/>
          <a:lstStyle>
            <a:lvl1pPr marL="0" indent="0">
              <a:buFontTx/>
              <a:buNone/>
              <a:defRPr sz="1400">
                <a:solidFill>
                  <a:schemeClr val="bg1"/>
                </a:solidFill>
              </a:defRPr>
            </a:lvl1pPr>
          </a:lstStyle>
          <a:p>
            <a:r>
              <a:rPr lang="en-US" b="0" i="0" err="1">
                <a:solidFill>
                  <a:schemeClr val="bg1"/>
                </a:solidFill>
                <a:latin typeface="Calibri Light"/>
                <a:cs typeface="Calibri Light"/>
              </a:rPr>
              <a:t>Lorem</a:t>
            </a:r>
            <a:r>
              <a:rPr lang="en-US" b="0" i="0">
                <a:solidFill>
                  <a:schemeClr val="bg1"/>
                </a:solidFill>
                <a:latin typeface="Calibri Light"/>
                <a:cs typeface="Calibri Light"/>
              </a:rPr>
              <a:t> </a:t>
            </a:r>
            <a:r>
              <a:rPr lang="en-US" b="0" i="0" err="1">
                <a:solidFill>
                  <a:schemeClr val="bg1"/>
                </a:solidFill>
                <a:latin typeface="Calibri Light"/>
                <a:cs typeface="Calibri Light"/>
              </a:rPr>
              <a:t>ipsum</a:t>
            </a:r>
            <a:r>
              <a:rPr lang="en-US" b="0" i="0">
                <a:solidFill>
                  <a:schemeClr val="bg1"/>
                </a:solidFill>
                <a:latin typeface="Calibri Light"/>
                <a:cs typeface="Calibri Light"/>
              </a:rPr>
              <a:t> dolor sit </a:t>
            </a:r>
            <a:r>
              <a:rPr lang="en-US" b="0" i="0" err="1">
                <a:solidFill>
                  <a:schemeClr val="bg1"/>
                </a:solidFill>
                <a:latin typeface="Calibri Light"/>
                <a:cs typeface="Calibri Light"/>
              </a:rPr>
              <a:t>amet</a:t>
            </a:r>
            <a:r>
              <a:rPr lang="en-US" b="0" i="0">
                <a:solidFill>
                  <a:schemeClr val="bg1"/>
                </a:solidFill>
                <a:latin typeface="Calibri Light"/>
                <a:cs typeface="Calibri Light"/>
              </a:rPr>
              <a:t>, </a:t>
            </a:r>
            <a:r>
              <a:rPr lang="en-US" b="0" i="0" err="1">
                <a:solidFill>
                  <a:schemeClr val="bg1"/>
                </a:solidFill>
                <a:latin typeface="Calibri Light"/>
                <a:cs typeface="Calibri Light"/>
              </a:rPr>
              <a:t>consectetur</a:t>
            </a:r>
            <a:r>
              <a:rPr lang="en-US" b="0" i="0">
                <a:solidFill>
                  <a:schemeClr val="bg1"/>
                </a:solidFill>
                <a:latin typeface="Calibri Light"/>
                <a:cs typeface="Calibri Light"/>
              </a:rPr>
              <a:t> </a:t>
            </a:r>
          </a:p>
        </p:txBody>
      </p:sp>
      <p:sp>
        <p:nvSpPr>
          <p:cNvPr id="6" name="Slide Number Placeholder 5">
            <a:extLst>
              <a:ext uri="{FF2B5EF4-FFF2-40B4-BE49-F238E27FC236}">
                <a16:creationId xmlns:a16="http://schemas.microsoft.com/office/drawing/2014/main" id="{F279F0E9-6B5D-4113-906E-6E166838DA6A}"/>
              </a:ext>
            </a:extLst>
          </p:cNvPr>
          <p:cNvSpPr>
            <a:spLocks noGrp="1"/>
          </p:cNvSpPr>
          <p:nvPr>
            <p:ph type="sldNum" sz="quarter" idx="12"/>
          </p:nvPr>
        </p:nvSpPr>
        <p:spPr>
          <a:xfrm>
            <a:off x="8823360" y="6359853"/>
            <a:ext cx="2743200" cy="365125"/>
          </a:xfrm>
        </p:spPr>
        <p:txBody>
          <a:bodyPr/>
          <a:lstStyle/>
          <a:p>
            <a:fld id="{0C0B4CF6-F71B-4164-BC22-4AAE52FA70E2}" type="slidenum">
              <a:rPr lang="en-US" smtClean="0"/>
              <a:t>‹#›</a:t>
            </a:fld>
            <a:endParaRPr lang="en-US"/>
          </a:p>
        </p:txBody>
      </p:sp>
    </p:spTree>
    <p:extLst>
      <p:ext uri="{BB962C8B-B14F-4D97-AF65-F5344CB8AC3E}">
        <p14:creationId xmlns:p14="http://schemas.microsoft.com/office/powerpoint/2010/main" val="164148525"/>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11/23/2023</a:t>
            </a:fld>
            <a:endParaRPr lang="en-US"/>
          </a:p>
        </p:txBody>
      </p:sp>
      <p:sp>
        <p:nvSpPr>
          <p:cNvPr id="6" name="Holder 6"/>
          <p:cNvSpPr>
            <a:spLocks noGrp="1"/>
          </p:cNvSpPr>
          <p:nvPr>
            <p:ph type="sldNum" sz="quarter" idx="7"/>
          </p:nvPr>
        </p:nvSpPr>
        <p:spPr/>
        <p:txBody>
          <a:bodyPr lIns="0" tIns="0" rIns="0" bIns="0"/>
          <a:lstStyle>
            <a:lvl1pPr>
              <a:defRPr sz="1200" b="0" i="0">
                <a:solidFill>
                  <a:srgbClr val="7D7D7D"/>
                </a:solidFill>
                <a:latin typeface="Calibri"/>
                <a:cs typeface="Calibri"/>
              </a:defRPr>
            </a:lvl1pPr>
          </a:lstStyle>
          <a:p>
            <a:pPr marR="897255" algn="r">
              <a:lnSpc>
                <a:spcPts val="1240"/>
              </a:lnSpc>
            </a:pPr>
            <a:fld id="{81D60167-4931-47E6-BA6A-407CBD079E47}" type="slidenum">
              <a:rPr dirty="0"/>
              <a:t>‹#›</a:t>
            </a:fld>
            <a:endParaRPr/>
          </a:p>
          <a:p>
            <a:pPr marL="12700">
              <a:lnSpc>
                <a:spcPct val="100000"/>
              </a:lnSpc>
              <a:spcBef>
                <a:spcPts val="685"/>
              </a:spcBef>
            </a:pPr>
            <a:r>
              <a:rPr sz="1100" spc="-5">
                <a:solidFill>
                  <a:srgbClr val="000000"/>
                </a:solidFill>
              </a:rPr>
              <a:t>Copyright</a:t>
            </a:r>
            <a:r>
              <a:rPr sz="1100" spc="-50">
                <a:solidFill>
                  <a:srgbClr val="000000"/>
                </a:solidFill>
              </a:rPr>
              <a:t> </a:t>
            </a:r>
            <a:r>
              <a:rPr sz="1100">
                <a:solidFill>
                  <a:srgbClr val="000000"/>
                </a:solidFill>
              </a:rPr>
              <a:t>© 2022</a:t>
            </a:r>
            <a:r>
              <a:rPr sz="1100" spc="5">
                <a:solidFill>
                  <a:srgbClr val="000000"/>
                </a:solidFill>
              </a:rPr>
              <a:t> </a:t>
            </a:r>
            <a:r>
              <a:rPr sz="1100" spc="-5">
                <a:solidFill>
                  <a:srgbClr val="000000"/>
                </a:solidFill>
              </a:rPr>
              <a:t>by</a:t>
            </a:r>
            <a:r>
              <a:rPr sz="1100" spc="-10">
                <a:solidFill>
                  <a:srgbClr val="000000"/>
                </a:solidFill>
              </a:rPr>
              <a:t> International</a:t>
            </a:r>
            <a:r>
              <a:rPr sz="1100" spc="-45">
                <a:solidFill>
                  <a:srgbClr val="000000"/>
                </a:solidFill>
              </a:rPr>
              <a:t> </a:t>
            </a:r>
            <a:r>
              <a:rPr sz="1100" spc="-5">
                <a:solidFill>
                  <a:srgbClr val="000000"/>
                </a:solidFill>
              </a:rPr>
              <a:t>Swaps</a:t>
            </a:r>
            <a:r>
              <a:rPr sz="1100" spc="-50">
                <a:solidFill>
                  <a:srgbClr val="000000"/>
                </a:solidFill>
              </a:rPr>
              <a:t> </a:t>
            </a:r>
            <a:r>
              <a:rPr sz="1100" spc="-5">
                <a:solidFill>
                  <a:srgbClr val="000000"/>
                </a:solidFill>
              </a:rPr>
              <a:t>and</a:t>
            </a:r>
            <a:r>
              <a:rPr sz="1100" spc="-25">
                <a:solidFill>
                  <a:srgbClr val="000000"/>
                </a:solidFill>
              </a:rPr>
              <a:t> </a:t>
            </a:r>
            <a:r>
              <a:rPr sz="1100">
                <a:solidFill>
                  <a:srgbClr val="000000"/>
                </a:solidFill>
              </a:rPr>
              <a:t>Derivatives</a:t>
            </a:r>
            <a:r>
              <a:rPr sz="1100" spc="-25">
                <a:solidFill>
                  <a:srgbClr val="000000"/>
                </a:solidFill>
              </a:rPr>
              <a:t> </a:t>
            </a:r>
            <a:r>
              <a:rPr sz="1100" spc="-10">
                <a:solidFill>
                  <a:srgbClr val="000000"/>
                </a:solidFill>
              </a:rPr>
              <a:t>Association,</a:t>
            </a:r>
            <a:r>
              <a:rPr sz="1100" spc="-135">
                <a:solidFill>
                  <a:srgbClr val="000000"/>
                </a:solidFill>
              </a:rPr>
              <a:t> </a:t>
            </a:r>
            <a:r>
              <a:rPr sz="1100" spc="-5">
                <a:solidFill>
                  <a:srgbClr val="000000"/>
                </a:solidFill>
              </a:rPr>
              <a:t>Inc.</a:t>
            </a:r>
            <a:endParaRPr sz="1100"/>
          </a:p>
        </p:txBody>
      </p:sp>
    </p:spTree>
    <p:extLst>
      <p:ext uri="{BB962C8B-B14F-4D97-AF65-F5344CB8AC3E}">
        <p14:creationId xmlns:p14="http://schemas.microsoft.com/office/powerpoint/2010/main" val="38134088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11/23/2023</a:t>
            </a:fld>
            <a:endParaRPr lang="en-US"/>
          </a:p>
        </p:txBody>
      </p:sp>
      <p:sp>
        <p:nvSpPr>
          <p:cNvPr id="6" name="Holder 6"/>
          <p:cNvSpPr>
            <a:spLocks noGrp="1"/>
          </p:cNvSpPr>
          <p:nvPr>
            <p:ph type="sldNum" sz="quarter" idx="7"/>
          </p:nvPr>
        </p:nvSpPr>
        <p:spPr/>
        <p:txBody>
          <a:bodyPr lIns="0" tIns="0" rIns="0" bIns="0"/>
          <a:lstStyle>
            <a:lvl1pPr>
              <a:defRPr sz="1200" b="0" i="0">
                <a:solidFill>
                  <a:srgbClr val="7D7D7D"/>
                </a:solidFill>
                <a:latin typeface="Calibri"/>
                <a:cs typeface="Calibri"/>
              </a:defRPr>
            </a:lvl1pPr>
          </a:lstStyle>
          <a:p>
            <a:pPr marR="897255" algn="r">
              <a:lnSpc>
                <a:spcPts val="1240"/>
              </a:lnSpc>
            </a:pPr>
            <a:fld id="{81D60167-4931-47E6-BA6A-407CBD079E47}" type="slidenum">
              <a:rPr dirty="0"/>
              <a:t>‹#›</a:t>
            </a:fld>
            <a:endParaRPr/>
          </a:p>
          <a:p>
            <a:pPr marL="12700">
              <a:lnSpc>
                <a:spcPct val="100000"/>
              </a:lnSpc>
              <a:spcBef>
                <a:spcPts val="685"/>
              </a:spcBef>
            </a:pPr>
            <a:r>
              <a:rPr sz="1100" spc="-5">
                <a:solidFill>
                  <a:srgbClr val="000000"/>
                </a:solidFill>
              </a:rPr>
              <a:t>Copyright</a:t>
            </a:r>
            <a:r>
              <a:rPr sz="1100" spc="-50">
                <a:solidFill>
                  <a:srgbClr val="000000"/>
                </a:solidFill>
              </a:rPr>
              <a:t> </a:t>
            </a:r>
            <a:r>
              <a:rPr sz="1100">
                <a:solidFill>
                  <a:srgbClr val="000000"/>
                </a:solidFill>
              </a:rPr>
              <a:t>© 2022</a:t>
            </a:r>
            <a:r>
              <a:rPr sz="1100" spc="5">
                <a:solidFill>
                  <a:srgbClr val="000000"/>
                </a:solidFill>
              </a:rPr>
              <a:t> </a:t>
            </a:r>
            <a:r>
              <a:rPr sz="1100" spc="-5">
                <a:solidFill>
                  <a:srgbClr val="000000"/>
                </a:solidFill>
              </a:rPr>
              <a:t>by</a:t>
            </a:r>
            <a:r>
              <a:rPr sz="1100" spc="-10">
                <a:solidFill>
                  <a:srgbClr val="000000"/>
                </a:solidFill>
              </a:rPr>
              <a:t> International</a:t>
            </a:r>
            <a:r>
              <a:rPr sz="1100" spc="-45">
                <a:solidFill>
                  <a:srgbClr val="000000"/>
                </a:solidFill>
              </a:rPr>
              <a:t> </a:t>
            </a:r>
            <a:r>
              <a:rPr sz="1100" spc="-5">
                <a:solidFill>
                  <a:srgbClr val="000000"/>
                </a:solidFill>
              </a:rPr>
              <a:t>Swaps</a:t>
            </a:r>
            <a:r>
              <a:rPr sz="1100" spc="-50">
                <a:solidFill>
                  <a:srgbClr val="000000"/>
                </a:solidFill>
              </a:rPr>
              <a:t> </a:t>
            </a:r>
            <a:r>
              <a:rPr sz="1100" spc="-5">
                <a:solidFill>
                  <a:srgbClr val="000000"/>
                </a:solidFill>
              </a:rPr>
              <a:t>and</a:t>
            </a:r>
            <a:r>
              <a:rPr sz="1100" spc="-25">
                <a:solidFill>
                  <a:srgbClr val="000000"/>
                </a:solidFill>
              </a:rPr>
              <a:t> </a:t>
            </a:r>
            <a:r>
              <a:rPr sz="1100">
                <a:solidFill>
                  <a:srgbClr val="000000"/>
                </a:solidFill>
              </a:rPr>
              <a:t>Derivatives</a:t>
            </a:r>
            <a:r>
              <a:rPr sz="1100" spc="-25">
                <a:solidFill>
                  <a:srgbClr val="000000"/>
                </a:solidFill>
              </a:rPr>
              <a:t> </a:t>
            </a:r>
            <a:r>
              <a:rPr sz="1100" spc="-10">
                <a:solidFill>
                  <a:srgbClr val="000000"/>
                </a:solidFill>
              </a:rPr>
              <a:t>Association,</a:t>
            </a:r>
            <a:r>
              <a:rPr sz="1100" spc="-135">
                <a:solidFill>
                  <a:srgbClr val="000000"/>
                </a:solidFill>
              </a:rPr>
              <a:t> </a:t>
            </a:r>
            <a:r>
              <a:rPr sz="1100" spc="-5">
                <a:solidFill>
                  <a:srgbClr val="000000"/>
                </a:solidFill>
              </a:rPr>
              <a:t>Inc.</a:t>
            </a:r>
            <a:endParaRPr sz="1100"/>
          </a:p>
        </p:txBody>
      </p:sp>
    </p:spTree>
    <p:extLst>
      <p:ext uri="{BB962C8B-B14F-4D97-AF65-F5344CB8AC3E}">
        <p14:creationId xmlns:p14="http://schemas.microsoft.com/office/powerpoint/2010/main" val="5896545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11/23/2023</a:t>
            </a:fld>
            <a:endParaRPr lang="en-US"/>
          </a:p>
        </p:txBody>
      </p:sp>
      <p:sp>
        <p:nvSpPr>
          <p:cNvPr id="7" name="Holder 7"/>
          <p:cNvSpPr>
            <a:spLocks noGrp="1"/>
          </p:cNvSpPr>
          <p:nvPr>
            <p:ph type="sldNum" sz="quarter" idx="7"/>
          </p:nvPr>
        </p:nvSpPr>
        <p:spPr/>
        <p:txBody>
          <a:bodyPr lIns="0" tIns="0" rIns="0" bIns="0"/>
          <a:lstStyle>
            <a:lvl1pPr>
              <a:defRPr sz="1200" b="0" i="0">
                <a:solidFill>
                  <a:srgbClr val="7D7D7D"/>
                </a:solidFill>
                <a:latin typeface="Calibri"/>
                <a:cs typeface="Calibri"/>
              </a:defRPr>
            </a:lvl1pPr>
          </a:lstStyle>
          <a:p>
            <a:pPr marR="897255" algn="r">
              <a:lnSpc>
                <a:spcPts val="1240"/>
              </a:lnSpc>
            </a:pPr>
            <a:fld id="{81D60167-4931-47E6-BA6A-407CBD079E47}" type="slidenum">
              <a:rPr dirty="0"/>
              <a:t>‹#›</a:t>
            </a:fld>
            <a:endParaRPr/>
          </a:p>
          <a:p>
            <a:pPr marL="12700">
              <a:lnSpc>
                <a:spcPct val="100000"/>
              </a:lnSpc>
              <a:spcBef>
                <a:spcPts val="685"/>
              </a:spcBef>
            </a:pPr>
            <a:r>
              <a:rPr sz="1100" spc="-5">
                <a:solidFill>
                  <a:srgbClr val="000000"/>
                </a:solidFill>
              </a:rPr>
              <a:t>Copyright</a:t>
            </a:r>
            <a:r>
              <a:rPr sz="1100" spc="-50">
                <a:solidFill>
                  <a:srgbClr val="000000"/>
                </a:solidFill>
              </a:rPr>
              <a:t> </a:t>
            </a:r>
            <a:r>
              <a:rPr sz="1100">
                <a:solidFill>
                  <a:srgbClr val="000000"/>
                </a:solidFill>
              </a:rPr>
              <a:t>© 2022</a:t>
            </a:r>
            <a:r>
              <a:rPr sz="1100" spc="5">
                <a:solidFill>
                  <a:srgbClr val="000000"/>
                </a:solidFill>
              </a:rPr>
              <a:t> </a:t>
            </a:r>
            <a:r>
              <a:rPr sz="1100" spc="-5">
                <a:solidFill>
                  <a:srgbClr val="000000"/>
                </a:solidFill>
              </a:rPr>
              <a:t>by</a:t>
            </a:r>
            <a:r>
              <a:rPr sz="1100" spc="-10">
                <a:solidFill>
                  <a:srgbClr val="000000"/>
                </a:solidFill>
              </a:rPr>
              <a:t> International</a:t>
            </a:r>
            <a:r>
              <a:rPr sz="1100" spc="-45">
                <a:solidFill>
                  <a:srgbClr val="000000"/>
                </a:solidFill>
              </a:rPr>
              <a:t> </a:t>
            </a:r>
            <a:r>
              <a:rPr sz="1100" spc="-5">
                <a:solidFill>
                  <a:srgbClr val="000000"/>
                </a:solidFill>
              </a:rPr>
              <a:t>Swaps</a:t>
            </a:r>
            <a:r>
              <a:rPr sz="1100" spc="-50">
                <a:solidFill>
                  <a:srgbClr val="000000"/>
                </a:solidFill>
              </a:rPr>
              <a:t> </a:t>
            </a:r>
            <a:r>
              <a:rPr sz="1100" spc="-5">
                <a:solidFill>
                  <a:srgbClr val="000000"/>
                </a:solidFill>
              </a:rPr>
              <a:t>and</a:t>
            </a:r>
            <a:r>
              <a:rPr sz="1100" spc="-25">
                <a:solidFill>
                  <a:srgbClr val="000000"/>
                </a:solidFill>
              </a:rPr>
              <a:t> </a:t>
            </a:r>
            <a:r>
              <a:rPr sz="1100">
                <a:solidFill>
                  <a:srgbClr val="000000"/>
                </a:solidFill>
              </a:rPr>
              <a:t>Derivatives</a:t>
            </a:r>
            <a:r>
              <a:rPr sz="1100" spc="-25">
                <a:solidFill>
                  <a:srgbClr val="000000"/>
                </a:solidFill>
              </a:rPr>
              <a:t> </a:t>
            </a:r>
            <a:r>
              <a:rPr sz="1100" spc="-10">
                <a:solidFill>
                  <a:srgbClr val="000000"/>
                </a:solidFill>
              </a:rPr>
              <a:t>Association,</a:t>
            </a:r>
            <a:r>
              <a:rPr sz="1100" spc="-135">
                <a:solidFill>
                  <a:srgbClr val="000000"/>
                </a:solidFill>
              </a:rPr>
              <a:t> </a:t>
            </a:r>
            <a:r>
              <a:rPr sz="1100" spc="-5">
                <a:solidFill>
                  <a:srgbClr val="000000"/>
                </a:solidFill>
              </a:rPr>
              <a:t>Inc.</a:t>
            </a:r>
            <a:endParaRPr sz="1100"/>
          </a:p>
        </p:txBody>
      </p:sp>
    </p:spTree>
    <p:extLst>
      <p:ext uri="{BB962C8B-B14F-4D97-AF65-F5344CB8AC3E}">
        <p14:creationId xmlns:p14="http://schemas.microsoft.com/office/powerpoint/2010/main" val="13810507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11/23/2023</a:t>
            </a:fld>
            <a:endParaRPr lang="en-US"/>
          </a:p>
        </p:txBody>
      </p:sp>
      <p:sp>
        <p:nvSpPr>
          <p:cNvPr id="5" name="Holder 5"/>
          <p:cNvSpPr>
            <a:spLocks noGrp="1"/>
          </p:cNvSpPr>
          <p:nvPr>
            <p:ph type="sldNum" sz="quarter" idx="7"/>
          </p:nvPr>
        </p:nvSpPr>
        <p:spPr/>
        <p:txBody>
          <a:bodyPr lIns="0" tIns="0" rIns="0" bIns="0"/>
          <a:lstStyle>
            <a:lvl1pPr>
              <a:defRPr sz="1200" b="0" i="0">
                <a:solidFill>
                  <a:srgbClr val="7D7D7D"/>
                </a:solidFill>
                <a:latin typeface="Calibri"/>
                <a:cs typeface="Calibri"/>
              </a:defRPr>
            </a:lvl1pPr>
          </a:lstStyle>
          <a:p>
            <a:pPr marR="897255" algn="r">
              <a:lnSpc>
                <a:spcPts val="1240"/>
              </a:lnSpc>
            </a:pPr>
            <a:fld id="{81D60167-4931-47E6-BA6A-407CBD079E47}" type="slidenum">
              <a:rPr dirty="0"/>
              <a:t>‹#›</a:t>
            </a:fld>
            <a:endParaRPr/>
          </a:p>
          <a:p>
            <a:pPr marL="12700">
              <a:lnSpc>
                <a:spcPct val="100000"/>
              </a:lnSpc>
              <a:spcBef>
                <a:spcPts val="685"/>
              </a:spcBef>
            </a:pPr>
            <a:r>
              <a:rPr sz="1100" spc="-5">
                <a:solidFill>
                  <a:srgbClr val="000000"/>
                </a:solidFill>
              </a:rPr>
              <a:t>Copyright</a:t>
            </a:r>
            <a:r>
              <a:rPr sz="1100" spc="-50">
                <a:solidFill>
                  <a:srgbClr val="000000"/>
                </a:solidFill>
              </a:rPr>
              <a:t> </a:t>
            </a:r>
            <a:r>
              <a:rPr sz="1100">
                <a:solidFill>
                  <a:srgbClr val="000000"/>
                </a:solidFill>
              </a:rPr>
              <a:t>© 2022</a:t>
            </a:r>
            <a:r>
              <a:rPr sz="1100" spc="5">
                <a:solidFill>
                  <a:srgbClr val="000000"/>
                </a:solidFill>
              </a:rPr>
              <a:t> </a:t>
            </a:r>
            <a:r>
              <a:rPr sz="1100" spc="-5">
                <a:solidFill>
                  <a:srgbClr val="000000"/>
                </a:solidFill>
              </a:rPr>
              <a:t>by</a:t>
            </a:r>
            <a:r>
              <a:rPr sz="1100" spc="-10">
                <a:solidFill>
                  <a:srgbClr val="000000"/>
                </a:solidFill>
              </a:rPr>
              <a:t> International</a:t>
            </a:r>
            <a:r>
              <a:rPr sz="1100" spc="-45">
                <a:solidFill>
                  <a:srgbClr val="000000"/>
                </a:solidFill>
              </a:rPr>
              <a:t> </a:t>
            </a:r>
            <a:r>
              <a:rPr sz="1100" spc="-5">
                <a:solidFill>
                  <a:srgbClr val="000000"/>
                </a:solidFill>
              </a:rPr>
              <a:t>Swaps</a:t>
            </a:r>
            <a:r>
              <a:rPr sz="1100" spc="-50">
                <a:solidFill>
                  <a:srgbClr val="000000"/>
                </a:solidFill>
              </a:rPr>
              <a:t> </a:t>
            </a:r>
            <a:r>
              <a:rPr sz="1100" spc="-5">
                <a:solidFill>
                  <a:srgbClr val="000000"/>
                </a:solidFill>
              </a:rPr>
              <a:t>and</a:t>
            </a:r>
            <a:r>
              <a:rPr sz="1100" spc="-25">
                <a:solidFill>
                  <a:srgbClr val="000000"/>
                </a:solidFill>
              </a:rPr>
              <a:t> </a:t>
            </a:r>
            <a:r>
              <a:rPr sz="1100">
                <a:solidFill>
                  <a:srgbClr val="000000"/>
                </a:solidFill>
              </a:rPr>
              <a:t>Derivatives</a:t>
            </a:r>
            <a:r>
              <a:rPr sz="1100" spc="-25">
                <a:solidFill>
                  <a:srgbClr val="000000"/>
                </a:solidFill>
              </a:rPr>
              <a:t> </a:t>
            </a:r>
            <a:r>
              <a:rPr sz="1100" spc="-10">
                <a:solidFill>
                  <a:srgbClr val="000000"/>
                </a:solidFill>
              </a:rPr>
              <a:t>Association,</a:t>
            </a:r>
            <a:r>
              <a:rPr sz="1100" spc="-135">
                <a:solidFill>
                  <a:srgbClr val="000000"/>
                </a:solidFill>
              </a:rPr>
              <a:t> </a:t>
            </a:r>
            <a:r>
              <a:rPr sz="1100" spc="-5">
                <a:solidFill>
                  <a:srgbClr val="000000"/>
                </a:solidFill>
              </a:rPr>
              <a:t>Inc.</a:t>
            </a:r>
            <a:endParaRPr sz="1100"/>
          </a:p>
        </p:txBody>
      </p:sp>
    </p:spTree>
    <p:extLst>
      <p:ext uri="{BB962C8B-B14F-4D97-AF65-F5344CB8AC3E}">
        <p14:creationId xmlns:p14="http://schemas.microsoft.com/office/powerpoint/2010/main" val="25959458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4000500" y="2520695"/>
            <a:ext cx="3447287" cy="1092707"/>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11/23/2023</a:t>
            </a:fld>
            <a:endParaRPr lang="en-US"/>
          </a:p>
        </p:txBody>
      </p:sp>
      <p:sp>
        <p:nvSpPr>
          <p:cNvPr id="4" name="Holder 4"/>
          <p:cNvSpPr>
            <a:spLocks noGrp="1"/>
          </p:cNvSpPr>
          <p:nvPr>
            <p:ph type="sldNum" sz="quarter" idx="7"/>
          </p:nvPr>
        </p:nvSpPr>
        <p:spPr/>
        <p:txBody>
          <a:bodyPr lIns="0" tIns="0" rIns="0" bIns="0"/>
          <a:lstStyle>
            <a:lvl1pPr>
              <a:defRPr sz="1200" b="0" i="0">
                <a:solidFill>
                  <a:srgbClr val="7D7D7D"/>
                </a:solidFill>
                <a:latin typeface="Calibri"/>
                <a:cs typeface="Calibri"/>
              </a:defRPr>
            </a:lvl1pPr>
          </a:lstStyle>
          <a:p>
            <a:pPr marR="897255" algn="r">
              <a:lnSpc>
                <a:spcPts val="1240"/>
              </a:lnSpc>
            </a:pPr>
            <a:fld id="{81D60167-4931-47E6-BA6A-407CBD079E47}" type="slidenum">
              <a:rPr dirty="0"/>
              <a:t>‹#›</a:t>
            </a:fld>
            <a:endParaRPr/>
          </a:p>
          <a:p>
            <a:pPr marL="12700">
              <a:lnSpc>
                <a:spcPct val="100000"/>
              </a:lnSpc>
              <a:spcBef>
                <a:spcPts val="685"/>
              </a:spcBef>
            </a:pPr>
            <a:r>
              <a:rPr sz="1100" spc="-5">
                <a:solidFill>
                  <a:srgbClr val="000000"/>
                </a:solidFill>
              </a:rPr>
              <a:t>Copyright</a:t>
            </a:r>
            <a:r>
              <a:rPr sz="1100" spc="-50">
                <a:solidFill>
                  <a:srgbClr val="000000"/>
                </a:solidFill>
              </a:rPr>
              <a:t> </a:t>
            </a:r>
            <a:r>
              <a:rPr sz="1100">
                <a:solidFill>
                  <a:srgbClr val="000000"/>
                </a:solidFill>
              </a:rPr>
              <a:t>© 2022</a:t>
            </a:r>
            <a:r>
              <a:rPr sz="1100" spc="5">
                <a:solidFill>
                  <a:srgbClr val="000000"/>
                </a:solidFill>
              </a:rPr>
              <a:t> </a:t>
            </a:r>
            <a:r>
              <a:rPr sz="1100" spc="-5">
                <a:solidFill>
                  <a:srgbClr val="000000"/>
                </a:solidFill>
              </a:rPr>
              <a:t>by</a:t>
            </a:r>
            <a:r>
              <a:rPr sz="1100" spc="-10">
                <a:solidFill>
                  <a:srgbClr val="000000"/>
                </a:solidFill>
              </a:rPr>
              <a:t> International</a:t>
            </a:r>
            <a:r>
              <a:rPr sz="1100" spc="-45">
                <a:solidFill>
                  <a:srgbClr val="000000"/>
                </a:solidFill>
              </a:rPr>
              <a:t> </a:t>
            </a:r>
            <a:r>
              <a:rPr sz="1100" spc="-5">
                <a:solidFill>
                  <a:srgbClr val="000000"/>
                </a:solidFill>
              </a:rPr>
              <a:t>Swaps</a:t>
            </a:r>
            <a:r>
              <a:rPr sz="1100" spc="-50">
                <a:solidFill>
                  <a:srgbClr val="000000"/>
                </a:solidFill>
              </a:rPr>
              <a:t> </a:t>
            </a:r>
            <a:r>
              <a:rPr sz="1100" spc="-5">
                <a:solidFill>
                  <a:srgbClr val="000000"/>
                </a:solidFill>
              </a:rPr>
              <a:t>and</a:t>
            </a:r>
            <a:r>
              <a:rPr sz="1100" spc="-25">
                <a:solidFill>
                  <a:srgbClr val="000000"/>
                </a:solidFill>
              </a:rPr>
              <a:t> </a:t>
            </a:r>
            <a:r>
              <a:rPr sz="1100">
                <a:solidFill>
                  <a:srgbClr val="000000"/>
                </a:solidFill>
              </a:rPr>
              <a:t>Derivatives</a:t>
            </a:r>
            <a:r>
              <a:rPr sz="1100" spc="-25">
                <a:solidFill>
                  <a:srgbClr val="000000"/>
                </a:solidFill>
              </a:rPr>
              <a:t> </a:t>
            </a:r>
            <a:r>
              <a:rPr sz="1100" spc="-10">
                <a:solidFill>
                  <a:srgbClr val="000000"/>
                </a:solidFill>
              </a:rPr>
              <a:t>Association,</a:t>
            </a:r>
            <a:r>
              <a:rPr sz="1100" spc="-135">
                <a:solidFill>
                  <a:srgbClr val="000000"/>
                </a:solidFill>
              </a:rPr>
              <a:t> </a:t>
            </a:r>
            <a:r>
              <a:rPr sz="1100" spc="-5">
                <a:solidFill>
                  <a:srgbClr val="000000"/>
                </a:solidFill>
              </a:rPr>
              <a:t>Inc.</a:t>
            </a:r>
            <a:endParaRPr sz="1100"/>
          </a:p>
        </p:txBody>
      </p:sp>
    </p:spTree>
    <p:extLst>
      <p:ext uri="{BB962C8B-B14F-4D97-AF65-F5344CB8AC3E}">
        <p14:creationId xmlns:p14="http://schemas.microsoft.com/office/powerpoint/2010/main" val="9129360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secHead" preserve="1">
  <p:cSld name="Cover (2)">
    <p:bg>
      <p:bgPr>
        <a:solidFill>
          <a:schemeClr val="accent1"/>
        </a:solidFill>
        <a:effectLst/>
      </p:bgPr>
    </p:bg>
    <p:spTree>
      <p:nvGrpSpPr>
        <p:cNvPr id="1" name=""/>
        <p:cNvGrpSpPr/>
        <p:nvPr/>
      </p:nvGrpSpPr>
      <p:grpSpPr>
        <a:xfrm>
          <a:off x="0" y="0"/>
          <a:ext cx="0" cy="0"/>
          <a:chOff x="0" y="0"/>
          <a:chExt cx="0" cy="0"/>
        </a:xfrm>
      </p:grpSpPr>
      <p:pic>
        <p:nvPicPr>
          <p:cNvPr id="9" name="Picture 8" descr="A picture containing clock&#10;&#10;Description automatically generated">
            <a:extLst>
              <a:ext uri="{FF2B5EF4-FFF2-40B4-BE49-F238E27FC236}">
                <a16:creationId xmlns:a16="http://schemas.microsoft.com/office/drawing/2014/main" id="{8674064F-A96E-48AD-AD73-41BD73500EC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632" r="7778" b="11634"/>
          <a:stretch/>
        </p:blipFill>
        <p:spPr>
          <a:xfrm>
            <a:off x="0" y="1831737"/>
            <a:ext cx="12191999" cy="5026263"/>
          </a:xfrm>
          <a:prstGeom prst="rect">
            <a:avLst/>
          </a:prstGeom>
        </p:spPr>
      </p:pic>
      <p:sp>
        <p:nvSpPr>
          <p:cNvPr id="4" name="Rectangle 3">
            <a:extLst>
              <a:ext uri="{FF2B5EF4-FFF2-40B4-BE49-F238E27FC236}">
                <a16:creationId xmlns:a16="http://schemas.microsoft.com/office/drawing/2014/main" id="{8F4DB2C9-294A-43A5-9F46-F1189AF5C674}"/>
              </a:ext>
            </a:extLst>
          </p:cNvPr>
          <p:cNvSpPr/>
          <p:nvPr userDrawn="1"/>
        </p:nvSpPr>
        <p:spPr>
          <a:xfrm>
            <a:off x="0" y="0"/>
            <a:ext cx="12192000" cy="102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249023B-4F64-4F7A-B3B5-FF8BDEAE1EA3}"/>
              </a:ext>
            </a:extLst>
          </p:cNvPr>
          <p:cNvSpPr>
            <a:spLocks noGrp="1"/>
          </p:cNvSpPr>
          <p:nvPr>
            <p:ph type="title" hasCustomPrompt="1"/>
          </p:nvPr>
        </p:nvSpPr>
        <p:spPr>
          <a:xfrm>
            <a:off x="3429000" y="2119201"/>
            <a:ext cx="8186738" cy="1574883"/>
          </a:xfrm>
        </p:spPr>
        <p:txBody>
          <a:bodyPr anchor="b"/>
          <a:lstStyle>
            <a:lvl1pPr algn="r">
              <a:defRPr sz="2800">
                <a:solidFill>
                  <a:schemeClr val="bg1"/>
                </a:solidFill>
              </a:defRPr>
            </a:lvl1pPr>
          </a:lstStyle>
          <a:p>
            <a:r>
              <a:rPr lang="en-US"/>
              <a:t>Title</a:t>
            </a:r>
            <a:endParaRPr lang="en-GB"/>
          </a:p>
        </p:txBody>
      </p:sp>
      <p:sp>
        <p:nvSpPr>
          <p:cNvPr id="3" name="Text Placeholder 2">
            <a:extLst>
              <a:ext uri="{FF2B5EF4-FFF2-40B4-BE49-F238E27FC236}">
                <a16:creationId xmlns:a16="http://schemas.microsoft.com/office/drawing/2014/main" id="{F2E3838E-83E2-49C5-99BF-13AC385B394F}"/>
              </a:ext>
            </a:extLst>
          </p:cNvPr>
          <p:cNvSpPr>
            <a:spLocks noGrp="1"/>
          </p:cNvSpPr>
          <p:nvPr>
            <p:ph type="body" idx="1" hasCustomPrompt="1"/>
          </p:nvPr>
        </p:nvSpPr>
        <p:spPr>
          <a:xfrm>
            <a:off x="3429000" y="3808961"/>
            <a:ext cx="8186738" cy="357598"/>
          </a:xfrm>
          <a:prstGeom prst="rect">
            <a:avLst/>
          </a:prstGeom>
        </p:spPr>
        <p:txBody>
          <a:bodyPr/>
          <a:lstStyle>
            <a:lvl1pPr marL="0" indent="0" algn="r">
              <a:spcAft>
                <a:spcPts val="1200"/>
              </a:spcAft>
              <a:buNone/>
              <a:defRPr sz="2000">
                <a:solidFill>
                  <a:schemeClr val="bg1"/>
                </a:solidFill>
                <a:latin typeface="+mj-lt"/>
              </a:defRPr>
            </a:lvl1pPr>
            <a:lvl2pPr marL="457200" indent="0" algn="r">
              <a:buNone/>
              <a:defRPr sz="1400" b="0">
                <a:solidFill>
                  <a:schemeClr val="bg1"/>
                </a:solidFill>
                <a:latin typeface="+mj-lt"/>
              </a:defRPr>
            </a:lvl2pPr>
            <a:lvl3pPr marL="914400" indent="0" algn="r">
              <a:spcBef>
                <a:spcPts val="600"/>
              </a:spcBef>
              <a:spcAft>
                <a:spcPts val="600"/>
              </a:spcAft>
              <a:buNone/>
              <a:defRPr sz="1400">
                <a:solidFill>
                  <a:schemeClr val="bg1"/>
                </a:solidFill>
                <a:latin typeface="+mj-lt"/>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Subtitle</a:t>
            </a:r>
          </a:p>
        </p:txBody>
      </p:sp>
      <p:sp>
        <p:nvSpPr>
          <p:cNvPr id="8" name="Text Placeholder 2">
            <a:extLst>
              <a:ext uri="{FF2B5EF4-FFF2-40B4-BE49-F238E27FC236}">
                <a16:creationId xmlns:a16="http://schemas.microsoft.com/office/drawing/2014/main" id="{A4BB5229-EE94-4159-833B-8B783E0B433A}"/>
              </a:ext>
            </a:extLst>
          </p:cNvPr>
          <p:cNvSpPr>
            <a:spLocks noGrp="1"/>
          </p:cNvSpPr>
          <p:nvPr>
            <p:ph type="body" idx="10" hasCustomPrompt="1"/>
          </p:nvPr>
        </p:nvSpPr>
        <p:spPr>
          <a:xfrm>
            <a:off x="3429000" y="4614698"/>
            <a:ext cx="8186738" cy="357598"/>
          </a:xfrm>
          <a:prstGeom prst="rect">
            <a:avLst/>
          </a:prstGeom>
        </p:spPr>
        <p:txBody>
          <a:bodyPr/>
          <a:lstStyle>
            <a:lvl1pPr marL="0" indent="0" algn="r">
              <a:spcAft>
                <a:spcPts val="0"/>
              </a:spcAft>
              <a:buNone/>
              <a:defRPr sz="1400">
                <a:solidFill>
                  <a:schemeClr val="bg1"/>
                </a:solidFill>
                <a:latin typeface="+mj-lt"/>
              </a:defRPr>
            </a:lvl1pPr>
            <a:lvl2pPr marL="457200" indent="0" algn="r">
              <a:spcBef>
                <a:spcPts val="0"/>
              </a:spcBef>
              <a:spcAft>
                <a:spcPts val="0"/>
              </a:spcAft>
              <a:buNone/>
              <a:defRPr sz="1400" b="0">
                <a:solidFill>
                  <a:schemeClr val="bg1"/>
                </a:solidFill>
                <a:latin typeface="+mj-lt"/>
              </a:defRPr>
            </a:lvl2pPr>
            <a:lvl3pPr marL="914400" indent="0" algn="r">
              <a:spcBef>
                <a:spcPts val="0"/>
              </a:spcBef>
              <a:spcAft>
                <a:spcPts val="0"/>
              </a:spcAft>
              <a:buNone/>
              <a:defRPr sz="1400">
                <a:solidFill>
                  <a:schemeClr val="bg1"/>
                </a:solidFill>
                <a:latin typeface="+mj-lt"/>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2"/>
            <a:r>
              <a:rPr lang="en-US"/>
              <a:t>Name of Author</a:t>
            </a:r>
          </a:p>
        </p:txBody>
      </p:sp>
      <p:pic>
        <p:nvPicPr>
          <p:cNvPr id="12" name="Picture 11" descr="A picture containing text, clock&#10;&#10;Description automatically generated">
            <a:extLst>
              <a:ext uri="{FF2B5EF4-FFF2-40B4-BE49-F238E27FC236}">
                <a16:creationId xmlns:a16="http://schemas.microsoft.com/office/drawing/2014/main" id="{EA7AF3D8-95B5-4225-A6E4-D9B1484E400B}"/>
              </a:ext>
            </a:extLst>
          </p:cNvPr>
          <p:cNvPicPr>
            <a:picLocks noChangeAspect="1"/>
          </p:cNvPicPr>
          <p:nvPr userDrawn="1"/>
        </p:nvPicPr>
        <p:blipFill rotWithShape="1">
          <a:blip r:embed="rId3"/>
          <a:srcRect l="48299" t="-100"/>
          <a:stretch/>
        </p:blipFill>
        <p:spPr>
          <a:xfrm>
            <a:off x="10071100" y="233497"/>
            <a:ext cx="1886122" cy="566816"/>
          </a:xfrm>
          <a:prstGeom prst="rect">
            <a:avLst/>
          </a:prstGeom>
        </p:spPr>
      </p:pic>
      <p:pic>
        <p:nvPicPr>
          <p:cNvPr id="13" name="Picture 12" descr="A picture containing text, clipart&#10;&#10;Description automatically generated">
            <a:extLst>
              <a:ext uri="{FF2B5EF4-FFF2-40B4-BE49-F238E27FC236}">
                <a16:creationId xmlns:a16="http://schemas.microsoft.com/office/drawing/2014/main" id="{C9D4F43D-15BE-420C-AD88-9678617AB793}"/>
              </a:ext>
            </a:extLst>
          </p:cNvPr>
          <p:cNvPicPr>
            <a:picLocks noChangeAspect="1"/>
          </p:cNvPicPr>
          <p:nvPr userDrawn="1"/>
        </p:nvPicPr>
        <p:blipFill>
          <a:blip r:embed="rId4"/>
          <a:stretch>
            <a:fillRect/>
          </a:stretch>
        </p:blipFill>
        <p:spPr>
          <a:xfrm>
            <a:off x="8260080" y="233497"/>
            <a:ext cx="1677047" cy="566816"/>
          </a:xfrm>
          <a:prstGeom prst="rect">
            <a:avLst/>
          </a:prstGeom>
        </p:spPr>
      </p:pic>
    </p:spTree>
    <p:extLst>
      <p:ext uri="{BB962C8B-B14F-4D97-AF65-F5344CB8AC3E}">
        <p14:creationId xmlns:p14="http://schemas.microsoft.com/office/powerpoint/2010/main" val="19737355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539750" y="1836000"/>
            <a:ext cx="11114088" cy="4343400"/>
          </a:xfrm>
        </p:spPr>
        <p:txBody>
          <a:bodyPr lIns="0" tIns="0" rIns="0" bIns="0"/>
          <a:lstStyle>
            <a:lvl1pPr>
              <a:defRPr b="0"/>
            </a:lvl1pPr>
            <a:lvl2pPr>
              <a:spcBef>
                <a:spcPts val="0"/>
              </a:spcBef>
              <a:defRPr b="0"/>
            </a:lvl2pPr>
            <a:lvl3pPr marL="0" indent="0">
              <a:buFontTx/>
              <a:buNone/>
              <a:defRPr i="1"/>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3" name="Footer Placeholder 2">
            <a:extLst>
              <a:ext uri="{FF2B5EF4-FFF2-40B4-BE49-F238E27FC236}">
                <a16:creationId xmlns:a16="http://schemas.microsoft.com/office/drawing/2014/main" id="{35949CF1-7FA5-4017-90BF-21E89EDF930D}"/>
              </a:ext>
            </a:extLst>
          </p:cNvPr>
          <p:cNvSpPr>
            <a:spLocks noGrp="1"/>
          </p:cNvSpPr>
          <p:nvPr>
            <p:ph type="ftr" sz="quarter" idx="15"/>
          </p:nvPr>
        </p:nvSpPr>
        <p:spPr/>
        <p:txBody>
          <a:bodyPr/>
          <a:lstStyle/>
          <a:p>
            <a:endParaRPr lang="en-GB"/>
          </a:p>
        </p:txBody>
      </p:sp>
    </p:spTree>
    <p:extLst>
      <p:ext uri="{BB962C8B-B14F-4D97-AF65-F5344CB8AC3E}">
        <p14:creationId xmlns:p14="http://schemas.microsoft.com/office/powerpoint/2010/main" val="28388002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secHead" preserve="1">
  <p:cSld name="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9023B-4F64-4F7A-B3B5-FF8BDEAE1EA3}"/>
              </a:ext>
            </a:extLst>
          </p:cNvPr>
          <p:cNvSpPr>
            <a:spLocks noGrp="1"/>
          </p:cNvSpPr>
          <p:nvPr>
            <p:ph type="title" hasCustomPrompt="1"/>
          </p:nvPr>
        </p:nvSpPr>
        <p:spPr>
          <a:xfrm>
            <a:off x="6114560" y="1757865"/>
            <a:ext cx="5256000" cy="1574883"/>
          </a:xfrm>
        </p:spPr>
        <p:txBody>
          <a:bodyPr anchor="b"/>
          <a:lstStyle>
            <a:lvl1pPr algn="r">
              <a:defRPr sz="3500">
                <a:solidFill>
                  <a:schemeClr val="bg1"/>
                </a:solidFill>
              </a:defRPr>
            </a:lvl1pPr>
          </a:lstStyle>
          <a:p>
            <a:r>
              <a:rPr lang="en-US"/>
              <a:t>Divider page title</a:t>
            </a:r>
            <a:endParaRPr lang="en-GB"/>
          </a:p>
        </p:txBody>
      </p:sp>
      <p:sp>
        <p:nvSpPr>
          <p:cNvPr id="3" name="Text Placeholder 2">
            <a:extLst>
              <a:ext uri="{FF2B5EF4-FFF2-40B4-BE49-F238E27FC236}">
                <a16:creationId xmlns:a16="http://schemas.microsoft.com/office/drawing/2014/main" id="{F2E3838E-83E2-49C5-99BF-13AC385B394F}"/>
              </a:ext>
            </a:extLst>
          </p:cNvPr>
          <p:cNvSpPr>
            <a:spLocks noGrp="1"/>
          </p:cNvSpPr>
          <p:nvPr>
            <p:ph type="body" idx="1" hasCustomPrompt="1"/>
          </p:nvPr>
        </p:nvSpPr>
        <p:spPr>
          <a:xfrm>
            <a:off x="6114560" y="3405579"/>
            <a:ext cx="5256000" cy="1500187"/>
          </a:xfrm>
          <a:prstGeom prst="rect">
            <a:avLst/>
          </a:prstGeom>
        </p:spPr>
        <p:txBody>
          <a:bodyPr/>
          <a:lstStyle>
            <a:lvl1pPr marL="0" indent="0" algn="r">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Divider page subtitle if required</a:t>
            </a:r>
          </a:p>
        </p:txBody>
      </p:sp>
      <p:sp>
        <p:nvSpPr>
          <p:cNvPr id="4" name="Footer Placeholder 3">
            <a:extLst>
              <a:ext uri="{FF2B5EF4-FFF2-40B4-BE49-F238E27FC236}">
                <a16:creationId xmlns:a16="http://schemas.microsoft.com/office/drawing/2014/main" id="{BB41B348-1805-43D6-9118-5A81D663246B}"/>
              </a:ext>
            </a:extLst>
          </p:cNvPr>
          <p:cNvSpPr>
            <a:spLocks noGrp="1"/>
          </p:cNvSpPr>
          <p:nvPr>
            <p:ph type="ftr" sz="quarter" idx="10"/>
          </p:nvPr>
        </p:nvSpPr>
        <p:spPr/>
        <p:txBody>
          <a:bodyPr/>
          <a:lstStyle>
            <a:lvl1pPr>
              <a:defRPr>
                <a:solidFill>
                  <a:schemeClr val="bg1"/>
                </a:solidFill>
              </a:defRPr>
            </a:lvl1pPr>
          </a:lstStyle>
          <a:p>
            <a:endParaRPr lang="en-GB"/>
          </a:p>
        </p:txBody>
      </p:sp>
      <p:pic>
        <p:nvPicPr>
          <p:cNvPr id="6" name="Picture 5" descr="A black and white image of a person's face&#10;&#10;Description automatically generated with medium confidence">
            <a:extLst>
              <a:ext uri="{FF2B5EF4-FFF2-40B4-BE49-F238E27FC236}">
                <a16:creationId xmlns:a16="http://schemas.microsoft.com/office/drawing/2014/main" id="{5A85A962-1B67-4C66-BD96-E867009C00F8}"/>
              </a:ext>
            </a:extLst>
          </p:cNvPr>
          <p:cNvPicPr>
            <a:picLocks noChangeAspect="1"/>
          </p:cNvPicPr>
          <p:nvPr userDrawn="1"/>
        </p:nvPicPr>
        <p:blipFill>
          <a:blip r:embed="rId2"/>
          <a:stretch>
            <a:fillRect/>
          </a:stretch>
        </p:blipFill>
        <p:spPr>
          <a:xfrm>
            <a:off x="10333412" y="299030"/>
            <a:ext cx="1454934" cy="490807"/>
          </a:xfrm>
          <a:prstGeom prst="rect">
            <a:avLst/>
          </a:prstGeom>
        </p:spPr>
      </p:pic>
    </p:spTree>
    <p:extLst>
      <p:ext uri="{BB962C8B-B14F-4D97-AF65-F5344CB8AC3E}">
        <p14:creationId xmlns:p14="http://schemas.microsoft.com/office/powerpoint/2010/main" val="7806857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539750" y="1836000"/>
            <a:ext cx="11114088" cy="4343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3" name="Footer Placeholder 2">
            <a:extLst>
              <a:ext uri="{FF2B5EF4-FFF2-40B4-BE49-F238E27FC236}">
                <a16:creationId xmlns:a16="http://schemas.microsoft.com/office/drawing/2014/main" id="{1F649118-63E7-4125-9429-E8D6C3DB2E54}"/>
              </a:ext>
            </a:extLst>
          </p:cNvPr>
          <p:cNvSpPr>
            <a:spLocks noGrp="1"/>
          </p:cNvSpPr>
          <p:nvPr>
            <p:ph type="ftr" sz="quarter" idx="15"/>
          </p:nvPr>
        </p:nvSpPr>
        <p:spPr/>
        <p:txBody>
          <a:bodyPr/>
          <a:lstStyle/>
          <a:p>
            <a:endParaRPr lang="en-GB"/>
          </a:p>
        </p:txBody>
      </p:sp>
    </p:spTree>
    <p:extLst>
      <p:ext uri="{BB962C8B-B14F-4D97-AF65-F5344CB8AC3E}">
        <p14:creationId xmlns:p14="http://schemas.microsoft.com/office/powerpoint/2010/main" val="20536152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539749" y="1836000"/>
            <a:ext cx="4500000" cy="3831375"/>
          </a:xfrm>
        </p:spPr>
        <p:txBody>
          <a:bodyPr lIns="0" tIns="0" rIns="0" bIns="0"/>
          <a:lstStyle>
            <a:lvl1pPr>
              <a:spcAft>
                <a:spcPts val="600"/>
              </a:spcAf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3" name="Footer Placeholder 2">
            <a:extLst>
              <a:ext uri="{FF2B5EF4-FFF2-40B4-BE49-F238E27FC236}">
                <a16:creationId xmlns:a16="http://schemas.microsoft.com/office/drawing/2014/main" id="{379197AC-B3C9-4AF9-9F25-0F28F9A3E9E5}"/>
              </a:ext>
            </a:extLst>
          </p:cNvPr>
          <p:cNvSpPr>
            <a:spLocks noGrp="1"/>
          </p:cNvSpPr>
          <p:nvPr>
            <p:ph type="ftr" sz="quarter" idx="15"/>
          </p:nvPr>
        </p:nvSpPr>
        <p:spPr/>
        <p:txBody>
          <a:bodyPr/>
          <a:lstStyle/>
          <a:p>
            <a:endParaRPr lang="en-GB"/>
          </a:p>
        </p:txBody>
      </p:sp>
    </p:spTree>
    <p:extLst>
      <p:ext uri="{BB962C8B-B14F-4D97-AF65-F5344CB8AC3E}">
        <p14:creationId xmlns:p14="http://schemas.microsoft.com/office/powerpoint/2010/main" val="22757604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R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7115738" y="1836000"/>
            <a:ext cx="4500000" cy="3831375"/>
          </a:xfrm>
        </p:spPr>
        <p:txBody>
          <a:bodyPr lIns="0" tIns="0" rIns="0" bIns="0"/>
          <a:lstStyle>
            <a:lvl1pPr>
              <a:spcAft>
                <a:spcPts val="600"/>
              </a:spcAf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3" name="Footer Placeholder 2">
            <a:extLst>
              <a:ext uri="{FF2B5EF4-FFF2-40B4-BE49-F238E27FC236}">
                <a16:creationId xmlns:a16="http://schemas.microsoft.com/office/drawing/2014/main" id="{4F3E877A-39BC-41F7-A0FF-6CA472454AF1}"/>
              </a:ext>
            </a:extLst>
          </p:cNvPr>
          <p:cNvSpPr>
            <a:spLocks noGrp="1"/>
          </p:cNvSpPr>
          <p:nvPr>
            <p:ph type="ftr" sz="quarter" idx="15"/>
          </p:nvPr>
        </p:nvSpPr>
        <p:spPr/>
        <p:txBody>
          <a:bodyPr/>
          <a:lstStyle/>
          <a:p>
            <a:endParaRPr lang="en-GB"/>
          </a:p>
        </p:txBody>
      </p:sp>
    </p:spTree>
    <p:extLst>
      <p:ext uri="{BB962C8B-B14F-4D97-AF65-F5344CB8AC3E}">
        <p14:creationId xmlns:p14="http://schemas.microsoft.com/office/powerpoint/2010/main" val="22660123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539750" y="1435950"/>
            <a:ext cx="11114088" cy="964350"/>
          </a:xfrm>
        </p:spPr>
        <p:txBody>
          <a:bodyPr lIns="0" tIns="0" rIns="0" bIns="0"/>
          <a:lstStyle>
            <a:lvl2pPr>
              <a:defRPr sz="1450"/>
            </a:lvl2pPr>
            <a:lvl3pPr>
              <a:defRPr sz="1450"/>
            </a:lvl3pPr>
            <a:lvl4pPr>
              <a:defRPr sz="1450"/>
            </a:lvl4pPr>
            <a:lvl5pPr>
              <a:defRPr sz="14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5" name="Text Placeholder 7">
            <a:extLst>
              <a:ext uri="{FF2B5EF4-FFF2-40B4-BE49-F238E27FC236}">
                <a16:creationId xmlns:a16="http://schemas.microsoft.com/office/drawing/2014/main" id="{D98C9300-E830-4C59-AE94-DF697E7A4094}"/>
              </a:ext>
            </a:extLst>
          </p:cNvPr>
          <p:cNvSpPr>
            <a:spLocks noGrp="1"/>
          </p:cNvSpPr>
          <p:nvPr>
            <p:ph type="body" sz="quarter" idx="15"/>
          </p:nvPr>
        </p:nvSpPr>
        <p:spPr>
          <a:xfrm>
            <a:off x="847725" y="2946826"/>
            <a:ext cx="3981450" cy="329774"/>
          </a:xfrm>
        </p:spPr>
        <p:txBody>
          <a:bodyPr lIns="0" tIns="0" rIns="0" bIns="0"/>
          <a:lstStyle>
            <a:lvl1pPr>
              <a:defRPr sz="1600" b="1"/>
            </a:lvl1pPr>
          </a:lstStyle>
          <a:p>
            <a:pPr lvl="0"/>
            <a:r>
              <a:rPr lang="en-US"/>
              <a:t>Click to edit Master text styles</a:t>
            </a:r>
            <a:endParaRPr lang="en-GB"/>
          </a:p>
        </p:txBody>
      </p:sp>
      <p:sp>
        <p:nvSpPr>
          <p:cNvPr id="6" name="Text Placeholder 7">
            <a:extLst>
              <a:ext uri="{FF2B5EF4-FFF2-40B4-BE49-F238E27FC236}">
                <a16:creationId xmlns:a16="http://schemas.microsoft.com/office/drawing/2014/main" id="{C92594DF-91DF-41D3-8183-6388E386E7E5}"/>
              </a:ext>
            </a:extLst>
          </p:cNvPr>
          <p:cNvSpPr>
            <a:spLocks noGrp="1"/>
          </p:cNvSpPr>
          <p:nvPr>
            <p:ph type="body" sz="quarter" idx="16"/>
          </p:nvPr>
        </p:nvSpPr>
        <p:spPr>
          <a:xfrm>
            <a:off x="6800851" y="2946826"/>
            <a:ext cx="4814888" cy="329774"/>
          </a:xfrm>
        </p:spPr>
        <p:txBody>
          <a:bodyPr lIns="0" tIns="0" rIns="0" bIns="0"/>
          <a:lstStyle>
            <a:lvl1pPr>
              <a:defRPr sz="1600" b="1"/>
            </a:lvl1pPr>
          </a:lstStyle>
          <a:p>
            <a:pPr lvl="0"/>
            <a:r>
              <a:rPr lang="en-US"/>
              <a:t>Click to edit Master text styles</a:t>
            </a:r>
            <a:endParaRPr lang="en-GB"/>
          </a:p>
        </p:txBody>
      </p:sp>
      <p:sp>
        <p:nvSpPr>
          <p:cNvPr id="3" name="Footer Placeholder 2">
            <a:extLst>
              <a:ext uri="{FF2B5EF4-FFF2-40B4-BE49-F238E27FC236}">
                <a16:creationId xmlns:a16="http://schemas.microsoft.com/office/drawing/2014/main" id="{DCC8DC1C-D36B-4C4A-A23D-75DB991158AA}"/>
              </a:ext>
            </a:extLst>
          </p:cNvPr>
          <p:cNvSpPr>
            <a:spLocks noGrp="1"/>
          </p:cNvSpPr>
          <p:nvPr>
            <p:ph type="ftr" sz="quarter" idx="17"/>
          </p:nvPr>
        </p:nvSpPr>
        <p:spPr/>
        <p:txBody>
          <a:bodyPr/>
          <a:lstStyle/>
          <a:p>
            <a:endParaRPr lang="en-GB"/>
          </a:p>
        </p:txBody>
      </p:sp>
    </p:spTree>
    <p:extLst>
      <p:ext uri="{BB962C8B-B14F-4D97-AF65-F5344CB8AC3E}">
        <p14:creationId xmlns:p14="http://schemas.microsoft.com/office/powerpoint/2010/main" val="19706441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A8723-4182-4B6C-AB80-89B196F52D3A}"/>
              </a:ext>
            </a:extLst>
          </p:cNvPr>
          <p:cNvSpPr>
            <a:spLocks noGrp="1"/>
          </p:cNvSpPr>
          <p:nvPr>
            <p:ph type="title"/>
          </p:nvPr>
        </p:nvSpPr>
        <p:spPr/>
        <p:txBody>
          <a:body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6B7BC0CF-389D-4A48-9780-1A751C5D5E30}"/>
              </a:ext>
            </a:extLst>
          </p:cNvPr>
          <p:cNvSpPr>
            <a:spLocks noGrp="1"/>
          </p:cNvSpPr>
          <p:nvPr>
            <p:ph type="sldNum" sz="quarter" idx="10"/>
          </p:nvPr>
        </p:nvSpPr>
        <p:spPr/>
        <p:txBody>
          <a:bodyPr/>
          <a:lstStyle/>
          <a:p>
            <a:fld id="{D751C141-602F-4B7A-80FC-46E874AB684B}" type="slidenum">
              <a:rPr lang="en-GB" smtClean="0"/>
              <a:pPr/>
              <a:t>‹#›</a:t>
            </a:fld>
            <a:endParaRPr lang="en-GB"/>
          </a:p>
        </p:txBody>
      </p:sp>
    </p:spTree>
    <p:extLst>
      <p:ext uri="{BB962C8B-B14F-4D97-AF65-F5344CB8AC3E}">
        <p14:creationId xmlns:p14="http://schemas.microsoft.com/office/powerpoint/2010/main" val="36242707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958FAE-B925-4011-9819-262E994056E8}"/>
              </a:ext>
            </a:extLst>
          </p:cNvPr>
          <p:cNvSpPr>
            <a:spLocks noGrp="1"/>
          </p:cNvSpPr>
          <p:nvPr>
            <p:ph type="sldNum" sz="quarter" idx="10"/>
          </p:nvPr>
        </p:nvSpPr>
        <p:spPr/>
        <p:txBody>
          <a:bodyPr/>
          <a:lstStyle/>
          <a:p>
            <a:fld id="{D751C141-602F-4B7A-80FC-46E874AB684B}" type="slidenum">
              <a:rPr lang="en-GB" smtClean="0"/>
              <a:pPr/>
              <a:t>‹#›</a:t>
            </a:fld>
            <a:endParaRPr lang="en-GB"/>
          </a:p>
        </p:txBody>
      </p:sp>
      <p:sp>
        <p:nvSpPr>
          <p:cNvPr id="2" name="Footer Placeholder 1">
            <a:extLst>
              <a:ext uri="{FF2B5EF4-FFF2-40B4-BE49-F238E27FC236}">
                <a16:creationId xmlns:a16="http://schemas.microsoft.com/office/drawing/2014/main" id="{4254D860-4A4C-4762-A244-2EB39726BDE0}"/>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41159418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Co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539750" y="1259998"/>
            <a:ext cx="3600000" cy="5328000"/>
          </a:xfrm>
          <a:solidFill>
            <a:schemeClr val="accent1"/>
          </a:solidFill>
        </p:spPr>
        <p:txBody>
          <a:bodyPr lIns="252000" tIns="864000" rIns="252000" bIns="180000"/>
          <a:lstStyle>
            <a:lvl1pPr>
              <a:spcAft>
                <a:spcPts val="600"/>
              </a:spcAft>
              <a:defRPr>
                <a:solidFill>
                  <a:schemeClr val="bg1"/>
                </a:solidFill>
              </a:defRPr>
            </a:lvl1pPr>
            <a:lvl2pPr>
              <a:lnSpc>
                <a:spcPts val="1600"/>
              </a:lnSpc>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10" name="Text Placeholder 7">
            <a:extLst>
              <a:ext uri="{FF2B5EF4-FFF2-40B4-BE49-F238E27FC236}">
                <a16:creationId xmlns:a16="http://schemas.microsoft.com/office/drawing/2014/main" id="{FD0E3866-9E9E-4F4D-8ABC-DDD1FDD42A20}"/>
              </a:ext>
            </a:extLst>
          </p:cNvPr>
          <p:cNvSpPr>
            <a:spLocks noGrp="1"/>
          </p:cNvSpPr>
          <p:nvPr>
            <p:ph type="body" sz="quarter" idx="15"/>
          </p:nvPr>
        </p:nvSpPr>
        <p:spPr>
          <a:xfrm>
            <a:off x="4278225" y="1259998"/>
            <a:ext cx="3600000" cy="5328000"/>
          </a:xfrm>
          <a:solidFill>
            <a:schemeClr val="accent2"/>
          </a:solidFill>
        </p:spPr>
        <p:txBody>
          <a:bodyPr lIns="252000" tIns="864000" rIns="252000" bIns="180000"/>
          <a:lstStyle>
            <a:lvl1pPr>
              <a:spcAft>
                <a:spcPts val="600"/>
              </a:spcAft>
              <a:defRPr>
                <a:solidFill>
                  <a:schemeClr val="bg1"/>
                </a:solidFill>
              </a:defRPr>
            </a:lvl1pPr>
            <a:lvl2pPr>
              <a:lnSpc>
                <a:spcPts val="1600"/>
              </a:lnSpc>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7">
            <a:extLst>
              <a:ext uri="{FF2B5EF4-FFF2-40B4-BE49-F238E27FC236}">
                <a16:creationId xmlns:a16="http://schemas.microsoft.com/office/drawing/2014/main" id="{08212E58-4D1C-4E34-A6AC-CB3FE127DC02}"/>
              </a:ext>
            </a:extLst>
          </p:cNvPr>
          <p:cNvSpPr>
            <a:spLocks noGrp="1"/>
          </p:cNvSpPr>
          <p:nvPr>
            <p:ph type="body" sz="quarter" idx="16"/>
          </p:nvPr>
        </p:nvSpPr>
        <p:spPr>
          <a:xfrm>
            <a:off x="8016700" y="1259998"/>
            <a:ext cx="3600000" cy="5328000"/>
          </a:xfrm>
          <a:solidFill>
            <a:schemeClr val="accent1"/>
          </a:solidFill>
        </p:spPr>
        <p:txBody>
          <a:bodyPr lIns="252000" tIns="864000" rIns="252000" bIns="180000"/>
          <a:lstStyle>
            <a:lvl1pPr>
              <a:spcAft>
                <a:spcPts val="600"/>
              </a:spcAft>
              <a:defRPr>
                <a:solidFill>
                  <a:schemeClr val="bg1"/>
                </a:solidFill>
              </a:defRPr>
            </a:lvl1pPr>
            <a:lvl2pPr>
              <a:lnSpc>
                <a:spcPts val="1600"/>
              </a:lnSpc>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er Placeholder 2">
            <a:extLst>
              <a:ext uri="{FF2B5EF4-FFF2-40B4-BE49-F238E27FC236}">
                <a16:creationId xmlns:a16="http://schemas.microsoft.com/office/drawing/2014/main" id="{C7206980-5E71-479E-8371-153DE43CE2A9}"/>
              </a:ext>
            </a:extLst>
          </p:cNvPr>
          <p:cNvSpPr>
            <a:spLocks noGrp="1"/>
          </p:cNvSpPr>
          <p:nvPr>
            <p:ph type="ftr" sz="quarter" idx="17"/>
          </p:nvPr>
        </p:nvSpPr>
        <p:spPr/>
        <p:txBody>
          <a:bodyPr/>
          <a:lstStyle/>
          <a:p>
            <a:endParaRPr lang="en-GB"/>
          </a:p>
        </p:txBody>
      </p:sp>
    </p:spTree>
    <p:extLst>
      <p:ext uri="{BB962C8B-B14F-4D97-AF65-F5344CB8AC3E}">
        <p14:creationId xmlns:p14="http://schemas.microsoft.com/office/powerpoint/2010/main" val="30943317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Co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539750" y="1259998"/>
            <a:ext cx="2124000" cy="5328000"/>
          </a:xfrm>
          <a:solidFill>
            <a:schemeClr val="accent1"/>
          </a:solidFill>
        </p:spPr>
        <p:txBody>
          <a:bodyPr lIns="252000" tIns="864000" rIns="252000" bIns="180000"/>
          <a:lstStyle>
            <a:lvl1pPr>
              <a:spcAft>
                <a:spcPts val="600"/>
              </a:spcAft>
              <a:defRPr>
                <a:solidFill>
                  <a:schemeClr val="bg1"/>
                </a:solidFill>
              </a:defRPr>
            </a:lvl1pPr>
            <a:lvl2pPr>
              <a:lnSpc>
                <a:spcPts val="1600"/>
              </a:lnSpc>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10" name="Text Placeholder 7">
            <a:extLst>
              <a:ext uri="{FF2B5EF4-FFF2-40B4-BE49-F238E27FC236}">
                <a16:creationId xmlns:a16="http://schemas.microsoft.com/office/drawing/2014/main" id="{FD0E3866-9E9E-4F4D-8ABC-DDD1FDD42A20}"/>
              </a:ext>
            </a:extLst>
          </p:cNvPr>
          <p:cNvSpPr>
            <a:spLocks noGrp="1"/>
          </p:cNvSpPr>
          <p:nvPr>
            <p:ph type="body" sz="quarter" idx="15"/>
          </p:nvPr>
        </p:nvSpPr>
        <p:spPr>
          <a:xfrm>
            <a:off x="2777987" y="1259998"/>
            <a:ext cx="2124000" cy="5328000"/>
          </a:xfrm>
          <a:solidFill>
            <a:schemeClr val="accent2"/>
          </a:solidFill>
        </p:spPr>
        <p:txBody>
          <a:bodyPr lIns="252000" tIns="864000" rIns="252000" bIns="180000"/>
          <a:lstStyle>
            <a:lvl1pPr>
              <a:spcAft>
                <a:spcPts val="600"/>
              </a:spcAft>
              <a:defRPr>
                <a:solidFill>
                  <a:schemeClr val="bg1"/>
                </a:solidFill>
              </a:defRPr>
            </a:lvl1pPr>
            <a:lvl2pPr>
              <a:lnSpc>
                <a:spcPts val="1600"/>
              </a:lnSpc>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7">
            <a:extLst>
              <a:ext uri="{FF2B5EF4-FFF2-40B4-BE49-F238E27FC236}">
                <a16:creationId xmlns:a16="http://schemas.microsoft.com/office/drawing/2014/main" id="{08212E58-4D1C-4E34-A6AC-CB3FE127DC02}"/>
              </a:ext>
            </a:extLst>
          </p:cNvPr>
          <p:cNvSpPr>
            <a:spLocks noGrp="1"/>
          </p:cNvSpPr>
          <p:nvPr>
            <p:ph type="body" sz="quarter" idx="16"/>
          </p:nvPr>
        </p:nvSpPr>
        <p:spPr>
          <a:xfrm>
            <a:off x="5016224" y="1259998"/>
            <a:ext cx="2124000" cy="5328000"/>
          </a:xfrm>
          <a:solidFill>
            <a:schemeClr val="accent1"/>
          </a:solidFill>
        </p:spPr>
        <p:txBody>
          <a:bodyPr lIns="252000" tIns="864000" rIns="252000" bIns="180000"/>
          <a:lstStyle>
            <a:lvl1pPr>
              <a:spcAft>
                <a:spcPts val="600"/>
              </a:spcAft>
              <a:defRPr>
                <a:solidFill>
                  <a:schemeClr val="bg1"/>
                </a:solidFill>
              </a:defRPr>
            </a:lvl1pPr>
            <a:lvl2pPr>
              <a:lnSpc>
                <a:spcPts val="1600"/>
              </a:lnSpc>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er Placeholder 2">
            <a:extLst>
              <a:ext uri="{FF2B5EF4-FFF2-40B4-BE49-F238E27FC236}">
                <a16:creationId xmlns:a16="http://schemas.microsoft.com/office/drawing/2014/main" id="{C7206980-5E71-479E-8371-153DE43CE2A9}"/>
              </a:ext>
            </a:extLst>
          </p:cNvPr>
          <p:cNvSpPr>
            <a:spLocks noGrp="1"/>
          </p:cNvSpPr>
          <p:nvPr>
            <p:ph type="ftr" sz="quarter" idx="17"/>
          </p:nvPr>
        </p:nvSpPr>
        <p:spPr/>
        <p:txBody>
          <a:bodyPr/>
          <a:lstStyle/>
          <a:p>
            <a:endParaRPr lang="en-GB"/>
          </a:p>
        </p:txBody>
      </p:sp>
      <p:sp>
        <p:nvSpPr>
          <p:cNvPr id="12" name="Text Placeholder 7">
            <a:extLst>
              <a:ext uri="{FF2B5EF4-FFF2-40B4-BE49-F238E27FC236}">
                <a16:creationId xmlns:a16="http://schemas.microsoft.com/office/drawing/2014/main" id="{0AFFCB3E-90CA-473A-97DD-6D19B236E50C}"/>
              </a:ext>
            </a:extLst>
          </p:cNvPr>
          <p:cNvSpPr>
            <a:spLocks noGrp="1"/>
          </p:cNvSpPr>
          <p:nvPr>
            <p:ph type="body" sz="quarter" idx="18"/>
          </p:nvPr>
        </p:nvSpPr>
        <p:spPr>
          <a:xfrm>
            <a:off x="7254461" y="1259998"/>
            <a:ext cx="2124000" cy="5328000"/>
          </a:xfrm>
          <a:solidFill>
            <a:schemeClr val="accent2"/>
          </a:solidFill>
        </p:spPr>
        <p:txBody>
          <a:bodyPr lIns="252000" tIns="864000" rIns="252000" bIns="180000"/>
          <a:lstStyle>
            <a:lvl1pPr>
              <a:spcAft>
                <a:spcPts val="600"/>
              </a:spcAft>
              <a:defRPr>
                <a:solidFill>
                  <a:schemeClr val="bg1"/>
                </a:solidFill>
              </a:defRPr>
            </a:lvl1pPr>
            <a:lvl2pPr>
              <a:lnSpc>
                <a:spcPts val="1600"/>
              </a:lnSpc>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7">
            <a:extLst>
              <a:ext uri="{FF2B5EF4-FFF2-40B4-BE49-F238E27FC236}">
                <a16:creationId xmlns:a16="http://schemas.microsoft.com/office/drawing/2014/main" id="{B9F42F76-18F6-4A37-84F1-623CEA377F33}"/>
              </a:ext>
            </a:extLst>
          </p:cNvPr>
          <p:cNvSpPr>
            <a:spLocks noGrp="1"/>
          </p:cNvSpPr>
          <p:nvPr>
            <p:ph type="body" sz="quarter" idx="19"/>
          </p:nvPr>
        </p:nvSpPr>
        <p:spPr>
          <a:xfrm>
            <a:off x="9492700" y="1259998"/>
            <a:ext cx="2124000" cy="5328000"/>
          </a:xfrm>
          <a:solidFill>
            <a:schemeClr val="accent1"/>
          </a:solidFill>
        </p:spPr>
        <p:txBody>
          <a:bodyPr lIns="252000" tIns="864000" rIns="252000" bIns="180000"/>
          <a:lstStyle>
            <a:lvl1pPr>
              <a:spcAft>
                <a:spcPts val="600"/>
              </a:spcAft>
              <a:defRPr>
                <a:solidFill>
                  <a:schemeClr val="bg1"/>
                </a:solidFill>
              </a:defRPr>
            </a:lvl1pPr>
            <a:lvl2pPr>
              <a:lnSpc>
                <a:spcPts val="1600"/>
              </a:lnSpc>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085800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Se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539750" y="1259998"/>
            <a:ext cx="3600000" cy="2592000"/>
          </a:xfrm>
          <a:solidFill>
            <a:schemeClr val="accent1"/>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10" name="Text Placeholder 7">
            <a:extLst>
              <a:ext uri="{FF2B5EF4-FFF2-40B4-BE49-F238E27FC236}">
                <a16:creationId xmlns:a16="http://schemas.microsoft.com/office/drawing/2014/main" id="{FD0E3866-9E9E-4F4D-8ABC-DDD1FDD42A20}"/>
              </a:ext>
            </a:extLst>
          </p:cNvPr>
          <p:cNvSpPr>
            <a:spLocks noGrp="1"/>
          </p:cNvSpPr>
          <p:nvPr>
            <p:ph type="body" sz="quarter" idx="15"/>
          </p:nvPr>
        </p:nvSpPr>
        <p:spPr>
          <a:xfrm>
            <a:off x="4278225" y="1259998"/>
            <a:ext cx="3600000" cy="2592000"/>
          </a:xfrm>
          <a:solidFill>
            <a:schemeClr val="accent2"/>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7">
            <a:extLst>
              <a:ext uri="{FF2B5EF4-FFF2-40B4-BE49-F238E27FC236}">
                <a16:creationId xmlns:a16="http://schemas.microsoft.com/office/drawing/2014/main" id="{08212E58-4D1C-4E34-A6AC-CB3FE127DC02}"/>
              </a:ext>
            </a:extLst>
          </p:cNvPr>
          <p:cNvSpPr>
            <a:spLocks noGrp="1"/>
          </p:cNvSpPr>
          <p:nvPr>
            <p:ph type="body" sz="quarter" idx="16"/>
          </p:nvPr>
        </p:nvSpPr>
        <p:spPr>
          <a:xfrm>
            <a:off x="8016700" y="1259998"/>
            <a:ext cx="3600000" cy="2592000"/>
          </a:xfrm>
          <a:solidFill>
            <a:schemeClr val="accent1"/>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7">
            <a:extLst>
              <a:ext uri="{FF2B5EF4-FFF2-40B4-BE49-F238E27FC236}">
                <a16:creationId xmlns:a16="http://schemas.microsoft.com/office/drawing/2014/main" id="{342299FD-7E70-4394-9023-22D0E8D06C1E}"/>
              </a:ext>
            </a:extLst>
          </p:cNvPr>
          <p:cNvSpPr>
            <a:spLocks noGrp="1"/>
          </p:cNvSpPr>
          <p:nvPr>
            <p:ph type="body" sz="quarter" idx="17"/>
          </p:nvPr>
        </p:nvSpPr>
        <p:spPr>
          <a:xfrm>
            <a:off x="536575" y="4009304"/>
            <a:ext cx="3600000" cy="2592000"/>
          </a:xfrm>
          <a:solidFill>
            <a:schemeClr val="accent2"/>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7">
            <a:extLst>
              <a:ext uri="{FF2B5EF4-FFF2-40B4-BE49-F238E27FC236}">
                <a16:creationId xmlns:a16="http://schemas.microsoft.com/office/drawing/2014/main" id="{E3674FC0-BE90-4042-AB75-5B3FE016089E}"/>
              </a:ext>
            </a:extLst>
          </p:cNvPr>
          <p:cNvSpPr>
            <a:spLocks noGrp="1"/>
          </p:cNvSpPr>
          <p:nvPr>
            <p:ph type="body" sz="quarter" idx="18"/>
          </p:nvPr>
        </p:nvSpPr>
        <p:spPr>
          <a:xfrm>
            <a:off x="4278225" y="4009304"/>
            <a:ext cx="3600000" cy="2592000"/>
          </a:xfrm>
          <a:solidFill>
            <a:schemeClr val="accent1"/>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er Placeholder 2">
            <a:extLst>
              <a:ext uri="{FF2B5EF4-FFF2-40B4-BE49-F238E27FC236}">
                <a16:creationId xmlns:a16="http://schemas.microsoft.com/office/drawing/2014/main" id="{1D594FB5-BE97-4F5F-8C3B-B14182BD147D}"/>
              </a:ext>
            </a:extLst>
          </p:cNvPr>
          <p:cNvSpPr>
            <a:spLocks noGrp="1"/>
          </p:cNvSpPr>
          <p:nvPr>
            <p:ph type="ftr" sz="quarter" idx="19"/>
          </p:nvPr>
        </p:nvSpPr>
        <p:spPr/>
        <p:txBody>
          <a:bodyPr/>
          <a:lstStyle/>
          <a:p>
            <a:endParaRPr lang="en-GB"/>
          </a:p>
        </p:txBody>
      </p:sp>
    </p:spTree>
    <p:extLst>
      <p:ext uri="{BB962C8B-B14F-4D97-AF65-F5344CB8AC3E}">
        <p14:creationId xmlns:p14="http://schemas.microsoft.com/office/powerpoint/2010/main" val="40134649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6Se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539750" y="1259998"/>
            <a:ext cx="3600000" cy="2592000"/>
          </a:xfrm>
          <a:noFill/>
        </p:spPr>
        <p:txBody>
          <a:bodyPr lIns="0" tIns="252000" rIns="0" bIns="0"/>
          <a:lstStyle>
            <a:lvl1pPr>
              <a:spcAft>
                <a:spcPts val="600"/>
              </a:spcAft>
              <a:defRPr sz="1600" b="1">
                <a:solidFill>
                  <a:schemeClr val="tx2"/>
                </a:solidFill>
              </a:defRPr>
            </a:lvl1pPr>
            <a:lvl2pPr>
              <a:lnSpc>
                <a:spcPts val="1800"/>
              </a:lnSpc>
              <a:defRPr sz="1400" b="0">
                <a:solidFill>
                  <a:schemeClr val="tx2"/>
                </a:solidFill>
              </a:defRPr>
            </a:lvl2pPr>
            <a:lvl3pPr>
              <a:lnSpc>
                <a:spcPts val="1800"/>
              </a:lnSpc>
              <a:defRPr sz="1400" i="1">
                <a:solidFill>
                  <a:schemeClr val="tx2"/>
                </a:solidFill>
              </a:defRPr>
            </a:lvl3pPr>
            <a:lvl4pPr>
              <a:lnSpc>
                <a:spcPts val="1800"/>
              </a:lnSpc>
              <a:defRPr sz="1400">
                <a:solidFill>
                  <a:schemeClr val="tx2"/>
                </a:solidFill>
              </a:defRPr>
            </a:lvl4pPr>
            <a:lvl5pPr>
              <a:lnSpc>
                <a:spcPts val="1800"/>
              </a:lnSpc>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10" name="Text Placeholder 7">
            <a:extLst>
              <a:ext uri="{FF2B5EF4-FFF2-40B4-BE49-F238E27FC236}">
                <a16:creationId xmlns:a16="http://schemas.microsoft.com/office/drawing/2014/main" id="{FD0E3866-9E9E-4F4D-8ABC-DDD1FDD42A20}"/>
              </a:ext>
            </a:extLst>
          </p:cNvPr>
          <p:cNvSpPr>
            <a:spLocks noGrp="1"/>
          </p:cNvSpPr>
          <p:nvPr>
            <p:ph type="body" sz="quarter" idx="15"/>
          </p:nvPr>
        </p:nvSpPr>
        <p:spPr>
          <a:xfrm>
            <a:off x="4278225" y="1259998"/>
            <a:ext cx="3600000" cy="2592000"/>
          </a:xfrm>
          <a:solidFill>
            <a:schemeClr val="accent2"/>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7">
            <a:extLst>
              <a:ext uri="{FF2B5EF4-FFF2-40B4-BE49-F238E27FC236}">
                <a16:creationId xmlns:a16="http://schemas.microsoft.com/office/drawing/2014/main" id="{08212E58-4D1C-4E34-A6AC-CB3FE127DC02}"/>
              </a:ext>
            </a:extLst>
          </p:cNvPr>
          <p:cNvSpPr>
            <a:spLocks noGrp="1"/>
          </p:cNvSpPr>
          <p:nvPr>
            <p:ph type="body" sz="quarter" idx="16"/>
          </p:nvPr>
        </p:nvSpPr>
        <p:spPr>
          <a:xfrm>
            <a:off x="8016700" y="1259998"/>
            <a:ext cx="3600000" cy="2592000"/>
          </a:xfrm>
          <a:solidFill>
            <a:schemeClr val="accent1"/>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7">
            <a:extLst>
              <a:ext uri="{FF2B5EF4-FFF2-40B4-BE49-F238E27FC236}">
                <a16:creationId xmlns:a16="http://schemas.microsoft.com/office/drawing/2014/main" id="{342299FD-7E70-4394-9023-22D0E8D06C1E}"/>
              </a:ext>
            </a:extLst>
          </p:cNvPr>
          <p:cNvSpPr>
            <a:spLocks noGrp="1"/>
          </p:cNvSpPr>
          <p:nvPr>
            <p:ph type="body" sz="quarter" idx="17"/>
          </p:nvPr>
        </p:nvSpPr>
        <p:spPr>
          <a:xfrm>
            <a:off x="536575" y="4009304"/>
            <a:ext cx="3600000" cy="2592000"/>
          </a:xfrm>
          <a:solidFill>
            <a:schemeClr val="accent2"/>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7">
            <a:extLst>
              <a:ext uri="{FF2B5EF4-FFF2-40B4-BE49-F238E27FC236}">
                <a16:creationId xmlns:a16="http://schemas.microsoft.com/office/drawing/2014/main" id="{E3674FC0-BE90-4042-AB75-5B3FE016089E}"/>
              </a:ext>
            </a:extLst>
          </p:cNvPr>
          <p:cNvSpPr>
            <a:spLocks noGrp="1"/>
          </p:cNvSpPr>
          <p:nvPr>
            <p:ph type="body" sz="quarter" idx="18"/>
          </p:nvPr>
        </p:nvSpPr>
        <p:spPr>
          <a:xfrm>
            <a:off x="4278225" y="4009304"/>
            <a:ext cx="3600000" cy="2592000"/>
          </a:xfrm>
          <a:solidFill>
            <a:schemeClr val="accent1"/>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7">
            <a:extLst>
              <a:ext uri="{FF2B5EF4-FFF2-40B4-BE49-F238E27FC236}">
                <a16:creationId xmlns:a16="http://schemas.microsoft.com/office/drawing/2014/main" id="{26200FDB-3D2B-4498-9B2D-EF7E80492775}"/>
              </a:ext>
            </a:extLst>
          </p:cNvPr>
          <p:cNvSpPr>
            <a:spLocks noGrp="1"/>
          </p:cNvSpPr>
          <p:nvPr>
            <p:ph type="body" sz="quarter" idx="19"/>
          </p:nvPr>
        </p:nvSpPr>
        <p:spPr>
          <a:xfrm>
            <a:off x="8016700" y="4009304"/>
            <a:ext cx="3600000" cy="2592000"/>
          </a:xfrm>
          <a:solidFill>
            <a:schemeClr val="accent2"/>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er Placeholder 2">
            <a:extLst>
              <a:ext uri="{FF2B5EF4-FFF2-40B4-BE49-F238E27FC236}">
                <a16:creationId xmlns:a16="http://schemas.microsoft.com/office/drawing/2014/main" id="{E121BAB4-10EC-47D2-82C7-7729508A2575}"/>
              </a:ext>
            </a:extLst>
          </p:cNvPr>
          <p:cNvSpPr>
            <a:spLocks noGrp="1"/>
          </p:cNvSpPr>
          <p:nvPr>
            <p:ph type="ftr" sz="quarter" idx="20"/>
          </p:nvPr>
        </p:nvSpPr>
        <p:spPr/>
        <p:txBody>
          <a:bodyPr/>
          <a:lstStyle/>
          <a:p>
            <a:endParaRPr lang="en-GB"/>
          </a:p>
        </p:txBody>
      </p:sp>
    </p:spTree>
    <p:extLst>
      <p:ext uri="{BB962C8B-B14F-4D97-AF65-F5344CB8AC3E}">
        <p14:creationId xmlns:p14="http://schemas.microsoft.com/office/powerpoint/2010/main" val="29831170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8Se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539750" y="1259998"/>
            <a:ext cx="2682000" cy="2592000"/>
          </a:xfrm>
          <a:solidFill>
            <a:schemeClr val="accent1"/>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10" name="Text Placeholder 7">
            <a:extLst>
              <a:ext uri="{FF2B5EF4-FFF2-40B4-BE49-F238E27FC236}">
                <a16:creationId xmlns:a16="http://schemas.microsoft.com/office/drawing/2014/main" id="{FD0E3866-9E9E-4F4D-8ABC-DDD1FDD42A20}"/>
              </a:ext>
            </a:extLst>
          </p:cNvPr>
          <p:cNvSpPr>
            <a:spLocks noGrp="1"/>
          </p:cNvSpPr>
          <p:nvPr>
            <p:ph type="body" sz="quarter" idx="15"/>
          </p:nvPr>
        </p:nvSpPr>
        <p:spPr>
          <a:xfrm>
            <a:off x="3337946" y="1259998"/>
            <a:ext cx="2682000" cy="2592000"/>
          </a:xfrm>
          <a:solidFill>
            <a:schemeClr val="accent2"/>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7">
            <a:extLst>
              <a:ext uri="{FF2B5EF4-FFF2-40B4-BE49-F238E27FC236}">
                <a16:creationId xmlns:a16="http://schemas.microsoft.com/office/drawing/2014/main" id="{08212E58-4D1C-4E34-A6AC-CB3FE127DC02}"/>
              </a:ext>
            </a:extLst>
          </p:cNvPr>
          <p:cNvSpPr>
            <a:spLocks noGrp="1"/>
          </p:cNvSpPr>
          <p:nvPr>
            <p:ph type="body" sz="quarter" idx="16"/>
          </p:nvPr>
        </p:nvSpPr>
        <p:spPr>
          <a:xfrm>
            <a:off x="6136142" y="1259998"/>
            <a:ext cx="2682000" cy="2592000"/>
          </a:xfrm>
          <a:solidFill>
            <a:schemeClr val="accent1"/>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7">
            <a:extLst>
              <a:ext uri="{FF2B5EF4-FFF2-40B4-BE49-F238E27FC236}">
                <a16:creationId xmlns:a16="http://schemas.microsoft.com/office/drawing/2014/main" id="{342299FD-7E70-4394-9023-22D0E8D06C1E}"/>
              </a:ext>
            </a:extLst>
          </p:cNvPr>
          <p:cNvSpPr>
            <a:spLocks noGrp="1"/>
          </p:cNvSpPr>
          <p:nvPr>
            <p:ph type="body" sz="quarter" idx="17"/>
          </p:nvPr>
        </p:nvSpPr>
        <p:spPr>
          <a:xfrm>
            <a:off x="8959791" y="1259998"/>
            <a:ext cx="2682000" cy="2592000"/>
          </a:xfrm>
          <a:solidFill>
            <a:schemeClr val="accent2"/>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7">
            <a:extLst>
              <a:ext uri="{FF2B5EF4-FFF2-40B4-BE49-F238E27FC236}">
                <a16:creationId xmlns:a16="http://schemas.microsoft.com/office/drawing/2014/main" id="{E3674FC0-BE90-4042-AB75-5B3FE016089E}"/>
              </a:ext>
            </a:extLst>
          </p:cNvPr>
          <p:cNvSpPr>
            <a:spLocks noGrp="1"/>
          </p:cNvSpPr>
          <p:nvPr>
            <p:ph type="body" sz="quarter" idx="18"/>
          </p:nvPr>
        </p:nvSpPr>
        <p:spPr>
          <a:xfrm>
            <a:off x="538013" y="4010400"/>
            <a:ext cx="2682000" cy="2592000"/>
          </a:xfrm>
          <a:solidFill>
            <a:schemeClr val="accent2"/>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7">
            <a:extLst>
              <a:ext uri="{FF2B5EF4-FFF2-40B4-BE49-F238E27FC236}">
                <a16:creationId xmlns:a16="http://schemas.microsoft.com/office/drawing/2014/main" id="{26200FDB-3D2B-4498-9B2D-EF7E80492775}"/>
              </a:ext>
            </a:extLst>
          </p:cNvPr>
          <p:cNvSpPr>
            <a:spLocks noGrp="1"/>
          </p:cNvSpPr>
          <p:nvPr>
            <p:ph type="body" sz="quarter" idx="19"/>
          </p:nvPr>
        </p:nvSpPr>
        <p:spPr>
          <a:xfrm>
            <a:off x="3336588" y="4010400"/>
            <a:ext cx="2682000" cy="2592000"/>
          </a:xfrm>
          <a:solidFill>
            <a:schemeClr val="accent1"/>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er Placeholder 2">
            <a:extLst>
              <a:ext uri="{FF2B5EF4-FFF2-40B4-BE49-F238E27FC236}">
                <a16:creationId xmlns:a16="http://schemas.microsoft.com/office/drawing/2014/main" id="{E121BAB4-10EC-47D2-82C7-7729508A2575}"/>
              </a:ext>
            </a:extLst>
          </p:cNvPr>
          <p:cNvSpPr>
            <a:spLocks noGrp="1"/>
          </p:cNvSpPr>
          <p:nvPr>
            <p:ph type="ftr" sz="quarter" idx="20"/>
          </p:nvPr>
        </p:nvSpPr>
        <p:spPr/>
        <p:txBody>
          <a:bodyPr/>
          <a:lstStyle/>
          <a:p>
            <a:endParaRPr lang="en-GB"/>
          </a:p>
        </p:txBody>
      </p:sp>
      <p:sp>
        <p:nvSpPr>
          <p:cNvPr id="14" name="Text Placeholder 7">
            <a:extLst>
              <a:ext uri="{FF2B5EF4-FFF2-40B4-BE49-F238E27FC236}">
                <a16:creationId xmlns:a16="http://schemas.microsoft.com/office/drawing/2014/main" id="{3A2FCF7A-CBAE-4E6F-A093-F04756C86EDC}"/>
              </a:ext>
            </a:extLst>
          </p:cNvPr>
          <p:cNvSpPr>
            <a:spLocks noGrp="1"/>
          </p:cNvSpPr>
          <p:nvPr>
            <p:ph type="body" sz="quarter" idx="21"/>
          </p:nvPr>
        </p:nvSpPr>
        <p:spPr>
          <a:xfrm>
            <a:off x="6135163" y="4010400"/>
            <a:ext cx="2682000" cy="2592000"/>
          </a:xfrm>
          <a:solidFill>
            <a:schemeClr val="accent2"/>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ext Placeholder 7">
            <a:extLst>
              <a:ext uri="{FF2B5EF4-FFF2-40B4-BE49-F238E27FC236}">
                <a16:creationId xmlns:a16="http://schemas.microsoft.com/office/drawing/2014/main" id="{913724C0-73E2-4D7E-AB96-B5D1F28968F7}"/>
              </a:ext>
            </a:extLst>
          </p:cNvPr>
          <p:cNvSpPr>
            <a:spLocks noGrp="1"/>
          </p:cNvSpPr>
          <p:nvPr>
            <p:ph type="body" sz="quarter" idx="22"/>
          </p:nvPr>
        </p:nvSpPr>
        <p:spPr>
          <a:xfrm>
            <a:off x="8933738" y="4010400"/>
            <a:ext cx="2682000" cy="2592000"/>
          </a:xfrm>
          <a:solidFill>
            <a:schemeClr val="accent1"/>
          </a:solidFill>
        </p:spPr>
        <p:txBody>
          <a:bodyPr lIns="252000" tIns="252000" rIns="252000" bIns="72000"/>
          <a:lstStyle>
            <a:lvl1pPr>
              <a:spcAft>
                <a:spcPts val="600"/>
              </a:spcAft>
              <a:defRPr sz="1600" b="1">
                <a:solidFill>
                  <a:schemeClr val="bg1"/>
                </a:solidFill>
              </a:defRPr>
            </a:lvl1pPr>
            <a:lvl2pPr>
              <a:lnSpc>
                <a:spcPts val="1800"/>
              </a:lnSpc>
              <a:defRPr sz="1400" b="0">
                <a:solidFill>
                  <a:schemeClr val="bg1"/>
                </a:solidFill>
              </a:defRPr>
            </a:lvl2pPr>
            <a:lvl3pPr>
              <a:lnSpc>
                <a:spcPts val="1800"/>
              </a:lnSpc>
              <a:spcBef>
                <a:spcPts val="600"/>
              </a:spcBef>
              <a:spcAft>
                <a:spcPts val="600"/>
              </a:spcAft>
              <a:defRPr sz="1400" i="1">
                <a:solidFill>
                  <a:schemeClr val="bg1"/>
                </a:solidFill>
              </a:defRPr>
            </a:lvl3pPr>
            <a:lvl4pPr>
              <a:lnSpc>
                <a:spcPts val="1800"/>
              </a:lnSpc>
              <a:defRPr sz="1400">
                <a:solidFill>
                  <a:schemeClr val="bg1"/>
                </a:solidFill>
              </a:defRPr>
            </a:lvl4pPr>
            <a:lvl5pPr>
              <a:lnSpc>
                <a:spcPts val="1800"/>
              </a:lnSpc>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76355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ockText and Char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CD3DDD6-A8CE-4214-9B69-15537FE40407}"/>
              </a:ext>
            </a:extLst>
          </p:cNvPr>
          <p:cNvSpPr>
            <a:spLocks noGrp="1"/>
          </p:cNvSpPr>
          <p:nvPr>
            <p:ph type="body" sz="quarter" idx="15"/>
          </p:nvPr>
        </p:nvSpPr>
        <p:spPr>
          <a:xfrm>
            <a:off x="6724650" y="2343150"/>
            <a:ext cx="4891087" cy="338138"/>
          </a:xfrm>
        </p:spPr>
        <p:txBody>
          <a:bodyPr anchor="ctr"/>
          <a:lstStyle>
            <a:lvl1pPr algn="l">
              <a:defRPr sz="1600" b="1"/>
            </a:lvl1pPr>
            <a:lvl2pPr algn="ctr">
              <a:defRPr/>
            </a:lvl2pPr>
            <a:lvl3pPr algn="ctr">
              <a:defRPr/>
            </a:lvl3pPr>
            <a:lvl4pPr algn="ctr">
              <a:defRPr/>
            </a:lvl4pPr>
            <a:lvl5pPr algn="ctr">
              <a:defRPr/>
            </a:lvl5pPr>
          </a:lstStyle>
          <a:p>
            <a:pPr lvl="0"/>
            <a:r>
              <a:rPr lang="en-US"/>
              <a:t>Click to edit Master text styles</a:t>
            </a:r>
            <a:endParaRPr lang="en-GB"/>
          </a:p>
        </p:txBody>
      </p:sp>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539749" y="1259999"/>
            <a:ext cx="5400000" cy="5328000"/>
          </a:xfrm>
          <a:solidFill>
            <a:schemeClr val="accent1"/>
          </a:solidFill>
        </p:spPr>
        <p:txBody>
          <a:bodyPr lIns="306000" tIns="828000" rIns="252000" bIns="180000"/>
          <a:lstStyle>
            <a:lvl1pPr>
              <a:defRPr>
                <a:solidFill>
                  <a:schemeClr val="bg1"/>
                </a:solidFill>
              </a:defRPr>
            </a:lvl1pPr>
            <a:lvl2pPr>
              <a:spcBef>
                <a:spcPts val="1000"/>
              </a:spcBef>
              <a:spcAft>
                <a:spcPts val="1000"/>
              </a:spcAft>
              <a:defRPr sz="1400">
                <a:solidFill>
                  <a:schemeClr val="bg1"/>
                </a:solidFill>
              </a:defRPr>
            </a:lvl2pPr>
            <a:lvl3pPr>
              <a:spcBef>
                <a:spcPts val="1000"/>
              </a:spcBef>
              <a:spcAft>
                <a:spcPts val="200"/>
              </a:spcAft>
              <a:defRPr sz="1400">
                <a:solidFill>
                  <a:schemeClr val="bg1"/>
                </a:solidFill>
              </a:defRPr>
            </a:lvl3pPr>
            <a:lvl4pPr>
              <a:spcBef>
                <a:spcPts val="1200"/>
              </a:spcBef>
              <a:spcAft>
                <a:spcPts val="1200"/>
              </a:spcAft>
              <a:defRPr sz="1450">
                <a:solidFill>
                  <a:schemeClr val="bg1"/>
                </a:solidFill>
              </a:defRPr>
            </a:lvl4pPr>
            <a:lvl5pPr>
              <a:spcBef>
                <a:spcPts val="1000"/>
              </a:spcBef>
              <a:spcAft>
                <a:spcPts val="1000"/>
              </a:spcAft>
              <a:defRPr sz="1400">
                <a:solidFill>
                  <a:schemeClr val="bg1"/>
                </a:solidFill>
              </a:defRPr>
            </a:lvl5pPr>
            <a:lvl6pPr>
              <a:spcBef>
                <a:spcPts val="300"/>
              </a:spcBef>
              <a:spcAft>
                <a:spcPts val="300"/>
              </a:spcAft>
              <a:defRPr sz="1450">
                <a:solidFill>
                  <a:schemeClr val="bg1"/>
                </a:solidFill>
              </a:defRPr>
            </a:lvl6pPr>
            <a:lvl7pPr>
              <a:defRPr sz="1400">
                <a:solidFill>
                  <a:schemeClr val="bg1"/>
                </a:solidFill>
              </a:defRPr>
            </a:lvl7pPr>
            <a:lvl8pPr>
              <a:defRPr sz="1400">
                <a:solidFill>
                  <a:schemeClr val="bg1"/>
                </a:solidFill>
              </a:defRPr>
            </a:lvl8pPr>
            <a:lvl9pPr>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5"/>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3" name="Footer Placeholder 2">
            <a:extLst>
              <a:ext uri="{FF2B5EF4-FFF2-40B4-BE49-F238E27FC236}">
                <a16:creationId xmlns:a16="http://schemas.microsoft.com/office/drawing/2014/main" id="{08435A84-94F0-4B38-A108-8BF75ABEF6A0}"/>
              </a:ext>
            </a:extLst>
          </p:cNvPr>
          <p:cNvSpPr>
            <a:spLocks noGrp="1"/>
          </p:cNvSpPr>
          <p:nvPr>
            <p:ph type="ftr" sz="quarter" idx="16"/>
          </p:nvPr>
        </p:nvSpPr>
        <p:spPr/>
        <p:txBody>
          <a:bodyPr/>
          <a:lstStyle/>
          <a:p>
            <a:endParaRPr lang="en-GB"/>
          </a:p>
        </p:txBody>
      </p:sp>
    </p:spTree>
    <p:extLst>
      <p:ext uri="{BB962C8B-B14F-4D97-AF65-F5344CB8AC3E}">
        <p14:creationId xmlns:p14="http://schemas.microsoft.com/office/powerpoint/2010/main" val="35369245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hart and Block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CD3DDD6-A8CE-4214-9B69-15537FE40407}"/>
              </a:ext>
            </a:extLst>
          </p:cNvPr>
          <p:cNvSpPr>
            <a:spLocks noGrp="1"/>
          </p:cNvSpPr>
          <p:nvPr>
            <p:ph type="body" sz="quarter" idx="15"/>
          </p:nvPr>
        </p:nvSpPr>
        <p:spPr>
          <a:xfrm>
            <a:off x="540000" y="2343150"/>
            <a:ext cx="4891087" cy="338138"/>
          </a:xfrm>
        </p:spPr>
        <p:txBody>
          <a:bodyPr anchor="ctr"/>
          <a:lstStyle>
            <a:lvl1pPr algn="l">
              <a:defRPr sz="1600" b="1"/>
            </a:lvl1pPr>
            <a:lvl2pPr algn="ctr">
              <a:defRPr/>
            </a:lvl2pPr>
            <a:lvl3pPr algn="ctr">
              <a:defRPr/>
            </a:lvl3pPr>
            <a:lvl4pPr algn="ctr">
              <a:defRPr/>
            </a:lvl4pPr>
            <a:lvl5pPr algn="ctr">
              <a:defRPr/>
            </a:lvl5pPr>
          </a:lstStyle>
          <a:p>
            <a:pPr lvl="0"/>
            <a:r>
              <a:rPr lang="en-US"/>
              <a:t>Click to edit Master text styles</a:t>
            </a:r>
            <a:endParaRPr lang="en-GB"/>
          </a:p>
        </p:txBody>
      </p:sp>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6215737" y="1259999"/>
            <a:ext cx="5400000" cy="5328000"/>
          </a:xfrm>
          <a:solidFill>
            <a:schemeClr val="accent2"/>
          </a:solidFill>
        </p:spPr>
        <p:txBody>
          <a:bodyPr lIns="306000" tIns="828000" rIns="252000" bIns="180000"/>
          <a:lstStyle>
            <a:lvl1pPr>
              <a:defRPr>
                <a:solidFill>
                  <a:schemeClr val="bg1"/>
                </a:solidFill>
              </a:defRPr>
            </a:lvl1pPr>
            <a:lvl2pPr>
              <a:spcBef>
                <a:spcPts val="1000"/>
              </a:spcBef>
              <a:spcAft>
                <a:spcPts val="1000"/>
              </a:spcAft>
              <a:defRPr sz="1400">
                <a:solidFill>
                  <a:schemeClr val="bg1"/>
                </a:solidFill>
              </a:defRPr>
            </a:lvl2pPr>
            <a:lvl3pPr>
              <a:spcBef>
                <a:spcPts val="1000"/>
              </a:spcBef>
              <a:spcAft>
                <a:spcPts val="200"/>
              </a:spcAft>
              <a:defRPr sz="1400">
                <a:solidFill>
                  <a:schemeClr val="bg1"/>
                </a:solidFill>
              </a:defRPr>
            </a:lvl3pPr>
            <a:lvl4pPr>
              <a:spcBef>
                <a:spcPts val="1200"/>
              </a:spcBef>
              <a:spcAft>
                <a:spcPts val="1200"/>
              </a:spcAft>
              <a:defRPr sz="1450">
                <a:solidFill>
                  <a:schemeClr val="bg1"/>
                </a:solidFill>
              </a:defRPr>
            </a:lvl4pPr>
            <a:lvl5pPr>
              <a:spcBef>
                <a:spcPts val="1000"/>
              </a:spcBef>
              <a:spcAft>
                <a:spcPts val="1000"/>
              </a:spcAft>
              <a:defRPr sz="1400">
                <a:solidFill>
                  <a:schemeClr val="bg1"/>
                </a:solidFill>
              </a:defRPr>
            </a:lvl5pPr>
            <a:lvl6pPr>
              <a:spcBef>
                <a:spcPts val="300"/>
              </a:spcBef>
              <a:spcAft>
                <a:spcPts val="300"/>
              </a:spcAft>
              <a:defRPr sz="1450">
                <a:solidFill>
                  <a:schemeClr val="bg1"/>
                </a:solidFill>
              </a:defRPr>
            </a:lvl6pPr>
            <a:lvl7pPr>
              <a:defRPr sz="1400">
                <a:solidFill>
                  <a:schemeClr val="bg1"/>
                </a:solidFill>
              </a:defRPr>
            </a:lvl7pPr>
            <a:lvl8pPr>
              <a:defRPr sz="1400">
                <a:solidFill>
                  <a:schemeClr val="bg1"/>
                </a:solidFill>
              </a:defRPr>
            </a:lvl8pPr>
            <a:lvl9pPr>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5"/>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3" name="Footer Placeholder 2">
            <a:extLst>
              <a:ext uri="{FF2B5EF4-FFF2-40B4-BE49-F238E27FC236}">
                <a16:creationId xmlns:a16="http://schemas.microsoft.com/office/drawing/2014/main" id="{72722EB5-0030-41C3-9E14-BBC896758A3C}"/>
              </a:ext>
            </a:extLst>
          </p:cNvPr>
          <p:cNvSpPr>
            <a:spLocks noGrp="1"/>
          </p:cNvSpPr>
          <p:nvPr>
            <p:ph type="ftr" sz="quarter" idx="16"/>
          </p:nvPr>
        </p:nvSpPr>
        <p:spPr/>
        <p:txBody>
          <a:bodyPr/>
          <a:lstStyle/>
          <a:p>
            <a:endParaRPr lang="en-GB"/>
          </a:p>
        </p:txBody>
      </p:sp>
    </p:spTree>
    <p:extLst>
      <p:ext uri="{BB962C8B-B14F-4D97-AF65-F5344CB8AC3E}">
        <p14:creationId xmlns:p14="http://schemas.microsoft.com/office/powerpoint/2010/main" val="41475218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Col +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A92A-9CD8-4DF2-B558-FE6112A8F4C1}"/>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3F2CAECF-73D2-4022-8F33-7085D1D8086C}"/>
              </a:ext>
            </a:extLst>
          </p:cNvPr>
          <p:cNvSpPr>
            <a:spLocks noGrp="1"/>
          </p:cNvSpPr>
          <p:nvPr>
            <p:ph type="body" sz="quarter" idx="13"/>
          </p:nvPr>
        </p:nvSpPr>
        <p:spPr>
          <a:xfrm>
            <a:off x="539750" y="3666316"/>
            <a:ext cx="2574922" cy="2915230"/>
          </a:xfrm>
        </p:spPr>
        <p:txBody>
          <a:bodyPr lIns="0" tIns="0" rIns="0" bIns="0"/>
          <a:lstStyle>
            <a:lvl1pPr>
              <a:spcAft>
                <a:spcPts val="600"/>
              </a:spcAft>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CDC8409E-F2C8-4445-B01B-B93D12D2BFE3}"/>
              </a:ext>
            </a:extLst>
          </p:cNvPr>
          <p:cNvSpPr>
            <a:spLocks noGrp="1"/>
          </p:cNvSpPr>
          <p:nvPr>
            <p:ph type="sldNum" sz="quarter" idx="14"/>
          </p:nvPr>
        </p:nvSpPr>
        <p:spPr/>
        <p:txBody>
          <a:bodyPr/>
          <a:lstStyle/>
          <a:p>
            <a:fld id="{D751C141-602F-4B7A-80FC-46E874AB684B}" type="slidenum">
              <a:rPr lang="en-GB" smtClean="0"/>
              <a:pPr/>
              <a:t>‹#›</a:t>
            </a:fld>
            <a:endParaRPr lang="en-GB"/>
          </a:p>
        </p:txBody>
      </p:sp>
      <p:sp>
        <p:nvSpPr>
          <p:cNvPr id="12" name="Text Placeholder 7">
            <a:extLst>
              <a:ext uri="{FF2B5EF4-FFF2-40B4-BE49-F238E27FC236}">
                <a16:creationId xmlns:a16="http://schemas.microsoft.com/office/drawing/2014/main" id="{F09404EF-C4FB-47F3-B7F3-4B68D9BDFB7D}"/>
              </a:ext>
            </a:extLst>
          </p:cNvPr>
          <p:cNvSpPr>
            <a:spLocks noGrp="1"/>
          </p:cNvSpPr>
          <p:nvPr>
            <p:ph type="body" sz="quarter" idx="15"/>
          </p:nvPr>
        </p:nvSpPr>
        <p:spPr>
          <a:xfrm>
            <a:off x="3373438" y="3666316"/>
            <a:ext cx="2574922" cy="2915230"/>
          </a:xfrm>
        </p:spPr>
        <p:txBody>
          <a:bodyPr lIns="0" tIns="0" rIns="0" bIns="0"/>
          <a:lstStyle>
            <a:lvl1pPr>
              <a:spcAft>
                <a:spcPts val="600"/>
              </a:spcAft>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7">
            <a:extLst>
              <a:ext uri="{FF2B5EF4-FFF2-40B4-BE49-F238E27FC236}">
                <a16:creationId xmlns:a16="http://schemas.microsoft.com/office/drawing/2014/main" id="{9E396285-5C47-41CD-82A3-367231772173}"/>
              </a:ext>
            </a:extLst>
          </p:cNvPr>
          <p:cNvSpPr>
            <a:spLocks noGrp="1"/>
          </p:cNvSpPr>
          <p:nvPr>
            <p:ph type="body" sz="quarter" idx="16"/>
          </p:nvPr>
        </p:nvSpPr>
        <p:spPr>
          <a:xfrm>
            <a:off x="6207126" y="3666316"/>
            <a:ext cx="2574922" cy="2915230"/>
          </a:xfrm>
        </p:spPr>
        <p:txBody>
          <a:bodyPr lIns="0" tIns="0" rIns="0" bIns="0"/>
          <a:lstStyle>
            <a:lvl1pPr>
              <a:spcAft>
                <a:spcPts val="600"/>
              </a:spcAft>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7">
            <a:extLst>
              <a:ext uri="{FF2B5EF4-FFF2-40B4-BE49-F238E27FC236}">
                <a16:creationId xmlns:a16="http://schemas.microsoft.com/office/drawing/2014/main" id="{148DC7FD-2641-44A4-B64F-0AEC834B5F45}"/>
              </a:ext>
            </a:extLst>
          </p:cNvPr>
          <p:cNvSpPr>
            <a:spLocks noGrp="1"/>
          </p:cNvSpPr>
          <p:nvPr>
            <p:ph type="body" sz="quarter" idx="17"/>
          </p:nvPr>
        </p:nvSpPr>
        <p:spPr>
          <a:xfrm>
            <a:off x="9040816" y="3666316"/>
            <a:ext cx="2574922" cy="2915230"/>
          </a:xfrm>
        </p:spPr>
        <p:txBody>
          <a:bodyPr lIns="0" tIns="0" rIns="0" bIns="0"/>
          <a:lstStyle>
            <a:lvl1pPr>
              <a:spcAft>
                <a:spcPts val="600"/>
              </a:spcAft>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930ACB0C-8DD3-4C4B-8FE9-3D145C6F7FC4}"/>
              </a:ext>
            </a:extLst>
          </p:cNvPr>
          <p:cNvCxnSpPr/>
          <p:nvPr userDrawn="1"/>
        </p:nvCxnSpPr>
        <p:spPr>
          <a:xfrm>
            <a:off x="3244055" y="3729789"/>
            <a:ext cx="0" cy="1804737"/>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A765B05-9CDF-4060-8474-E87D2AD745CA}"/>
              </a:ext>
            </a:extLst>
          </p:cNvPr>
          <p:cNvCxnSpPr/>
          <p:nvPr userDrawn="1"/>
        </p:nvCxnSpPr>
        <p:spPr>
          <a:xfrm>
            <a:off x="6077743" y="3729789"/>
            <a:ext cx="0" cy="1804737"/>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C12CE37-428E-42ED-9DED-FD53D8C4C81E}"/>
              </a:ext>
            </a:extLst>
          </p:cNvPr>
          <p:cNvCxnSpPr/>
          <p:nvPr userDrawn="1"/>
        </p:nvCxnSpPr>
        <p:spPr>
          <a:xfrm>
            <a:off x="8911431" y="3729789"/>
            <a:ext cx="0" cy="1804737"/>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6EAAB0BF-9764-4C94-BA15-F5775EDC7EEE}"/>
              </a:ext>
            </a:extLst>
          </p:cNvPr>
          <p:cNvSpPr>
            <a:spLocks noGrp="1"/>
          </p:cNvSpPr>
          <p:nvPr>
            <p:ph type="ftr" sz="quarter" idx="18"/>
          </p:nvPr>
        </p:nvSpPr>
        <p:spPr/>
        <p:txBody>
          <a:bodyPr/>
          <a:lstStyle/>
          <a:p>
            <a:endParaRPr lang="en-GB"/>
          </a:p>
        </p:txBody>
      </p:sp>
    </p:spTree>
    <p:extLst>
      <p:ext uri="{BB962C8B-B14F-4D97-AF65-F5344CB8AC3E}">
        <p14:creationId xmlns:p14="http://schemas.microsoft.com/office/powerpoint/2010/main" val="13907309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A8723-4182-4B6C-AB80-89B196F52D3A}"/>
              </a:ext>
            </a:extLst>
          </p:cNvPr>
          <p:cNvSpPr>
            <a:spLocks noGrp="1"/>
          </p:cNvSpPr>
          <p:nvPr>
            <p:ph type="title"/>
          </p:nvPr>
        </p:nvSpPr>
        <p:spPr/>
        <p:txBody>
          <a:body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6B7BC0CF-389D-4A48-9780-1A751C5D5E30}"/>
              </a:ext>
            </a:extLst>
          </p:cNvPr>
          <p:cNvSpPr>
            <a:spLocks noGrp="1"/>
          </p:cNvSpPr>
          <p:nvPr>
            <p:ph type="sldNum" sz="quarter" idx="10"/>
          </p:nvPr>
        </p:nvSpPr>
        <p:spPr/>
        <p:txBody>
          <a:bodyPr/>
          <a:lstStyle/>
          <a:p>
            <a:fld id="{D751C141-602F-4B7A-80FC-46E874AB684B}" type="slidenum">
              <a:rPr lang="en-GB" smtClean="0"/>
              <a:pPr/>
              <a:t>‹#›</a:t>
            </a:fld>
            <a:endParaRPr lang="en-GB"/>
          </a:p>
        </p:txBody>
      </p:sp>
      <p:sp>
        <p:nvSpPr>
          <p:cNvPr id="9" name="Text Placeholder 4">
            <a:extLst>
              <a:ext uri="{FF2B5EF4-FFF2-40B4-BE49-F238E27FC236}">
                <a16:creationId xmlns:a16="http://schemas.microsoft.com/office/drawing/2014/main" id="{94F87353-8A2E-414C-A398-88315D6642E7}"/>
              </a:ext>
            </a:extLst>
          </p:cNvPr>
          <p:cNvSpPr>
            <a:spLocks noGrp="1"/>
          </p:cNvSpPr>
          <p:nvPr>
            <p:ph type="body" sz="quarter" idx="14"/>
          </p:nvPr>
        </p:nvSpPr>
        <p:spPr>
          <a:xfrm>
            <a:off x="1419225" y="3787215"/>
            <a:ext cx="2238375" cy="2794560"/>
          </a:xfrm>
        </p:spPr>
        <p:txBody>
          <a:bodyPr/>
          <a:lstStyle>
            <a:lvl1pPr>
              <a:defRPr sz="1600" b="1">
                <a:solidFill>
                  <a:schemeClr val="tx1"/>
                </a:solidFill>
              </a:defRPr>
            </a:lvl1pPr>
            <a:lvl2pPr>
              <a:defRPr sz="1600" b="0">
                <a:solidFill>
                  <a:schemeClr val="tx1"/>
                </a:solidFill>
              </a:defRPr>
            </a:lvl2pPr>
            <a:lvl3pPr>
              <a:defRPr sz="1600" b="0">
                <a:solidFill>
                  <a:schemeClr val="tx1"/>
                </a:solidFill>
              </a:defRPr>
            </a:lvl3pPr>
            <a:lvl4pPr>
              <a:defRPr sz="1600" b="0">
                <a:solidFill>
                  <a:schemeClr val="tx1"/>
                </a:solidFill>
              </a:defRPr>
            </a:lvl4pPr>
            <a:lvl5pPr>
              <a:defRPr sz="1600" b="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4">
            <a:extLst>
              <a:ext uri="{FF2B5EF4-FFF2-40B4-BE49-F238E27FC236}">
                <a16:creationId xmlns:a16="http://schemas.microsoft.com/office/drawing/2014/main" id="{BFEC01EF-3B0D-449B-B230-E550267010E6}"/>
              </a:ext>
            </a:extLst>
          </p:cNvPr>
          <p:cNvSpPr>
            <a:spLocks noGrp="1"/>
          </p:cNvSpPr>
          <p:nvPr>
            <p:ph type="body" sz="quarter" idx="15"/>
          </p:nvPr>
        </p:nvSpPr>
        <p:spPr>
          <a:xfrm>
            <a:off x="4872108" y="3787215"/>
            <a:ext cx="2238375" cy="2794560"/>
          </a:xfrm>
        </p:spPr>
        <p:txBody>
          <a:bodyPr/>
          <a:lstStyle>
            <a:lvl1pPr>
              <a:defRPr sz="1600" b="1">
                <a:solidFill>
                  <a:schemeClr val="tx1"/>
                </a:solidFill>
              </a:defRPr>
            </a:lvl1pPr>
            <a:lvl2pPr>
              <a:defRPr sz="1600" b="0">
                <a:solidFill>
                  <a:schemeClr val="tx1"/>
                </a:solidFill>
              </a:defRPr>
            </a:lvl2pPr>
            <a:lvl3pPr>
              <a:defRPr sz="1600" b="0">
                <a:solidFill>
                  <a:schemeClr val="tx1"/>
                </a:solidFill>
              </a:defRPr>
            </a:lvl3pPr>
            <a:lvl4pPr>
              <a:defRPr sz="1600" b="0">
                <a:solidFill>
                  <a:schemeClr val="tx1"/>
                </a:solidFill>
              </a:defRPr>
            </a:lvl4pPr>
            <a:lvl5pPr>
              <a:defRPr sz="1600" b="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4">
            <a:extLst>
              <a:ext uri="{FF2B5EF4-FFF2-40B4-BE49-F238E27FC236}">
                <a16:creationId xmlns:a16="http://schemas.microsoft.com/office/drawing/2014/main" id="{5A412342-76C1-4B33-8045-3FFADD78ED8E}"/>
              </a:ext>
            </a:extLst>
          </p:cNvPr>
          <p:cNvSpPr>
            <a:spLocks noGrp="1"/>
          </p:cNvSpPr>
          <p:nvPr>
            <p:ph type="body" sz="quarter" idx="16"/>
          </p:nvPr>
        </p:nvSpPr>
        <p:spPr>
          <a:xfrm>
            <a:off x="8284049" y="3787215"/>
            <a:ext cx="2238375" cy="2794560"/>
          </a:xfrm>
        </p:spPr>
        <p:txBody>
          <a:bodyPr/>
          <a:lstStyle>
            <a:lvl1pPr>
              <a:defRPr sz="1600" b="1">
                <a:solidFill>
                  <a:schemeClr val="tx1"/>
                </a:solidFill>
              </a:defRPr>
            </a:lvl1pPr>
            <a:lvl2pPr>
              <a:defRPr sz="1600" b="0">
                <a:solidFill>
                  <a:schemeClr val="tx1"/>
                </a:solidFill>
              </a:defRPr>
            </a:lvl2pPr>
            <a:lvl3pPr>
              <a:defRPr sz="1600" b="0">
                <a:solidFill>
                  <a:schemeClr val="tx1"/>
                </a:solidFill>
              </a:defRPr>
            </a:lvl3pPr>
            <a:lvl4pPr>
              <a:defRPr sz="1600" b="0">
                <a:solidFill>
                  <a:schemeClr val="tx1"/>
                </a:solidFill>
              </a:defRPr>
            </a:lvl4pPr>
            <a:lvl5pPr>
              <a:defRPr sz="1600" b="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Arrow: Chevron 12">
            <a:extLst>
              <a:ext uri="{FF2B5EF4-FFF2-40B4-BE49-F238E27FC236}">
                <a16:creationId xmlns:a16="http://schemas.microsoft.com/office/drawing/2014/main" id="{8AACA172-A22E-4F68-8A04-0DDF9D126856}"/>
              </a:ext>
            </a:extLst>
          </p:cNvPr>
          <p:cNvSpPr/>
          <p:nvPr userDrawn="1"/>
        </p:nvSpPr>
        <p:spPr>
          <a:xfrm>
            <a:off x="540000" y="2265528"/>
            <a:ext cx="3772693" cy="1392072"/>
          </a:xfrm>
          <a:prstGeom prst="chevron">
            <a:avLst>
              <a:gd name="adj" fmla="val 4705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Arrow: Chevron 13">
            <a:extLst>
              <a:ext uri="{FF2B5EF4-FFF2-40B4-BE49-F238E27FC236}">
                <a16:creationId xmlns:a16="http://schemas.microsoft.com/office/drawing/2014/main" id="{24E78622-0831-4151-874A-1EBE70D6E09D}"/>
              </a:ext>
            </a:extLst>
          </p:cNvPr>
          <p:cNvSpPr/>
          <p:nvPr userDrawn="1"/>
        </p:nvSpPr>
        <p:spPr>
          <a:xfrm>
            <a:off x="3856406" y="2265528"/>
            <a:ext cx="3772693" cy="1392072"/>
          </a:xfrm>
          <a:prstGeom prst="chevron">
            <a:avLst>
              <a:gd name="adj" fmla="val 4705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5" name="Arrow: Chevron 14">
            <a:extLst>
              <a:ext uri="{FF2B5EF4-FFF2-40B4-BE49-F238E27FC236}">
                <a16:creationId xmlns:a16="http://schemas.microsoft.com/office/drawing/2014/main" id="{C722E4FC-60F4-4984-AEA9-2CA25A2187D7}"/>
              </a:ext>
            </a:extLst>
          </p:cNvPr>
          <p:cNvSpPr/>
          <p:nvPr userDrawn="1"/>
        </p:nvSpPr>
        <p:spPr>
          <a:xfrm>
            <a:off x="7172812" y="2265528"/>
            <a:ext cx="3772693" cy="1392072"/>
          </a:xfrm>
          <a:prstGeom prst="chevron">
            <a:avLst>
              <a:gd name="adj" fmla="val 4705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Text Placeholder 4">
            <a:extLst>
              <a:ext uri="{FF2B5EF4-FFF2-40B4-BE49-F238E27FC236}">
                <a16:creationId xmlns:a16="http://schemas.microsoft.com/office/drawing/2014/main" id="{68065233-F5B9-45A6-805C-C399129F1DE5}"/>
              </a:ext>
            </a:extLst>
          </p:cNvPr>
          <p:cNvSpPr>
            <a:spLocks noGrp="1"/>
          </p:cNvSpPr>
          <p:nvPr>
            <p:ph type="body" sz="quarter" idx="11"/>
          </p:nvPr>
        </p:nvSpPr>
        <p:spPr>
          <a:xfrm>
            <a:off x="1419225" y="2811463"/>
            <a:ext cx="2238375" cy="723307"/>
          </a:xfrm>
        </p:spPr>
        <p:txBody>
          <a:bodyPr anchor="t"/>
          <a:lstStyle>
            <a:lvl1pPr>
              <a:defRPr>
                <a:solidFill>
                  <a:schemeClr val="bg1"/>
                </a:solidFill>
              </a:defRPr>
            </a:lvl1pPr>
          </a:lstStyle>
          <a:p>
            <a:pPr lvl="0"/>
            <a:r>
              <a:rPr lang="en-US"/>
              <a:t>Click to edit Master text styles</a:t>
            </a:r>
            <a:endParaRPr lang="en-GB"/>
          </a:p>
        </p:txBody>
      </p:sp>
      <p:sp>
        <p:nvSpPr>
          <p:cNvPr id="7" name="Text Placeholder 4">
            <a:extLst>
              <a:ext uri="{FF2B5EF4-FFF2-40B4-BE49-F238E27FC236}">
                <a16:creationId xmlns:a16="http://schemas.microsoft.com/office/drawing/2014/main" id="{F38902F6-4763-4D54-A405-340EE63797F0}"/>
              </a:ext>
            </a:extLst>
          </p:cNvPr>
          <p:cNvSpPr>
            <a:spLocks noGrp="1"/>
          </p:cNvSpPr>
          <p:nvPr>
            <p:ph type="body" sz="quarter" idx="12"/>
          </p:nvPr>
        </p:nvSpPr>
        <p:spPr>
          <a:xfrm>
            <a:off x="4872108" y="2811463"/>
            <a:ext cx="2238375" cy="723307"/>
          </a:xfrm>
        </p:spPr>
        <p:txBody>
          <a:bodyPr anchor="t"/>
          <a:lstStyle>
            <a:lvl1pPr>
              <a:defRPr>
                <a:solidFill>
                  <a:schemeClr val="bg1"/>
                </a:solidFill>
              </a:defRPr>
            </a:lvl1pPr>
          </a:lstStyle>
          <a:p>
            <a:pPr lvl="0"/>
            <a:r>
              <a:rPr lang="en-US"/>
              <a:t>Click to edit Master text styles</a:t>
            </a:r>
            <a:endParaRPr lang="en-GB"/>
          </a:p>
        </p:txBody>
      </p:sp>
      <p:sp>
        <p:nvSpPr>
          <p:cNvPr id="8" name="Text Placeholder 4">
            <a:extLst>
              <a:ext uri="{FF2B5EF4-FFF2-40B4-BE49-F238E27FC236}">
                <a16:creationId xmlns:a16="http://schemas.microsoft.com/office/drawing/2014/main" id="{1D922B4D-0A42-4BAD-8435-0F7A1FDC333C}"/>
              </a:ext>
            </a:extLst>
          </p:cNvPr>
          <p:cNvSpPr>
            <a:spLocks noGrp="1"/>
          </p:cNvSpPr>
          <p:nvPr>
            <p:ph type="body" sz="quarter" idx="13"/>
          </p:nvPr>
        </p:nvSpPr>
        <p:spPr>
          <a:xfrm>
            <a:off x="8284049" y="2811463"/>
            <a:ext cx="2238375" cy="617537"/>
          </a:xfrm>
        </p:spPr>
        <p:txBody>
          <a:bodyPr anchor="t"/>
          <a:lstStyle>
            <a:lvl1pPr>
              <a:defRPr>
                <a:solidFill>
                  <a:schemeClr val="bg1"/>
                </a:solidFill>
              </a:defRPr>
            </a:lvl1pPr>
          </a:lstStyle>
          <a:p>
            <a:pPr lvl="0"/>
            <a:r>
              <a:rPr lang="en-US"/>
              <a:t>Click to edit Master text styles</a:t>
            </a:r>
            <a:endParaRPr lang="en-GB"/>
          </a:p>
        </p:txBody>
      </p:sp>
      <p:sp>
        <p:nvSpPr>
          <p:cNvPr id="3" name="Footer Placeholder 2">
            <a:extLst>
              <a:ext uri="{FF2B5EF4-FFF2-40B4-BE49-F238E27FC236}">
                <a16:creationId xmlns:a16="http://schemas.microsoft.com/office/drawing/2014/main" id="{693496D2-D774-413E-805B-7734304028F3}"/>
              </a:ext>
            </a:extLst>
          </p:cNvPr>
          <p:cNvSpPr>
            <a:spLocks noGrp="1"/>
          </p:cNvSpPr>
          <p:nvPr>
            <p:ph type="ftr" sz="quarter" idx="17"/>
          </p:nvPr>
        </p:nvSpPr>
        <p:spPr/>
        <p:txBody>
          <a:bodyPr/>
          <a:lstStyle/>
          <a:p>
            <a:endParaRPr lang="en-GB"/>
          </a:p>
        </p:txBody>
      </p:sp>
    </p:spTree>
    <p:extLst>
      <p:ext uri="{BB962C8B-B14F-4D97-AF65-F5344CB8AC3E}">
        <p14:creationId xmlns:p14="http://schemas.microsoft.com/office/powerpoint/2010/main" val="22149914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ros and Cons">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86EBF86-7C0C-4F98-8B81-4812BBE6D2FB}"/>
              </a:ext>
            </a:extLst>
          </p:cNvPr>
          <p:cNvSpPr>
            <a:spLocks noGrp="1"/>
          </p:cNvSpPr>
          <p:nvPr>
            <p:ph type="body" sz="quarter" idx="12"/>
          </p:nvPr>
        </p:nvSpPr>
        <p:spPr>
          <a:xfrm>
            <a:off x="536575" y="2822576"/>
            <a:ext cx="4922838" cy="3018665"/>
          </a:xfrm>
          <a:solidFill>
            <a:schemeClr val="accent1"/>
          </a:solidFill>
        </p:spPr>
        <p:txBody>
          <a:bodyPr lIns="324000" tIns="396000" rIns="324000"/>
          <a:lstStyle>
            <a:lvl1pPr>
              <a:spcAft>
                <a:spcPts val="600"/>
              </a:spcAft>
              <a:defRPr b="1">
                <a:solidFill>
                  <a:schemeClr val="bg1"/>
                </a:solidFill>
              </a:defRPr>
            </a:lvl1pPr>
            <a:lvl2pPr>
              <a:defRPr sz="1400">
                <a:solidFill>
                  <a:schemeClr val="bg1"/>
                </a:solidFill>
              </a:defRPr>
            </a:lvl2pPr>
            <a:lvl3pPr marL="342900" indent="-342900">
              <a:buFont typeface="+mj-lt"/>
              <a:buAutoNum type="alphaLcPeriod"/>
              <a:defRPr sz="1400">
                <a:solidFill>
                  <a:schemeClr val="bg1"/>
                </a:solidFill>
              </a:defRPr>
            </a:lvl3pPr>
            <a:lvl4pPr marL="355600" indent="0">
              <a:buFontTx/>
              <a:buNone/>
              <a:defRPr>
                <a:solidFill>
                  <a:schemeClr val="bg1"/>
                </a:solidFill>
              </a:defRPr>
            </a:lvl4pPr>
            <a:lvl5pPr marL="355600" indent="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4">
            <a:extLst>
              <a:ext uri="{FF2B5EF4-FFF2-40B4-BE49-F238E27FC236}">
                <a16:creationId xmlns:a16="http://schemas.microsoft.com/office/drawing/2014/main" id="{85355237-EDCB-444F-82E1-A9C57DADFAEE}"/>
              </a:ext>
            </a:extLst>
          </p:cNvPr>
          <p:cNvSpPr>
            <a:spLocks noGrp="1"/>
          </p:cNvSpPr>
          <p:nvPr>
            <p:ph type="body" sz="quarter" idx="13"/>
          </p:nvPr>
        </p:nvSpPr>
        <p:spPr>
          <a:xfrm>
            <a:off x="5804611" y="2822576"/>
            <a:ext cx="4922838" cy="3018665"/>
          </a:xfrm>
          <a:solidFill>
            <a:schemeClr val="accent2"/>
          </a:solidFill>
        </p:spPr>
        <p:txBody>
          <a:bodyPr lIns="324000" tIns="396000" rIns="324000"/>
          <a:lstStyle>
            <a:lvl1pPr>
              <a:spcAft>
                <a:spcPts val="600"/>
              </a:spcAft>
              <a:defRPr b="1">
                <a:solidFill>
                  <a:schemeClr val="bg1"/>
                </a:solidFill>
              </a:defRPr>
            </a:lvl1pPr>
            <a:lvl2pPr>
              <a:defRPr sz="1400">
                <a:solidFill>
                  <a:schemeClr val="bg1"/>
                </a:solidFill>
              </a:defRPr>
            </a:lvl2pPr>
            <a:lvl3pPr marL="342900" indent="-342900">
              <a:buFont typeface="+mj-lt"/>
              <a:buAutoNum type="alphaLcPeriod"/>
              <a:defRPr sz="1400">
                <a:solidFill>
                  <a:schemeClr val="bg1"/>
                </a:solidFill>
              </a:defRPr>
            </a:lvl3pPr>
            <a:lvl4pPr marL="355600" indent="0">
              <a:buFontTx/>
              <a:buNone/>
              <a:defRPr>
                <a:solidFill>
                  <a:schemeClr val="bg1"/>
                </a:solidFill>
              </a:defRPr>
            </a:lvl4pPr>
            <a:lvl5pPr marL="355600" indent="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89A8723-4182-4B6C-AB80-89B196F52D3A}"/>
              </a:ext>
            </a:extLst>
          </p:cNvPr>
          <p:cNvSpPr>
            <a:spLocks noGrp="1"/>
          </p:cNvSpPr>
          <p:nvPr>
            <p:ph type="title"/>
          </p:nvPr>
        </p:nvSpPr>
        <p:spPr/>
        <p:txBody>
          <a:body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6B7BC0CF-389D-4A48-9780-1A751C5D5E30}"/>
              </a:ext>
            </a:extLst>
          </p:cNvPr>
          <p:cNvSpPr>
            <a:spLocks noGrp="1"/>
          </p:cNvSpPr>
          <p:nvPr>
            <p:ph type="sldNum" sz="quarter" idx="10"/>
          </p:nvPr>
        </p:nvSpPr>
        <p:spPr/>
        <p:txBody>
          <a:bodyPr/>
          <a:lstStyle/>
          <a:p>
            <a:fld id="{D751C141-602F-4B7A-80FC-46E874AB684B}" type="slidenum">
              <a:rPr lang="en-GB" smtClean="0"/>
              <a:pPr/>
              <a:t>‹#›</a:t>
            </a:fld>
            <a:endParaRPr lang="en-GB"/>
          </a:p>
        </p:txBody>
      </p:sp>
      <p:sp>
        <p:nvSpPr>
          <p:cNvPr id="5" name="Text Placeholder 4">
            <a:extLst>
              <a:ext uri="{FF2B5EF4-FFF2-40B4-BE49-F238E27FC236}">
                <a16:creationId xmlns:a16="http://schemas.microsoft.com/office/drawing/2014/main" id="{97DD0D12-D2A6-4DA9-8B38-A2BABC310ED4}"/>
              </a:ext>
            </a:extLst>
          </p:cNvPr>
          <p:cNvSpPr>
            <a:spLocks noGrp="1"/>
          </p:cNvSpPr>
          <p:nvPr>
            <p:ph type="body" sz="quarter" idx="11"/>
          </p:nvPr>
        </p:nvSpPr>
        <p:spPr>
          <a:xfrm>
            <a:off x="536575" y="1842093"/>
            <a:ext cx="4922838" cy="533400"/>
          </a:xfrm>
        </p:spPr>
        <p:txBody>
          <a:bodyPr/>
          <a:lstStyle/>
          <a:p>
            <a:pPr lvl="0"/>
            <a:r>
              <a:rPr lang="en-US"/>
              <a:t>Click to edit Master text styles</a:t>
            </a:r>
            <a:endParaRPr lang="en-GB"/>
          </a:p>
        </p:txBody>
      </p:sp>
      <p:sp>
        <p:nvSpPr>
          <p:cNvPr id="3" name="Footer Placeholder 2">
            <a:extLst>
              <a:ext uri="{FF2B5EF4-FFF2-40B4-BE49-F238E27FC236}">
                <a16:creationId xmlns:a16="http://schemas.microsoft.com/office/drawing/2014/main" id="{DFE751AD-18F5-47AC-A6E5-551F06334DB5}"/>
              </a:ext>
            </a:extLst>
          </p:cNvPr>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385552804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A8723-4182-4B6C-AB80-89B196F52D3A}"/>
              </a:ext>
            </a:extLst>
          </p:cNvPr>
          <p:cNvSpPr>
            <a:spLocks noGrp="1"/>
          </p:cNvSpPr>
          <p:nvPr>
            <p:ph type="title"/>
          </p:nvPr>
        </p:nvSpPr>
        <p:spPr/>
        <p:txBody>
          <a:body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6B7BC0CF-389D-4A48-9780-1A751C5D5E30}"/>
              </a:ext>
            </a:extLst>
          </p:cNvPr>
          <p:cNvSpPr>
            <a:spLocks noGrp="1"/>
          </p:cNvSpPr>
          <p:nvPr>
            <p:ph type="sldNum" sz="quarter" idx="10"/>
          </p:nvPr>
        </p:nvSpPr>
        <p:spPr/>
        <p:txBody>
          <a:bodyPr/>
          <a:lstStyle/>
          <a:p>
            <a:fld id="{D751C141-602F-4B7A-80FC-46E874AB684B}" type="slidenum">
              <a:rPr lang="en-GB" smtClean="0"/>
              <a:pPr/>
              <a:t>‹#›</a:t>
            </a:fld>
            <a:endParaRPr lang="en-GB"/>
          </a:p>
        </p:txBody>
      </p:sp>
      <p:sp>
        <p:nvSpPr>
          <p:cNvPr id="5" name="Text Placeholder 3">
            <a:extLst>
              <a:ext uri="{FF2B5EF4-FFF2-40B4-BE49-F238E27FC236}">
                <a16:creationId xmlns:a16="http://schemas.microsoft.com/office/drawing/2014/main" id="{43A51D13-EE86-4421-9417-3E5FC351910C}"/>
              </a:ext>
            </a:extLst>
          </p:cNvPr>
          <p:cNvSpPr>
            <a:spLocks noGrp="1"/>
          </p:cNvSpPr>
          <p:nvPr>
            <p:ph type="body" sz="quarter" idx="15"/>
          </p:nvPr>
        </p:nvSpPr>
        <p:spPr>
          <a:xfrm>
            <a:off x="6697356" y="3600000"/>
            <a:ext cx="4891087" cy="338138"/>
          </a:xfrm>
        </p:spPr>
        <p:txBody>
          <a:bodyPr anchor="t"/>
          <a:lstStyle>
            <a:lvl1pPr algn="l">
              <a:defRPr sz="1400" b="0">
                <a:solidFill>
                  <a:schemeClr val="tx2"/>
                </a:solidFill>
              </a:defRPr>
            </a:lvl1pPr>
            <a:lvl2pPr algn="l">
              <a:defRPr sz="2800" b="1">
                <a:solidFill>
                  <a:schemeClr val="accent1"/>
                </a:solidFill>
              </a:defRPr>
            </a:lvl2pPr>
            <a:lvl3pPr algn="ctr">
              <a:defRPr/>
            </a:lvl3pPr>
            <a:lvl4pPr algn="ctr">
              <a:defRPr/>
            </a:lvl4pPr>
            <a:lvl5pPr algn="ctr">
              <a:defRPr/>
            </a:lvl5pPr>
          </a:lstStyle>
          <a:p>
            <a:pPr lvl="0"/>
            <a:r>
              <a:rPr lang="en-US"/>
              <a:t>Click to edit Master text styles</a:t>
            </a:r>
            <a:endParaRPr lang="en-GB"/>
          </a:p>
        </p:txBody>
      </p:sp>
      <p:sp>
        <p:nvSpPr>
          <p:cNvPr id="7" name="Text Placeholder 7">
            <a:extLst>
              <a:ext uri="{FF2B5EF4-FFF2-40B4-BE49-F238E27FC236}">
                <a16:creationId xmlns:a16="http://schemas.microsoft.com/office/drawing/2014/main" id="{8EE31A79-43CD-4825-B273-B20C0F69AE7D}"/>
              </a:ext>
            </a:extLst>
          </p:cNvPr>
          <p:cNvSpPr>
            <a:spLocks noGrp="1"/>
          </p:cNvSpPr>
          <p:nvPr>
            <p:ph type="body" sz="quarter" idx="13"/>
          </p:nvPr>
        </p:nvSpPr>
        <p:spPr>
          <a:xfrm>
            <a:off x="539749" y="1259999"/>
            <a:ext cx="5400000" cy="5328000"/>
          </a:xfrm>
          <a:solidFill>
            <a:schemeClr val="accent1"/>
          </a:solidFill>
        </p:spPr>
        <p:txBody>
          <a:bodyPr lIns="306000" tIns="828000" rIns="252000" bIns="180000"/>
          <a:lstStyle>
            <a:lvl1pPr>
              <a:defRPr sz="1400" b="1">
                <a:solidFill>
                  <a:schemeClr val="bg1"/>
                </a:solidFill>
              </a:defRPr>
            </a:lvl1pPr>
            <a:lvl2pPr>
              <a:spcBef>
                <a:spcPts val="1000"/>
              </a:spcBef>
              <a:spcAft>
                <a:spcPts val="1000"/>
              </a:spcAft>
              <a:defRPr sz="1400" b="0">
                <a:solidFill>
                  <a:schemeClr val="bg1"/>
                </a:solidFill>
              </a:defRPr>
            </a:lvl2pPr>
            <a:lvl3pPr>
              <a:spcBef>
                <a:spcPts val="1000"/>
              </a:spcBef>
              <a:spcAft>
                <a:spcPts val="200"/>
              </a:spcAft>
              <a:defRPr sz="1400" i="1">
                <a:solidFill>
                  <a:schemeClr val="bg1"/>
                </a:solidFill>
              </a:defRPr>
            </a:lvl3pPr>
            <a:lvl4pPr>
              <a:spcBef>
                <a:spcPts val="1200"/>
              </a:spcBef>
              <a:spcAft>
                <a:spcPts val="1200"/>
              </a:spcAft>
              <a:defRPr sz="1450">
                <a:solidFill>
                  <a:schemeClr val="bg1"/>
                </a:solidFill>
              </a:defRPr>
            </a:lvl4pPr>
            <a:lvl5pPr>
              <a:spcBef>
                <a:spcPts val="1000"/>
              </a:spcBef>
              <a:spcAft>
                <a:spcPts val="1000"/>
              </a:spcAft>
              <a:defRPr sz="1400">
                <a:solidFill>
                  <a:schemeClr val="bg1"/>
                </a:solidFill>
              </a:defRPr>
            </a:lvl5pPr>
            <a:lvl6pPr>
              <a:spcBef>
                <a:spcPts val="300"/>
              </a:spcBef>
              <a:spcAft>
                <a:spcPts val="300"/>
              </a:spcAft>
              <a:defRPr sz="1450">
                <a:solidFill>
                  <a:schemeClr val="bg1"/>
                </a:solidFill>
              </a:defRPr>
            </a:lvl6pPr>
            <a:lvl7pPr>
              <a:defRPr sz="1400">
                <a:solidFill>
                  <a:schemeClr val="bg1"/>
                </a:solidFill>
              </a:defRPr>
            </a:lvl7pPr>
            <a:lvl8pPr>
              <a:defRPr sz="1400">
                <a:solidFill>
                  <a:schemeClr val="bg1"/>
                </a:solidFill>
              </a:defRPr>
            </a:lvl8pPr>
            <a:lvl9pPr>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5"/>
            <a:r>
              <a:rPr lang="en-US"/>
              <a:t>Fifth level</a:t>
            </a:r>
            <a:endParaRPr lang="en-GB"/>
          </a:p>
        </p:txBody>
      </p:sp>
      <p:sp>
        <p:nvSpPr>
          <p:cNvPr id="3" name="Footer Placeholder 2">
            <a:extLst>
              <a:ext uri="{FF2B5EF4-FFF2-40B4-BE49-F238E27FC236}">
                <a16:creationId xmlns:a16="http://schemas.microsoft.com/office/drawing/2014/main" id="{3747D5F2-56FB-4D14-AF43-5AB7E19F35BC}"/>
              </a:ext>
            </a:extLst>
          </p:cNvPr>
          <p:cNvSpPr>
            <a:spLocks noGrp="1"/>
          </p:cNvSpPr>
          <p:nvPr>
            <p:ph type="ftr" sz="quarter" idx="16"/>
          </p:nvPr>
        </p:nvSpPr>
        <p:spPr/>
        <p:txBody>
          <a:bodyPr/>
          <a:lstStyle/>
          <a:p>
            <a:endParaRPr lang="en-GB"/>
          </a:p>
        </p:txBody>
      </p:sp>
    </p:spTree>
    <p:extLst>
      <p:ext uri="{BB962C8B-B14F-4D97-AF65-F5344CB8AC3E}">
        <p14:creationId xmlns:p14="http://schemas.microsoft.com/office/powerpoint/2010/main" val="727063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Master page double">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4E5E8034-D69B-0B42-8930-AED67E088D11}"/>
              </a:ext>
            </a:extLst>
          </p:cNvPr>
          <p:cNvSpPr>
            <a:spLocks noGrp="1"/>
          </p:cNvSpPr>
          <p:nvPr>
            <p:ph type="subTitle" idx="1" hasCustomPrompt="1"/>
          </p:nvPr>
        </p:nvSpPr>
        <p:spPr>
          <a:xfrm>
            <a:off x="669852" y="1354647"/>
            <a:ext cx="10653822" cy="5109948"/>
          </a:xfrm>
          <a:prstGeom prst="rect">
            <a:avLst/>
          </a:prstGeom>
        </p:spPr>
        <p:txBody>
          <a:bodyPr numCol="2">
            <a:normAutofit/>
          </a:bodyPr>
          <a:lstStyle>
            <a:lvl1pPr marL="0" marR="0" indent="0" algn="l" defTabSz="914400" rtl="0" eaLnBrk="1" fontAlgn="auto" latinLnBrk="0" hangingPunct="1">
              <a:lnSpc>
                <a:spcPct val="90000"/>
              </a:lnSpc>
              <a:spcBef>
                <a:spcPts val="1000"/>
              </a:spcBef>
              <a:spcAft>
                <a:spcPts val="0"/>
              </a:spcAft>
              <a:buClrTx/>
              <a:buSzTx/>
              <a:buFontTx/>
              <a:buNone/>
              <a:tabLst/>
              <a:defRPr sz="1600" b="0" i="0">
                <a:solidFill>
                  <a:schemeClr val="bg1">
                    <a:lumMod val="50000"/>
                  </a:schemeClr>
                </a:solidFill>
                <a:latin typeface="Helvetica" pitchFamily="2" charset="0"/>
              </a:defRPr>
            </a:lvl1pPr>
          </a:lstStyle>
          <a:p>
            <a:r>
              <a:rPr lang="en-US"/>
              <a:t>Body copy 2 column text box</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pPr marL="0" marR="0" lvl="0" indent="0" algn="l" defTabSz="914400" rtl="0" eaLnBrk="1" fontAlgn="auto" latinLnBrk="0" hangingPunct="1">
              <a:lnSpc>
                <a:spcPct val="90000"/>
              </a:lnSpc>
              <a:spcBef>
                <a:spcPts val="1000"/>
              </a:spcBef>
              <a:spcAft>
                <a:spcPts val="0"/>
              </a:spcAft>
              <a:buClrTx/>
              <a:buSzTx/>
              <a:buFontTx/>
              <a:buNone/>
              <a:tabLst/>
              <a:defRPr/>
            </a:pPr>
            <a:r>
              <a:rPr lang="en-US"/>
              <a:t>Body copy 2 column text box</a:t>
            </a:r>
          </a:p>
          <a:p>
            <a:endParaRPr lang="en-US"/>
          </a:p>
        </p:txBody>
      </p:sp>
      <p:sp>
        <p:nvSpPr>
          <p:cNvPr id="4" name="Title 2">
            <a:extLst>
              <a:ext uri="{FF2B5EF4-FFF2-40B4-BE49-F238E27FC236}">
                <a16:creationId xmlns:a16="http://schemas.microsoft.com/office/drawing/2014/main" id="{AEB3B659-F213-9E40-80D8-1BEE1825F8FF}"/>
              </a:ext>
            </a:extLst>
          </p:cNvPr>
          <p:cNvSpPr>
            <a:spLocks noGrp="1"/>
          </p:cNvSpPr>
          <p:nvPr>
            <p:ph type="title"/>
          </p:nvPr>
        </p:nvSpPr>
        <p:spPr>
          <a:xfrm>
            <a:off x="669852" y="251927"/>
            <a:ext cx="8335926" cy="871195"/>
          </a:xfrm>
          <a:prstGeom prst="rect">
            <a:avLst/>
          </a:prstGeom>
        </p:spPr>
        <p:txBody>
          <a:bodyPr anchor="ctr">
            <a:normAutofit/>
          </a:bodyPr>
          <a:lstStyle>
            <a:lvl1pPr>
              <a:defRPr sz="2200" b="1" i="0">
                <a:solidFill>
                  <a:srgbClr val="002060"/>
                </a:solidFill>
                <a:latin typeface="Helvetica" pitchFamily="2" charset="0"/>
              </a:defRPr>
            </a:lvl1pPr>
          </a:lstStyle>
          <a:p>
            <a:r>
              <a:rPr lang="en-GB"/>
              <a:t>Click to edit</a:t>
            </a:r>
            <a:endParaRPr lang="en-US"/>
          </a:p>
        </p:txBody>
      </p:sp>
    </p:spTree>
    <p:extLst>
      <p:ext uri="{BB962C8B-B14F-4D97-AF65-F5344CB8AC3E}">
        <p14:creationId xmlns:p14="http://schemas.microsoft.com/office/powerpoint/2010/main" val="268823970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11/23/2023</a:t>
            </a:fld>
            <a:endParaRPr lang="en-US"/>
          </a:p>
        </p:txBody>
      </p:sp>
      <p:sp>
        <p:nvSpPr>
          <p:cNvPr id="6" name="Holder 6"/>
          <p:cNvSpPr>
            <a:spLocks noGrp="1"/>
          </p:cNvSpPr>
          <p:nvPr>
            <p:ph type="sldNum" sz="quarter" idx="7"/>
          </p:nvPr>
        </p:nvSpPr>
        <p:spPr/>
        <p:txBody>
          <a:bodyPr lIns="0" tIns="0" rIns="0" bIns="0"/>
          <a:lstStyle>
            <a:lvl1pPr>
              <a:defRPr sz="1200" b="0" i="0">
                <a:solidFill>
                  <a:srgbClr val="7D7D7D"/>
                </a:solidFill>
                <a:latin typeface="Calibri"/>
                <a:cs typeface="Calibri"/>
              </a:defRPr>
            </a:lvl1pPr>
          </a:lstStyle>
          <a:p>
            <a:pPr marR="897255" algn="r">
              <a:lnSpc>
                <a:spcPts val="1240"/>
              </a:lnSpc>
            </a:pPr>
            <a:fld id="{81D60167-4931-47E6-BA6A-407CBD079E47}" type="slidenum">
              <a:rPr dirty="0"/>
              <a:t>‹#›</a:t>
            </a:fld>
            <a:endParaRPr/>
          </a:p>
          <a:p>
            <a:pPr marL="12700">
              <a:lnSpc>
                <a:spcPct val="100000"/>
              </a:lnSpc>
              <a:spcBef>
                <a:spcPts val="685"/>
              </a:spcBef>
            </a:pPr>
            <a:r>
              <a:rPr sz="1100" spc="-5">
                <a:solidFill>
                  <a:srgbClr val="000000"/>
                </a:solidFill>
              </a:rPr>
              <a:t>Copyright</a:t>
            </a:r>
            <a:r>
              <a:rPr sz="1100" spc="-50">
                <a:solidFill>
                  <a:srgbClr val="000000"/>
                </a:solidFill>
              </a:rPr>
              <a:t> </a:t>
            </a:r>
            <a:r>
              <a:rPr sz="1100">
                <a:solidFill>
                  <a:srgbClr val="000000"/>
                </a:solidFill>
              </a:rPr>
              <a:t>© 2022</a:t>
            </a:r>
            <a:r>
              <a:rPr sz="1100" spc="5">
                <a:solidFill>
                  <a:srgbClr val="000000"/>
                </a:solidFill>
              </a:rPr>
              <a:t> </a:t>
            </a:r>
            <a:r>
              <a:rPr sz="1100" spc="-5">
                <a:solidFill>
                  <a:srgbClr val="000000"/>
                </a:solidFill>
              </a:rPr>
              <a:t>by</a:t>
            </a:r>
            <a:r>
              <a:rPr sz="1100" spc="-10">
                <a:solidFill>
                  <a:srgbClr val="000000"/>
                </a:solidFill>
              </a:rPr>
              <a:t> International</a:t>
            </a:r>
            <a:r>
              <a:rPr sz="1100" spc="-45">
                <a:solidFill>
                  <a:srgbClr val="000000"/>
                </a:solidFill>
              </a:rPr>
              <a:t> </a:t>
            </a:r>
            <a:r>
              <a:rPr sz="1100" spc="-5">
                <a:solidFill>
                  <a:srgbClr val="000000"/>
                </a:solidFill>
              </a:rPr>
              <a:t>Swaps</a:t>
            </a:r>
            <a:r>
              <a:rPr sz="1100" spc="-50">
                <a:solidFill>
                  <a:srgbClr val="000000"/>
                </a:solidFill>
              </a:rPr>
              <a:t> </a:t>
            </a:r>
            <a:r>
              <a:rPr sz="1100" spc="-5">
                <a:solidFill>
                  <a:srgbClr val="000000"/>
                </a:solidFill>
              </a:rPr>
              <a:t>and</a:t>
            </a:r>
            <a:r>
              <a:rPr sz="1100" spc="-25">
                <a:solidFill>
                  <a:srgbClr val="000000"/>
                </a:solidFill>
              </a:rPr>
              <a:t> </a:t>
            </a:r>
            <a:r>
              <a:rPr sz="1100">
                <a:solidFill>
                  <a:srgbClr val="000000"/>
                </a:solidFill>
              </a:rPr>
              <a:t>Derivatives</a:t>
            </a:r>
            <a:r>
              <a:rPr sz="1100" spc="-25">
                <a:solidFill>
                  <a:srgbClr val="000000"/>
                </a:solidFill>
              </a:rPr>
              <a:t> </a:t>
            </a:r>
            <a:r>
              <a:rPr sz="1100" spc="-10">
                <a:solidFill>
                  <a:srgbClr val="000000"/>
                </a:solidFill>
              </a:rPr>
              <a:t>Association,</a:t>
            </a:r>
            <a:r>
              <a:rPr sz="1100" spc="-135">
                <a:solidFill>
                  <a:srgbClr val="000000"/>
                </a:solidFill>
              </a:rPr>
              <a:t> </a:t>
            </a:r>
            <a:r>
              <a:rPr sz="1100" spc="-5">
                <a:solidFill>
                  <a:srgbClr val="000000"/>
                </a:solidFill>
              </a:rPr>
              <a:t>Inc.</a:t>
            </a:r>
            <a:endParaRPr sz="1100"/>
          </a:p>
        </p:txBody>
      </p:sp>
    </p:spTree>
    <p:extLst>
      <p:ext uri="{BB962C8B-B14F-4D97-AF65-F5344CB8AC3E}">
        <p14:creationId xmlns:p14="http://schemas.microsoft.com/office/powerpoint/2010/main" val="26421488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3988107"/>
      </p:ext>
    </p:extLst>
  </p:cSld>
  <p:clrMapOvr>
    <a:masterClrMapping/>
  </p:clrMapOvr>
  <p:transition/>
  <p:hf hdr="0" ftr="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4.xml"/><Relationship Id="rId1" Type="http://schemas.openxmlformats.org/officeDocument/2006/relationships/slideLayout" Target="../slideLayouts/slideLayout7.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9.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image" Target="../media/image3.jpe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image" Target="../media/image3.jpeg"/><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3.jpe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8.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image" Target="../media/image3.jpeg"/><Relationship Id="rId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theme" Target="../theme/theme10.xml"/><Relationship Id="rId5" Type="http://schemas.openxmlformats.org/officeDocument/2006/relationships/slideLayout" Target="../slideLayouts/slideLayout28.xml"/><Relationship Id="rId4" Type="http://schemas.openxmlformats.org/officeDocument/2006/relationships/slideLayout" Target="../slideLayouts/slideLayout2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image" Target="../media/image8.jpeg"/><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theme" Target="../theme/theme11.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7AC01C-1830-854D-A230-60FA5EFF1FB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3201" y="0"/>
            <a:ext cx="12278402" cy="6912000"/>
          </a:xfrm>
          <a:prstGeom prst="rect">
            <a:avLst/>
          </a:prstGeom>
        </p:spPr>
      </p:pic>
    </p:spTree>
    <p:extLst>
      <p:ext uri="{BB962C8B-B14F-4D97-AF65-F5344CB8AC3E}">
        <p14:creationId xmlns:p14="http://schemas.microsoft.com/office/powerpoint/2010/main" val="2944156894"/>
      </p:ext>
    </p:extLst>
  </p:cSld>
  <p:clrMap bg1="lt1" tx1="dk1" bg2="lt2" tx2="dk2" accent1="accent1" accent2="accent2" accent3="accent3" accent4="accent4" accent5="accent5" accent6="accent6" hlink="hlink" folHlink="folHlink"/>
  <p:sldLayoutIdLst>
    <p:sldLayoutId id="2147483651" r:id="rId1"/>
    <p:sldLayoutId id="2147483662"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2F4328-91CB-D14A-9F80-BACD1B11CB2B}"/>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762" y="0"/>
            <a:ext cx="12182475" cy="6858000"/>
          </a:xfrm>
          <a:prstGeom prst="rect">
            <a:avLst/>
          </a:prstGeom>
        </p:spPr>
      </p:pic>
      <p:sp>
        <p:nvSpPr>
          <p:cNvPr id="7" name="TextBox 6">
            <a:extLst>
              <a:ext uri="{FF2B5EF4-FFF2-40B4-BE49-F238E27FC236}">
                <a16:creationId xmlns:a16="http://schemas.microsoft.com/office/drawing/2014/main" id="{1B682871-E67A-3D48-8628-BCE04A611647}"/>
              </a:ext>
            </a:extLst>
          </p:cNvPr>
          <p:cNvSpPr txBox="1"/>
          <p:nvPr userDrawn="1"/>
        </p:nvSpPr>
        <p:spPr>
          <a:xfrm>
            <a:off x="10820400" y="6239142"/>
            <a:ext cx="1066800" cy="276999"/>
          </a:xfrm>
          <a:prstGeom prst="rect">
            <a:avLst/>
          </a:prstGeom>
          <a:noFill/>
        </p:spPr>
        <p:txBody>
          <a:bodyPr wrap="square" rtlCol="0">
            <a:spAutoFit/>
          </a:bodyPr>
          <a:lstStyle/>
          <a:p>
            <a:pPr algn="r"/>
            <a:fld id="{EA90BBC4-11A8-F44F-A127-46AF4E031843}" type="slidenum">
              <a:rPr lang="en-US" sz="1200">
                <a:solidFill>
                  <a:srgbClr val="002060"/>
                </a:solidFill>
              </a:rPr>
              <a:pPr algn="r"/>
              <a:t>‹#›</a:t>
            </a:fld>
            <a:endParaRPr lang="en-US" sz="1200">
              <a:solidFill>
                <a:srgbClr val="002060"/>
              </a:solidFill>
            </a:endParaRPr>
          </a:p>
        </p:txBody>
      </p:sp>
    </p:spTree>
    <p:extLst>
      <p:ext uri="{BB962C8B-B14F-4D97-AF65-F5344CB8AC3E}">
        <p14:creationId xmlns:p14="http://schemas.microsoft.com/office/powerpoint/2010/main" val="1833453885"/>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63"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ACF93270-2F00-2E42-81A2-1F0720B4B94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762" y="0"/>
            <a:ext cx="12182475" cy="6858000"/>
          </a:xfrm>
          <a:prstGeom prst="rect">
            <a:avLst/>
          </a:prstGeom>
        </p:spPr>
      </p:pic>
    </p:spTree>
    <p:extLst>
      <p:ext uri="{BB962C8B-B14F-4D97-AF65-F5344CB8AC3E}">
        <p14:creationId xmlns:p14="http://schemas.microsoft.com/office/powerpoint/2010/main" val="3433903600"/>
      </p:ext>
    </p:extLst>
  </p:cSld>
  <p:clrMap bg1="lt1" tx1="dk1" bg2="lt2" tx2="dk2" accent1="accent1" accent2="accent2" accent3="accent3" accent4="accent4" accent5="accent5" accent6="accent6" hlink="hlink" folHlink="folHlink"/>
  <p:sldLayoutIdLst>
    <p:sldLayoutId id="2147483658"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7AC01C-1830-854D-A230-60FA5EFF1FB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3200" y="0"/>
            <a:ext cx="12278400" cy="6912000"/>
          </a:xfrm>
          <a:prstGeom prst="rect">
            <a:avLst/>
          </a:prstGeom>
        </p:spPr>
      </p:pic>
    </p:spTree>
    <p:extLst>
      <p:ext uri="{BB962C8B-B14F-4D97-AF65-F5344CB8AC3E}">
        <p14:creationId xmlns:p14="http://schemas.microsoft.com/office/powerpoint/2010/main" val="820123423"/>
      </p:ext>
    </p:extLst>
  </p:cSld>
  <p:clrMap bg1="lt1" tx1="dk1" bg2="lt2" tx2="dk2" accent1="accent1" accent2="accent2" accent3="accent3" accent4="accent4" accent5="accent5" accent6="accent6" hlink="hlink" folHlink="folHlink"/>
  <p:sldLayoutIdLst>
    <p:sldLayoutId id="2147483661"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2F4328-91CB-D14A-9F80-BACD1B11CB2B}"/>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b="95961"/>
          <a:stretch/>
        </p:blipFill>
        <p:spPr>
          <a:xfrm>
            <a:off x="4762" y="0"/>
            <a:ext cx="12182475" cy="276999"/>
          </a:xfrm>
          <a:prstGeom prst="rect">
            <a:avLst/>
          </a:prstGeom>
        </p:spPr>
      </p:pic>
      <p:pic>
        <p:nvPicPr>
          <p:cNvPr id="2" name="Picture 1">
            <a:extLst>
              <a:ext uri="{FF2B5EF4-FFF2-40B4-BE49-F238E27FC236}">
                <a16:creationId xmlns:a16="http://schemas.microsoft.com/office/drawing/2014/main" id="{A7ECC68A-7225-4E59-9DB2-68198EBB2990}"/>
              </a:ext>
            </a:extLst>
          </p:cNvPr>
          <p:cNvPicPr>
            <a:picLocks noChangeAspect="1"/>
          </p:cNvPicPr>
          <p:nvPr userDrawn="1"/>
        </p:nvPicPr>
        <p:blipFill>
          <a:blip r:embed="rId5"/>
          <a:stretch>
            <a:fillRect/>
          </a:stretch>
        </p:blipFill>
        <p:spPr>
          <a:xfrm>
            <a:off x="9785470" y="266340"/>
            <a:ext cx="2028825" cy="733425"/>
          </a:xfrm>
          <a:prstGeom prst="rect">
            <a:avLst/>
          </a:prstGeom>
        </p:spPr>
      </p:pic>
    </p:spTree>
    <p:extLst>
      <p:ext uri="{BB962C8B-B14F-4D97-AF65-F5344CB8AC3E}">
        <p14:creationId xmlns:p14="http://schemas.microsoft.com/office/powerpoint/2010/main" val="2311381942"/>
      </p:ext>
    </p:extLst>
  </p:cSld>
  <p:clrMap bg1="lt1" tx1="dk1" bg2="lt2" tx2="dk2" accent1="accent1" accent2="accent2" accent3="accent3" accent4="accent4" accent5="accent5" accent6="accent6" hlink="hlink" folHlink="folHlink"/>
  <p:sldLayoutIdLst>
    <p:sldLayoutId id="2147483666" r:id="rId1"/>
    <p:sldLayoutId id="2147483667"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2F4328-91CB-D14A-9F80-BACD1B11CB2B}"/>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762" y="0"/>
            <a:ext cx="12182475" cy="6858000"/>
          </a:xfrm>
          <a:prstGeom prst="rect">
            <a:avLst/>
          </a:prstGeom>
        </p:spPr>
      </p:pic>
      <p:sp>
        <p:nvSpPr>
          <p:cNvPr id="7" name="TextBox 6">
            <a:extLst>
              <a:ext uri="{FF2B5EF4-FFF2-40B4-BE49-F238E27FC236}">
                <a16:creationId xmlns:a16="http://schemas.microsoft.com/office/drawing/2014/main" id="{1B682871-E67A-3D48-8628-BCE04A611647}"/>
              </a:ext>
            </a:extLst>
          </p:cNvPr>
          <p:cNvSpPr txBox="1"/>
          <p:nvPr userDrawn="1"/>
        </p:nvSpPr>
        <p:spPr>
          <a:xfrm>
            <a:off x="10820400" y="6239142"/>
            <a:ext cx="1066800" cy="276999"/>
          </a:xfrm>
          <a:prstGeom prst="rect">
            <a:avLst/>
          </a:prstGeom>
          <a:noFill/>
        </p:spPr>
        <p:txBody>
          <a:bodyPr wrap="square" rtlCol="0">
            <a:spAutoFit/>
          </a:bodyPr>
          <a:lstStyle/>
          <a:p>
            <a:pPr algn="r"/>
            <a:fld id="{EA90BBC4-11A8-F44F-A127-46AF4E031843}" type="slidenum">
              <a:rPr lang="en-US" sz="1200">
                <a:solidFill>
                  <a:srgbClr val="002060"/>
                </a:solidFill>
              </a:rPr>
              <a:pPr algn="r"/>
              <a:t>‹#›</a:t>
            </a:fld>
            <a:endParaRPr lang="en-US" sz="1200">
              <a:solidFill>
                <a:srgbClr val="002060"/>
              </a:solidFill>
            </a:endParaRPr>
          </a:p>
        </p:txBody>
      </p:sp>
    </p:spTree>
    <p:extLst>
      <p:ext uri="{BB962C8B-B14F-4D97-AF65-F5344CB8AC3E}">
        <p14:creationId xmlns:p14="http://schemas.microsoft.com/office/powerpoint/2010/main" val="379776006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2F4328-91CB-D14A-9F80-BACD1B11CB2B}"/>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762" y="0"/>
            <a:ext cx="12182475" cy="6858000"/>
          </a:xfrm>
          <a:prstGeom prst="rect">
            <a:avLst/>
          </a:prstGeom>
        </p:spPr>
      </p:pic>
      <p:sp>
        <p:nvSpPr>
          <p:cNvPr id="7" name="TextBox 6">
            <a:extLst>
              <a:ext uri="{FF2B5EF4-FFF2-40B4-BE49-F238E27FC236}">
                <a16:creationId xmlns:a16="http://schemas.microsoft.com/office/drawing/2014/main" id="{1B682871-E67A-3D48-8628-BCE04A611647}"/>
              </a:ext>
            </a:extLst>
          </p:cNvPr>
          <p:cNvSpPr txBox="1"/>
          <p:nvPr userDrawn="1"/>
        </p:nvSpPr>
        <p:spPr>
          <a:xfrm>
            <a:off x="10820400" y="6239142"/>
            <a:ext cx="1066800" cy="276999"/>
          </a:xfrm>
          <a:prstGeom prst="rect">
            <a:avLst/>
          </a:prstGeom>
          <a:noFill/>
        </p:spPr>
        <p:txBody>
          <a:bodyPr wrap="square" rtlCol="0">
            <a:spAutoFit/>
          </a:bodyPr>
          <a:lstStyle/>
          <a:p>
            <a:pPr algn="r"/>
            <a:fld id="{EA90BBC4-11A8-F44F-A127-46AF4E031843}" type="slidenum">
              <a:rPr lang="en-US" sz="1200">
                <a:solidFill>
                  <a:srgbClr val="002060"/>
                </a:solidFill>
              </a:rPr>
              <a:pPr algn="r"/>
              <a:t>‹#›</a:t>
            </a:fld>
            <a:endParaRPr lang="en-US" sz="1200">
              <a:solidFill>
                <a:srgbClr val="002060"/>
              </a:solidFill>
            </a:endParaRPr>
          </a:p>
        </p:txBody>
      </p:sp>
    </p:spTree>
    <p:extLst>
      <p:ext uri="{BB962C8B-B14F-4D97-AF65-F5344CB8AC3E}">
        <p14:creationId xmlns:p14="http://schemas.microsoft.com/office/powerpoint/2010/main" val="30137193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2F4328-91CB-D14A-9F80-BACD1B11CB2B}"/>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4762" y="0"/>
            <a:ext cx="12182475" cy="6858000"/>
          </a:xfrm>
          <a:prstGeom prst="rect">
            <a:avLst/>
          </a:prstGeom>
        </p:spPr>
      </p:pic>
      <p:sp>
        <p:nvSpPr>
          <p:cNvPr id="7" name="TextBox 6">
            <a:extLst>
              <a:ext uri="{FF2B5EF4-FFF2-40B4-BE49-F238E27FC236}">
                <a16:creationId xmlns:a16="http://schemas.microsoft.com/office/drawing/2014/main" id="{1B682871-E67A-3D48-8628-BCE04A611647}"/>
              </a:ext>
            </a:extLst>
          </p:cNvPr>
          <p:cNvSpPr txBox="1"/>
          <p:nvPr userDrawn="1"/>
        </p:nvSpPr>
        <p:spPr>
          <a:xfrm>
            <a:off x="10820400" y="6239142"/>
            <a:ext cx="1066800" cy="276999"/>
          </a:xfrm>
          <a:prstGeom prst="rect">
            <a:avLst/>
          </a:prstGeom>
          <a:noFill/>
        </p:spPr>
        <p:txBody>
          <a:bodyPr wrap="square" rtlCol="0">
            <a:spAutoFit/>
          </a:bodyPr>
          <a:lstStyle/>
          <a:p>
            <a:pPr algn="r"/>
            <a:fld id="{EA90BBC4-11A8-F44F-A127-46AF4E031843}" type="slidenum">
              <a:rPr lang="en-US" sz="1200">
                <a:solidFill>
                  <a:srgbClr val="002060"/>
                </a:solidFill>
              </a:rPr>
              <a:pPr algn="r"/>
              <a:t>‹#›</a:t>
            </a:fld>
            <a:endParaRPr lang="en-US" sz="1200">
              <a:solidFill>
                <a:srgbClr val="002060"/>
              </a:solidFill>
            </a:endParaRPr>
          </a:p>
        </p:txBody>
      </p:sp>
    </p:spTree>
    <p:extLst>
      <p:ext uri="{BB962C8B-B14F-4D97-AF65-F5344CB8AC3E}">
        <p14:creationId xmlns:p14="http://schemas.microsoft.com/office/powerpoint/2010/main" val="282052344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20" r:id="rId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2F4328-91CB-D14A-9F80-BACD1B11CB2B}"/>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762" y="0"/>
            <a:ext cx="12182475" cy="6858000"/>
          </a:xfrm>
          <a:prstGeom prst="rect">
            <a:avLst/>
          </a:prstGeom>
        </p:spPr>
      </p:pic>
      <p:sp>
        <p:nvSpPr>
          <p:cNvPr id="7" name="TextBox 6">
            <a:extLst>
              <a:ext uri="{FF2B5EF4-FFF2-40B4-BE49-F238E27FC236}">
                <a16:creationId xmlns:a16="http://schemas.microsoft.com/office/drawing/2014/main" id="{1B682871-E67A-3D48-8628-BCE04A611647}"/>
              </a:ext>
            </a:extLst>
          </p:cNvPr>
          <p:cNvSpPr txBox="1"/>
          <p:nvPr userDrawn="1"/>
        </p:nvSpPr>
        <p:spPr>
          <a:xfrm>
            <a:off x="10820400" y="6239142"/>
            <a:ext cx="1066800" cy="276999"/>
          </a:xfrm>
          <a:prstGeom prst="rect">
            <a:avLst/>
          </a:prstGeom>
          <a:noFill/>
        </p:spPr>
        <p:txBody>
          <a:bodyPr wrap="square" rtlCol="0">
            <a:spAutoFit/>
          </a:bodyPr>
          <a:lstStyle/>
          <a:p>
            <a:pPr algn="r"/>
            <a:fld id="{EA90BBC4-11A8-F44F-A127-46AF4E031843}" type="slidenum">
              <a:rPr lang="en-US" sz="1200">
                <a:solidFill>
                  <a:srgbClr val="002060"/>
                </a:solidFill>
              </a:rPr>
              <a:pPr algn="r"/>
              <a:t>‹#›</a:t>
            </a:fld>
            <a:endParaRPr lang="en-US" sz="1200">
              <a:solidFill>
                <a:srgbClr val="002060"/>
              </a:solidFill>
            </a:endParaRPr>
          </a:p>
        </p:txBody>
      </p:sp>
    </p:spTree>
    <p:extLst>
      <p:ext uri="{BB962C8B-B14F-4D97-AF65-F5344CB8AC3E}">
        <p14:creationId xmlns:p14="http://schemas.microsoft.com/office/powerpoint/2010/main" val="3962918602"/>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62331" y="259079"/>
            <a:ext cx="11467337" cy="408940"/>
          </a:xfrm>
          <a:prstGeom prst="rect">
            <a:avLst/>
          </a:prstGeom>
        </p:spPr>
        <p:txBody>
          <a:bodyPr wrap="square" lIns="0" tIns="0" rIns="0" bIns="0">
            <a:spAutoFit/>
          </a:bodyPr>
          <a:lstStyle>
            <a:lvl1pPr>
              <a:defRPr sz="2000" b="1" i="0">
                <a:solidFill>
                  <a:schemeClr val="bg1"/>
                </a:solidFill>
                <a:latin typeface="Calibri"/>
                <a:cs typeface="Calibri"/>
              </a:defRPr>
            </a:lvl1pPr>
          </a:lstStyle>
          <a:p>
            <a:endParaRPr/>
          </a:p>
        </p:txBody>
      </p:sp>
      <p:sp>
        <p:nvSpPr>
          <p:cNvPr id="3" name="Holder 3"/>
          <p:cNvSpPr>
            <a:spLocks noGrp="1"/>
          </p:cNvSpPr>
          <p:nvPr>
            <p:ph type="body" idx="1"/>
          </p:nvPr>
        </p:nvSpPr>
        <p:spPr>
          <a:xfrm>
            <a:off x="1001013" y="2689860"/>
            <a:ext cx="10189972" cy="15697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t>11/23/2023</a:t>
            </a:fld>
            <a:endParaRPr lang="en-US"/>
          </a:p>
        </p:txBody>
      </p:sp>
      <p:sp>
        <p:nvSpPr>
          <p:cNvPr id="6" name="Holder 6"/>
          <p:cNvSpPr>
            <a:spLocks noGrp="1"/>
          </p:cNvSpPr>
          <p:nvPr>
            <p:ph type="sldNum" sz="quarter" idx="7"/>
          </p:nvPr>
        </p:nvSpPr>
        <p:spPr>
          <a:xfrm>
            <a:off x="7805332" y="6405626"/>
            <a:ext cx="4172584" cy="432434"/>
          </a:xfrm>
          <a:prstGeom prst="rect">
            <a:avLst/>
          </a:prstGeom>
        </p:spPr>
        <p:txBody>
          <a:bodyPr wrap="square" lIns="0" tIns="0" rIns="0" bIns="0">
            <a:spAutoFit/>
          </a:bodyPr>
          <a:lstStyle>
            <a:lvl1pPr>
              <a:defRPr sz="1200" b="0" i="0">
                <a:solidFill>
                  <a:srgbClr val="7D7D7D"/>
                </a:solidFill>
                <a:latin typeface="Calibri"/>
                <a:cs typeface="Calibri"/>
              </a:defRPr>
            </a:lvl1pPr>
          </a:lstStyle>
          <a:p>
            <a:pPr marR="897255" algn="r">
              <a:lnSpc>
                <a:spcPts val="1240"/>
              </a:lnSpc>
            </a:pPr>
            <a:fld id="{81D60167-4931-47E6-BA6A-407CBD079E47}" type="slidenum">
              <a:rPr dirty="0"/>
              <a:t>‹#›</a:t>
            </a:fld>
            <a:endParaRPr/>
          </a:p>
          <a:p>
            <a:pPr marL="12700">
              <a:lnSpc>
                <a:spcPct val="100000"/>
              </a:lnSpc>
              <a:spcBef>
                <a:spcPts val="685"/>
              </a:spcBef>
            </a:pPr>
            <a:r>
              <a:rPr sz="1100" spc="-5">
                <a:solidFill>
                  <a:srgbClr val="000000"/>
                </a:solidFill>
              </a:rPr>
              <a:t>Copyright</a:t>
            </a:r>
            <a:r>
              <a:rPr sz="1100" spc="-50">
                <a:solidFill>
                  <a:srgbClr val="000000"/>
                </a:solidFill>
              </a:rPr>
              <a:t> </a:t>
            </a:r>
            <a:r>
              <a:rPr sz="1100">
                <a:solidFill>
                  <a:srgbClr val="000000"/>
                </a:solidFill>
              </a:rPr>
              <a:t>© 2022</a:t>
            </a:r>
            <a:r>
              <a:rPr sz="1100" spc="5">
                <a:solidFill>
                  <a:srgbClr val="000000"/>
                </a:solidFill>
              </a:rPr>
              <a:t> </a:t>
            </a:r>
            <a:r>
              <a:rPr sz="1100" spc="-5">
                <a:solidFill>
                  <a:srgbClr val="000000"/>
                </a:solidFill>
              </a:rPr>
              <a:t>by</a:t>
            </a:r>
            <a:r>
              <a:rPr sz="1100" spc="-10">
                <a:solidFill>
                  <a:srgbClr val="000000"/>
                </a:solidFill>
              </a:rPr>
              <a:t> International</a:t>
            </a:r>
            <a:r>
              <a:rPr sz="1100" spc="-45">
                <a:solidFill>
                  <a:srgbClr val="000000"/>
                </a:solidFill>
              </a:rPr>
              <a:t> </a:t>
            </a:r>
            <a:r>
              <a:rPr sz="1100" spc="-5">
                <a:solidFill>
                  <a:srgbClr val="000000"/>
                </a:solidFill>
              </a:rPr>
              <a:t>Swaps</a:t>
            </a:r>
            <a:r>
              <a:rPr sz="1100" spc="-50">
                <a:solidFill>
                  <a:srgbClr val="000000"/>
                </a:solidFill>
              </a:rPr>
              <a:t> </a:t>
            </a:r>
            <a:r>
              <a:rPr sz="1100" spc="-5">
                <a:solidFill>
                  <a:srgbClr val="000000"/>
                </a:solidFill>
              </a:rPr>
              <a:t>and</a:t>
            </a:r>
            <a:r>
              <a:rPr sz="1100" spc="-25">
                <a:solidFill>
                  <a:srgbClr val="000000"/>
                </a:solidFill>
              </a:rPr>
              <a:t> </a:t>
            </a:r>
            <a:r>
              <a:rPr sz="1100">
                <a:solidFill>
                  <a:srgbClr val="000000"/>
                </a:solidFill>
              </a:rPr>
              <a:t>Derivatives</a:t>
            </a:r>
            <a:r>
              <a:rPr sz="1100" spc="-25">
                <a:solidFill>
                  <a:srgbClr val="000000"/>
                </a:solidFill>
              </a:rPr>
              <a:t> </a:t>
            </a:r>
            <a:r>
              <a:rPr sz="1100" spc="-10">
                <a:solidFill>
                  <a:srgbClr val="000000"/>
                </a:solidFill>
              </a:rPr>
              <a:t>Association,</a:t>
            </a:r>
            <a:r>
              <a:rPr sz="1100" spc="-135">
                <a:solidFill>
                  <a:srgbClr val="000000"/>
                </a:solidFill>
              </a:rPr>
              <a:t> </a:t>
            </a:r>
            <a:r>
              <a:rPr sz="1100" spc="-5">
                <a:solidFill>
                  <a:srgbClr val="000000"/>
                </a:solidFill>
              </a:rPr>
              <a:t>Inc.</a:t>
            </a:r>
            <a:endParaRPr sz="1100"/>
          </a:p>
        </p:txBody>
      </p:sp>
    </p:spTree>
    <p:extLst>
      <p:ext uri="{BB962C8B-B14F-4D97-AF65-F5344CB8AC3E}">
        <p14:creationId xmlns:p14="http://schemas.microsoft.com/office/powerpoint/2010/main" val="2594647486"/>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F09B2A-ADA5-46F6-8F3B-CD08CB26533D}"/>
              </a:ext>
            </a:extLst>
          </p:cNvPr>
          <p:cNvSpPr>
            <a:spLocks noGrp="1"/>
          </p:cNvSpPr>
          <p:nvPr>
            <p:ph type="title"/>
          </p:nvPr>
        </p:nvSpPr>
        <p:spPr>
          <a:xfrm>
            <a:off x="540000" y="145459"/>
            <a:ext cx="9607844" cy="835025"/>
          </a:xfrm>
          <a:prstGeom prst="rect">
            <a:avLst/>
          </a:prstGeom>
        </p:spPr>
        <p:txBody>
          <a:bodyPr vert="horz" lIns="0" tIns="0" rIns="0" bIns="0" rtlCol="0" anchor="ctr">
            <a:noAutofit/>
          </a:bodyPr>
          <a:lstStyle/>
          <a:p>
            <a:r>
              <a:rPr lang="en-GB" noProof="0"/>
              <a:t>Click to edit Master title style</a:t>
            </a:r>
          </a:p>
        </p:txBody>
      </p:sp>
      <p:sp>
        <p:nvSpPr>
          <p:cNvPr id="3" name="Text Placeholder 2">
            <a:extLst>
              <a:ext uri="{FF2B5EF4-FFF2-40B4-BE49-F238E27FC236}">
                <a16:creationId xmlns:a16="http://schemas.microsoft.com/office/drawing/2014/main" id="{B1E36FEE-2B03-4D51-81AD-6F82981DAED5}"/>
              </a:ext>
            </a:extLst>
          </p:cNvPr>
          <p:cNvSpPr>
            <a:spLocks noGrp="1"/>
          </p:cNvSpPr>
          <p:nvPr>
            <p:ph type="body" idx="1"/>
          </p:nvPr>
        </p:nvSpPr>
        <p:spPr>
          <a:xfrm>
            <a:off x="561264" y="1253329"/>
            <a:ext cx="11054474" cy="5328217"/>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Sixth level</a:t>
            </a:r>
          </a:p>
          <a:p>
            <a:pPr lvl="6"/>
            <a:r>
              <a:rPr lang="en-GB" noProof="0"/>
              <a:t>Seventh level</a:t>
            </a:r>
          </a:p>
          <a:p>
            <a:pPr lvl="7"/>
            <a:r>
              <a:rPr lang="en-GB" noProof="0"/>
              <a:t>Eighth level</a:t>
            </a:r>
          </a:p>
          <a:p>
            <a:pPr lvl="8"/>
            <a:r>
              <a:rPr lang="en-GB" noProof="0"/>
              <a:t>Ninth level</a:t>
            </a:r>
          </a:p>
        </p:txBody>
      </p:sp>
      <p:sp>
        <p:nvSpPr>
          <p:cNvPr id="6" name="Slide Number Placeholder 5">
            <a:extLst>
              <a:ext uri="{FF2B5EF4-FFF2-40B4-BE49-F238E27FC236}">
                <a16:creationId xmlns:a16="http://schemas.microsoft.com/office/drawing/2014/main" id="{C0871818-94D0-4FDD-A950-29C8D31B24DE}"/>
              </a:ext>
            </a:extLst>
          </p:cNvPr>
          <p:cNvSpPr>
            <a:spLocks noGrp="1"/>
          </p:cNvSpPr>
          <p:nvPr>
            <p:ph type="sldNum" sz="quarter" idx="4"/>
          </p:nvPr>
        </p:nvSpPr>
        <p:spPr>
          <a:xfrm>
            <a:off x="11663363" y="6581546"/>
            <a:ext cx="442912" cy="276225"/>
          </a:xfrm>
          <a:prstGeom prst="rect">
            <a:avLst/>
          </a:prstGeom>
        </p:spPr>
        <p:txBody>
          <a:bodyPr vert="horz" lIns="0" tIns="0" rIns="0" bIns="0" rtlCol="0" anchor="ctr">
            <a:noAutofit/>
          </a:bodyPr>
          <a:lstStyle>
            <a:lvl1pPr algn="l">
              <a:defRPr sz="1050" b="1">
                <a:solidFill>
                  <a:schemeClr val="tx1">
                    <a:tint val="75000"/>
                  </a:schemeClr>
                </a:solidFill>
              </a:defRPr>
            </a:lvl1pPr>
          </a:lstStyle>
          <a:p>
            <a:fld id="{D751C141-602F-4B7A-80FC-46E874AB684B}" type="slidenum">
              <a:rPr lang="en-GB" noProof="0" smtClean="0"/>
              <a:pPr/>
              <a:t>‹#›</a:t>
            </a:fld>
            <a:endParaRPr lang="en-GB" noProof="0"/>
          </a:p>
        </p:txBody>
      </p:sp>
      <p:cxnSp>
        <p:nvCxnSpPr>
          <p:cNvPr id="10" name="Straight Connector 9">
            <a:extLst>
              <a:ext uri="{FF2B5EF4-FFF2-40B4-BE49-F238E27FC236}">
                <a16:creationId xmlns:a16="http://schemas.microsoft.com/office/drawing/2014/main" id="{0D55EBE6-4B19-4D02-B666-66AC3A1DA43F}"/>
              </a:ext>
            </a:extLst>
          </p:cNvPr>
          <p:cNvCxnSpPr>
            <a:cxnSpLocks/>
          </p:cNvCxnSpPr>
          <p:nvPr userDrawn="1"/>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FC5D2CC6-122E-4D96-AAB5-0C2E49065F9A}"/>
              </a:ext>
            </a:extLst>
          </p:cNvPr>
          <p:cNvSpPr>
            <a:spLocks noGrp="1"/>
          </p:cNvSpPr>
          <p:nvPr>
            <p:ph type="ftr" sz="quarter" idx="3"/>
          </p:nvPr>
        </p:nvSpPr>
        <p:spPr>
          <a:xfrm>
            <a:off x="561264" y="6581775"/>
            <a:ext cx="7592136" cy="276224"/>
          </a:xfrm>
          <a:prstGeom prst="rect">
            <a:avLst/>
          </a:prstGeom>
        </p:spPr>
        <p:txBody>
          <a:bodyPr vert="horz" lIns="0" tIns="0" rIns="0" bIns="0" rtlCol="0" anchor="ctr"/>
          <a:lstStyle>
            <a:lvl1pPr algn="l">
              <a:defRPr sz="1050">
                <a:solidFill>
                  <a:schemeClr val="tx1">
                    <a:tint val="75000"/>
                  </a:schemeClr>
                </a:solidFill>
              </a:defRPr>
            </a:lvl1pPr>
          </a:lstStyle>
          <a:p>
            <a:endParaRPr lang="en-GB"/>
          </a:p>
        </p:txBody>
      </p:sp>
      <p:pic>
        <p:nvPicPr>
          <p:cNvPr id="7" name="Picture 6" descr="Logo&#10;&#10;Description automatically generated">
            <a:extLst>
              <a:ext uri="{FF2B5EF4-FFF2-40B4-BE49-F238E27FC236}">
                <a16:creationId xmlns:a16="http://schemas.microsoft.com/office/drawing/2014/main" id="{FE780A5D-A770-97F3-6976-A1B778942727}"/>
              </a:ext>
            </a:extLst>
          </p:cNvPr>
          <p:cNvPicPr>
            <a:picLocks noChangeAspect="1"/>
          </p:cNvPicPr>
          <p:nvPr userDrawn="1"/>
        </p:nvPicPr>
        <p:blipFill>
          <a:blip r:embed="rId25">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Tree>
    <p:extLst>
      <p:ext uri="{BB962C8B-B14F-4D97-AF65-F5344CB8AC3E}">
        <p14:creationId xmlns:p14="http://schemas.microsoft.com/office/powerpoint/2010/main" val="1567392981"/>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 id="2147483785" r:id="rId18"/>
    <p:sldLayoutId id="2147483786" r:id="rId19"/>
    <p:sldLayoutId id="2147483787" r:id="rId20"/>
    <p:sldLayoutId id="2147483788" r:id="rId21"/>
    <p:sldLayoutId id="2147483789" r:id="rId22"/>
    <p:sldLayoutId id="2147483790" r:id="rId23"/>
  </p:sldLayoutIdLst>
  <p:hf hdr="0" ftr="0" dt="0"/>
  <p:txStyles>
    <p:titleStyle>
      <a:lvl1pPr algn="l" defTabSz="914400" rtl="0" eaLnBrk="1" latinLnBrk="0" hangingPunct="1">
        <a:lnSpc>
          <a:spcPct val="90000"/>
        </a:lnSpc>
        <a:spcBef>
          <a:spcPct val="0"/>
        </a:spcBef>
        <a:buNone/>
        <a:defRPr sz="2400" b="1" kern="1200">
          <a:solidFill>
            <a:schemeClr val="tx1"/>
          </a:solidFill>
          <a:latin typeface="+mj-lt"/>
          <a:ea typeface="Lato" panose="020F0502020204030203" pitchFamily="34" charset="0"/>
          <a:cs typeface="Lato" panose="020F0502020204030203" pitchFamily="34" charset="0"/>
        </a:defRPr>
      </a:lvl1pPr>
    </p:titleStyle>
    <p:bodyStyle>
      <a:lvl1pPr marL="0" indent="0" algn="l" defTabSz="914400" rtl="0" eaLnBrk="1" latinLnBrk="0" hangingPunct="1">
        <a:lnSpc>
          <a:spcPct val="100000"/>
        </a:lnSpc>
        <a:spcBef>
          <a:spcPts val="1000"/>
        </a:spcBef>
        <a:buFontTx/>
        <a:buNone/>
        <a:defRPr sz="2000" b="0" kern="1200">
          <a:solidFill>
            <a:schemeClr val="accent1"/>
          </a:solidFill>
          <a:latin typeface="+mn-lt"/>
          <a:ea typeface="+mn-ea"/>
          <a:cs typeface="+mn-cs"/>
        </a:defRPr>
      </a:lvl1pPr>
      <a:lvl2pPr marL="0" indent="0" algn="l" defTabSz="914400" rtl="0" eaLnBrk="1" latinLnBrk="0" hangingPunct="1">
        <a:lnSpc>
          <a:spcPct val="100000"/>
        </a:lnSpc>
        <a:spcBef>
          <a:spcPts val="600"/>
        </a:spcBef>
        <a:spcAft>
          <a:spcPts val="600"/>
        </a:spcAft>
        <a:buFontTx/>
        <a:buNone/>
        <a:defRPr sz="1200" b="1" kern="1200">
          <a:solidFill>
            <a:schemeClr val="tx1"/>
          </a:solidFill>
          <a:latin typeface="+mn-lt"/>
          <a:ea typeface="+mn-ea"/>
          <a:cs typeface="+mn-cs"/>
        </a:defRPr>
      </a:lvl2pPr>
      <a:lvl3pPr marL="0" indent="0" algn="l" defTabSz="914400" rtl="0" eaLnBrk="1" latinLnBrk="0" hangingPunct="1">
        <a:lnSpc>
          <a:spcPct val="100000"/>
        </a:lnSpc>
        <a:spcBef>
          <a:spcPts val="400"/>
        </a:spcBef>
        <a:spcAft>
          <a:spcPts val="400"/>
        </a:spcAft>
        <a:buFontTx/>
        <a:buNone/>
        <a:defRPr sz="1200" kern="1200">
          <a:solidFill>
            <a:schemeClr val="tx1"/>
          </a:solidFill>
          <a:latin typeface="+mn-lt"/>
          <a:ea typeface="+mn-ea"/>
          <a:cs typeface="+mn-cs"/>
        </a:defRPr>
      </a:lvl3pPr>
      <a:lvl4pPr marL="27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4pPr>
      <a:lvl5pPr marL="27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5pPr>
      <a:lvl6pPr marL="54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6pPr>
      <a:lvl7pPr marL="54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7pPr>
      <a:lvl8pPr marL="81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8pPr>
      <a:lvl9pPr marL="81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46">
          <p15:clr>
            <a:srgbClr val="F26B43"/>
          </p15:clr>
        </p15:guide>
        <p15:guide id="2" pos="338">
          <p15:clr>
            <a:srgbClr val="F26B43"/>
          </p15:clr>
        </p15:guide>
        <p15:guide id="3" pos="7317">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51.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51.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jpe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50.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51.xml"/><Relationship Id="rId5" Type="http://schemas.openxmlformats.org/officeDocument/2006/relationships/image" Target="../media/image23.emf"/><Relationship Id="rId4" Type="http://schemas.openxmlformats.org/officeDocument/2006/relationships/image" Target="../media/image22.emf"/></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51.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5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51.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51.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51.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51.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5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2.xml"/><Relationship Id="rId1" Type="http://schemas.openxmlformats.org/officeDocument/2006/relationships/slideLayout" Target="../slideLayouts/slideLayout51.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51.xml"/><Relationship Id="rId6" Type="http://schemas.openxmlformats.org/officeDocument/2006/relationships/image" Target="../media/image41.jpg"/><Relationship Id="rId5" Type="http://schemas.openxmlformats.org/officeDocument/2006/relationships/image" Target="../media/image40.jpg"/><Relationship Id="rId4" Type="http://schemas.openxmlformats.org/officeDocument/2006/relationships/image" Target="../media/image39.jpg"/></Relationships>
</file>

<file path=ppt/slides/_rels/slide2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4.xml"/><Relationship Id="rId1" Type="http://schemas.openxmlformats.org/officeDocument/2006/relationships/slideLayout" Target="../slideLayouts/slideLayout51.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5.xml"/><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6.xml"/><Relationship Id="rId1" Type="http://schemas.openxmlformats.org/officeDocument/2006/relationships/slideLayout" Target="../slideLayouts/slideLayout51.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7.xml"/><Relationship Id="rId1" Type="http://schemas.openxmlformats.org/officeDocument/2006/relationships/slideLayout" Target="../slideLayouts/slideLayout51.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8.jpeg"/><Relationship Id="rId7" Type="http://schemas.openxmlformats.org/officeDocument/2006/relationships/diagramColors" Target="../diagrams/colors1.xml"/><Relationship Id="rId2" Type="http://schemas.openxmlformats.org/officeDocument/2006/relationships/notesSlide" Target="../notesSlides/notesSlide28.xml"/><Relationship Id="rId1" Type="http://schemas.openxmlformats.org/officeDocument/2006/relationships/slideLayout" Target="../slideLayouts/slideLayout5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9.xml"/><Relationship Id="rId1" Type="http://schemas.openxmlformats.org/officeDocument/2006/relationships/slideLayout" Target="../slideLayouts/slideLayout51.xml"/><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svg"/><Relationship Id="rId18" Type="http://schemas.openxmlformats.org/officeDocument/2006/relationships/image" Target="../media/image60.png"/><Relationship Id="rId3" Type="http://schemas.openxmlformats.org/officeDocument/2006/relationships/image" Target="../media/image8.jpeg"/><Relationship Id="rId21" Type="http://schemas.openxmlformats.org/officeDocument/2006/relationships/image" Target="../media/image63.svg"/><Relationship Id="rId7" Type="http://schemas.openxmlformats.org/officeDocument/2006/relationships/image" Target="../media/image49.svg"/><Relationship Id="rId12" Type="http://schemas.openxmlformats.org/officeDocument/2006/relationships/image" Target="../media/image54.png"/><Relationship Id="rId17" Type="http://schemas.openxmlformats.org/officeDocument/2006/relationships/image" Target="../media/image59.svg"/><Relationship Id="rId2" Type="http://schemas.openxmlformats.org/officeDocument/2006/relationships/notesSlide" Target="../notesSlides/notesSlide30.xml"/><Relationship Id="rId16" Type="http://schemas.openxmlformats.org/officeDocument/2006/relationships/image" Target="../media/image58.png"/><Relationship Id="rId20" Type="http://schemas.openxmlformats.org/officeDocument/2006/relationships/image" Target="../media/image62.png"/><Relationship Id="rId1" Type="http://schemas.openxmlformats.org/officeDocument/2006/relationships/slideLayout" Target="../slideLayouts/slideLayout51.xml"/><Relationship Id="rId6" Type="http://schemas.openxmlformats.org/officeDocument/2006/relationships/image" Target="../media/image48.png"/><Relationship Id="rId11" Type="http://schemas.openxmlformats.org/officeDocument/2006/relationships/image" Target="../media/image53.svg"/><Relationship Id="rId5" Type="http://schemas.openxmlformats.org/officeDocument/2006/relationships/image" Target="../media/image47.svg"/><Relationship Id="rId15" Type="http://schemas.openxmlformats.org/officeDocument/2006/relationships/image" Target="../media/image57.svg"/><Relationship Id="rId23" Type="http://schemas.openxmlformats.org/officeDocument/2006/relationships/image" Target="../media/image65.jpeg"/><Relationship Id="rId10" Type="http://schemas.openxmlformats.org/officeDocument/2006/relationships/image" Target="../media/image52.png"/><Relationship Id="rId19" Type="http://schemas.openxmlformats.org/officeDocument/2006/relationships/image" Target="../media/image61.svg"/><Relationship Id="rId4" Type="http://schemas.openxmlformats.org/officeDocument/2006/relationships/image" Target="../media/image46.png"/><Relationship Id="rId9" Type="http://schemas.openxmlformats.org/officeDocument/2006/relationships/image" Target="../media/image51.svg"/><Relationship Id="rId14" Type="http://schemas.openxmlformats.org/officeDocument/2006/relationships/image" Target="../media/image56.png"/><Relationship Id="rId22" Type="http://schemas.openxmlformats.org/officeDocument/2006/relationships/image" Target="../media/image64.png"/></Relationships>
</file>

<file path=ppt/slides/_rels/slide3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1.xml"/><Relationship Id="rId1" Type="http://schemas.openxmlformats.org/officeDocument/2006/relationships/slideLayout" Target="../slideLayouts/slideLayout51.xml"/><Relationship Id="rId4" Type="http://schemas.openxmlformats.org/officeDocument/2006/relationships/image" Target="../media/image66.png"/></Relationships>
</file>

<file path=ppt/slides/_rels/slide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2.xml"/><Relationship Id="rId1" Type="http://schemas.openxmlformats.org/officeDocument/2006/relationships/slideLayout" Target="../slideLayouts/slideLayout51.xml"/><Relationship Id="rId4" Type="http://schemas.openxmlformats.org/officeDocument/2006/relationships/image" Target="../media/image67.png"/></Relationships>
</file>

<file path=ppt/slides/_rels/slide3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3.xml"/><Relationship Id="rId1" Type="http://schemas.openxmlformats.org/officeDocument/2006/relationships/slideLayout" Target="../slideLayouts/slideLayout51.xml"/></Relationships>
</file>

<file path=ppt/slides/_rels/slide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0.xml"/></Relationships>
</file>

<file path=ppt/slides/_rels/slide37.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hyperlink" Target="https://www.icmagroup.org/market-practice-and-regulatory-policy/repo-and-collateral-markets/fintech/common-domain-model-cdm/" TargetMode="External"/><Relationship Id="rId2" Type="http://schemas.openxmlformats.org/officeDocument/2006/relationships/notesSlide" Target="../notesSlides/notesSlide34.xml"/><Relationship Id="rId1" Type="http://schemas.openxmlformats.org/officeDocument/2006/relationships/slideLayout" Target="../slideLayouts/slideLayout51.xml"/><Relationship Id="rId6" Type="http://schemas.openxmlformats.org/officeDocument/2006/relationships/hyperlink" Target="https://www.islaemea.org/working-groups/" TargetMode="External"/><Relationship Id="rId5" Type="http://schemas.openxmlformats.org/officeDocument/2006/relationships/hyperlink" Target="https://www.isda.org/committees/" TargetMode="External"/><Relationship Id="rId4" Type="http://schemas.openxmlformats.org/officeDocument/2006/relationships/hyperlink" Target="https://www.finos.org/calendar"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70.png"/><Relationship Id="rId2" Type="http://schemas.openxmlformats.org/officeDocument/2006/relationships/notesSlide" Target="../notesSlides/notesSlide35.xml"/><Relationship Id="rId1" Type="http://schemas.openxmlformats.org/officeDocument/2006/relationships/slideLayout" Target="../slideLayouts/slideLayout5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hyperlink" Target="https://cdm.finos.org/docs/home" TargetMode="External"/></Relationships>
</file>

<file path=ppt/slides/_rels/slide39.xml.rels><?xml version="1.0" encoding="UTF-8" standalone="yes"?>
<Relationships xmlns="http://schemas.openxmlformats.org/package/2006/relationships"><Relationship Id="rId8" Type="http://schemas.openxmlformats.org/officeDocument/2006/relationships/hyperlink" Target="https://www.islaemea.org/" TargetMode="External"/><Relationship Id="rId3" Type="http://schemas.openxmlformats.org/officeDocument/2006/relationships/image" Target="../media/image8.jpeg"/><Relationship Id="rId7" Type="http://schemas.openxmlformats.org/officeDocument/2006/relationships/image" Target="../media/image72.png"/><Relationship Id="rId2" Type="http://schemas.openxmlformats.org/officeDocument/2006/relationships/notesSlide" Target="../notesSlides/notesSlide36.xml"/><Relationship Id="rId1" Type="http://schemas.openxmlformats.org/officeDocument/2006/relationships/slideLayout" Target="../slideLayouts/slideLayout51.xml"/><Relationship Id="rId6" Type="http://schemas.openxmlformats.org/officeDocument/2006/relationships/hyperlink" Target="https://www.icmagroup.org/" TargetMode="External"/><Relationship Id="rId5" Type="http://schemas.openxmlformats.org/officeDocument/2006/relationships/image" Target="../media/image71.png"/><Relationship Id="rId10" Type="http://schemas.openxmlformats.org/officeDocument/2006/relationships/image" Target="../media/image21.png"/><Relationship Id="rId4" Type="http://schemas.openxmlformats.org/officeDocument/2006/relationships/hyperlink" Target="https://www.isda.org/" TargetMode="External"/><Relationship Id="rId9" Type="http://schemas.openxmlformats.org/officeDocument/2006/relationships/image" Target="../media/image73.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descr="Logo&#10;&#10;Description automatically generated">
            <a:extLst>
              <a:ext uri="{FF2B5EF4-FFF2-40B4-BE49-F238E27FC236}">
                <a16:creationId xmlns:a16="http://schemas.microsoft.com/office/drawing/2014/main" id="{7F4A23B7-5A0F-4164-1A36-C09EFFB0AE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6785" y="2778964"/>
            <a:ext cx="2579303" cy="1336098"/>
          </a:xfrm>
          <a:prstGeom prst="rect">
            <a:avLst/>
          </a:prstGeom>
        </p:spPr>
      </p:pic>
      <p:sp>
        <p:nvSpPr>
          <p:cNvPr id="2" name="Text Box 2">
            <a:extLst>
              <a:ext uri="{FF2B5EF4-FFF2-40B4-BE49-F238E27FC236}">
                <a16:creationId xmlns:a16="http://schemas.microsoft.com/office/drawing/2014/main" id="{52004F27-750E-9E4E-1ABF-807D8D28C031}"/>
              </a:ext>
            </a:extLst>
          </p:cNvPr>
          <p:cNvSpPr txBox="1">
            <a:spLocks noChangeArrowheads="1"/>
          </p:cNvSpPr>
          <p:nvPr/>
        </p:nvSpPr>
        <p:spPr bwMode="auto">
          <a:xfrm>
            <a:off x="514130" y="2955073"/>
            <a:ext cx="7215137" cy="983881"/>
          </a:xfrm>
          <a:prstGeom prst="rect">
            <a:avLst/>
          </a:prstGeom>
          <a:solidFill>
            <a:srgbClr val="32007D"/>
          </a:solidFill>
          <a:ln w="9525">
            <a:noFill/>
            <a:miter lim="800000"/>
            <a:headEnd/>
            <a:tailEnd/>
          </a:ln>
        </p:spPr>
        <p:txBody>
          <a:bodyPr rot="0" vert="horz" wrap="square" lIns="91435" tIns="45717" rIns="91435" bIns="45717" anchor="ctr" anchorCtr="0">
            <a:noAutofit/>
          </a:bodyPr>
          <a:lstStyle/>
          <a:p>
            <a:r>
              <a:rPr lang="en-GB" sz="2000" b="1" dirty="0">
                <a:solidFill>
                  <a:srgbClr val="FFFFFF"/>
                </a:solidFill>
                <a:ea typeface="Calibri"/>
              </a:rPr>
              <a:t>Common Domain Model – An Overview</a:t>
            </a:r>
          </a:p>
          <a:p>
            <a:r>
              <a:rPr lang="en-GB" sz="2000" b="1" dirty="0">
                <a:solidFill>
                  <a:srgbClr val="FFFFFF"/>
                </a:solidFill>
                <a:ea typeface="Calibri"/>
                <a:cs typeface="Arial"/>
              </a:rPr>
              <a:t>October 2023</a:t>
            </a:r>
            <a:endParaRPr lang="en-GB" dirty="0">
              <a:solidFill>
                <a:srgbClr val="FFFFFF"/>
              </a:solidFill>
              <a:ea typeface="Calibri"/>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32007D"/>
                </a:solidFill>
                <a:effectLst/>
                <a:uLnTx/>
                <a:uFillTx/>
                <a:latin typeface="Helvetica" panose="020B0604020202020204" pitchFamily="34" charset="0"/>
                <a:ea typeface="Lato" panose="020F0502020204030203" pitchFamily="34" charset="0"/>
                <a:cs typeface="Helvetica" panose="020B0604020202020204" pitchFamily="34" charset="0"/>
              </a:rPr>
              <a:t>Catalyst for Change: Current Market Structure Challenges</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TextBox 1">
            <a:extLst>
              <a:ext uri="{FF2B5EF4-FFF2-40B4-BE49-F238E27FC236}">
                <a16:creationId xmlns:a16="http://schemas.microsoft.com/office/drawing/2014/main" id="{5BBDD038-2581-71BF-827C-B9EF2BA24857}"/>
              </a:ext>
            </a:extLst>
          </p:cNvPr>
          <p:cNvSpPr txBox="1"/>
          <p:nvPr/>
        </p:nvSpPr>
        <p:spPr>
          <a:xfrm>
            <a:off x="587234" y="1233695"/>
            <a:ext cx="614406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2007D"/>
                </a:solidFill>
                <a:effectLst/>
                <a:uLnTx/>
                <a:uFillTx/>
                <a:latin typeface="Calibri"/>
                <a:ea typeface="+mn-ea"/>
                <a:cs typeface="+mn-cs"/>
              </a:rPr>
              <a:t>All parties store trade data in different formats &amp; make lifecycle changes to these records inconsistently</a:t>
            </a:r>
          </a:p>
        </p:txBody>
      </p:sp>
      <p:pic>
        <p:nvPicPr>
          <p:cNvPr id="301" name="Picture 300">
            <a:extLst>
              <a:ext uri="{FF2B5EF4-FFF2-40B4-BE49-F238E27FC236}">
                <a16:creationId xmlns:a16="http://schemas.microsoft.com/office/drawing/2014/main" id="{6C5109F6-7827-5ED2-1191-F546FDCAF88B}"/>
              </a:ext>
            </a:extLst>
          </p:cNvPr>
          <p:cNvPicPr>
            <a:picLocks noChangeAspect="1"/>
          </p:cNvPicPr>
          <p:nvPr/>
        </p:nvPicPr>
        <p:blipFill>
          <a:blip r:embed="rId4"/>
          <a:stretch>
            <a:fillRect/>
          </a:stretch>
        </p:blipFill>
        <p:spPr>
          <a:xfrm>
            <a:off x="485709" y="2106548"/>
            <a:ext cx="7060341" cy="3498930"/>
          </a:xfrm>
          <a:prstGeom prst="rect">
            <a:avLst/>
          </a:prstGeom>
        </p:spPr>
      </p:pic>
      <p:sp>
        <p:nvSpPr>
          <p:cNvPr id="302" name="Text Placeholder 1">
            <a:extLst>
              <a:ext uri="{FF2B5EF4-FFF2-40B4-BE49-F238E27FC236}">
                <a16:creationId xmlns:a16="http://schemas.microsoft.com/office/drawing/2014/main" id="{EB49691F-A2DD-5FAB-05EA-D249FACBAC75}"/>
              </a:ext>
            </a:extLst>
          </p:cNvPr>
          <p:cNvSpPr txBox="1">
            <a:spLocks/>
          </p:cNvSpPr>
          <p:nvPr/>
        </p:nvSpPr>
        <p:spPr>
          <a:xfrm>
            <a:off x="7922239" y="1559857"/>
            <a:ext cx="3794776" cy="4743831"/>
          </a:xfrm>
          <a:prstGeom prst="rect">
            <a:avLst/>
          </a:prstGeom>
          <a:solidFill>
            <a:srgbClr val="32007C"/>
          </a:solidFill>
          <a:effectLst/>
        </p:spPr>
        <p:txBody>
          <a:bodyPr/>
          <a:lstStyle>
            <a:lvl1pPr marL="0" indent="0" algn="l" defTabSz="914400" rtl="0" eaLnBrk="1" latinLnBrk="0" hangingPunct="1">
              <a:lnSpc>
                <a:spcPct val="100000"/>
              </a:lnSpc>
              <a:spcBef>
                <a:spcPts val="1000"/>
              </a:spcBef>
              <a:buFontTx/>
              <a:buNone/>
              <a:defRPr sz="2000" b="0" kern="1200">
                <a:solidFill>
                  <a:schemeClr val="accent1"/>
                </a:solidFill>
                <a:latin typeface="+mn-lt"/>
                <a:ea typeface="+mn-ea"/>
                <a:cs typeface="+mn-cs"/>
              </a:defRPr>
            </a:lvl1pPr>
            <a:lvl2pPr marL="0" indent="0" algn="l" defTabSz="914400" rtl="0" eaLnBrk="1" latinLnBrk="0" hangingPunct="1">
              <a:lnSpc>
                <a:spcPct val="100000"/>
              </a:lnSpc>
              <a:spcBef>
                <a:spcPts val="600"/>
              </a:spcBef>
              <a:spcAft>
                <a:spcPts val="600"/>
              </a:spcAft>
              <a:buFontTx/>
              <a:buNone/>
              <a:defRPr sz="1200" b="1" kern="1200">
                <a:solidFill>
                  <a:schemeClr val="tx1"/>
                </a:solidFill>
                <a:latin typeface="+mn-lt"/>
                <a:ea typeface="+mn-ea"/>
                <a:cs typeface="+mn-cs"/>
              </a:defRPr>
            </a:lvl2pPr>
            <a:lvl3pPr marL="0" indent="0" algn="l" defTabSz="914400" rtl="0" eaLnBrk="1" latinLnBrk="0" hangingPunct="1">
              <a:lnSpc>
                <a:spcPct val="100000"/>
              </a:lnSpc>
              <a:spcBef>
                <a:spcPts val="400"/>
              </a:spcBef>
              <a:spcAft>
                <a:spcPts val="400"/>
              </a:spcAft>
              <a:buFontTx/>
              <a:buNone/>
              <a:defRPr sz="1200" kern="1200">
                <a:solidFill>
                  <a:schemeClr val="tx1"/>
                </a:solidFill>
                <a:latin typeface="+mn-lt"/>
                <a:ea typeface="+mn-ea"/>
                <a:cs typeface="+mn-cs"/>
              </a:defRPr>
            </a:lvl3pPr>
            <a:lvl4pPr marL="27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4pPr>
            <a:lvl5pPr marL="27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5pPr>
            <a:lvl6pPr marL="54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6pPr>
            <a:lvl7pPr marL="54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7pPr>
            <a:lvl8pPr marL="81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8pPr>
            <a:lvl9pPr marL="81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9pPr>
          </a:lstStyle>
          <a:p>
            <a:pPr defTabSz="800100">
              <a:lnSpc>
                <a:spcPct val="90000"/>
              </a:lnSpc>
              <a:spcBef>
                <a:spcPct val="0"/>
              </a:spcBef>
              <a:spcAft>
                <a:spcPct val="35000"/>
              </a:spcAft>
            </a:pPr>
            <a:r>
              <a:rPr lang="en-GB" b="1" dirty="0">
                <a:solidFill>
                  <a:schemeClr val="bg1"/>
                </a:solidFill>
                <a:latin typeface="DIN Condensed"/>
              </a:rPr>
              <a:t>Differences in booking models lead to real-world events in those models producing different outcomes:</a:t>
            </a:r>
          </a:p>
          <a:p>
            <a:pPr defTabSz="800100">
              <a:lnSpc>
                <a:spcPct val="90000"/>
              </a:lnSpc>
              <a:spcBef>
                <a:spcPct val="0"/>
              </a:spcBef>
              <a:spcAft>
                <a:spcPct val="35000"/>
              </a:spcAft>
            </a:pPr>
            <a:endParaRPr lang="en-GB" dirty="0">
              <a:solidFill>
                <a:schemeClr val="bg1"/>
              </a:solidFill>
              <a:latin typeface="DIN Condensed"/>
            </a:endParaRPr>
          </a:p>
          <a:p>
            <a:pPr marL="285750" lvl="1" indent="-285750" defTabSz="622300">
              <a:lnSpc>
                <a:spcPct val="90000"/>
              </a:lnSpc>
              <a:spcBef>
                <a:spcPct val="0"/>
              </a:spcBef>
              <a:spcAft>
                <a:spcPct val="15000"/>
              </a:spcAft>
              <a:buFont typeface="Arial" panose="020B0604020202020204" pitchFamily="34" charset="0"/>
              <a:buChar char="•"/>
            </a:pPr>
            <a:r>
              <a:rPr lang="en-GB" sz="2000" dirty="0">
                <a:solidFill>
                  <a:schemeClr val="bg1"/>
                </a:solidFill>
                <a:latin typeface="DIN Condensed"/>
              </a:rPr>
              <a:t>Reconciliation breaks</a:t>
            </a:r>
          </a:p>
          <a:p>
            <a:pPr marL="285750" lvl="1" indent="-285750" defTabSz="622300">
              <a:lnSpc>
                <a:spcPct val="90000"/>
              </a:lnSpc>
              <a:spcBef>
                <a:spcPct val="0"/>
              </a:spcBef>
              <a:spcAft>
                <a:spcPct val="15000"/>
              </a:spcAft>
              <a:buFont typeface="Arial" panose="020B0604020202020204" pitchFamily="34" charset="0"/>
              <a:buChar char="•"/>
            </a:pPr>
            <a:r>
              <a:rPr lang="en-GB" sz="2000" dirty="0">
                <a:solidFill>
                  <a:schemeClr val="bg1"/>
                </a:solidFill>
                <a:latin typeface="DIN Condensed"/>
              </a:rPr>
              <a:t>Valuation differences</a:t>
            </a:r>
          </a:p>
          <a:p>
            <a:pPr marL="285750" lvl="1" indent="-285750" defTabSz="622300">
              <a:lnSpc>
                <a:spcPct val="90000"/>
              </a:lnSpc>
              <a:spcBef>
                <a:spcPct val="0"/>
              </a:spcBef>
              <a:spcAft>
                <a:spcPct val="15000"/>
              </a:spcAft>
              <a:buFont typeface="Arial" panose="020B0604020202020204" pitchFamily="34" charset="0"/>
              <a:buChar char="•"/>
            </a:pPr>
            <a:r>
              <a:rPr lang="en-GB" sz="2000" dirty="0">
                <a:solidFill>
                  <a:schemeClr val="bg1"/>
                </a:solidFill>
                <a:latin typeface="DIN Condensed"/>
              </a:rPr>
              <a:t>Collateral disputes</a:t>
            </a:r>
          </a:p>
          <a:p>
            <a:pPr marL="285750" lvl="1" indent="-285750" defTabSz="622300">
              <a:lnSpc>
                <a:spcPct val="90000"/>
              </a:lnSpc>
              <a:spcBef>
                <a:spcPct val="0"/>
              </a:spcBef>
              <a:spcAft>
                <a:spcPct val="15000"/>
              </a:spcAft>
              <a:buFont typeface="Arial" panose="020B0604020202020204" pitchFamily="34" charset="0"/>
              <a:buChar char="•"/>
            </a:pPr>
            <a:r>
              <a:rPr lang="en-GB" sz="2000" dirty="0">
                <a:solidFill>
                  <a:schemeClr val="bg1"/>
                </a:solidFill>
                <a:latin typeface="DIN Condensed"/>
              </a:rPr>
              <a:t>Reporting mismatches</a:t>
            </a:r>
          </a:p>
          <a:p>
            <a:pPr marL="285750" lvl="1" indent="-285750" defTabSz="622300">
              <a:lnSpc>
                <a:spcPct val="90000"/>
              </a:lnSpc>
              <a:spcBef>
                <a:spcPct val="0"/>
              </a:spcBef>
              <a:spcAft>
                <a:spcPct val="15000"/>
              </a:spcAft>
              <a:buFont typeface="Arial" panose="020B0604020202020204" pitchFamily="34" charset="0"/>
              <a:buChar char="•"/>
            </a:pPr>
            <a:r>
              <a:rPr lang="en-GB" sz="2000" dirty="0">
                <a:solidFill>
                  <a:schemeClr val="bg1"/>
                </a:solidFill>
                <a:latin typeface="DIN Condensed"/>
              </a:rPr>
              <a:t>Operational inefficiency</a:t>
            </a:r>
          </a:p>
          <a:p>
            <a:pPr marL="285750" lvl="1" indent="-285750" defTabSz="622300">
              <a:lnSpc>
                <a:spcPct val="90000"/>
              </a:lnSpc>
              <a:spcBef>
                <a:spcPct val="0"/>
              </a:spcBef>
              <a:spcAft>
                <a:spcPct val="15000"/>
              </a:spcAft>
              <a:buFont typeface="Arial" panose="020B0604020202020204" pitchFamily="34" charset="0"/>
              <a:buChar char="•"/>
            </a:pPr>
            <a:r>
              <a:rPr lang="en-GB" sz="2000" dirty="0">
                <a:solidFill>
                  <a:schemeClr val="bg1"/>
                </a:solidFill>
                <a:latin typeface="DIN Condensed"/>
              </a:rPr>
              <a:t>Settlement failures</a:t>
            </a:r>
          </a:p>
          <a:p>
            <a:pPr marL="285750" lvl="1" indent="-285750" defTabSz="622300">
              <a:lnSpc>
                <a:spcPct val="90000"/>
              </a:lnSpc>
              <a:spcBef>
                <a:spcPct val="0"/>
              </a:spcBef>
              <a:spcAft>
                <a:spcPct val="15000"/>
              </a:spcAft>
              <a:buFont typeface="Arial" panose="020B0604020202020204" pitchFamily="34" charset="0"/>
              <a:buChar char="•"/>
            </a:pPr>
            <a:r>
              <a:rPr lang="en-GB" sz="2000" dirty="0">
                <a:solidFill>
                  <a:schemeClr val="bg1"/>
                </a:solidFill>
                <a:latin typeface="DIN Condensed"/>
              </a:rPr>
              <a:t>Barriers to automation</a:t>
            </a:r>
          </a:p>
          <a:p>
            <a:endParaRPr lang="en-GB" dirty="0">
              <a:solidFill>
                <a:schemeClr val="bg1"/>
              </a:solidFill>
              <a:latin typeface="DIN Condensed"/>
            </a:endParaRPr>
          </a:p>
        </p:txBody>
      </p:sp>
      <p:sp>
        <p:nvSpPr>
          <p:cNvPr id="303" name="TextBox 302">
            <a:extLst>
              <a:ext uri="{FF2B5EF4-FFF2-40B4-BE49-F238E27FC236}">
                <a16:creationId xmlns:a16="http://schemas.microsoft.com/office/drawing/2014/main" id="{896D56E7-279B-D635-3567-178F6D2F1CBA}"/>
              </a:ext>
            </a:extLst>
          </p:cNvPr>
          <p:cNvSpPr txBox="1"/>
          <p:nvPr/>
        </p:nvSpPr>
        <p:spPr>
          <a:xfrm>
            <a:off x="617971" y="5832000"/>
            <a:ext cx="614406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2007D"/>
                </a:solidFill>
                <a:effectLst/>
                <a:uLnTx/>
                <a:uFillTx/>
                <a:latin typeface="Calibri"/>
                <a:ea typeface="+mn-ea"/>
                <a:cs typeface="+mn-cs"/>
              </a:rPr>
              <a:t>What is the true ‘truth</a:t>
            </a:r>
            <a:r>
              <a:rPr lang="en-GB" dirty="0">
                <a:solidFill>
                  <a:srgbClr val="32007D"/>
                </a:solidFill>
                <a:latin typeface="Calibri"/>
              </a:rPr>
              <a:t>’</a:t>
            </a:r>
            <a:r>
              <a:rPr kumimoji="0" lang="en-GB" sz="1800" b="0" i="0" u="none" strike="noStrike" kern="1200" cap="none" spc="0" normalizeH="0" baseline="0" noProof="0" dirty="0">
                <a:ln>
                  <a:noFill/>
                </a:ln>
                <a:solidFill>
                  <a:srgbClr val="32007D"/>
                </a:solidFill>
                <a:effectLst/>
                <a:uLnTx/>
                <a:uFillTx/>
                <a:latin typeface="Calibri"/>
                <a:ea typeface="+mn-ea"/>
                <a:cs typeface="+mn-cs"/>
              </a:rPr>
              <a:t> at any point in time?</a:t>
            </a:r>
          </a:p>
        </p:txBody>
      </p:sp>
    </p:spTree>
    <p:extLst>
      <p:ext uri="{BB962C8B-B14F-4D97-AF65-F5344CB8AC3E}">
        <p14:creationId xmlns:p14="http://schemas.microsoft.com/office/powerpoint/2010/main" val="67891094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What is the CDM?</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TextBox 1">
            <a:extLst>
              <a:ext uri="{FF2B5EF4-FFF2-40B4-BE49-F238E27FC236}">
                <a16:creationId xmlns:a16="http://schemas.microsoft.com/office/drawing/2014/main" id="{51F0CF7F-8ED6-6375-737D-6DB332893689}"/>
              </a:ext>
            </a:extLst>
          </p:cNvPr>
          <p:cNvSpPr txBox="1"/>
          <p:nvPr/>
        </p:nvSpPr>
        <p:spPr>
          <a:xfrm>
            <a:off x="1547738" y="1230262"/>
            <a:ext cx="7757627"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32007D"/>
                </a:solidFill>
                <a:effectLst/>
                <a:uLnTx/>
                <a:uFillTx/>
                <a:latin typeface="Calibri"/>
                <a:ea typeface="+mn-ea"/>
                <a:cs typeface="+mn-cs"/>
              </a:rPr>
              <a:t>The Common Domain Model (CDM) is a standardized, machine-readable and machine-executable blueprint for how financial products are traded and managed across the transaction lifecycle</a:t>
            </a:r>
            <a:endParaRPr kumimoji="0" lang="en-GB" sz="1800" b="0" i="0" u="none" strike="noStrike" kern="1200" cap="none" spc="0" normalizeH="0" baseline="0" noProof="0" dirty="0">
              <a:ln>
                <a:noFill/>
              </a:ln>
              <a:solidFill>
                <a:srgbClr val="32007D"/>
              </a:solidFill>
              <a:effectLst/>
              <a:uLnTx/>
              <a:uFillTx/>
              <a:latin typeface="Calibri"/>
              <a:ea typeface="+mn-ea"/>
              <a:cs typeface="+mn-cs"/>
            </a:endParaRPr>
          </a:p>
        </p:txBody>
      </p:sp>
      <p:sp>
        <p:nvSpPr>
          <p:cNvPr id="3" name="TextBox 2">
            <a:extLst>
              <a:ext uri="{FF2B5EF4-FFF2-40B4-BE49-F238E27FC236}">
                <a16:creationId xmlns:a16="http://schemas.microsoft.com/office/drawing/2014/main" id="{41F87309-8331-8BF9-DBAB-BA13EC14006D}"/>
              </a:ext>
            </a:extLst>
          </p:cNvPr>
          <p:cNvSpPr txBox="1"/>
          <p:nvPr/>
        </p:nvSpPr>
        <p:spPr>
          <a:xfrm>
            <a:off x="224803" y="2153592"/>
            <a:ext cx="7757627" cy="369332"/>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32007D"/>
                </a:solidFill>
                <a:effectLst/>
                <a:uLnTx/>
                <a:uFillTx/>
                <a:latin typeface="Calibri"/>
                <a:ea typeface="+mn-ea"/>
                <a:cs typeface="+mn-cs"/>
              </a:rPr>
              <a:t>Dimensions of the CDM:</a:t>
            </a:r>
            <a:endParaRPr kumimoji="0" lang="en-GB" sz="1800" b="0" i="0" u="none" strike="noStrike" kern="1200" cap="none" spc="0" normalizeH="0" baseline="0" noProof="0">
              <a:ln>
                <a:noFill/>
              </a:ln>
              <a:solidFill>
                <a:srgbClr val="32007D"/>
              </a:solidFill>
              <a:effectLst/>
              <a:uLnTx/>
              <a:uFillTx/>
              <a:latin typeface="Calibri"/>
              <a:ea typeface="+mn-ea"/>
              <a:cs typeface="+mn-cs"/>
            </a:endParaRPr>
          </a:p>
        </p:txBody>
      </p:sp>
      <p:sp>
        <p:nvSpPr>
          <p:cNvPr id="4" name="TextBox 3">
            <a:extLst>
              <a:ext uri="{FF2B5EF4-FFF2-40B4-BE49-F238E27FC236}">
                <a16:creationId xmlns:a16="http://schemas.microsoft.com/office/drawing/2014/main" id="{126D128E-12FA-4C5A-97FE-DBB7EE789FFC}"/>
              </a:ext>
            </a:extLst>
          </p:cNvPr>
          <p:cNvSpPr txBox="1"/>
          <p:nvPr/>
        </p:nvSpPr>
        <p:spPr>
          <a:xfrm>
            <a:off x="1383127" y="5982085"/>
            <a:ext cx="859843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32007D"/>
                </a:solidFill>
                <a:effectLst/>
                <a:uLnTx/>
                <a:uFillTx/>
                <a:latin typeface="Calibri"/>
                <a:ea typeface="+mn-ea"/>
                <a:cs typeface="+mn-cs"/>
              </a:rPr>
              <a:t>The CDM is </a:t>
            </a:r>
            <a:r>
              <a:rPr kumimoji="0" lang="en-US" sz="1800" b="1" i="0" u="none" strike="noStrike" kern="1200" cap="none" spc="0" normalizeH="0" baseline="0" noProof="0" dirty="0">
                <a:ln>
                  <a:noFill/>
                </a:ln>
                <a:solidFill>
                  <a:srgbClr val="32007D"/>
                </a:solidFill>
                <a:effectLst/>
                <a:uLnTx/>
                <a:uFillTx/>
                <a:latin typeface="Calibri"/>
                <a:ea typeface="+mn-ea"/>
                <a:cs typeface="+mn-cs"/>
              </a:rPr>
              <a:t>NOT</a:t>
            </a:r>
            <a:r>
              <a:rPr kumimoji="0" lang="en-US" sz="1800" i="0" u="none" strike="noStrike" kern="1200" cap="none" spc="0" normalizeH="0" baseline="0" noProof="0" dirty="0">
                <a:ln>
                  <a:noFill/>
                </a:ln>
                <a:solidFill>
                  <a:srgbClr val="32007D"/>
                </a:solidFill>
                <a:effectLst/>
                <a:uLnTx/>
                <a:uFillTx/>
                <a:latin typeface="Calibri"/>
                <a:ea typeface="+mn-ea"/>
                <a:cs typeface="+mn-cs"/>
              </a:rPr>
              <a:t> an application in and of itself, but can be implemented within one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32007D"/>
                </a:solidFill>
                <a:latin typeface="Calibri"/>
              </a:rPr>
              <a:t>Composability</a:t>
            </a:r>
            <a:r>
              <a:rPr lang="en-US" dirty="0">
                <a:solidFill>
                  <a:srgbClr val="32007D"/>
                </a:solidFill>
                <a:latin typeface="Calibri"/>
              </a:rPr>
              <a:t> allows for re-use of components for efficiency</a:t>
            </a:r>
            <a:endParaRPr kumimoji="0" lang="en-GB" sz="1800" b="1" i="0" u="none" strike="noStrike" kern="1200" cap="none" spc="0" normalizeH="0" baseline="0" noProof="0" dirty="0">
              <a:ln>
                <a:noFill/>
              </a:ln>
              <a:solidFill>
                <a:srgbClr val="32007D"/>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AF9B027-B94A-D678-32B2-646AB0B135BD}"/>
              </a:ext>
            </a:extLst>
          </p:cNvPr>
          <p:cNvSpPr/>
          <p:nvPr/>
        </p:nvSpPr>
        <p:spPr>
          <a:xfrm>
            <a:off x="1052712" y="2583009"/>
            <a:ext cx="2504995" cy="43030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t>Product</a:t>
            </a:r>
            <a:endParaRPr lang="en-GB"/>
          </a:p>
        </p:txBody>
      </p:sp>
      <p:sp>
        <p:nvSpPr>
          <p:cNvPr id="8" name="Rectangle 7">
            <a:extLst>
              <a:ext uri="{FF2B5EF4-FFF2-40B4-BE49-F238E27FC236}">
                <a16:creationId xmlns:a16="http://schemas.microsoft.com/office/drawing/2014/main" id="{47A0E4E6-6B73-80BE-F9F8-D3816D197998}"/>
              </a:ext>
            </a:extLst>
          </p:cNvPr>
          <p:cNvSpPr/>
          <p:nvPr/>
        </p:nvSpPr>
        <p:spPr>
          <a:xfrm>
            <a:off x="1052712" y="3147024"/>
            <a:ext cx="2504995" cy="43030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t>Event</a:t>
            </a:r>
            <a:endParaRPr lang="en-GB"/>
          </a:p>
        </p:txBody>
      </p:sp>
      <p:sp>
        <p:nvSpPr>
          <p:cNvPr id="9" name="Rectangle 8">
            <a:extLst>
              <a:ext uri="{FF2B5EF4-FFF2-40B4-BE49-F238E27FC236}">
                <a16:creationId xmlns:a16="http://schemas.microsoft.com/office/drawing/2014/main" id="{1221E02D-75C4-0DC8-13FD-9B11090CE026}"/>
              </a:ext>
            </a:extLst>
          </p:cNvPr>
          <p:cNvSpPr/>
          <p:nvPr/>
        </p:nvSpPr>
        <p:spPr>
          <a:xfrm>
            <a:off x="1052712" y="3711039"/>
            <a:ext cx="2504995" cy="43030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t>Legal Agreement</a:t>
            </a:r>
            <a:endParaRPr lang="en-GB"/>
          </a:p>
        </p:txBody>
      </p:sp>
      <p:sp>
        <p:nvSpPr>
          <p:cNvPr id="10" name="Rectangle 9">
            <a:extLst>
              <a:ext uri="{FF2B5EF4-FFF2-40B4-BE49-F238E27FC236}">
                <a16:creationId xmlns:a16="http://schemas.microsoft.com/office/drawing/2014/main" id="{F14503C0-F507-36C4-2C24-5A5E9CA5F052}"/>
              </a:ext>
            </a:extLst>
          </p:cNvPr>
          <p:cNvSpPr/>
          <p:nvPr/>
        </p:nvSpPr>
        <p:spPr>
          <a:xfrm>
            <a:off x="1052712" y="4275054"/>
            <a:ext cx="2504995" cy="43030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t>Process</a:t>
            </a:r>
            <a:endParaRPr lang="en-GB"/>
          </a:p>
        </p:txBody>
      </p:sp>
      <p:sp>
        <p:nvSpPr>
          <p:cNvPr id="12" name="Rectangle 11">
            <a:extLst>
              <a:ext uri="{FF2B5EF4-FFF2-40B4-BE49-F238E27FC236}">
                <a16:creationId xmlns:a16="http://schemas.microsoft.com/office/drawing/2014/main" id="{677C0265-6339-EDDE-E546-C817A9A24AFB}"/>
              </a:ext>
            </a:extLst>
          </p:cNvPr>
          <p:cNvSpPr/>
          <p:nvPr/>
        </p:nvSpPr>
        <p:spPr>
          <a:xfrm>
            <a:off x="1052712" y="4839069"/>
            <a:ext cx="2504995" cy="43030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t>Reference Data</a:t>
            </a:r>
            <a:endParaRPr lang="en-GB"/>
          </a:p>
        </p:txBody>
      </p:sp>
      <p:sp>
        <p:nvSpPr>
          <p:cNvPr id="13" name="Rectangle 12">
            <a:extLst>
              <a:ext uri="{FF2B5EF4-FFF2-40B4-BE49-F238E27FC236}">
                <a16:creationId xmlns:a16="http://schemas.microsoft.com/office/drawing/2014/main" id="{4D289180-416E-D8C4-3251-6054A4032FC7}"/>
              </a:ext>
            </a:extLst>
          </p:cNvPr>
          <p:cNvSpPr/>
          <p:nvPr/>
        </p:nvSpPr>
        <p:spPr>
          <a:xfrm>
            <a:off x="1052712" y="5403082"/>
            <a:ext cx="2504995" cy="43030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t>Mapping</a:t>
            </a:r>
            <a:endParaRPr lang="en-GB"/>
          </a:p>
        </p:txBody>
      </p:sp>
      <p:sp>
        <p:nvSpPr>
          <p:cNvPr id="14" name="TextBox 13">
            <a:extLst>
              <a:ext uri="{FF2B5EF4-FFF2-40B4-BE49-F238E27FC236}">
                <a16:creationId xmlns:a16="http://schemas.microsoft.com/office/drawing/2014/main" id="{538FBC9E-BD4C-9150-7803-FE3A09338982}"/>
              </a:ext>
            </a:extLst>
          </p:cNvPr>
          <p:cNvSpPr txBox="1"/>
          <p:nvPr/>
        </p:nvSpPr>
        <p:spPr>
          <a:xfrm>
            <a:off x="3665969" y="2638781"/>
            <a:ext cx="7757627"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007D"/>
                </a:solidFill>
                <a:effectLst/>
                <a:uLnTx/>
                <a:uFillTx/>
                <a:latin typeface="Calibri"/>
                <a:ea typeface="+mn-ea"/>
                <a:cs typeface="+mn-cs"/>
              </a:rPr>
              <a:t>Definitions of tradeable products qualified by their economic terms</a:t>
            </a:r>
            <a:endParaRPr kumimoji="0" lang="en-GB" sz="1600" b="0" i="0" u="none" strike="noStrike" kern="1200" cap="none" spc="0" normalizeH="0" baseline="0" noProof="0">
              <a:ln>
                <a:noFill/>
              </a:ln>
              <a:solidFill>
                <a:srgbClr val="32007D"/>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52E8B46C-8A9E-23D8-5B0F-38B159FA24E0}"/>
              </a:ext>
            </a:extLst>
          </p:cNvPr>
          <p:cNvSpPr txBox="1"/>
          <p:nvPr/>
        </p:nvSpPr>
        <p:spPr>
          <a:xfrm>
            <a:off x="3665968" y="3140805"/>
            <a:ext cx="7757627"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600">
                <a:solidFill>
                  <a:srgbClr val="32007D"/>
                </a:solidFill>
                <a:latin typeface="Calibri"/>
              </a:rPr>
              <a:t>D</a:t>
            </a:r>
            <a:r>
              <a:rPr kumimoji="0" lang="en-US" sz="1600" b="0" i="0" u="none" strike="noStrike" kern="1200" cap="none" spc="0" normalizeH="0" baseline="0" noProof="0" err="1">
                <a:ln>
                  <a:noFill/>
                </a:ln>
                <a:solidFill>
                  <a:srgbClr val="32007D"/>
                </a:solidFill>
                <a:effectLst/>
                <a:uLnTx/>
                <a:uFillTx/>
                <a:latin typeface="Calibri"/>
                <a:ea typeface="+mn-ea"/>
                <a:cs typeface="+mn-cs"/>
              </a:rPr>
              <a:t>ata</a:t>
            </a:r>
            <a:r>
              <a:rPr kumimoji="0" lang="en-US" sz="1600" b="0" i="0" u="none" strike="noStrike" kern="1200" cap="none" spc="0" normalizeH="0" baseline="0" noProof="0">
                <a:ln>
                  <a:noFill/>
                </a:ln>
                <a:solidFill>
                  <a:srgbClr val="32007D"/>
                </a:solidFill>
                <a:effectLst/>
                <a:uLnTx/>
                <a:uFillTx/>
                <a:latin typeface="Calibri"/>
                <a:ea typeface="+mn-ea"/>
                <a:cs typeface="+mn-cs"/>
              </a:rPr>
              <a:t> structures to represent the lifecycle events of financial transactions</a:t>
            </a:r>
            <a:endParaRPr kumimoji="0" lang="en-GB" sz="1600" b="0" i="0" u="none" strike="noStrike" kern="1200" cap="none" spc="0" normalizeH="0" baseline="0" noProof="0">
              <a:ln>
                <a:noFill/>
              </a:ln>
              <a:solidFill>
                <a:srgbClr val="32007D"/>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15222B77-0D00-C3BE-0096-B143D3EFFB2C}"/>
              </a:ext>
            </a:extLst>
          </p:cNvPr>
          <p:cNvSpPr txBox="1"/>
          <p:nvPr/>
        </p:nvSpPr>
        <p:spPr>
          <a:xfrm>
            <a:off x="3665969" y="3741526"/>
            <a:ext cx="7757627"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600">
                <a:solidFill>
                  <a:srgbClr val="32007D"/>
                </a:solidFill>
                <a:latin typeface="Calibri"/>
              </a:rPr>
              <a:t>Digital representation of the legal agreements that govern transactions</a:t>
            </a:r>
            <a:endParaRPr kumimoji="0" lang="en-GB" sz="1600" b="0" i="0" u="none" strike="noStrike" kern="1200" cap="none" spc="0" normalizeH="0" baseline="0" noProof="0">
              <a:ln>
                <a:noFill/>
              </a:ln>
              <a:solidFill>
                <a:srgbClr val="32007D"/>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88C4FF94-86C0-8F0C-0E3B-85F4EEBD76F8}"/>
              </a:ext>
            </a:extLst>
          </p:cNvPr>
          <p:cNvSpPr txBox="1"/>
          <p:nvPr/>
        </p:nvSpPr>
        <p:spPr>
          <a:xfrm>
            <a:off x="3665967" y="4206588"/>
            <a:ext cx="7757627"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600" dirty="0">
                <a:solidFill>
                  <a:srgbClr val="32007D"/>
                </a:solidFill>
                <a:latin typeface="Calibri"/>
              </a:rPr>
              <a:t>Translates the technical standards that support those industry processes into a standardized machine-readable and machine-executable format</a:t>
            </a:r>
            <a:endParaRPr kumimoji="0" lang="en-GB" sz="1600" b="0" i="0" u="none" strike="noStrike" kern="1200" cap="none" spc="0" normalizeH="0" baseline="0" noProof="0" dirty="0">
              <a:ln>
                <a:noFill/>
              </a:ln>
              <a:solidFill>
                <a:srgbClr val="32007D"/>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79AFF901-F30F-A71F-D632-BF6882B99BE1}"/>
              </a:ext>
            </a:extLst>
          </p:cNvPr>
          <p:cNvSpPr txBox="1"/>
          <p:nvPr/>
        </p:nvSpPr>
        <p:spPr>
          <a:xfrm>
            <a:off x="3665969" y="4877328"/>
            <a:ext cx="7757627"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600">
                <a:solidFill>
                  <a:srgbClr val="32007D"/>
                </a:solidFill>
                <a:latin typeface="Calibri"/>
              </a:rPr>
              <a:t>Reference data components that are specifically needed to model the other dimensions</a:t>
            </a:r>
            <a:endParaRPr kumimoji="0" lang="en-GB" sz="1600" b="0" i="0" u="none" strike="noStrike" kern="1200" cap="none" spc="0" normalizeH="0" baseline="0" noProof="0">
              <a:ln>
                <a:noFill/>
              </a:ln>
              <a:solidFill>
                <a:srgbClr val="32007D"/>
              </a:solidFill>
              <a:effectLst/>
              <a:uLnTx/>
              <a:uFillTx/>
              <a:latin typeface="Calibri"/>
              <a:ea typeface="+mn-ea"/>
              <a:cs typeface="+mn-cs"/>
            </a:endParaRPr>
          </a:p>
        </p:txBody>
      </p:sp>
      <p:sp>
        <p:nvSpPr>
          <p:cNvPr id="19" name="TextBox 18">
            <a:extLst>
              <a:ext uri="{FF2B5EF4-FFF2-40B4-BE49-F238E27FC236}">
                <a16:creationId xmlns:a16="http://schemas.microsoft.com/office/drawing/2014/main" id="{27BCC304-0B81-1059-76F3-5D791A817000}"/>
              </a:ext>
            </a:extLst>
          </p:cNvPr>
          <p:cNvSpPr txBox="1"/>
          <p:nvPr/>
        </p:nvSpPr>
        <p:spPr>
          <a:xfrm>
            <a:off x="3665969" y="5440071"/>
            <a:ext cx="7757627"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600">
                <a:solidFill>
                  <a:srgbClr val="32007D"/>
                </a:solidFill>
                <a:latin typeface="Calibri"/>
              </a:rPr>
              <a:t>Mapped to a set of alternative data representations including FIX, </a:t>
            </a:r>
            <a:r>
              <a:rPr lang="en-US" sz="1600" err="1">
                <a:solidFill>
                  <a:srgbClr val="32007D"/>
                </a:solidFill>
                <a:latin typeface="Calibri"/>
              </a:rPr>
              <a:t>FpML</a:t>
            </a:r>
            <a:r>
              <a:rPr lang="en-US" sz="1600">
                <a:solidFill>
                  <a:srgbClr val="32007D"/>
                </a:solidFill>
                <a:latin typeface="Calibri"/>
              </a:rPr>
              <a:t>, ISO20022</a:t>
            </a:r>
            <a:endParaRPr kumimoji="0" lang="en-GB" sz="1600" b="0" i="0" u="none" strike="noStrike" kern="1200" cap="none" spc="0" normalizeH="0" baseline="0" noProof="0">
              <a:ln>
                <a:noFill/>
              </a:ln>
              <a:solidFill>
                <a:srgbClr val="32007D"/>
              </a:solidFill>
              <a:effectLst/>
              <a:uLnTx/>
              <a:uFillTx/>
              <a:latin typeface="Calibri"/>
              <a:ea typeface="+mn-ea"/>
              <a:cs typeface="+mn-cs"/>
            </a:endParaRPr>
          </a:p>
        </p:txBody>
      </p:sp>
    </p:spTree>
    <p:extLst>
      <p:ext uri="{BB962C8B-B14F-4D97-AF65-F5344CB8AC3E}">
        <p14:creationId xmlns:p14="http://schemas.microsoft.com/office/powerpoint/2010/main" val="402820810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CDM vs. </a:t>
            </a:r>
            <a:r>
              <a:rPr kumimoji="0" lang="en-US" sz="2400" b="0" i="0" u="none" strike="noStrike" kern="1200" cap="none" spc="0" normalizeH="0" baseline="0" noProof="0" dirty="0" err="1">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FpML</a:t>
            </a:r>
            <a:endParaRPr kumimoji="0" lang="en-US" sz="2400" b="0" i="0" u="none" strike="noStrike" kern="1200" cap="none" spc="0" normalizeH="0" baseline="0" noProof="0" dirty="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endParaRP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TextBox 1">
            <a:extLst>
              <a:ext uri="{FF2B5EF4-FFF2-40B4-BE49-F238E27FC236}">
                <a16:creationId xmlns:a16="http://schemas.microsoft.com/office/drawing/2014/main" id="{51F0CF7F-8ED6-6375-737D-6DB332893689}"/>
              </a:ext>
            </a:extLst>
          </p:cNvPr>
          <p:cNvSpPr txBox="1"/>
          <p:nvPr/>
        </p:nvSpPr>
        <p:spPr>
          <a:xfrm>
            <a:off x="515816" y="1230262"/>
            <a:ext cx="10300676" cy="2862322"/>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dirty="0">
                <a:solidFill>
                  <a:srgbClr val="32007D"/>
                </a:solidFill>
                <a:latin typeface="Calibri"/>
              </a:rPr>
              <a:t>While both the CDM &amp; FpML are standards, they can and will co-exist</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007D"/>
              </a:solidFill>
              <a:effectLst/>
              <a:uLnTx/>
              <a:uFillTx/>
              <a:latin typeface="Calibri"/>
              <a:ea typeface="+mn-ea"/>
              <a:cs typeface="+mn-cs"/>
            </a:endParaRPr>
          </a:p>
          <a:p>
            <a:pPr marL="285750" lvl="0" indent="-285750">
              <a:buFont typeface="Arial" panose="020B0604020202020204" pitchFamily="34" charset="0"/>
              <a:buChar char="•"/>
              <a:defRPr/>
            </a:pPr>
            <a:r>
              <a:rPr lang="en-US" dirty="0">
                <a:solidFill>
                  <a:srgbClr val="32007D"/>
                </a:solidFill>
                <a:latin typeface="Calibri"/>
              </a:rPr>
              <a:t>The CDM is not a </a:t>
            </a:r>
            <a:r>
              <a:rPr lang="en-US" dirty="0">
                <a:solidFill>
                  <a:srgbClr val="32007D"/>
                </a:solidFill>
              </a:rPr>
              <a:t>data format for </a:t>
            </a:r>
            <a:r>
              <a:rPr lang="en-US" dirty="0">
                <a:solidFill>
                  <a:srgbClr val="32007D"/>
                </a:solidFill>
                <a:latin typeface="Calibri"/>
              </a:rPr>
              <a:t>messaging or storage – it is a logical model describing relationships between pieces of data</a:t>
            </a:r>
          </a:p>
          <a:p>
            <a:pPr marL="285750" lvl="0" indent="-285750">
              <a:buFont typeface="Arial" panose="020B0604020202020204" pitchFamily="34" charset="0"/>
              <a:buChar char="•"/>
              <a:defRPr/>
            </a:pPr>
            <a:endParaRPr lang="en-US" dirty="0">
              <a:solidFill>
                <a:srgbClr val="32007D"/>
              </a:solidFill>
              <a:latin typeface="Calibri"/>
            </a:endParaRPr>
          </a:p>
          <a:p>
            <a:pPr marL="285750" lvl="0" indent="-285750">
              <a:buFont typeface="Arial" panose="020B0604020202020204" pitchFamily="34" charset="0"/>
              <a:buChar char="•"/>
              <a:defRPr/>
            </a:pPr>
            <a:r>
              <a:rPr lang="en-US" dirty="0">
                <a:solidFill>
                  <a:srgbClr val="32007D"/>
                </a:solidFill>
                <a:latin typeface="Calibri"/>
              </a:rPr>
              <a:t>The CDM can be expressed in various forms, including XML and JSON and other standard formats such as </a:t>
            </a:r>
            <a:r>
              <a:rPr kumimoji="0" lang="en-US" sz="1800" b="0" i="0" u="none" strike="noStrike" kern="1200" cap="none" spc="0" normalizeH="0" baseline="0" noProof="0" dirty="0" err="1">
                <a:ln>
                  <a:noFill/>
                </a:ln>
                <a:solidFill>
                  <a:srgbClr val="32007D"/>
                </a:solidFill>
                <a:effectLst/>
                <a:uLnTx/>
                <a:uFillTx/>
                <a:latin typeface="Calibri"/>
                <a:ea typeface="+mn-ea"/>
                <a:cs typeface="+mn-cs"/>
              </a:rPr>
              <a:t>FpML</a:t>
            </a:r>
            <a:r>
              <a:rPr lang="en-US" dirty="0">
                <a:solidFill>
                  <a:srgbClr val="32007D"/>
                </a:solidFill>
                <a:latin typeface="Calibri"/>
              </a:rPr>
              <a:t>, </a:t>
            </a:r>
            <a:r>
              <a:rPr kumimoji="0" lang="en-US" sz="1800" b="0" i="0" u="none" strike="noStrike" kern="1200" cap="none" spc="0" normalizeH="0" baseline="0" noProof="0" dirty="0">
                <a:ln>
                  <a:noFill/>
                </a:ln>
                <a:solidFill>
                  <a:srgbClr val="32007D"/>
                </a:solidFill>
                <a:effectLst/>
                <a:uLnTx/>
                <a:uFillTx/>
                <a:latin typeface="Calibri"/>
                <a:ea typeface="+mn-ea"/>
                <a:cs typeface="+mn-cs"/>
              </a:rPr>
              <a:t>FIX &amp; ISO20022 for exchange and storage of information</a:t>
            </a:r>
          </a:p>
          <a:p>
            <a:pPr marL="285750" lvl="0" indent="-285750">
              <a:buFont typeface="Arial" panose="020B0604020202020204" pitchFamily="34" charset="0"/>
              <a:buChar char="•"/>
              <a:defRPr/>
            </a:pPr>
            <a:endParaRPr kumimoji="0" lang="en-US" sz="1800" b="0" i="0" u="none" strike="noStrike" kern="1200" cap="none" spc="0" normalizeH="0" baseline="0" noProof="0" dirty="0">
              <a:ln>
                <a:noFill/>
              </a:ln>
              <a:solidFill>
                <a:srgbClr val="32007D"/>
              </a:solidFill>
              <a:effectLst/>
              <a:uLnTx/>
              <a:uFillTx/>
              <a:latin typeface="Calibri"/>
              <a:ea typeface="+mn-ea"/>
              <a:cs typeface="+mn-cs"/>
            </a:endParaRPr>
          </a:p>
          <a:p>
            <a:pPr marL="285750" lvl="0" indent="-285750">
              <a:buFont typeface="Arial" panose="020B0604020202020204" pitchFamily="34" charset="0"/>
              <a:buChar char="•"/>
              <a:defRPr/>
            </a:pPr>
            <a:r>
              <a:rPr kumimoji="0" lang="en-US" sz="1800" b="0" i="0" u="none" strike="noStrike" kern="1200" cap="none" spc="0" normalizeH="0" baseline="0" noProof="0" dirty="0">
                <a:ln>
                  <a:noFill/>
                </a:ln>
                <a:solidFill>
                  <a:srgbClr val="32007D"/>
                </a:solidFill>
                <a:effectLst/>
                <a:uLnTx/>
                <a:uFillTx/>
                <a:latin typeface="Calibri"/>
                <a:ea typeface="+mn-ea"/>
                <a:cs typeface="+mn-cs"/>
              </a:rPr>
              <a:t>FpML does not define standards for event and workflow processing; the CDM prescribes the validation logic to express these more specifically</a:t>
            </a:r>
            <a:endParaRPr kumimoji="0" lang="en-GB" sz="1800" b="0" i="0" u="none" strike="noStrike" kern="1200" cap="none" spc="0" normalizeH="0" baseline="0" noProof="0" dirty="0">
              <a:ln>
                <a:noFill/>
              </a:ln>
              <a:solidFill>
                <a:srgbClr val="32007D"/>
              </a:solidFill>
              <a:effectLst/>
              <a:uLnTx/>
              <a:uFillTx/>
              <a:latin typeface="Calibri"/>
              <a:ea typeface="+mn-ea"/>
              <a:cs typeface="+mn-cs"/>
            </a:endParaRPr>
          </a:p>
        </p:txBody>
      </p:sp>
    </p:spTree>
    <p:extLst>
      <p:ext uri="{BB962C8B-B14F-4D97-AF65-F5344CB8AC3E}">
        <p14:creationId xmlns:p14="http://schemas.microsoft.com/office/powerpoint/2010/main" val="23860264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Benefits: Consistency of representation</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pic>
        <p:nvPicPr>
          <p:cNvPr id="2" name="Picture 1">
            <a:extLst>
              <a:ext uri="{FF2B5EF4-FFF2-40B4-BE49-F238E27FC236}">
                <a16:creationId xmlns:a16="http://schemas.microsoft.com/office/drawing/2014/main" id="{183C19E2-2789-A4DD-FE35-C0E8359867E6}"/>
              </a:ext>
            </a:extLst>
          </p:cNvPr>
          <p:cNvPicPr>
            <a:picLocks noChangeAspect="1"/>
          </p:cNvPicPr>
          <p:nvPr/>
        </p:nvPicPr>
        <p:blipFill>
          <a:blip r:embed="rId4"/>
          <a:stretch>
            <a:fillRect/>
          </a:stretch>
        </p:blipFill>
        <p:spPr>
          <a:xfrm>
            <a:off x="675753" y="1229444"/>
            <a:ext cx="10403897" cy="5484992"/>
          </a:xfrm>
          <a:prstGeom prst="rect">
            <a:avLst/>
          </a:prstGeom>
        </p:spPr>
      </p:pic>
    </p:spTree>
    <p:extLst>
      <p:ext uri="{BB962C8B-B14F-4D97-AF65-F5344CB8AC3E}">
        <p14:creationId xmlns:p14="http://schemas.microsoft.com/office/powerpoint/2010/main" val="258169150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Core Benefits</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grpSp>
        <p:nvGrpSpPr>
          <p:cNvPr id="47" name="Group 46">
            <a:extLst>
              <a:ext uri="{FF2B5EF4-FFF2-40B4-BE49-F238E27FC236}">
                <a16:creationId xmlns:a16="http://schemas.microsoft.com/office/drawing/2014/main" id="{76CDB96F-1AE9-86FF-2E3D-A0A567E9FE6F}"/>
              </a:ext>
            </a:extLst>
          </p:cNvPr>
          <p:cNvGrpSpPr/>
          <p:nvPr/>
        </p:nvGrpSpPr>
        <p:grpSpPr>
          <a:xfrm>
            <a:off x="1093696" y="1383448"/>
            <a:ext cx="10004607" cy="4289884"/>
            <a:chOff x="1828805" y="1952955"/>
            <a:chExt cx="8210546" cy="3699922"/>
          </a:xfrm>
        </p:grpSpPr>
        <p:sp>
          <p:nvSpPr>
            <p:cNvPr id="31" name="object 2">
              <a:extLst>
                <a:ext uri="{FF2B5EF4-FFF2-40B4-BE49-F238E27FC236}">
                  <a16:creationId xmlns:a16="http://schemas.microsoft.com/office/drawing/2014/main" id="{FCCB0A6B-DEF6-E029-F6FB-1ED8BEAF7754}"/>
                </a:ext>
              </a:extLst>
            </p:cNvPr>
            <p:cNvSpPr txBox="1"/>
            <p:nvPr/>
          </p:nvSpPr>
          <p:spPr>
            <a:xfrm>
              <a:off x="1898827" y="3242261"/>
              <a:ext cx="8140524" cy="2410616"/>
            </a:xfrm>
            <a:prstGeom prst="rect">
              <a:avLst/>
            </a:prstGeom>
          </p:spPr>
          <p:txBody>
            <a:bodyPr vert="horz" wrap="square" lIns="0" tIns="55244" rIns="0" bIns="0" rtlCol="0">
              <a:spAutoFit/>
            </a:bodyPr>
            <a:lstStyle/>
            <a:p>
              <a:pPr marL="372110" indent="-285115">
                <a:spcBef>
                  <a:spcPts val="600"/>
                </a:spcBef>
                <a:buClr>
                  <a:srgbClr val="404040"/>
                </a:buClr>
                <a:buFont typeface="Wingdings"/>
                <a:buChar char=""/>
                <a:tabLst>
                  <a:tab pos="372745" algn="l"/>
                </a:tabLst>
                <a:defRPr/>
              </a:pPr>
              <a:r>
                <a:rPr lang="en-US" sz="1300" spc="-5" dirty="0">
                  <a:solidFill>
                    <a:srgbClr val="32007D"/>
                  </a:solidFill>
                  <a:latin typeface="Calibri"/>
                  <a:cs typeface="Calibri"/>
                </a:rPr>
                <a:t>A </a:t>
              </a:r>
              <a:r>
                <a:rPr lang="en-US" sz="1300" b="1" spc="-5" dirty="0">
                  <a:solidFill>
                    <a:srgbClr val="32007D"/>
                  </a:solidFill>
                  <a:latin typeface="Calibri"/>
                  <a:cs typeface="Calibri"/>
                </a:rPr>
                <a:t>mutualized,</a:t>
              </a:r>
              <a:r>
                <a:rPr lang="en-US" sz="1300" spc="-5" dirty="0">
                  <a:solidFill>
                    <a:srgbClr val="32007D"/>
                  </a:solidFill>
                  <a:latin typeface="Calibri"/>
                  <a:cs typeface="Calibri"/>
                </a:rPr>
                <a:t> </a:t>
              </a:r>
              <a:r>
                <a:rPr lang="en-US" sz="1300" b="1" spc="-5" dirty="0">
                  <a:solidFill>
                    <a:srgbClr val="32007D"/>
                  </a:solidFill>
                  <a:latin typeface="Calibri"/>
                  <a:cs typeface="Calibri"/>
                </a:rPr>
                <a:t>free, open-source standardized digital blueprint </a:t>
              </a:r>
              <a:r>
                <a:rPr lang="en-US" sz="1300" spc="-5" dirty="0">
                  <a:solidFill>
                    <a:srgbClr val="32007D"/>
                  </a:solidFill>
                  <a:latin typeface="Calibri"/>
                  <a:cs typeface="Calibri"/>
                </a:rPr>
                <a:t>on how to represent financial transactions, performance and business events</a:t>
              </a:r>
            </a:p>
            <a:p>
              <a:pPr marL="372110" indent="-285115">
                <a:spcBef>
                  <a:spcPts val="600"/>
                </a:spcBef>
                <a:buClr>
                  <a:srgbClr val="404040"/>
                </a:buClr>
                <a:buFont typeface="Wingdings"/>
                <a:buChar char=""/>
                <a:tabLst>
                  <a:tab pos="372745" algn="l"/>
                </a:tabLst>
                <a:defRPr/>
              </a:pPr>
              <a:r>
                <a:rPr lang="en-US" sz="1300" b="1" spc="-5" dirty="0">
                  <a:solidFill>
                    <a:srgbClr val="32007D"/>
                  </a:solidFill>
                  <a:latin typeface="Calibri"/>
                  <a:cs typeface="Calibri"/>
                </a:rPr>
                <a:t>Extensible</a:t>
              </a:r>
              <a:r>
                <a:rPr lang="en-US" sz="1300" spc="-5" dirty="0">
                  <a:solidFill>
                    <a:srgbClr val="32007D"/>
                  </a:solidFill>
                  <a:latin typeface="Calibri"/>
                  <a:cs typeface="Calibri"/>
                </a:rPr>
                <a:t> to compose financial instruments by assembling reusable components. Already covers robustly derivatives and securities financial transactions</a:t>
              </a:r>
            </a:p>
            <a:p>
              <a:pPr marL="372110" indent="-285115">
                <a:spcBef>
                  <a:spcPts val="600"/>
                </a:spcBef>
                <a:buClr>
                  <a:srgbClr val="404040"/>
                </a:buClr>
                <a:buFont typeface="Wingdings"/>
                <a:buChar char=""/>
                <a:tabLst>
                  <a:tab pos="372745" algn="l"/>
                </a:tabLst>
                <a:defRPr/>
              </a:pPr>
              <a:r>
                <a:rPr lang="en-US" sz="1300" b="1" spc="-5" dirty="0">
                  <a:solidFill>
                    <a:srgbClr val="32007D"/>
                  </a:solidFill>
                  <a:latin typeface="Calibri"/>
                  <a:cs typeface="Calibri"/>
                </a:rPr>
                <a:t>Scalable</a:t>
              </a:r>
              <a:r>
                <a:rPr lang="en-US" sz="1300" spc="-5" dirty="0">
                  <a:solidFill>
                    <a:srgbClr val="32007D"/>
                  </a:solidFill>
                  <a:latin typeface="Calibri"/>
                  <a:cs typeface="Calibri"/>
                </a:rPr>
                <a:t> as event-driven model that encapsulates primitive components that will de facto make the fabric of complex business and operational processes</a:t>
              </a:r>
            </a:p>
            <a:p>
              <a:pPr marL="372110" marR="5080" indent="-285115">
                <a:spcBef>
                  <a:spcPts val="600"/>
                </a:spcBef>
                <a:buClr>
                  <a:srgbClr val="404040"/>
                </a:buClr>
                <a:buFont typeface="Wingdings"/>
                <a:buChar char=""/>
                <a:tabLst>
                  <a:tab pos="372745" algn="l"/>
                </a:tabLst>
                <a:defRPr/>
              </a:pPr>
              <a:r>
                <a:rPr lang="en-US" sz="1300" b="1" spc="-5" dirty="0">
                  <a:solidFill>
                    <a:srgbClr val="32007D"/>
                  </a:solidFill>
                  <a:latin typeface="Calibri"/>
                  <a:cs typeface="Calibri"/>
                </a:rPr>
                <a:t>Operational and functional </a:t>
              </a:r>
              <a:r>
                <a:rPr lang="en-US" sz="1300" spc="-5" dirty="0">
                  <a:solidFill>
                    <a:srgbClr val="32007D"/>
                  </a:solidFill>
                  <a:latin typeface="Calibri"/>
                  <a:cs typeface="Calibri"/>
                </a:rPr>
                <a:t>to codify the contract mechanics and business logic of legal agreements</a:t>
              </a:r>
            </a:p>
            <a:p>
              <a:pPr marL="372110" marR="5080" indent="-285115">
                <a:spcBef>
                  <a:spcPts val="600"/>
                </a:spcBef>
                <a:buClr>
                  <a:srgbClr val="404040"/>
                </a:buClr>
                <a:buFont typeface="Wingdings"/>
                <a:buChar char=""/>
                <a:tabLst>
                  <a:tab pos="372745" algn="l"/>
                </a:tabLst>
                <a:defRPr/>
              </a:pPr>
              <a:r>
                <a:rPr lang="en-US" sz="1300" b="1" spc="-5" dirty="0">
                  <a:solidFill>
                    <a:srgbClr val="32007D"/>
                  </a:solidFill>
                  <a:latin typeface="Calibri"/>
                  <a:cs typeface="Calibri"/>
                </a:rPr>
                <a:t>Unambiguous</a:t>
              </a:r>
              <a:r>
                <a:rPr lang="en-US" sz="1300" spc="-5" dirty="0">
                  <a:solidFill>
                    <a:srgbClr val="32007D"/>
                  </a:solidFill>
                  <a:latin typeface="Calibri"/>
                  <a:cs typeface="Calibri"/>
                </a:rPr>
                <a:t> in digitizing functionally complex business and regulatory logic into code</a:t>
              </a:r>
            </a:p>
            <a:p>
              <a:pPr marL="372110" marR="5080" indent="-285115">
                <a:spcBef>
                  <a:spcPts val="600"/>
                </a:spcBef>
                <a:buClr>
                  <a:srgbClr val="404040"/>
                </a:buClr>
                <a:buFont typeface="Wingdings"/>
                <a:buChar char=""/>
                <a:tabLst>
                  <a:tab pos="372745" algn="l"/>
                </a:tabLst>
                <a:defRPr/>
              </a:pPr>
              <a:r>
                <a:rPr lang="en-US" sz="1300" b="1" spc="-5" dirty="0">
                  <a:solidFill>
                    <a:srgbClr val="32007D"/>
                  </a:solidFill>
                  <a:latin typeface="Calibri"/>
                  <a:cs typeface="Calibri"/>
                </a:rPr>
                <a:t>Directly approachable </a:t>
              </a:r>
              <a:r>
                <a:rPr lang="en-US" sz="1300" spc="-5" dirty="0">
                  <a:solidFill>
                    <a:srgbClr val="32007D"/>
                  </a:solidFill>
                  <a:latin typeface="Calibri"/>
                  <a:cs typeface="Calibri"/>
                </a:rPr>
                <a:t>as published in both </a:t>
              </a:r>
              <a:r>
                <a:rPr lang="en-US" sz="1300" b="1" spc="-5" dirty="0">
                  <a:solidFill>
                    <a:srgbClr val="32007D"/>
                  </a:solidFill>
                  <a:latin typeface="Calibri"/>
                  <a:cs typeface="Calibri"/>
                </a:rPr>
                <a:t>human-readable and machine-executable languages</a:t>
              </a:r>
              <a:endParaRPr lang="en-US" sz="1300" spc="-5" dirty="0">
                <a:solidFill>
                  <a:srgbClr val="32007D"/>
                </a:solidFill>
                <a:latin typeface="Calibri"/>
                <a:cs typeface="Calibri"/>
              </a:endParaRPr>
            </a:p>
            <a:p>
              <a:pPr marL="372110" marR="5080" indent="-285115">
                <a:spcBef>
                  <a:spcPts val="600"/>
                </a:spcBef>
                <a:buClr>
                  <a:srgbClr val="404040"/>
                </a:buClr>
                <a:buFont typeface="Wingdings"/>
                <a:buChar char=""/>
                <a:tabLst>
                  <a:tab pos="372745" algn="l"/>
                </a:tabLst>
                <a:defRPr/>
              </a:pPr>
              <a:r>
                <a:rPr lang="en-US" sz="1300" b="1" spc="-5" dirty="0">
                  <a:solidFill>
                    <a:srgbClr val="32007D"/>
                  </a:solidFill>
                  <a:latin typeface="Calibri"/>
                  <a:cs typeface="Calibri"/>
                </a:rPr>
                <a:t>Implementable</a:t>
              </a:r>
              <a:r>
                <a:rPr lang="en-US" sz="1300" spc="-5" dirty="0">
                  <a:solidFill>
                    <a:srgbClr val="32007D"/>
                  </a:solidFill>
                  <a:latin typeface="Calibri"/>
                  <a:cs typeface="Calibri"/>
                </a:rPr>
                <a:t> </a:t>
              </a:r>
              <a:r>
                <a:rPr lang="en-US" sz="1300" b="1" spc="-5" dirty="0">
                  <a:solidFill>
                    <a:srgbClr val="32007D"/>
                  </a:solidFill>
                  <a:latin typeface="Calibri"/>
                  <a:cs typeface="Calibri"/>
                </a:rPr>
                <a:t>across several strategic uses cases </a:t>
              </a:r>
              <a:r>
                <a:rPr lang="en-US" sz="1300" spc="-5" dirty="0">
                  <a:solidFill>
                    <a:srgbClr val="32007D"/>
                  </a:solidFill>
                  <a:latin typeface="Calibri"/>
                  <a:cs typeface="Calibri"/>
                </a:rPr>
                <a:t>in capital markets for better automation and greater consistency </a:t>
              </a:r>
              <a:r>
                <a:rPr lang="en-US" sz="1300" spc="-5">
                  <a:solidFill>
                    <a:srgbClr val="32007D"/>
                  </a:solidFill>
                  <a:latin typeface="Calibri"/>
                  <a:cs typeface="Calibri"/>
                </a:rPr>
                <a:t>– eg, trade </a:t>
              </a:r>
              <a:r>
                <a:rPr lang="en-US" sz="1300" spc="-5" dirty="0">
                  <a:solidFill>
                    <a:srgbClr val="32007D"/>
                  </a:solidFill>
                  <a:latin typeface="Calibri"/>
                  <a:cs typeface="Calibri"/>
                </a:rPr>
                <a:t>management systems, clearing, digital documentation</a:t>
              </a:r>
              <a:r>
                <a:rPr lang="en-US" sz="1300" spc="-5">
                  <a:solidFill>
                    <a:srgbClr val="32007D"/>
                  </a:solidFill>
                  <a:latin typeface="Calibri"/>
                  <a:cs typeface="Calibri"/>
                </a:rPr>
                <a:t>, collateral management and regulatory reporting</a:t>
              </a:r>
              <a:endParaRPr lang="en-US" sz="1300" spc="-5" dirty="0">
                <a:solidFill>
                  <a:srgbClr val="32007D"/>
                </a:solidFill>
                <a:latin typeface="Calibri"/>
                <a:cs typeface="Calibri"/>
              </a:endParaRPr>
            </a:p>
            <a:p>
              <a:pPr marL="372110" marR="5080" indent="-285115">
                <a:spcBef>
                  <a:spcPts val="600"/>
                </a:spcBef>
                <a:buClr>
                  <a:srgbClr val="404040"/>
                </a:buClr>
                <a:buFont typeface="Wingdings"/>
                <a:buChar char=""/>
                <a:tabLst>
                  <a:tab pos="372745" algn="l"/>
                </a:tabLst>
                <a:defRPr/>
              </a:pPr>
              <a:endParaRPr lang="en-GB" sz="1300" spc="-5" dirty="0">
                <a:solidFill>
                  <a:srgbClr val="32007D"/>
                </a:solidFill>
                <a:latin typeface="Calibri"/>
                <a:cs typeface="Calibri"/>
              </a:endParaRPr>
            </a:p>
          </p:txBody>
        </p:sp>
        <p:grpSp>
          <p:nvGrpSpPr>
            <p:cNvPr id="32" name="Group 31">
              <a:extLst>
                <a:ext uri="{FF2B5EF4-FFF2-40B4-BE49-F238E27FC236}">
                  <a16:creationId xmlns:a16="http://schemas.microsoft.com/office/drawing/2014/main" id="{72710AE7-5D4B-A5A9-6983-88434B2212B9}"/>
                </a:ext>
              </a:extLst>
            </p:cNvPr>
            <p:cNvGrpSpPr/>
            <p:nvPr/>
          </p:nvGrpSpPr>
          <p:grpSpPr>
            <a:xfrm>
              <a:off x="1828805" y="1952955"/>
              <a:ext cx="2595183" cy="1177589"/>
              <a:chOff x="346493" y="742651"/>
              <a:chExt cx="3440577" cy="1177589"/>
            </a:xfrm>
          </p:grpSpPr>
          <p:sp>
            <p:nvSpPr>
              <p:cNvPr id="33" name="Rectangle: Top Corners Rounded 32">
                <a:extLst>
                  <a:ext uri="{FF2B5EF4-FFF2-40B4-BE49-F238E27FC236}">
                    <a16:creationId xmlns:a16="http://schemas.microsoft.com/office/drawing/2014/main" id="{113FEF56-1CFB-8AD7-AC73-60A7B5B12561}"/>
                  </a:ext>
                </a:extLst>
              </p:cNvPr>
              <p:cNvSpPr/>
              <p:nvPr/>
            </p:nvSpPr>
            <p:spPr>
              <a:xfrm rot="10800000">
                <a:off x="346493" y="1043232"/>
                <a:ext cx="3440577" cy="877008"/>
              </a:xfrm>
              <a:prstGeom prst="round2SameRect">
                <a:avLst>
                  <a:gd name="adj1" fmla="val 8000"/>
                  <a:gd name="adj2" fmla="val 0"/>
                </a:avLst>
              </a:prstGeom>
              <a:ln>
                <a:solidFill>
                  <a:srgbClr val="C8C47E"/>
                </a:solid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34" name="Rectangle: Top Corners Rounded 4">
                <a:extLst>
                  <a:ext uri="{FF2B5EF4-FFF2-40B4-BE49-F238E27FC236}">
                    <a16:creationId xmlns:a16="http://schemas.microsoft.com/office/drawing/2014/main" id="{B90163D5-4EEF-5588-9849-1A280F1C8A88}"/>
                  </a:ext>
                </a:extLst>
              </p:cNvPr>
              <p:cNvSpPr txBox="1"/>
              <p:nvPr/>
            </p:nvSpPr>
            <p:spPr>
              <a:xfrm>
                <a:off x="346493" y="1053495"/>
                <a:ext cx="3440577" cy="86674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0320" tIns="60960" rIns="20320" bIns="20320" numCol="1" spcCol="1270" anchor="t" anchorCtr="0">
                <a:noAutofit/>
              </a:bodyPr>
              <a:lstStyle/>
              <a:p>
                <a:pPr>
                  <a:defRPr/>
                </a:pPr>
                <a:r>
                  <a:rPr lang="en-GB" sz="1400" b="1">
                    <a:solidFill>
                      <a:srgbClr val="002060"/>
                    </a:solidFill>
                    <a:latin typeface="AGaramondPro-Bold"/>
                  </a:rPr>
                  <a:t>Enhance interoperability, reduce reconciliations and promote straight-through processing</a:t>
                </a:r>
                <a:endParaRPr lang="en-US" sz="1100">
                  <a:solidFill>
                    <a:srgbClr val="002060"/>
                  </a:solidFill>
                  <a:latin typeface="Calibri" panose="020F0502020204030204"/>
                </a:endParaRPr>
              </a:p>
            </p:txBody>
          </p:sp>
          <p:sp>
            <p:nvSpPr>
              <p:cNvPr id="35" name="Rectangle 34">
                <a:extLst>
                  <a:ext uri="{FF2B5EF4-FFF2-40B4-BE49-F238E27FC236}">
                    <a16:creationId xmlns:a16="http://schemas.microsoft.com/office/drawing/2014/main" id="{4BD89002-8D17-402C-A323-AF73E552EB8B}"/>
                  </a:ext>
                </a:extLst>
              </p:cNvPr>
              <p:cNvSpPr/>
              <p:nvPr/>
            </p:nvSpPr>
            <p:spPr>
              <a:xfrm>
                <a:off x="346493" y="742651"/>
                <a:ext cx="3440577" cy="290317"/>
              </a:xfrm>
              <a:prstGeom prst="rect">
                <a:avLst/>
              </a:prstGeom>
              <a:solidFill>
                <a:srgbClr val="C8C47E"/>
              </a:solidFill>
              <a:ln>
                <a:solidFill>
                  <a:srgbClr val="C8C47E"/>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6" name="TextBox 35">
                <a:extLst>
                  <a:ext uri="{FF2B5EF4-FFF2-40B4-BE49-F238E27FC236}">
                    <a16:creationId xmlns:a16="http://schemas.microsoft.com/office/drawing/2014/main" id="{2831C5E0-582F-FFFE-80E8-A51C8662515B}"/>
                  </a:ext>
                </a:extLst>
              </p:cNvPr>
              <p:cNvSpPr txBox="1"/>
              <p:nvPr/>
            </p:nvSpPr>
            <p:spPr>
              <a:xfrm>
                <a:off x="346493" y="742651"/>
                <a:ext cx="2422941" cy="29031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0" rIns="22860" bIns="0" numCol="1" spcCol="1270" anchor="ctr" anchorCtr="0">
                <a:noAutofit/>
              </a:bodyPr>
              <a:lstStyle/>
              <a:p>
                <a:pPr defTabSz="800100">
                  <a:lnSpc>
                    <a:spcPct val="90000"/>
                  </a:lnSpc>
                  <a:spcBef>
                    <a:spcPct val="0"/>
                  </a:spcBef>
                  <a:spcAft>
                    <a:spcPct val="35000"/>
                  </a:spcAft>
                  <a:defRPr/>
                </a:pPr>
                <a:r>
                  <a:rPr lang="en-US" sz="1400" b="1">
                    <a:solidFill>
                      <a:prstClr val="white"/>
                    </a:solidFill>
                    <a:latin typeface="Calibri" panose="020F0502020204030204"/>
                  </a:rPr>
                  <a:t>Efficiency</a:t>
                </a:r>
                <a:endParaRPr lang="en-US" sz="1050" b="1">
                  <a:solidFill>
                    <a:prstClr val="white"/>
                  </a:solidFill>
                  <a:latin typeface="Calibri" panose="020F0502020204030204"/>
                </a:endParaRPr>
              </a:p>
            </p:txBody>
          </p:sp>
        </p:grpSp>
        <p:grpSp>
          <p:nvGrpSpPr>
            <p:cNvPr id="37" name="Group 36">
              <a:extLst>
                <a:ext uri="{FF2B5EF4-FFF2-40B4-BE49-F238E27FC236}">
                  <a16:creationId xmlns:a16="http://schemas.microsoft.com/office/drawing/2014/main" id="{4F8AAF19-8E56-A842-CD7D-50CFF03810FC}"/>
                </a:ext>
              </a:extLst>
            </p:cNvPr>
            <p:cNvGrpSpPr/>
            <p:nvPr/>
          </p:nvGrpSpPr>
          <p:grpSpPr>
            <a:xfrm>
              <a:off x="4601441" y="1963219"/>
              <a:ext cx="2595183" cy="1167325"/>
              <a:chOff x="4430813" y="752915"/>
              <a:chExt cx="3440577" cy="1167325"/>
            </a:xfrm>
          </p:grpSpPr>
          <p:sp>
            <p:nvSpPr>
              <p:cNvPr id="38" name="Rectangle: Top Corners Rounded 37">
                <a:extLst>
                  <a:ext uri="{FF2B5EF4-FFF2-40B4-BE49-F238E27FC236}">
                    <a16:creationId xmlns:a16="http://schemas.microsoft.com/office/drawing/2014/main" id="{4FBA81DE-A380-AA6B-B29F-9CCC1C40E1E9}"/>
                  </a:ext>
                </a:extLst>
              </p:cNvPr>
              <p:cNvSpPr/>
              <p:nvPr/>
            </p:nvSpPr>
            <p:spPr>
              <a:xfrm rot="10800000">
                <a:off x="4430813" y="1053496"/>
                <a:ext cx="3440577" cy="866744"/>
              </a:xfrm>
              <a:prstGeom prst="round2SameRect">
                <a:avLst>
                  <a:gd name="adj1" fmla="val 8000"/>
                  <a:gd name="adj2" fmla="val 0"/>
                </a:avLst>
              </a:prstGeom>
              <a:ln>
                <a:solidFill>
                  <a:srgbClr val="C8C47E"/>
                </a:solid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a:defRPr/>
                </a:pPr>
                <a:endParaRPr lang="en-GB" sz="1400">
                  <a:solidFill>
                    <a:prstClr val="black">
                      <a:hueOff val="0"/>
                      <a:satOff val="0"/>
                      <a:lumOff val="0"/>
                      <a:alphaOff val="0"/>
                    </a:prstClr>
                  </a:solidFill>
                  <a:latin typeface="Calibri" panose="020F0502020204030204"/>
                </a:endParaRPr>
              </a:p>
            </p:txBody>
          </p:sp>
          <p:sp>
            <p:nvSpPr>
              <p:cNvPr id="39" name="Rectangle: Top Corners Rounded 8">
                <a:extLst>
                  <a:ext uri="{FF2B5EF4-FFF2-40B4-BE49-F238E27FC236}">
                    <a16:creationId xmlns:a16="http://schemas.microsoft.com/office/drawing/2014/main" id="{B579A1ED-6E78-8AA8-C577-1FC558EA9E2A}"/>
                  </a:ext>
                </a:extLst>
              </p:cNvPr>
              <p:cNvSpPr txBox="1"/>
              <p:nvPr/>
            </p:nvSpPr>
            <p:spPr>
              <a:xfrm>
                <a:off x="4430813" y="1053495"/>
                <a:ext cx="3440577" cy="80831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0320" tIns="60960" rIns="20320" bIns="20320" numCol="1" spcCol="1270" anchor="t" anchorCtr="0">
                <a:noAutofit/>
              </a:bodyPr>
              <a:lstStyle/>
              <a:p>
                <a:pPr marL="0" lvl="1" defTabSz="711200">
                  <a:lnSpc>
                    <a:spcPct val="90000"/>
                  </a:lnSpc>
                  <a:spcBef>
                    <a:spcPct val="0"/>
                  </a:spcBef>
                  <a:spcAft>
                    <a:spcPct val="15000"/>
                  </a:spcAft>
                  <a:defRPr/>
                </a:pPr>
                <a:r>
                  <a:rPr lang="en-US" sz="1400" b="1">
                    <a:solidFill>
                      <a:srgbClr val="002060"/>
                    </a:solidFill>
                    <a:latin typeface="Calibri" panose="020F0502020204030204"/>
                  </a:rPr>
                  <a:t>Promote transparency and alignment between regulators and market participants</a:t>
                </a:r>
              </a:p>
            </p:txBody>
          </p:sp>
          <p:sp>
            <p:nvSpPr>
              <p:cNvPr id="40" name="Rectangle 39">
                <a:extLst>
                  <a:ext uri="{FF2B5EF4-FFF2-40B4-BE49-F238E27FC236}">
                    <a16:creationId xmlns:a16="http://schemas.microsoft.com/office/drawing/2014/main" id="{58604E50-B194-8D04-3A0A-27C90D85159C}"/>
                  </a:ext>
                </a:extLst>
              </p:cNvPr>
              <p:cNvSpPr/>
              <p:nvPr/>
            </p:nvSpPr>
            <p:spPr>
              <a:xfrm>
                <a:off x="4430813" y="752915"/>
                <a:ext cx="3440577" cy="290317"/>
              </a:xfrm>
              <a:prstGeom prst="rect">
                <a:avLst/>
              </a:prstGeom>
              <a:solidFill>
                <a:srgbClr val="C8C47E"/>
              </a:solidFill>
              <a:ln>
                <a:solidFill>
                  <a:srgbClr val="C8C47E"/>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41" name="TextBox 40">
                <a:extLst>
                  <a:ext uri="{FF2B5EF4-FFF2-40B4-BE49-F238E27FC236}">
                    <a16:creationId xmlns:a16="http://schemas.microsoft.com/office/drawing/2014/main" id="{2D83FCF3-A63F-3CF2-6A22-D9C3586E3DAA}"/>
                  </a:ext>
                </a:extLst>
              </p:cNvPr>
              <p:cNvSpPr txBox="1"/>
              <p:nvPr/>
            </p:nvSpPr>
            <p:spPr>
              <a:xfrm>
                <a:off x="4430813" y="752915"/>
                <a:ext cx="2422941" cy="29031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0" rIns="22860" bIns="0" numCol="1" spcCol="1270" anchor="ctr" anchorCtr="0">
                <a:noAutofit/>
              </a:bodyPr>
              <a:lstStyle/>
              <a:p>
                <a:pPr defTabSz="800100">
                  <a:lnSpc>
                    <a:spcPct val="90000"/>
                  </a:lnSpc>
                  <a:spcBef>
                    <a:spcPct val="0"/>
                  </a:spcBef>
                  <a:spcAft>
                    <a:spcPct val="35000"/>
                  </a:spcAft>
                  <a:defRPr/>
                </a:pPr>
                <a:r>
                  <a:rPr lang="en-US" sz="1400" b="1">
                    <a:solidFill>
                      <a:prstClr val="white"/>
                    </a:solidFill>
                    <a:latin typeface="Calibri" panose="020F0502020204030204"/>
                  </a:rPr>
                  <a:t>Transparency</a:t>
                </a:r>
                <a:endParaRPr lang="en-US" sz="1050" b="1">
                  <a:solidFill>
                    <a:prstClr val="white"/>
                  </a:solidFill>
                  <a:latin typeface="Calibri" panose="020F0502020204030204"/>
                </a:endParaRPr>
              </a:p>
            </p:txBody>
          </p:sp>
        </p:grpSp>
        <p:grpSp>
          <p:nvGrpSpPr>
            <p:cNvPr id="42" name="Group 41">
              <a:extLst>
                <a:ext uri="{FF2B5EF4-FFF2-40B4-BE49-F238E27FC236}">
                  <a16:creationId xmlns:a16="http://schemas.microsoft.com/office/drawing/2014/main" id="{F739CDA7-DD64-B29E-1745-5142A6938AFE}"/>
                </a:ext>
              </a:extLst>
            </p:cNvPr>
            <p:cNvGrpSpPr/>
            <p:nvPr/>
          </p:nvGrpSpPr>
          <p:grpSpPr>
            <a:xfrm>
              <a:off x="7391400" y="1973109"/>
              <a:ext cx="2595184" cy="1157435"/>
              <a:chOff x="8152266" y="742651"/>
              <a:chExt cx="3440578" cy="1157435"/>
            </a:xfrm>
          </p:grpSpPr>
          <p:sp>
            <p:nvSpPr>
              <p:cNvPr id="43" name="Rectangle: Top Corners Rounded 42">
                <a:extLst>
                  <a:ext uri="{FF2B5EF4-FFF2-40B4-BE49-F238E27FC236}">
                    <a16:creationId xmlns:a16="http://schemas.microsoft.com/office/drawing/2014/main" id="{364A3C56-15EE-27A4-5313-18730AE2A0B0}"/>
                  </a:ext>
                </a:extLst>
              </p:cNvPr>
              <p:cNvSpPr/>
              <p:nvPr/>
            </p:nvSpPr>
            <p:spPr>
              <a:xfrm rot="10800000">
                <a:off x="8152266" y="1043232"/>
                <a:ext cx="3440577" cy="856854"/>
              </a:xfrm>
              <a:prstGeom prst="round2SameRect">
                <a:avLst>
                  <a:gd name="adj1" fmla="val 8000"/>
                  <a:gd name="adj2" fmla="val 0"/>
                </a:avLst>
              </a:prstGeom>
              <a:ln>
                <a:solidFill>
                  <a:srgbClr val="C8C47E"/>
                </a:solid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44" name="Rectangle: Top Corners Rounded 12">
                <a:extLst>
                  <a:ext uri="{FF2B5EF4-FFF2-40B4-BE49-F238E27FC236}">
                    <a16:creationId xmlns:a16="http://schemas.microsoft.com/office/drawing/2014/main" id="{08B2EF2A-5D1A-A431-94E3-A65A1920E473}"/>
                  </a:ext>
                </a:extLst>
              </p:cNvPr>
              <p:cNvSpPr txBox="1"/>
              <p:nvPr/>
            </p:nvSpPr>
            <p:spPr>
              <a:xfrm>
                <a:off x="8152267" y="1031341"/>
                <a:ext cx="3440577" cy="6919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0320" tIns="60960" rIns="20320" bIns="20320" numCol="1" spcCol="1270" anchor="t" anchorCtr="0">
                <a:noAutofit/>
              </a:bodyPr>
              <a:lstStyle/>
              <a:p>
                <a:pPr>
                  <a:defRPr/>
                </a:pPr>
                <a:r>
                  <a:rPr lang="en-GB" sz="1400" b="1">
                    <a:solidFill>
                      <a:srgbClr val="002060"/>
                    </a:solidFill>
                    <a:latin typeface="AGaramondPro-Bold"/>
                  </a:rPr>
                  <a:t>Create an environment for</a:t>
                </a:r>
              </a:p>
              <a:p>
                <a:pPr>
                  <a:defRPr/>
                </a:pPr>
                <a:r>
                  <a:rPr lang="en-GB" sz="1400" b="1">
                    <a:solidFill>
                      <a:srgbClr val="002060"/>
                    </a:solidFill>
                    <a:latin typeface="AGaramondPro-Bold"/>
                  </a:rPr>
                  <a:t>innovation in financial markets</a:t>
                </a:r>
                <a:endParaRPr lang="en-US" sz="1200">
                  <a:solidFill>
                    <a:srgbClr val="002060"/>
                  </a:solidFill>
                  <a:latin typeface="Calibri" panose="020F0502020204030204"/>
                </a:endParaRPr>
              </a:p>
            </p:txBody>
          </p:sp>
          <p:sp>
            <p:nvSpPr>
              <p:cNvPr id="45" name="Rectangle 44">
                <a:extLst>
                  <a:ext uri="{FF2B5EF4-FFF2-40B4-BE49-F238E27FC236}">
                    <a16:creationId xmlns:a16="http://schemas.microsoft.com/office/drawing/2014/main" id="{A8230C7B-45F1-D42C-679A-4CFCD78CE466}"/>
                  </a:ext>
                </a:extLst>
              </p:cNvPr>
              <p:cNvSpPr/>
              <p:nvPr/>
            </p:nvSpPr>
            <p:spPr>
              <a:xfrm>
                <a:off x="8152267" y="742651"/>
                <a:ext cx="3440577" cy="290317"/>
              </a:xfrm>
              <a:prstGeom prst="rect">
                <a:avLst/>
              </a:prstGeom>
              <a:solidFill>
                <a:srgbClr val="C8C47E"/>
              </a:solidFill>
              <a:ln>
                <a:solidFill>
                  <a:srgbClr val="C8C47E"/>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46" name="TextBox 45">
                <a:extLst>
                  <a:ext uri="{FF2B5EF4-FFF2-40B4-BE49-F238E27FC236}">
                    <a16:creationId xmlns:a16="http://schemas.microsoft.com/office/drawing/2014/main" id="{E9677F8D-189F-9EB6-3FFE-FD6EEE6215F1}"/>
                  </a:ext>
                </a:extLst>
              </p:cNvPr>
              <p:cNvSpPr txBox="1"/>
              <p:nvPr/>
            </p:nvSpPr>
            <p:spPr>
              <a:xfrm>
                <a:off x="8152267" y="742651"/>
                <a:ext cx="2422941" cy="29031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0" rIns="22860" bIns="0" numCol="1" spcCol="1270" anchor="ctr" anchorCtr="0">
                <a:noAutofit/>
              </a:bodyPr>
              <a:lstStyle/>
              <a:p>
                <a:pPr defTabSz="800100">
                  <a:lnSpc>
                    <a:spcPct val="90000"/>
                  </a:lnSpc>
                  <a:spcBef>
                    <a:spcPct val="0"/>
                  </a:spcBef>
                  <a:spcAft>
                    <a:spcPct val="35000"/>
                  </a:spcAft>
                  <a:defRPr/>
                </a:pPr>
                <a:r>
                  <a:rPr lang="en-US" sz="1400" b="1">
                    <a:solidFill>
                      <a:prstClr val="white"/>
                    </a:solidFill>
                    <a:latin typeface="Calibri" panose="020F0502020204030204"/>
                  </a:rPr>
                  <a:t>Accelerated Innovation</a:t>
                </a:r>
              </a:p>
            </p:txBody>
          </p:sp>
        </p:grpSp>
      </p:grpSp>
    </p:spTree>
    <p:extLst>
      <p:ext uri="{BB962C8B-B14F-4D97-AF65-F5344CB8AC3E}">
        <p14:creationId xmlns:p14="http://schemas.microsoft.com/office/powerpoint/2010/main" val="88234373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History of the CDM</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3" name="object 11">
            <a:extLst>
              <a:ext uri="{FF2B5EF4-FFF2-40B4-BE49-F238E27FC236}">
                <a16:creationId xmlns:a16="http://schemas.microsoft.com/office/drawing/2014/main" id="{83F7D4D8-6D44-8DA6-F5FC-FEAF9E6B10C3}"/>
              </a:ext>
            </a:extLst>
          </p:cNvPr>
          <p:cNvSpPr txBox="1"/>
          <p:nvPr/>
        </p:nvSpPr>
        <p:spPr>
          <a:xfrm>
            <a:off x="2742808" y="4043794"/>
            <a:ext cx="1323246" cy="652102"/>
          </a:xfrm>
          <a:prstGeom prst="rect">
            <a:avLst/>
          </a:prstGeom>
        </p:spPr>
        <p:txBody>
          <a:bodyPr vert="horz" wrap="square" lIns="0" tIns="0" rIns="0" bIns="0" rtlCol="0">
            <a:spAutoFit/>
          </a:bodyPr>
          <a:lstStyle/>
          <a:p>
            <a:pPr marL="12700">
              <a:lnSpc>
                <a:spcPct val="100000"/>
              </a:lnSpc>
              <a:spcBef>
                <a:spcPts val="575"/>
              </a:spcBef>
            </a:pPr>
            <a:r>
              <a:rPr lang="en-US" sz="1400" spc="25">
                <a:solidFill>
                  <a:schemeClr val="accent1"/>
                </a:solidFill>
                <a:latin typeface="Daytona Condensed" panose="020B0506030503040204" pitchFamily="34" charset="0"/>
                <a:cs typeface="Lato"/>
              </a:rPr>
              <a:t>Jun </a:t>
            </a:r>
            <a:r>
              <a:rPr sz="1400" spc="5">
                <a:solidFill>
                  <a:schemeClr val="accent1"/>
                </a:solidFill>
                <a:latin typeface="Daytona Condensed" panose="020B0506030503040204" pitchFamily="34" charset="0"/>
                <a:cs typeface="Lato"/>
              </a:rPr>
              <a:t>20</a:t>
            </a:r>
            <a:r>
              <a:rPr lang="en-US" sz="1400" spc="5">
                <a:solidFill>
                  <a:schemeClr val="accent1"/>
                </a:solidFill>
                <a:latin typeface="Daytona Condensed" panose="020B0506030503040204" pitchFamily="34" charset="0"/>
                <a:cs typeface="Lato"/>
              </a:rPr>
              <a:t>18</a:t>
            </a:r>
            <a:endParaRPr sz="1400">
              <a:solidFill>
                <a:schemeClr val="accent1"/>
              </a:solidFill>
              <a:latin typeface="Daytona Condensed" panose="020B0506030503040204" pitchFamily="34" charset="0"/>
              <a:cs typeface="Lato"/>
            </a:endParaRPr>
          </a:p>
          <a:p>
            <a:pPr marL="12700" marR="5080">
              <a:lnSpc>
                <a:spcPct val="100800"/>
              </a:lnSpc>
              <a:spcBef>
                <a:spcPts val="370"/>
              </a:spcBef>
            </a:pPr>
            <a:r>
              <a:rPr lang="en-GB" sz="1100">
                <a:latin typeface="Daytona Condensed" panose="020B0506030503040204" pitchFamily="34" charset="0"/>
                <a:cs typeface="Lato"/>
              </a:rPr>
              <a:t>Version 1.0 released</a:t>
            </a:r>
          </a:p>
          <a:p>
            <a:pPr marL="12700" marR="5080">
              <a:lnSpc>
                <a:spcPct val="100800"/>
              </a:lnSpc>
              <a:spcBef>
                <a:spcPts val="370"/>
              </a:spcBef>
            </a:pPr>
            <a:r>
              <a:rPr lang="en-GB" sz="1100">
                <a:latin typeface="Daytona Condensed" panose="020B0506030503040204" pitchFamily="34" charset="0"/>
                <a:cs typeface="Lato"/>
              </a:rPr>
              <a:t>Conceptual pilot</a:t>
            </a:r>
          </a:p>
        </p:txBody>
      </p:sp>
      <p:sp>
        <p:nvSpPr>
          <p:cNvPr id="4" name="object 12">
            <a:extLst>
              <a:ext uri="{FF2B5EF4-FFF2-40B4-BE49-F238E27FC236}">
                <a16:creationId xmlns:a16="http://schemas.microsoft.com/office/drawing/2014/main" id="{DF86F7F9-C830-B9FF-4417-BAA259FE5513}"/>
              </a:ext>
            </a:extLst>
          </p:cNvPr>
          <p:cNvSpPr txBox="1"/>
          <p:nvPr/>
        </p:nvSpPr>
        <p:spPr>
          <a:xfrm>
            <a:off x="3735888" y="2016430"/>
            <a:ext cx="1410955" cy="1267014"/>
          </a:xfrm>
          <a:prstGeom prst="rect">
            <a:avLst/>
          </a:prstGeom>
        </p:spPr>
        <p:txBody>
          <a:bodyPr vert="horz" wrap="square" lIns="0" tIns="0" rIns="0" bIns="0" rtlCol="0">
            <a:spAutoFit/>
          </a:bodyPr>
          <a:lstStyle/>
          <a:p>
            <a:pPr marL="12700">
              <a:lnSpc>
                <a:spcPct val="100000"/>
              </a:lnSpc>
              <a:spcBef>
                <a:spcPts val="575"/>
              </a:spcBef>
            </a:pPr>
            <a:r>
              <a:rPr sz="1400" spc="35">
                <a:solidFill>
                  <a:schemeClr val="accent1"/>
                </a:solidFill>
                <a:latin typeface="Daytona Condensed" panose="020B0506030503040204" pitchFamily="34" charset="0"/>
                <a:cs typeface="Lato"/>
              </a:rPr>
              <a:t>Mar</a:t>
            </a:r>
            <a:r>
              <a:rPr sz="1400" spc="-155">
                <a:solidFill>
                  <a:schemeClr val="accent1"/>
                </a:solidFill>
                <a:latin typeface="Daytona Condensed" panose="020B0506030503040204" pitchFamily="34" charset="0"/>
                <a:cs typeface="Lato"/>
              </a:rPr>
              <a:t> </a:t>
            </a:r>
            <a:r>
              <a:rPr sz="1400" spc="5">
                <a:solidFill>
                  <a:schemeClr val="accent1"/>
                </a:solidFill>
                <a:latin typeface="Daytona Condensed" panose="020B0506030503040204" pitchFamily="34" charset="0"/>
                <a:cs typeface="Lato"/>
              </a:rPr>
              <a:t>20</a:t>
            </a:r>
            <a:r>
              <a:rPr lang="en-US" sz="1400" spc="5">
                <a:solidFill>
                  <a:schemeClr val="accent1"/>
                </a:solidFill>
                <a:latin typeface="Daytona Condensed" panose="020B0506030503040204" pitchFamily="34" charset="0"/>
                <a:cs typeface="Lato"/>
              </a:rPr>
              <a:t>19</a:t>
            </a:r>
            <a:endParaRPr sz="1400">
              <a:solidFill>
                <a:schemeClr val="accent1"/>
              </a:solidFill>
              <a:latin typeface="Daytona Condensed" panose="020B0506030503040204" pitchFamily="34" charset="0"/>
              <a:cs typeface="Lato"/>
            </a:endParaRPr>
          </a:p>
          <a:p>
            <a:pPr marL="12700">
              <a:lnSpc>
                <a:spcPct val="100000"/>
              </a:lnSpc>
              <a:spcBef>
                <a:spcPts val="385"/>
              </a:spcBef>
            </a:pPr>
            <a:r>
              <a:rPr lang="en-GB" sz="1100" spc="5">
                <a:solidFill>
                  <a:srgbClr val="58595B"/>
                </a:solidFill>
                <a:latin typeface="Daytona Condensed" panose="020B0506030503040204" pitchFamily="34" charset="0"/>
                <a:cs typeface="Lato"/>
              </a:rPr>
              <a:t>CDM 2.0 released</a:t>
            </a:r>
          </a:p>
          <a:p>
            <a:pPr marL="12700">
              <a:lnSpc>
                <a:spcPct val="100000"/>
              </a:lnSpc>
              <a:spcBef>
                <a:spcPts val="385"/>
              </a:spcBef>
            </a:pPr>
            <a:r>
              <a:rPr lang="en-GB" sz="1100" spc="5">
                <a:solidFill>
                  <a:srgbClr val="58595B"/>
                </a:solidFill>
                <a:latin typeface="Daytona Condensed" panose="020B0506030503040204" pitchFamily="34" charset="0"/>
                <a:cs typeface="Lato"/>
              </a:rPr>
              <a:t>Interest Rate and Credit Derivatives</a:t>
            </a:r>
          </a:p>
          <a:p>
            <a:pPr marL="12700">
              <a:lnSpc>
                <a:spcPct val="100000"/>
              </a:lnSpc>
              <a:spcBef>
                <a:spcPts val="385"/>
              </a:spcBef>
            </a:pPr>
            <a:r>
              <a:rPr lang="en-GB" sz="1100" spc="5">
                <a:solidFill>
                  <a:srgbClr val="58595B"/>
                </a:solidFill>
                <a:latin typeface="Daytona Condensed" panose="020B0506030503040204" pitchFamily="34" charset="0"/>
                <a:cs typeface="Lato"/>
              </a:rPr>
              <a:t>Initial Margin CSA</a:t>
            </a:r>
          </a:p>
          <a:p>
            <a:pPr marL="12700">
              <a:lnSpc>
                <a:spcPct val="100000"/>
              </a:lnSpc>
              <a:spcBef>
                <a:spcPts val="385"/>
              </a:spcBef>
            </a:pPr>
            <a:r>
              <a:rPr lang="en-GB" sz="1100" spc="5">
                <a:solidFill>
                  <a:srgbClr val="58595B"/>
                </a:solidFill>
                <a:latin typeface="Daytona Condensed" panose="020B0506030503040204" pitchFamily="34" charset="0"/>
                <a:cs typeface="Lato"/>
              </a:rPr>
              <a:t>Opened access to market</a:t>
            </a:r>
            <a:endParaRPr sz="1100">
              <a:latin typeface="Daytona Condensed" panose="020B0506030503040204" pitchFamily="34" charset="0"/>
              <a:cs typeface="Lato"/>
            </a:endParaRPr>
          </a:p>
        </p:txBody>
      </p:sp>
      <p:sp>
        <p:nvSpPr>
          <p:cNvPr id="6" name="object 13">
            <a:extLst>
              <a:ext uri="{FF2B5EF4-FFF2-40B4-BE49-F238E27FC236}">
                <a16:creationId xmlns:a16="http://schemas.microsoft.com/office/drawing/2014/main" id="{9E4BB62F-AD02-E0A0-71C9-D4460207FF66}"/>
              </a:ext>
            </a:extLst>
          </p:cNvPr>
          <p:cNvSpPr txBox="1"/>
          <p:nvPr/>
        </p:nvSpPr>
        <p:spPr>
          <a:xfrm>
            <a:off x="6916345" y="4040613"/>
            <a:ext cx="1390628" cy="823046"/>
          </a:xfrm>
          <a:prstGeom prst="rect">
            <a:avLst/>
          </a:prstGeom>
        </p:spPr>
        <p:txBody>
          <a:bodyPr vert="horz" wrap="square" lIns="0" tIns="0" rIns="0" bIns="0" rtlCol="0">
            <a:spAutoFit/>
          </a:bodyPr>
          <a:lstStyle/>
          <a:p>
            <a:pPr marL="12700">
              <a:lnSpc>
                <a:spcPct val="100000"/>
              </a:lnSpc>
              <a:spcBef>
                <a:spcPts val="575"/>
              </a:spcBef>
            </a:pPr>
            <a:r>
              <a:rPr lang="en-US" sz="1400" spc="-5">
                <a:solidFill>
                  <a:schemeClr val="accent1"/>
                </a:solidFill>
                <a:latin typeface="Daytona Condensed" panose="020B0506030503040204" pitchFamily="34" charset="0"/>
                <a:cs typeface="Lato"/>
              </a:rPr>
              <a:t>Nov </a:t>
            </a:r>
            <a:r>
              <a:rPr sz="1400" spc="5">
                <a:solidFill>
                  <a:schemeClr val="accent1"/>
                </a:solidFill>
                <a:latin typeface="Daytona Condensed" panose="020B0506030503040204" pitchFamily="34" charset="0"/>
                <a:cs typeface="Lato"/>
              </a:rPr>
              <a:t>20</a:t>
            </a:r>
            <a:r>
              <a:rPr lang="en-GB" sz="1400" spc="5">
                <a:solidFill>
                  <a:schemeClr val="accent1"/>
                </a:solidFill>
                <a:latin typeface="Daytona Condensed" panose="020B0506030503040204" pitchFamily="34" charset="0"/>
                <a:cs typeface="Lato"/>
              </a:rPr>
              <a:t>21</a:t>
            </a:r>
            <a:endParaRPr sz="1400">
              <a:solidFill>
                <a:schemeClr val="accent1"/>
              </a:solidFill>
              <a:latin typeface="Daytona Condensed" panose="020B0506030503040204" pitchFamily="34" charset="0"/>
              <a:cs typeface="Lato"/>
            </a:endParaRPr>
          </a:p>
          <a:p>
            <a:pPr marL="12700" marR="5080">
              <a:lnSpc>
                <a:spcPct val="100800"/>
              </a:lnSpc>
              <a:spcBef>
                <a:spcPts val="370"/>
              </a:spcBef>
            </a:pPr>
            <a:r>
              <a:rPr lang="en-GB" sz="1100" spc="5">
                <a:solidFill>
                  <a:srgbClr val="58595B"/>
                </a:solidFill>
                <a:latin typeface="Daytona Condensed" panose="020B0506030503040204" pitchFamily="34" charset="0"/>
                <a:cs typeface="Lato"/>
              </a:rPr>
              <a:t>MoU- ISDA, ICMA, ISLA</a:t>
            </a:r>
          </a:p>
          <a:p>
            <a:pPr marL="12700" marR="5080">
              <a:lnSpc>
                <a:spcPct val="100800"/>
              </a:lnSpc>
              <a:spcBef>
                <a:spcPts val="370"/>
              </a:spcBef>
            </a:pPr>
            <a:r>
              <a:rPr lang="en-GB" sz="1100" spc="5">
                <a:solidFill>
                  <a:srgbClr val="58595B"/>
                </a:solidFill>
                <a:latin typeface="Daytona Condensed" panose="020B0506030503040204" pitchFamily="34" charset="0"/>
                <a:cs typeface="Lato"/>
              </a:rPr>
              <a:t>Enshrine Collaboration on CDM</a:t>
            </a:r>
            <a:endParaRPr sz="1100">
              <a:latin typeface="Daytona Condensed" panose="020B0506030503040204" pitchFamily="34" charset="0"/>
              <a:cs typeface="Lato"/>
            </a:endParaRPr>
          </a:p>
        </p:txBody>
      </p:sp>
      <p:sp>
        <p:nvSpPr>
          <p:cNvPr id="8" name="object 14">
            <a:extLst>
              <a:ext uri="{FF2B5EF4-FFF2-40B4-BE49-F238E27FC236}">
                <a16:creationId xmlns:a16="http://schemas.microsoft.com/office/drawing/2014/main" id="{DF9BD493-A3B3-6630-A6B3-1736E1B62F46}"/>
              </a:ext>
            </a:extLst>
          </p:cNvPr>
          <p:cNvSpPr txBox="1"/>
          <p:nvPr/>
        </p:nvSpPr>
        <p:spPr>
          <a:xfrm>
            <a:off x="1673004" y="2012348"/>
            <a:ext cx="1223084" cy="1267526"/>
          </a:xfrm>
          <a:prstGeom prst="rect">
            <a:avLst/>
          </a:prstGeom>
        </p:spPr>
        <p:txBody>
          <a:bodyPr vert="horz" wrap="square" lIns="0" tIns="0" rIns="0" bIns="0" rtlCol="0">
            <a:spAutoFit/>
          </a:bodyPr>
          <a:lstStyle/>
          <a:p>
            <a:pPr marL="12700">
              <a:lnSpc>
                <a:spcPct val="100000"/>
              </a:lnSpc>
              <a:spcBef>
                <a:spcPts val="575"/>
              </a:spcBef>
            </a:pPr>
            <a:r>
              <a:rPr sz="1400" spc="5">
                <a:solidFill>
                  <a:schemeClr val="accent1"/>
                </a:solidFill>
                <a:latin typeface="Daytona Condensed" panose="020B0506030503040204" pitchFamily="34" charset="0"/>
                <a:cs typeface="Lato"/>
              </a:rPr>
              <a:t>20</a:t>
            </a:r>
            <a:r>
              <a:rPr lang="en-GB" sz="1400" spc="5">
                <a:solidFill>
                  <a:schemeClr val="accent1"/>
                </a:solidFill>
                <a:latin typeface="Daytona Condensed" panose="020B0506030503040204" pitchFamily="34" charset="0"/>
                <a:cs typeface="Lato"/>
              </a:rPr>
              <a:t>17</a:t>
            </a:r>
            <a:endParaRPr sz="1400">
              <a:solidFill>
                <a:schemeClr val="accent1"/>
              </a:solidFill>
              <a:latin typeface="Daytona Condensed" panose="020B0506030503040204" pitchFamily="34" charset="0"/>
              <a:cs typeface="Lato"/>
            </a:endParaRPr>
          </a:p>
          <a:p>
            <a:pPr marL="12700" marR="5080">
              <a:lnSpc>
                <a:spcPct val="100800"/>
              </a:lnSpc>
              <a:spcBef>
                <a:spcPts val="370"/>
              </a:spcBef>
            </a:pPr>
            <a:r>
              <a:rPr lang="en-GB" sz="1100">
                <a:latin typeface="Daytona Condensed" panose="020B0506030503040204" pitchFamily="34" charset="0"/>
                <a:cs typeface="Lato"/>
              </a:rPr>
              <a:t>ISDA Publishes</a:t>
            </a:r>
          </a:p>
          <a:p>
            <a:pPr marL="12700" marR="5080">
              <a:lnSpc>
                <a:spcPct val="100800"/>
              </a:lnSpc>
              <a:spcBef>
                <a:spcPts val="370"/>
              </a:spcBef>
            </a:pPr>
            <a:r>
              <a:rPr lang="en-GB" sz="1100">
                <a:latin typeface="Daytona Condensed" panose="020B0506030503040204" pitchFamily="34" charset="0"/>
                <a:cs typeface="Lato"/>
              </a:rPr>
              <a:t>CDM Design Paper</a:t>
            </a:r>
          </a:p>
          <a:p>
            <a:pPr marL="12700" marR="5080">
              <a:lnSpc>
                <a:spcPct val="100800"/>
              </a:lnSpc>
              <a:spcBef>
                <a:spcPts val="370"/>
              </a:spcBef>
            </a:pPr>
            <a:r>
              <a:rPr lang="en-GB" sz="1100">
                <a:latin typeface="Daytona Condensed" panose="020B0506030503040204" pitchFamily="34" charset="0"/>
                <a:cs typeface="Lato"/>
              </a:rPr>
              <a:t>RFQ for Technology Partner</a:t>
            </a:r>
          </a:p>
          <a:p>
            <a:pPr marL="12700" marR="5080">
              <a:lnSpc>
                <a:spcPct val="100800"/>
              </a:lnSpc>
              <a:spcBef>
                <a:spcPts val="370"/>
              </a:spcBef>
            </a:pPr>
            <a:endParaRPr sz="1100">
              <a:latin typeface="Daytona Condensed" panose="020B0506030503040204" pitchFamily="34" charset="0"/>
              <a:cs typeface="Lato"/>
            </a:endParaRPr>
          </a:p>
        </p:txBody>
      </p:sp>
      <p:sp>
        <p:nvSpPr>
          <p:cNvPr id="9" name="object 15">
            <a:extLst>
              <a:ext uri="{FF2B5EF4-FFF2-40B4-BE49-F238E27FC236}">
                <a16:creationId xmlns:a16="http://schemas.microsoft.com/office/drawing/2014/main" id="{2FAB5DD0-8F4D-D69A-CC16-0C71B9C1FE23}"/>
              </a:ext>
            </a:extLst>
          </p:cNvPr>
          <p:cNvSpPr txBox="1"/>
          <p:nvPr/>
        </p:nvSpPr>
        <p:spPr>
          <a:xfrm>
            <a:off x="5210707" y="4043794"/>
            <a:ext cx="1503653" cy="874342"/>
          </a:xfrm>
          <a:prstGeom prst="rect">
            <a:avLst/>
          </a:prstGeom>
        </p:spPr>
        <p:txBody>
          <a:bodyPr vert="horz" wrap="square" lIns="0" tIns="0" rIns="0" bIns="0" rtlCol="0">
            <a:spAutoFit/>
          </a:bodyPr>
          <a:lstStyle/>
          <a:p>
            <a:pPr marL="12700">
              <a:lnSpc>
                <a:spcPct val="100000"/>
              </a:lnSpc>
              <a:spcBef>
                <a:spcPts val="575"/>
              </a:spcBef>
            </a:pPr>
            <a:r>
              <a:rPr sz="1400" spc="5">
                <a:solidFill>
                  <a:schemeClr val="accent1"/>
                </a:solidFill>
                <a:latin typeface="Daytona Condensed" panose="020B0506030503040204" pitchFamily="34" charset="0"/>
                <a:cs typeface="Lato"/>
              </a:rPr>
              <a:t>20</a:t>
            </a:r>
            <a:r>
              <a:rPr lang="en-GB" sz="1400" spc="5">
                <a:solidFill>
                  <a:schemeClr val="accent1"/>
                </a:solidFill>
                <a:latin typeface="Daytona Condensed" panose="020B0506030503040204" pitchFamily="34" charset="0"/>
                <a:cs typeface="Lato"/>
              </a:rPr>
              <a:t>20</a:t>
            </a:r>
            <a:endParaRPr sz="1400">
              <a:solidFill>
                <a:schemeClr val="accent1"/>
              </a:solidFill>
              <a:latin typeface="Daytona Condensed" panose="020B0506030503040204" pitchFamily="34" charset="0"/>
              <a:cs typeface="Lato"/>
            </a:endParaRPr>
          </a:p>
          <a:p>
            <a:pPr marL="12700" marR="5080">
              <a:lnSpc>
                <a:spcPct val="100800"/>
              </a:lnSpc>
              <a:spcBef>
                <a:spcPts val="370"/>
              </a:spcBef>
            </a:pPr>
            <a:r>
              <a:rPr lang="en-GB" sz="1100" spc="10">
                <a:solidFill>
                  <a:srgbClr val="58595B"/>
                </a:solidFill>
                <a:latin typeface="Daytona Condensed" panose="020B0506030503040204" pitchFamily="34" charset="0"/>
                <a:cs typeface="Lato"/>
              </a:rPr>
              <a:t>Addition of all IM</a:t>
            </a:r>
          </a:p>
          <a:p>
            <a:pPr marL="12700" marR="5080">
              <a:lnSpc>
                <a:spcPct val="100800"/>
              </a:lnSpc>
              <a:spcBef>
                <a:spcPts val="370"/>
              </a:spcBef>
            </a:pPr>
            <a:r>
              <a:rPr lang="en-GB" sz="1100" spc="10">
                <a:solidFill>
                  <a:srgbClr val="58595B"/>
                </a:solidFill>
                <a:latin typeface="Daytona Condensed" panose="020B0506030503040204" pitchFamily="34" charset="0"/>
                <a:cs typeface="Lato"/>
              </a:rPr>
              <a:t>&amp; VM CSAs</a:t>
            </a:r>
          </a:p>
          <a:p>
            <a:pPr marL="12700" marR="5080">
              <a:lnSpc>
                <a:spcPct val="100800"/>
              </a:lnSpc>
              <a:spcBef>
                <a:spcPts val="370"/>
              </a:spcBef>
            </a:pPr>
            <a:r>
              <a:rPr lang="en-GB" sz="1100" spc="10">
                <a:solidFill>
                  <a:srgbClr val="58595B"/>
                </a:solidFill>
                <a:latin typeface="Daytona Condensed" panose="020B0506030503040204" pitchFamily="34" charset="0"/>
                <a:cs typeface="Lato"/>
              </a:rPr>
              <a:t>FX and Equity derivatives</a:t>
            </a:r>
            <a:endParaRPr sz="1100">
              <a:latin typeface="Daytona Condensed" panose="020B0506030503040204" pitchFamily="34" charset="0"/>
              <a:cs typeface="Lato"/>
            </a:endParaRPr>
          </a:p>
        </p:txBody>
      </p:sp>
      <p:sp>
        <p:nvSpPr>
          <p:cNvPr id="12" name="object 33">
            <a:extLst>
              <a:ext uri="{FF2B5EF4-FFF2-40B4-BE49-F238E27FC236}">
                <a16:creationId xmlns:a16="http://schemas.microsoft.com/office/drawing/2014/main" id="{0019FA3F-7FC0-DCF0-8097-E11C51E86C66}"/>
              </a:ext>
            </a:extLst>
          </p:cNvPr>
          <p:cNvSpPr/>
          <p:nvPr/>
        </p:nvSpPr>
        <p:spPr>
          <a:xfrm>
            <a:off x="453358" y="3328475"/>
            <a:ext cx="8030447" cy="445633"/>
          </a:xfrm>
          <a:custGeom>
            <a:avLst/>
            <a:gdLst/>
            <a:ahLst/>
            <a:cxnLst/>
            <a:rect l="l" t="t" r="r" b="b"/>
            <a:pathLst>
              <a:path w="14367510" h="647064">
                <a:moveTo>
                  <a:pt x="0" y="647051"/>
                </a:moveTo>
                <a:lnTo>
                  <a:pt x="14367459" y="647051"/>
                </a:lnTo>
                <a:lnTo>
                  <a:pt x="14367459" y="0"/>
                </a:lnTo>
                <a:lnTo>
                  <a:pt x="0" y="0"/>
                </a:lnTo>
                <a:lnTo>
                  <a:pt x="0" y="647051"/>
                </a:lnTo>
                <a:close/>
              </a:path>
            </a:pathLst>
          </a:custGeom>
          <a:solidFill>
            <a:schemeClr val="bg2"/>
          </a:solidFill>
        </p:spPr>
        <p:txBody>
          <a:bodyPr wrap="square" lIns="0" tIns="0" rIns="0" bIns="0" rtlCol="0"/>
          <a:lstStyle/>
          <a:p>
            <a:endParaRPr sz="1100">
              <a:solidFill>
                <a:schemeClr val="accent1"/>
              </a:solidFill>
              <a:latin typeface="Daytona Condensed" panose="020B0506030503040204" pitchFamily="34" charset="0"/>
            </a:endParaRPr>
          </a:p>
        </p:txBody>
      </p:sp>
      <p:sp>
        <p:nvSpPr>
          <p:cNvPr id="15" name="object 38">
            <a:extLst>
              <a:ext uri="{FF2B5EF4-FFF2-40B4-BE49-F238E27FC236}">
                <a16:creationId xmlns:a16="http://schemas.microsoft.com/office/drawing/2014/main" id="{FF1CB9E7-A0FE-F2A4-48D7-C035C00F47BA}"/>
              </a:ext>
            </a:extLst>
          </p:cNvPr>
          <p:cNvSpPr txBox="1"/>
          <p:nvPr/>
        </p:nvSpPr>
        <p:spPr>
          <a:xfrm>
            <a:off x="6714360" y="3429000"/>
            <a:ext cx="420665" cy="215444"/>
          </a:xfrm>
          <a:prstGeom prst="rect">
            <a:avLst/>
          </a:prstGeom>
        </p:spPr>
        <p:txBody>
          <a:bodyPr vert="horz" wrap="square" lIns="0" tIns="0" rIns="0" bIns="0" rtlCol="0">
            <a:spAutoFit/>
          </a:bodyPr>
          <a:lstStyle/>
          <a:p>
            <a:pPr>
              <a:lnSpc>
                <a:spcPct val="100000"/>
              </a:lnSpc>
              <a:spcBef>
                <a:spcPts val="105"/>
              </a:spcBef>
            </a:pPr>
            <a:endParaRPr sz="1400">
              <a:latin typeface="Daytona Condensed" panose="020B0506030503040204" pitchFamily="34" charset="0"/>
              <a:cs typeface="Lato"/>
            </a:endParaRPr>
          </a:p>
        </p:txBody>
      </p:sp>
      <p:cxnSp>
        <p:nvCxnSpPr>
          <p:cNvPr id="17" name="Straight Connector 16">
            <a:extLst>
              <a:ext uri="{FF2B5EF4-FFF2-40B4-BE49-F238E27FC236}">
                <a16:creationId xmlns:a16="http://schemas.microsoft.com/office/drawing/2014/main" id="{67DA4867-1D69-4CA0-7749-B7AED8015F92}"/>
              </a:ext>
            </a:extLst>
          </p:cNvPr>
          <p:cNvCxnSpPr>
            <a:cxnSpLocks/>
          </p:cNvCxnSpPr>
          <p:nvPr/>
        </p:nvCxnSpPr>
        <p:spPr>
          <a:xfrm>
            <a:off x="1625869" y="2085722"/>
            <a:ext cx="0" cy="124182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1B6C442-AC04-DF42-D02A-6690ECEEF9FD}"/>
              </a:ext>
            </a:extLst>
          </p:cNvPr>
          <p:cNvCxnSpPr>
            <a:cxnSpLocks/>
          </p:cNvCxnSpPr>
          <p:nvPr/>
        </p:nvCxnSpPr>
        <p:spPr>
          <a:xfrm>
            <a:off x="6117567" y="2096180"/>
            <a:ext cx="0" cy="124182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4D6F6C-D40E-951D-FDDA-EEE066642CAB}"/>
              </a:ext>
            </a:extLst>
          </p:cNvPr>
          <p:cNvCxnSpPr>
            <a:cxnSpLocks/>
          </p:cNvCxnSpPr>
          <p:nvPr/>
        </p:nvCxnSpPr>
        <p:spPr>
          <a:xfrm>
            <a:off x="2667954" y="3752950"/>
            <a:ext cx="0" cy="111389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object 2">
            <a:extLst>
              <a:ext uri="{FF2B5EF4-FFF2-40B4-BE49-F238E27FC236}">
                <a16:creationId xmlns:a16="http://schemas.microsoft.com/office/drawing/2014/main" id="{4FC3206C-3931-AF08-9095-D4D078B8CDD9}"/>
              </a:ext>
            </a:extLst>
          </p:cNvPr>
          <p:cNvSpPr/>
          <p:nvPr/>
        </p:nvSpPr>
        <p:spPr>
          <a:xfrm>
            <a:off x="8419540" y="3328475"/>
            <a:ext cx="3243823" cy="445633"/>
          </a:xfrm>
          <a:custGeom>
            <a:avLst/>
            <a:gdLst/>
            <a:ahLst/>
            <a:cxnLst/>
            <a:rect l="l" t="t" r="r" b="b"/>
            <a:pathLst>
              <a:path w="3581400" h="647064">
                <a:moveTo>
                  <a:pt x="0" y="647051"/>
                </a:moveTo>
                <a:lnTo>
                  <a:pt x="3581061" y="647051"/>
                </a:lnTo>
                <a:lnTo>
                  <a:pt x="3581061" y="0"/>
                </a:lnTo>
                <a:lnTo>
                  <a:pt x="0" y="0"/>
                </a:lnTo>
                <a:lnTo>
                  <a:pt x="0" y="647051"/>
                </a:lnTo>
                <a:close/>
              </a:path>
            </a:pathLst>
          </a:custGeom>
          <a:solidFill>
            <a:schemeClr val="tx1"/>
          </a:solidFill>
        </p:spPr>
        <p:txBody>
          <a:bodyPr wrap="square" lIns="0" tIns="0" rIns="0" bIns="0" rtlCol="0"/>
          <a:lstStyle/>
          <a:p>
            <a:endParaRPr sz="1100">
              <a:latin typeface="Daytona Condensed" panose="020B0506030503040204" pitchFamily="34" charset="0"/>
            </a:endParaRPr>
          </a:p>
        </p:txBody>
      </p:sp>
      <p:grpSp>
        <p:nvGrpSpPr>
          <p:cNvPr id="30" name="Group 29">
            <a:extLst>
              <a:ext uri="{FF2B5EF4-FFF2-40B4-BE49-F238E27FC236}">
                <a16:creationId xmlns:a16="http://schemas.microsoft.com/office/drawing/2014/main" id="{405026A9-CEA2-B2BB-AB31-488382B11F11}"/>
              </a:ext>
            </a:extLst>
          </p:cNvPr>
          <p:cNvGrpSpPr/>
          <p:nvPr/>
        </p:nvGrpSpPr>
        <p:grpSpPr>
          <a:xfrm>
            <a:off x="1279609" y="3439408"/>
            <a:ext cx="7761915" cy="235887"/>
            <a:chOff x="1279609" y="3439408"/>
            <a:chExt cx="7761915" cy="235887"/>
          </a:xfrm>
        </p:grpSpPr>
        <p:sp>
          <p:nvSpPr>
            <p:cNvPr id="13" name="object 34">
              <a:extLst>
                <a:ext uri="{FF2B5EF4-FFF2-40B4-BE49-F238E27FC236}">
                  <a16:creationId xmlns:a16="http://schemas.microsoft.com/office/drawing/2014/main" id="{4EB21EAF-6A16-6E35-6204-7B1D5DD880B1}"/>
                </a:ext>
              </a:extLst>
            </p:cNvPr>
            <p:cNvSpPr txBox="1"/>
            <p:nvPr/>
          </p:nvSpPr>
          <p:spPr>
            <a:xfrm>
              <a:off x="1279609" y="3454188"/>
              <a:ext cx="420665" cy="215444"/>
            </a:xfrm>
            <a:prstGeom prst="rect">
              <a:avLst/>
            </a:prstGeom>
          </p:spPr>
          <p:txBody>
            <a:bodyPr vert="horz" wrap="square" lIns="0" tIns="0" rIns="0" bIns="0" rtlCol="0">
              <a:spAutoFit/>
            </a:bodyPr>
            <a:lstStyle/>
            <a:p>
              <a:pPr>
                <a:lnSpc>
                  <a:spcPct val="100000"/>
                </a:lnSpc>
                <a:spcBef>
                  <a:spcPts val="105"/>
                </a:spcBef>
              </a:pPr>
              <a:r>
                <a:rPr sz="1400" spc="5">
                  <a:solidFill>
                    <a:schemeClr val="accent1"/>
                  </a:solidFill>
                  <a:latin typeface="Daytona Condensed" panose="020B0506030503040204" pitchFamily="34" charset="0"/>
                  <a:cs typeface="Lato"/>
                </a:rPr>
                <a:t>20</a:t>
              </a:r>
              <a:r>
                <a:rPr lang="en-GB" sz="1400" spc="5">
                  <a:solidFill>
                    <a:schemeClr val="accent1"/>
                  </a:solidFill>
                  <a:latin typeface="Daytona Condensed" panose="020B0506030503040204" pitchFamily="34" charset="0"/>
                  <a:cs typeface="Lato"/>
                </a:rPr>
                <a:t>17</a:t>
              </a:r>
              <a:endParaRPr sz="1400">
                <a:solidFill>
                  <a:schemeClr val="accent1"/>
                </a:solidFill>
                <a:latin typeface="Daytona Condensed" panose="020B0506030503040204" pitchFamily="34" charset="0"/>
                <a:cs typeface="Lato"/>
              </a:endParaRPr>
            </a:p>
          </p:txBody>
        </p:sp>
        <p:sp>
          <p:nvSpPr>
            <p:cNvPr id="14" name="object 37">
              <a:extLst>
                <a:ext uri="{FF2B5EF4-FFF2-40B4-BE49-F238E27FC236}">
                  <a16:creationId xmlns:a16="http://schemas.microsoft.com/office/drawing/2014/main" id="{7342F835-8FCB-B29B-9A96-ABD84D4CCE8C}"/>
                </a:ext>
              </a:extLst>
            </p:cNvPr>
            <p:cNvSpPr txBox="1"/>
            <p:nvPr/>
          </p:nvSpPr>
          <p:spPr>
            <a:xfrm>
              <a:off x="4387196" y="3447838"/>
              <a:ext cx="420665" cy="215444"/>
            </a:xfrm>
            <a:prstGeom prst="rect">
              <a:avLst/>
            </a:prstGeom>
          </p:spPr>
          <p:txBody>
            <a:bodyPr vert="horz" wrap="square" lIns="0" tIns="0" rIns="0" bIns="0" rtlCol="0">
              <a:spAutoFit/>
            </a:bodyPr>
            <a:lstStyle/>
            <a:p>
              <a:pPr>
                <a:lnSpc>
                  <a:spcPct val="100000"/>
                </a:lnSpc>
                <a:spcBef>
                  <a:spcPts val="105"/>
                </a:spcBef>
              </a:pPr>
              <a:r>
                <a:rPr sz="1400" spc="5">
                  <a:solidFill>
                    <a:schemeClr val="accent1"/>
                  </a:solidFill>
                  <a:latin typeface="Daytona Condensed" panose="020B0506030503040204" pitchFamily="34" charset="0"/>
                  <a:cs typeface="Lato"/>
                </a:rPr>
                <a:t>20</a:t>
              </a:r>
              <a:r>
                <a:rPr lang="en-GB" sz="1400" spc="5">
                  <a:solidFill>
                    <a:schemeClr val="accent1"/>
                  </a:solidFill>
                  <a:latin typeface="Daytona Condensed" panose="020B0506030503040204" pitchFamily="34" charset="0"/>
                  <a:cs typeface="Lato"/>
                </a:rPr>
                <a:t>20</a:t>
              </a:r>
              <a:endParaRPr sz="1400">
                <a:solidFill>
                  <a:schemeClr val="accent1"/>
                </a:solidFill>
                <a:latin typeface="Daytona Condensed" panose="020B0506030503040204" pitchFamily="34" charset="0"/>
                <a:cs typeface="Lato"/>
              </a:endParaRPr>
            </a:p>
          </p:txBody>
        </p:sp>
        <p:sp>
          <p:nvSpPr>
            <p:cNvPr id="16" name="object 39">
              <a:extLst>
                <a:ext uri="{FF2B5EF4-FFF2-40B4-BE49-F238E27FC236}">
                  <a16:creationId xmlns:a16="http://schemas.microsoft.com/office/drawing/2014/main" id="{CAD067CA-75D2-D600-F798-24D6F27C9572}"/>
                </a:ext>
              </a:extLst>
            </p:cNvPr>
            <p:cNvSpPr txBox="1"/>
            <p:nvPr/>
          </p:nvSpPr>
          <p:spPr>
            <a:xfrm>
              <a:off x="7125505" y="3446324"/>
              <a:ext cx="420665" cy="215444"/>
            </a:xfrm>
            <a:prstGeom prst="rect">
              <a:avLst/>
            </a:prstGeom>
          </p:spPr>
          <p:txBody>
            <a:bodyPr vert="horz" wrap="square" lIns="0" tIns="0" rIns="0" bIns="0" rtlCol="0">
              <a:spAutoFit/>
            </a:bodyPr>
            <a:lstStyle/>
            <a:p>
              <a:pPr>
                <a:lnSpc>
                  <a:spcPct val="100000"/>
                </a:lnSpc>
                <a:spcBef>
                  <a:spcPts val="105"/>
                </a:spcBef>
              </a:pPr>
              <a:r>
                <a:rPr sz="1400" spc="5">
                  <a:solidFill>
                    <a:schemeClr val="accent1"/>
                  </a:solidFill>
                  <a:latin typeface="Daytona Condensed" panose="020B0506030503040204" pitchFamily="34" charset="0"/>
                  <a:cs typeface="Lato"/>
                </a:rPr>
                <a:t>20</a:t>
              </a:r>
              <a:r>
                <a:rPr lang="en-GB" sz="1400" spc="5">
                  <a:solidFill>
                    <a:schemeClr val="accent1"/>
                  </a:solidFill>
                  <a:latin typeface="Daytona Condensed" panose="020B0506030503040204" pitchFamily="34" charset="0"/>
                  <a:cs typeface="Lato"/>
                </a:rPr>
                <a:t>22</a:t>
              </a:r>
              <a:endParaRPr sz="1400">
                <a:solidFill>
                  <a:schemeClr val="accent1"/>
                </a:solidFill>
                <a:latin typeface="Daytona Condensed" panose="020B0506030503040204" pitchFamily="34" charset="0"/>
                <a:cs typeface="Lato"/>
              </a:endParaRPr>
            </a:p>
          </p:txBody>
        </p:sp>
        <p:sp>
          <p:nvSpPr>
            <p:cNvPr id="24" name="object 41">
              <a:extLst>
                <a:ext uri="{FF2B5EF4-FFF2-40B4-BE49-F238E27FC236}">
                  <a16:creationId xmlns:a16="http://schemas.microsoft.com/office/drawing/2014/main" id="{7DD0C53B-48D1-2322-F48F-D9E9483566C3}"/>
                </a:ext>
              </a:extLst>
            </p:cNvPr>
            <p:cNvSpPr txBox="1"/>
            <p:nvPr/>
          </p:nvSpPr>
          <p:spPr>
            <a:xfrm>
              <a:off x="8350432" y="3439408"/>
              <a:ext cx="691092" cy="215444"/>
            </a:xfrm>
            <a:prstGeom prst="rect">
              <a:avLst/>
            </a:prstGeom>
            <a:noFill/>
          </p:spPr>
          <p:txBody>
            <a:bodyPr vert="horz" wrap="square" lIns="0" tIns="0" rIns="0" bIns="0" rtlCol="0">
              <a:spAutoFit/>
            </a:bodyPr>
            <a:lstStyle/>
            <a:p>
              <a:pPr marL="174625">
                <a:lnSpc>
                  <a:spcPct val="100000"/>
                </a:lnSpc>
                <a:spcBef>
                  <a:spcPts val="1025"/>
                </a:spcBef>
              </a:pPr>
              <a:r>
                <a:rPr sz="1400" spc="5">
                  <a:solidFill>
                    <a:schemeClr val="accent1"/>
                  </a:solidFill>
                  <a:latin typeface="Daytona Condensed" panose="020B0506030503040204" pitchFamily="34" charset="0"/>
                  <a:cs typeface="Lato"/>
                </a:rPr>
                <a:t>202</a:t>
              </a:r>
              <a:r>
                <a:rPr lang="en-GB" sz="1400" spc="5">
                  <a:solidFill>
                    <a:schemeClr val="accent1"/>
                  </a:solidFill>
                  <a:latin typeface="Daytona Condensed" panose="020B0506030503040204" pitchFamily="34" charset="0"/>
                  <a:cs typeface="Lato"/>
                </a:rPr>
                <a:t>3</a:t>
              </a:r>
              <a:endParaRPr sz="1400">
                <a:solidFill>
                  <a:schemeClr val="accent1"/>
                </a:solidFill>
                <a:latin typeface="Daytona Condensed" panose="020B0506030503040204" pitchFamily="34" charset="0"/>
                <a:cs typeface="Lato"/>
              </a:endParaRPr>
            </a:p>
          </p:txBody>
        </p:sp>
        <p:sp>
          <p:nvSpPr>
            <p:cNvPr id="25" name="object 34">
              <a:extLst>
                <a:ext uri="{FF2B5EF4-FFF2-40B4-BE49-F238E27FC236}">
                  <a16:creationId xmlns:a16="http://schemas.microsoft.com/office/drawing/2014/main" id="{7CC8AFBA-813A-3817-18E8-2564E4F16A32}"/>
                </a:ext>
              </a:extLst>
            </p:cNvPr>
            <p:cNvSpPr txBox="1"/>
            <p:nvPr/>
          </p:nvSpPr>
          <p:spPr>
            <a:xfrm>
              <a:off x="2122541" y="3458833"/>
              <a:ext cx="420665" cy="215444"/>
            </a:xfrm>
            <a:prstGeom prst="rect">
              <a:avLst/>
            </a:prstGeom>
          </p:spPr>
          <p:txBody>
            <a:bodyPr vert="horz" wrap="square" lIns="0" tIns="0" rIns="0" bIns="0" rtlCol="0">
              <a:spAutoFit/>
            </a:bodyPr>
            <a:lstStyle/>
            <a:p>
              <a:pPr>
                <a:lnSpc>
                  <a:spcPct val="100000"/>
                </a:lnSpc>
                <a:spcBef>
                  <a:spcPts val="105"/>
                </a:spcBef>
              </a:pPr>
              <a:r>
                <a:rPr sz="1400" spc="5">
                  <a:solidFill>
                    <a:schemeClr val="accent1"/>
                  </a:solidFill>
                  <a:latin typeface="Daytona Condensed" panose="020B0506030503040204" pitchFamily="34" charset="0"/>
                  <a:cs typeface="Lato"/>
                </a:rPr>
                <a:t>20</a:t>
              </a:r>
              <a:r>
                <a:rPr lang="en-GB" sz="1400" spc="5">
                  <a:solidFill>
                    <a:schemeClr val="accent1"/>
                  </a:solidFill>
                  <a:latin typeface="Daytona Condensed" panose="020B0506030503040204" pitchFamily="34" charset="0"/>
                  <a:cs typeface="Lato"/>
                </a:rPr>
                <a:t>18</a:t>
              </a:r>
              <a:endParaRPr sz="1400">
                <a:solidFill>
                  <a:schemeClr val="accent1"/>
                </a:solidFill>
                <a:latin typeface="Daytona Condensed" panose="020B0506030503040204" pitchFamily="34" charset="0"/>
                <a:cs typeface="Lato"/>
              </a:endParaRPr>
            </a:p>
          </p:txBody>
        </p:sp>
        <p:sp>
          <p:nvSpPr>
            <p:cNvPr id="26" name="object 34">
              <a:extLst>
                <a:ext uri="{FF2B5EF4-FFF2-40B4-BE49-F238E27FC236}">
                  <a16:creationId xmlns:a16="http://schemas.microsoft.com/office/drawing/2014/main" id="{24E2A168-DAB6-1986-4726-715883944F30}"/>
                </a:ext>
              </a:extLst>
            </p:cNvPr>
            <p:cNvSpPr txBox="1"/>
            <p:nvPr/>
          </p:nvSpPr>
          <p:spPr>
            <a:xfrm>
              <a:off x="3108635" y="3447838"/>
              <a:ext cx="420665" cy="215444"/>
            </a:xfrm>
            <a:prstGeom prst="rect">
              <a:avLst/>
            </a:prstGeom>
          </p:spPr>
          <p:txBody>
            <a:bodyPr vert="horz" wrap="square" lIns="0" tIns="0" rIns="0" bIns="0" rtlCol="0">
              <a:spAutoFit/>
            </a:bodyPr>
            <a:lstStyle/>
            <a:p>
              <a:pPr>
                <a:lnSpc>
                  <a:spcPct val="100000"/>
                </a:lnSpc>
                <a:spcBef>
                  <a:spcPts val="105"/>
                </a:spcBef>
              </a:pPr>
              <a:r>
                <a:rPr sz="1400" spc="5">
                  <a:solidFill>
                    <a:schemeClr val="accent1"/>
                  </a:solidFill>
                  <a:latin typeface="Daytona Condensed" panose="020B0506030503040204" pitchFamily="34" charset="0"/>
                  <a:cs typeface="Lato"/>
                </a:rPr>
                <a:t>20</a:t>
              </a:r>
              <a:r>
                <a:rPr lang="en-GB" sz="1400" spc="5">
                  <a:solidFill>
                    <a:schemeClr val="accent1"/>
                  </a:solidFill>
                  <a:latin typeface="Daytona Condensed" panose="020B0506030503040204" pitchFamily="34" charset="0"/>
                  <a:cs typeface="Lato"/>
                </a:rPr>
                <a:t>19</a:t>
              </a:r>
              <a:endParaRPr sz="1400">
                <a:solidFill>
                  <a:schemeClr val="accent1"/>
                </a:solidFill>
                <a:latin typeface="Daytona Condensed" panose="020B0506030503040204" pitchFamily="34" charset="0"/>
                <a:cs typeface="Lato"/>
              </a:endParaRPr>
            </a:p>
          </p:txBody>
        </p:sp>
        <p:sp>
          <p:nvSpPr>
            <p:cNvPr id="27" name="object 37">
              <a:extLst>
                <a:ext uri="{FF2B5EF4-FFF2-40B4-BE49-F238E27FC236}">
                  <a16:creationId xmlns:a16="http://schemas.microsoft.com/office/drawing/2014/main" id="{CE8C9F33-4947-8CEC-DF81-C28C75E6A17B}"/>
                </a:ext>
              </a:extLst>
            </p:cNvPr>
            <p:cNvSpPr txBox="1"/>
            <p:nvPr/>
          </p:nvSpPr>
          <p:spPr>
            <a:xfrm>
              <a:off x="5467446" y="3459851"/>
              <a:ext cx="420665" cy="215444"/>
            </a:xfrm>
            <a:prstGeom prst="rect">
              <a:avLst/>
            </a:prstGeom>
          </p:spPr>
          <p:txBody>
            <a:bodyPr vert="horz" wrap="square" lIns="0" tIns="0" rIns="0" bIns="0" rtlCol="0">
              <a:spAutoFit/>
            </a:bodyPr>
            <a:lstStyle/>
            <a:p>
              <a:pPr>
                <a:lnSpc>
                  <a:spcPct val="100000"/>
                </a:lnSpc>
                <a:spcBef>
                  <a:spcPts val="105"/>
                </a:spcBef>
              </a:pPr>
              <a:r>
                <a:rPr sz="1400" spc="5">
                  <a:solidFill>
                    <a:schemeClr val="accent1"/>
                  </a:solidFill>
                  <a:latin typeface="Daytona Condensed" panose="020B0506030503040204" pitchFamily="34" charset="0"/>
                  <a:cs typeface="Lato"/>
                </a:rPr>
                <a:t>20</a:t>
              </a:r>
              <a:r>
                <a:rPr lang="en-GB" sz="1400" spc="5">
                  <a:solidFill>
                    <a:schemeClr val="accent1"/>
                  </a:solidFill>
                  <a:latin typeface="Daytona Condensed" panose="020B0506030503040204" pitchFamily="34" charset="0"/>
                  <a:cs typeface="Lato"/>
                </a:rPr>
                <a:t>21</a:t>
              </a:r>
              <a:endParaRPr sz="1400">
                <a:solidFill>
                  <a:schemeClr val="accent1"/>
                </a:solidFill>
                <a:latin typeface="Daytona Condensed" panose="020B0506030503040204" pitchFamily="34" charset="0"/>
                <a:cs typeface="Lato"/>
              </a:endParaRPr>
            </a:p>
          </p:txBody>
        </p:sp>
      </p:grpSp>
      <p:cxnSp>
        <p:nvCxnSpPr>
          <p:cNvPr id="31" name="Straight Connector 30">
            <a:extLst>
              <a:ext uri="{FF2B5EF4-FFF2-40B4-BE49-F238E27FC236}">
                <a16:creationId xmlns:a16="http://schemas.microsoft.com/office/drawing/2014/main" id="{C7B298EF-2E76-AA6D-ED30-64C01FCAC192}"/>
              </a:ext>
            </a:extLst>
          </p:cNvPr>
          <p:cNvCxnSpPr>
            <a:cxnSpLocks/>
          </p:cNvCxnSpPr>
          <p:nvPr/>
        </p:nvCxnSpPr>
        <p:spPr>
          <a:xfrm>
            <a:off x="3638832" y="2086648"/>
            <a:ext cx="0" cy="124182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object 12">
            <a:extLst>
              <a:ext uri="{FF2B5EF4-FFF2-40B4-BE49-F238E27FC236}">
                <a16:creationId xmlns:a16="http://schemas.microsoft.com/office/drawing/2014/main" id="{E94EED9D-379A-F9CB-4421-8AD896446615}"/>
              </a:ext>
            </a:extLst>
          </p:cNvPr>
          <p:cNvSpPr txBox="1"/>
          <p:nvPr/>
        </p:nvSpPr>
        <p:spPr>
          <a:xfrm>
            <a:off x="6219214" y="2022806"/>
            <a:ext cx="1410955" cy="995144"/>
          </a:xfrm>
          <a:prstGeom prst="rect">
            <a:avLst/>
          </a:prstGeom>
        </p:spPr>
        <p:txBody>
          <a:bodyPr vert="horz" wrap="square" lIns="0" tIns="0" rIns="0" bIns="0" rtlCol="0">
            <a:spAutoFit/>
          </a:bodyPr>
          <a:lstStyle/>
          <a:p>
            <a:pPr marL="12700">
              <a:lnSpc>
                <a:spcPct val="100000"/>
              </a:lnSpc>
              <a:spcBef>
                <a:spcPts val="575"/>
              </a:spcBef>
            </a:pPr>
            <a:r>
              <a:rPr lang="en-US" sz="1400" spc="35">
                <a:solidFill>
                  <a:schemeClr val="accent1"/>
                </a:solidFill>
                <a:latin typeface="Daytona Condensed" panose="020B0506030503040204" pitchFamily="34" charset="0"/>
                <a:cs typeface="Lato"/>
              </a:rPr>
              <a:t>Jun 2021</a:t>
            </a:r>
            <a:endParaRPr sz="1400">
              <a:solidFill>
                <a:schemeClr val="accent1"/>
              </a:solidFill>
              <a:latin typeface="Daytona Condensed" panose="020B0506030503040204" pitchFamily="34" charset="0"/>
              <a:cs typeface="Lato"/>
            </a:endParaRPr>
          </a:p>
          <a:p>
            <a:pPr marL="12700">
              <a:spcBef>
                <a:spcPts val="385"/>
              </a:spcBef>
            </a:pPr>
            <a:r>
              <a:rPr lang="en-GB" sz="1100" spc="5">
                <a:solidFill>
                  <a:srgbClr val="58595B"/>
                </a:solidFill>
                <a:latin typeface="Daytona Condensed" panose="020B0506030503040204" pitchFamily="34" charset="0"/>
                <a:cs typeface="Lato"/>
              </a:rPr>
              <a:t>First non-derivatives product class contributed by ISLA:</a:t>
            </a:r>
            <a:endParaRPr lang="en-GB" sz="1100">
              <a:latin typeface="Daytona Condensed" panose="020B0506030503040204" pitchFamily="34" charset="0"/>
              <a:cs typeface="Lato"/>
            </a:endParaRPr>
          </a:p>
          <a:p>
            <a:pPr marL="12700">
              <a:lnSpc>
                <a:spcPct val="100000"/>
              </a:lnSpc>
              <a:spcBef>
                <a:spcPts val="385"/>
              </a:spcBef>
            </a:pPr>
            <a:r>
              <a:rPr lang="en-GB" sz="1100" spc="5">
                <a:solidFill>
                  <a:srgbClr val="58595B"/>
                </a:solidFill>
                <a:latin typeface="Daytona Condensed" panose="020B0506030503040204" pitchFamily="34" charset="0"/>
                <a:cs typeface="Lato"/>
              </a:rPr>
              <a:t>Securities Lending MVP</a:t>
            </a:r>
          </a:p>
        </p:txBody>
      </p:sp>
      <p:cxnSp>
        <p:nvCxnSpPr>
          <p:cNvPr id="35" name="Straight Connector 34">
            <a:extLst>
              <a:ext uri="{FF2B5EF4-FFF2-40B4-BE49-F238E27FC236}">
                <a16:creationId xmlns:a16="http://schemas.microsoft.com/office/drawing/2014/main" id="{F3CB4078-5BC8-2FEC-7506-DC4456D5FF7A}"/>
              </a:ext>
            </a:extLst>
          </p:cNvPr>
          <p:cNvCxnSpPr>
            <a:cxnSpLocks/>
          </p:cNvCxnSpPr>
          <p:nvPr/>
        </p:nvCxnSpPr>
        <p:spPr>
          <a:xfrm>
            <a:off x="8196989" y="2096180"/>
            <a:ext cx="0" cy="124182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object 12">
            <a:extLst>
              <a:ext uri="{FF2B5EF4-FFF2-40B4-BE49-F238E27FC236}">
                <a16:creationId xmlns:a16="http://schemas.microsoft.com/office/drawing/2014/main" id="{4AB70B3A-8B9F-4A60-2CB5-FC7C30A2FB25}"/>
              </a:ext>
            </a:extLst>
          </p:cNvPr>
          <p:cNvSpPr txBox="1"/>
          <p:nvPr/>
        </p:nvSpPr>
        <p:spPr>
          <a:xfrm>
            <a:off x="8298636" y="2022806"/>
            <a:ext cx="1469684" cy="1267014"/>
          </a:xfrm>
          <a:prstGeom prst="rect">
            <a:avLst/>
          </a:prstGeom>
        </p:spPr>
        <p:txBody>
          <a:bodyPr vert="horz" wrap="square" lIns="0" tIns="0" rIns="0" bIns="0" rtlCol="0">
            <a:spAutoFit/>
          </a:bodyPr>
          <a:lstStyle/>
          <a:p>
            <a:pPr marL="12700">
              <a:lnSpc>
                <a:spcPct val="100000"/>
              </a:lnSpc>
              <a:spcBef>
                <a:spcPts val="575"/>
              </a:spcBef>
            </a:pPr>
            <a:r>
              <a:rPr lang="en-US" sz="1400" spc="35">
                <a:solidFill>
                  <a:schemeClr val="accent1"/>
                </a:solidFill>
                <a:latin typeface="Daytona Condensed" panose="020B0506030503040204" pitchFamily="34" charset="0"/>
                <a:cs typeface="Lato"/>
              </a:rPr>
              <a:t>Nov/Dec 2022</a:t>
            </a:r>
            <a:endParaRPr sz="1400">
              <a:solidFill>
                <a:schemeClr val="accent1"/>
              </a:solidFill>
              <a:latin typeface="Daytona Condensed" panose="020B0506030503040204" pitchFamily="34" charset="0"/>
              <a:cs typeface="Lato"/>
            </a:endParaRPr>
          </a:p>
          <a:p>
            <a:pPr marL="12700">
              <a:spcBef>
                <a:spcPts val="385"/>
              </a:spcBef>
            </a:pPr>
            <a:r>
              <a:rPr lang="en-GB" sz="1100" spc="5">
                <a:solidFill>
                  <a:srgbClr val="58595B"/>
                </a:solidFill>
                <a:latin typeface="Daytona Condensed" panose="020B0506030503040204" pitchFamily="34" charset="0"/>
                <a:cs typeface="Lato"/>
              </a:rPr>
              <a:t>First production use:</a:t>
            </a:r>
          </a:p>
          <a:p>
            <a:pPr marL="12700">
              <a:spcBef>
                <a:spcPts val="385"/>
              </a:spcBef>
            </a:pPr>
            <a:r>
              <a:rPr lang="en-GB" sz="1100" spc="5">
                <a:solidFill>
                  <a:srgbClr val="58595B"/>
                </a:solidFill>
                <a:latin typeface="Daytona Condensed" panose="020B0506030503040204" pitchFamily="34" charset="0"/>
                <a:cs typeface="Lato"/>
              </a:rPr>
              <a:t>DRR for CFTC reporting</a:t>
            </a:r>
          </a:p>
          <a:p>
            <a:pPr marL="12700">
              <a:spcBef>
                <a:spcPts val="385"/>
              </a:spcBef>
            </a:pPr>
            <a:r>
              <a:rPr lang="en-GB" sz="1100" spc="5">
                <a:solidFill>
                  <a:srgbClr val="58595B"/>
                </a:solidFill>
                <a:latin typeface="Daytona Condensed" panose="020B0506030503040204" pitchFamily="34" charset="0"/>
                <a:cs typeface="Lato"/>
              </a:rPr>
              <a:t>CDM 3.0</a:t>
            </a:r>
          </a:p>
          <a:p>
            <a:pPr marL="12700">
              <a:spcBef>
                <a:spcPts val="385"/>
              </a:spcBef>
            </a:pPr>
            <a:r>
              <a:rPr lang="en-GB" sz="1100" spc="5">
                <a:solidFill>
                  <a:srgbClr val="58595B"/>
                </a:solidFill>
                <a:latin typeface="Daytona Condensed" panose="020B0506030503040204" pitchFamily="34" charset="0"/>
                <a:cs typeface="Lato"/>
              </a:rPr>
              <a:t>Further product, event and workflow coverage</a:t>
            </a:r>
          </a:p>
        </p:txBody>
      </p:sp>
      <p:sp>
        <p:nvSpPr>
          <p:cNvPr id="37" name="object 12">
            <a:extLst>
              <a:ext uri="{FF2B5EF4-FFF2-40B4-BE49-F238E27FC236}">
                <a16:creationId xmlns:a16="http://schemas.microsoft.com/office/drawing/2014/main" id="{91DEA4E0-70BB-5A42-8FE9-2939FAF7C252}"/>
              </a:ext>
            </a:extLst>
          </p:cNvPr>
          <p:cNvSpPr txBox="1"/>
          <p:nvPr/>
        </p:nvSpPr>
        <p:spPr>
          <a:xfrm>
            <a:off x="9069563" y="4043794"/>
            <a:ext cx="1410955" cy="656590"/>
          </a:xfrm>
          <a:prstGeom prst="rect">
            <a:avLst/>
          </a:prstGeom>
        </p:spPr>
        <p:txBody>
          <a:bodyPr vert="horz" wrap="square" lIns="0" tIns="0" rIns="0" bIns="0" rtlCol="0">
            <a:spAutoFit/>
          </a:bodyPr>
          <a:lstStyle/>
          <a:p>
            <a:pPr marL="12700">
              <a:lnSpc>
                <a:spcPct val="100000"/>
              </a:lnSpc>
              <a:spcBef>
                <a:spcPts val="575"/>
              </a:spcBef>
            </a:pPr>
            <a:r>
              <a:rPr lang="en-US" sz="1400" spc="35">
                <a:solidFill>
                  <a:schemeClr val="accent1"/>
                </a:solidFill>
                <a:latin typeface="Daytona Condensed" panose="020B0506030503040204" pitchFamily="34" charset="0"/>
                <a:cs typeface="Lato"/>
              </a:rPr>
              <a:t>Feb 2023</a:t>
            </a:r>
            <a:endParaRPr sz="1400">
              <a:solidFill>
                <a:schemeClr val="accent1"/>
              </a:solidFill>
              <a:latin typeface="Daytona Condensed" panose="020B0506030503040204" pitchFamily="34" charset="0"/>
              <a:cs typeface="Lato"/>
            </a:endParaRPr>
          </a:p>
          <a:p>
            <a:pPr marL="12700">
              <a:spcBef>
                <a:spcPts val="385"/>
              </a:spcBef>
            </a:pPr>
            <a:r>
              <a:rPr lang="en-GB" sz="1100" spc="5">
                <a:solidFill>
                  <a:srgbClr val="58595B"/>
                </a:solidFill>
                <a:latin typeface="Daytona Condensed" panose="020B0506030503040204" pitchFamily="34" charset="0"/>
                <a:cs typeface="Lato"/>
              </a:rPr>
              <a:t>CDM migrated to FINOS</a:t>
            </a:r>
          </a:p>
          <a:p>
            <a:pPr marL="12700">
              <a:spcBef>
                <a:spcPts val="385"/>
              </a:spcBef>
            </a:pPr>
            <a:r>
              <a:rPr lang="en-GB" sz="1100" spc="5">
                <a:solidFill>
                  <a:srgbClr val="58595B"/>
                </a:solidFill>
                <a:latin typeface="Daytona Condensed" panose="020B0506030503040204" pitchFamily="34" charset="0"/>
                <a:cs typeface="Lato"/>
              </a:rPr>
              <a:t>Open-source community</a:t>
            </a:r>
          </a:p>
        </p:txBody>
      </p:sp>
      <p:cxnSp>
        <p:nvCxnSpPr>
          <p:cNvPr id="39" name="Straight Connector 38">
            <a:extLst>
              <a:ext uri="{FF2B5EF4-FFF2-40B4-BE49-F238E27FC236}">
                <a16:creationId xmlns:a16="http://schemas.microsoft.com/office/drawing/2014/main" id="{29B97400-6A95-5A39-FE29-35066E514914}"/>
              </a:ext>
            </a:extLst>
          </p:cNvPr>
          <p:cNvCxnSpPr>
            <a:cxnSpLocks/>
          </p:cNvCxnSpPr>
          <p:nvPr/>
        </p:nvCxnSpPr>
        <p:spPr>
          <a:xfrm>
            <a:off x="5155773" y="3765162"/>
            <a:ext cx="0" cy="111389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B2761A2-97B5-242F-1706-093C38BBB11A}"/>
              </a:ext>
            </a:extLst>
          </p:cNvPr>
          <p:cNvCxnSpPr>
            <a:cxnSpLocks/>
          </p:cNvCxnSpPr>
          <p:nvPr/>
        </p:nvCxnSpPr>
        <p:spPr>
          <a:xfrm>
            <a:off x="6837305" y="3774108"/>
            <a:ext cx="0" cy="111389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6A5E35C-71C9-594A-5A6A-81F6214352D9}"/>
              </a:ext>
            </a:extLst>
          </p:cNvPr>
          <p:cNvCxnSpPr>
            <a:cxnSpLocks/>
          </p:cNvCxnSpPr>
          <p:nvPr/>
        </p:nvCxnSpPr>
        <p:spPr>
          <a:xfrm>
            <a:off x="9010851" y="3774108"/>
            <a:ext cx="0" cy="111389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2" name="Star: 5 Points 41">
            <a:extLst>
              <a:ext uri="{FF2B5EF4-FFF2-40B4-BE49-F238E27FC236}">
                <a16:creationId xmlns:a16="http://schemas.microsoft.com/office/drawing/2014/main" id="{CF28D0FB-7F64-EF23-B818-BF6427A12C6D}"/>
              </a:ext>
            </a:extLst>
          </p:cNvPr>
          <p:cNvSpPr/>
          <p:nvPr/>
        </p:nvSpPr>
        <p:spPr>
          <a:xfrm>
            <a:off x="8887591" y="3384926"/>
            <a:ext cx="272044" cy="266695"/>
          </a:xfrm>
          <a:prstGeom prst="star5">
            <a:avLst/>
          </a:prstGeom>
          <a:ln>
            <a:solidFill>
              <a:schemeClr val="accent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latin typeface="Daytona Condensed" panose="020B0506030503040204" pitchFamily="34" charset="0"/>
            </a:endParaRPr>
          </a:p>
        </p:txBody>
      </p:sp>
      <p:cxnSp>
        <p:nvCxnSpPr>
          <p:cNvPr id="43" name="Straight Connector 42">
            <a:extLst>
              <a:ext uri="{FF2B5EF4-FFF2-40B4-BE49-F238E27FC236}">
                <a16:creationId xmlns:a16="http://schemas.microsoft.com/office/drawing/2014/main" id="{EA611543-C580-E835-73CF-F35DB90BE20B}"/>
              </a:ext>
            </a:extLst>
          </p:cNvPr>
          <p:cNvCxnSpPr>
            <a:cxnSpLocks/>
          </p:cNvCxnSpPr>
          <p:nvPr/>
        </p:nvCxnSpPr>
        <p:spPr>
          <a:xfrm>
            <a:off x="10149487" y="2085723"/>
            <a:ext cx="0" cy="124182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4" name="object 12">
            <a:extLst>
              <a:ext uri="{FF2B5EF4-FFF2-40B4-BE49-F238E27FC236}">
                <a16:creationId xmlns:a16="http://schemas.microsoft.com/office/drawing/2014/main" id="{F8C0A672-713F-5B4C-D8E4-9026F787A3B4}"/>
              </a:ext>
            </a:extLst>
          </p:cNvPr>
          <p:cNvSpPr txBox="1"/>
          <p:nvPr/>
        </p:nvSpPr>
        <p:spPr>
          <a:xfrm>
            <a:off x="10251134" y="2012349"/>
            <a:ext cx="1410955" cy="656590"/>
          </a:xfrm>
          <a:prstGeom prst="rect">
            <a:avLst/>
          </a:prstGeom>
        </p:spPr>
        <p:txBody>
          <a:bodyPr vert="horz" wrap="square" lIns="0" tIns="0" rIns="0" bIns="0" rtlCol="0">
            <a:spAutoFit/>
          </a:bodyPr>
          <a:lstStyle/>
          <a:p>
            <a:pPr marL="12700">
              <a:lnSpc>
                <a:spcPct val="100000"/>
              </a:lnSpc>
              <a:spcBef>
                <a:spcPts val="575"/>
              </a:spcBef>
            </a:pPr>
            <a:r>
              <a:rPr lang="en-US" sz="1400" spc="35">
                <a:solidFill>
                  <a:schemeClr val="accent1"/>
                </a:solidFill>
                <a:latin typeface="Daytona Condensed" panose="020B0506030503040204" pitchFamily="34" charset="0"/>
                <a:cs typeface="Lato"/>
              </a:rPr>
              <a:t>Jul 2023</a:t>
            </a:r>
            <a:endParaRPr sz="1400">
              <a:solidFill>
                <a:schemeClr val="accent1"/>
              </a:solidFill>
              <a:latin typeface="Daytona Condensed" panose="020B0506030503040204" pitchFamily="34" charset="0"/>
              <a:cs typeface="Lato"/>
            </a:endParaRPr>
          </a:p>
          <a:p>
            <a:pPr marL="12700">
              <a:spcBef>
                <a:spcPts val="385"/>
              </a:spcBef>
            </a:pPr>
            <a:r>
              <a:rPr lang="en-GB" sz="1100" spc="5">
                <a:solidFill>
                  <a:srgbClr val="58595B"/>
                </a:solidFill>
                <a:latin typeface="Daytona Condensed" panose="020B0506030503040204" pitchFamily="34" charset="0"/>
                <a:cs typeface="Lato"/>
              </a:rPr>
              <a:t>CDM 4.0</a:t>
            </a:r>
          </a:p>
          <a:p>
            <a:pPr marL="12700">
              <a:spcBef>
                <a:spcPts val="385"/>
              </a:spcBef>
            </a:pPr>
            <a:r>
              <a:rPr lang="en-GB" sz="1100" spc="5">
                <a:solidFill>
                  <a:srgbClr val="58595B"/>
                </a:solidFill>
                <a:latin typeface="Daytona Condensed" panose="020B0506030503040204" pitchFamily="34" charset="0"/>
                <a:cs typeface="Lato"/>
              </a:rPr>
              <a:t>ICMA contributes Repos</a:t>
            </a:r>
          </a:p>
        </p:txBody>
      </p:sp>
      <p:sp>
        <p:nvSpPr>
          <p:cNvPr id="45" name="object 34">
            <a:extLst>
              <a:ext uri="{FF2B5EF4-FFF2-40B4-BE49-F238E27FC236}">
                <a16:creationId xmlns:a16="http://schemas.microsoft.com/office/drawing/2014/main" id="{3115DDA6-21E5-6168-0212-950057BC95FD}"/>
              </a:ext>
            </a:extLst>
          </p:cNvPr>
          <p:cNvSpPr txBox="1"/>
          <p:nvPr/>
        </p:nvSpPr>
        <p:spPr>
          <a:xfrm>
            <a:off x="489067" y="3458833"/>
            <a:ext cx="420665" cy="215444"/>
          </a:xfrm>
          <a:prstGeom prst="rect">
            <a:avLst/>
          </a:prstGeom>
        </p:spPr>
        <p:txBody>
          <a:bodyPr vert="horz" wrap="square" lIns="0" tIns="0" rIns="0" bIns="0" rtlCol="0">
            <a:spAutoFit/>
          </a:bodyPr>
          <a:lstStyle/>
          <a:p>
            <a:pPr>
              <a:lnSpc>
                <a:spcPct val="100000"/>
              </a:lnSpc>
              <a:spcBef>
                <a:spcPts val="105"/>
              </a:spcBef>
            </a:pPr>
            <a:r>
              <a:rPr sz="1400" spc="5">
                <a:solidFill>
                  <a:schemeClr val="accent1"/>
                </a:solidFill>
                <a:latin typeface="Daytona Condensed" panose="020B0506030503040204" pitchFamily="34" charset="0"/>
                <a:cs typeface="Lato"/>
              </a:rPr>
              <a:t>20</a:t>
            </a:r>
            <a:r>
              <a:rPr lang="en-GB" sz="1400" spc="5">
                <a:solidFill>
                  <a:schemeClr val="accent1"/>
                </a:solidFill>
                <a:latin typeface="Daytona Condensed" panose="020B0506030503040204" pitchFamily="34" charset="0"/>
                <a:cs typeface="Lato"/>
              </a:rPr>
              <a:t>16</a:t>
            </a:r>
            <a:endParaRPr sz="1400">
              <a:solidFill>
                <a:schemeClr val="accent1"/>
              </a:solidFill>
              <a:latin typeface="Daytona Condensed" panose="020B0506030503040204" pitchFamily="34" charset="0"/>
              <a:cs typeface="Lato"/>
            </a:endParaRPr>
          </a:p>
        </p:txBody>
      </p:sp>
      <p:sp>
        <p:nvSpPr>
          <p:cNvPr id="47" name="object 11">
            <a:extLst>
              <a:ext uri="{FF2B5EF4-FFF2-40B4-BE49-F238E27FC236}">
                <a16:creationId xmlns:a16="http://schemas.microsoft.com/office/drawing/2014/main" id="{74DEB1AB-756E-DB82-0FC0-F4E39B42043F}"/>
              </a:ext>
            </a:extLst>
          </p:cNvPr>
          <p:cNvSpPr txBox="1"/>
          <p:nvPr/>
        </p:nvSpPr>
        <p:spPr>
          <a:xfrm>
            <a:off x="874703" y="4033337"/>
            <a:ext cx="1323246" cy="771750"/>
          </a:xfrm>
          <a:prstGeom prst="rect">
            <a:avLst/>
          </a:prstGeom>
        </p:spPr>
        <p:txBody>
          <a:bodyPr vert="horz" wrap="square" lIns="0" tIns="0" rIns="0" bIns="0" rtlCol="0">
            <a:spAutoFit/>
          </a:bodyPr>
          <a:lstStyle/>
          <a:p>
            <a:pPr marL="12700">
              <a:lnSpc>
                <a:spcPct val="100000"/>
              </a:lnSpc>
              <a:spcBef>
                <a:spcPts val="575"/>
              </a:spcBef>
            </a:pPr>
            <a:r>
              <a:rPr lang="en-US" sz="1400" spc="25">
                <a:solidFill>
                  <a:schemeClr val="accent1"/>
                </a:solidFill>
                <a:latin typeface="Daytona Condensed" panose="020B0506030503040204" pitchFamily="34" charset="0"/>
                <a:cs typeface="Lato"/>
              </a:rPr>
              <a:t>Sep 2016</a:t>
            </a:r>
            <a:endParaRPr sz="1400">
              <a:solidFill>
                <a:schemeClr val="accent1"/>
              </a:solidFill>
              <a:latin typeface="Daytona Condensed" panose="020B0506030503040204" pitchFamily="34" charset="0"/>
              <a:cs typeface="Lato"/>
            </a:endParaRPr>
          </a:p>
          <a:p>
            <a:pPr marL="12700" marR="5080">
              <a:lnSpc>
                <a:spcPct val="100800"/>
              </a:lnSpc>
              <a:spcBef>
                <a:spcPts val="370"/>
              </a:spcBef>
            </a:pPr>
            <a:r>
              <a:rPr lang="en-GB" sz="1100">
                <a:latin typeface="Daytona Condensed" panose="020B0506030503040204" pitchFamily="34" charset="0"/>
                <a:cs typeface="Lato"/>
              </a:rPr>
              <a:t>ISDA publishes white paper on Future of Derivatives Processing</a:t>
            </a:r>
          </a:p>
        </p:txBody>
      </p:sp>
      <p:cxnSp>
        <p:nvCxnSpPr>
          <p:cNvPr id="48" name="Straight Connector 47">
            <a:extLst>
              <a:ext uri="{FF2B5EF4-FFF2-40B4-BE49-F238E27FC236}">
                <a16:creationId xmlns:a16="http://schemas.microsoft.com/office/drawing/2014/main" id="{A8F6BFBB-2184-2796-BC9F-73CDA9623AAA}"/>
              </a:ext>
            </a:extLst>
          </p:cNvPr>
          <p:cNvCxnSpPr>
            <a:cxnSpLocks/>
          </p:cNvCxnSpPr>
          <p:nvPr/>
        </p:nvCxnSpPr>
        <p:spPr>
          <a:xfrm>
            <a:off x="762736" y="3744785"/>
            <a:ext cx="0" cy="111389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9" name="Star: 5 Points 48">
            <a:extLst>
              <a:ext uri="{FF2B5EF4-FFF2-40B4-BE49-F238E27FC236}">
                <a16:creationId xmlns:a16="http://schemas.microsoft.com/office/drawing/2014/main" id="{695FE1D1-8594-3049-D4B2-B8DE6936FABE}"/>
              </a:ext>
            </a:extLst>
          </p:cNvPr>
          <p:cNvSpPr/>
          <p:nvPr/>
        </p:nvSpPr>
        <p:spPr>
          <a:xfrm>
            <a:off x="8061522" y="3388157"/>
            <a:ext cx="272044" cy="266695"/>
          </a:xfrm>
          <a:prstGeom prst="star5">
            <a:avLst/>
          </a:prstGeom>
          <a:ln>
            <a:solidFill>
              <a:schemeClr val="accent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latin typeface="Daytona Condensed" panose="020B0506030503040204" pitchFamily="34" charset="0"/>
            </a:endParaRPr>
          </a:p>
        </p:txBody>
      </p:sp>
      <p:sp>
        <p:nvSpPr>
          <p:cNvPr id="50" name="Star: 5 Points 49">
            <a:extLst>
              <a:ext uri="{FF2B5EF4-FFF2-40B4-BE49-F238E27FC236}">
                <a16:creationId xmlns:a16="http://schemas.microsoft.com/office/drawing/2014/main" id="{4F8D5440-D214-4A3C-3B85-701B965E1D12}"/>
              </a:ext>
            </a:extLst>
          </p:cNvPr>
          <p:cNvSpPr/>
          <p:nvPr/>
        </p:nvSpPr>
        <p:spPr>
          <a:xfrm>
            <a:off x="5994492" y="3395073"/>
            <a:ext cx="272044" cy="266695"/>
          </a:xfrm>
          <a:prstGeom prst="star5">
            <a:avLst/>
          </a:prstGeom>
          <a:ln>
            <a:solidFill>
              <a:schemeClr val="accent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latin typeface="Daytona Condensed" panose="020B0506030503040204" pitchFamily="34" charset="0"/>
            </a:endParaRPr>
          </a:p>
        </p:txBody>
      </p:sp>
      <p:sp>
        <p:nvSpPr>
          <p:cNvPr id="51" name="Star: 5 Points 50">
            <a:extLst>
              <a:ext uri="{FF2B5EF4-FFF2-40B4-BE49-F238E27FC236}">
                <a16:creationId xmlns:a16="http://schemas.microsoft.com/office/drawing/2014/main" id="{609D4743-1290-C82B-7D8A-E07309A96DBA}"/>
              </a:ext>
            </a:extLst>
          </p:cNvPr>
          <p:cNvSpPr/>
          <p:nvPr/>
        </p:nvSpPr>
        <p:spPr>
          <a:xfrm>
            <a:off x="3513826" y="3392854"/>
            <a:ext cx="272044" cy="266695"/>
          </a:xfrm>
          <a:prstGeom prst="star5">
            <a:avLst/>
          </a:prstGeom>
          <a:ln>
            <a:solidFill>
              <a:schemeClr val="accent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latin typeface="Daytona Condensed" panose="020B0506030503040204" pitchFamily="34" charset="0"/>
            </a:endParaRPr>
          </a:p>
        </p:txBody>
      </p:sp>
      <p:sp>
        <p:nvSpPr>
          <p:cNvPr id="52" name="Star: 5 Points 51">
            <a:extLst>
              <a:ext uri="{FF2B5EF4-FFF2-40B4-BE49-F238E27FC236}">
                <a16:creationId xmlns:a16="http://schemas.microsoft.com/office/drawing/2014/main" id="{7CA29B3E-CDAB-0409-587B-9FE46D52F03E}"/>
              </a:ext>
            </a:extLst>
          </p:cNvPr>
          <p:cNvSpPr/>
          <p:nvPr/>
        </p:nvSpPr>
        <p:spPr>
          <a:xfrm>
            <a:off x="2544072" y="3407365"/>
            <a:ext cx="272044" cy="266695"/>
          </a:xfrm>
          <a:prstGeom prst="star5">
            <a:avLst/>
          </a:prstGeom>
          <a:ln>
            <a:solidFill>
              <a:schemeClr val="accent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latin typeface="Daytona Condensed" panose="020B0506030503040204" pitchFamily="34" charset="0"/>
            </a:endParaRPr>
          </a:p>
        </p:txBody>
      </p:sp>
      <p:sp>
        <p:nvSpPr>
          <p:cNvPr id="53" name="Star: 5 Points 52">
            <a:extLst>
              <a:ext uri="{FF2B5EF4-FFF2-40B4-BE49-F238E27FC236}">
                <a16:creationId xmlns:a16="http://schemas.microsoft.com/office/drawing/2014/main" id="{B78D0331-4798-79C4-195B-28EBC78F7DE3}"/>
              </a:ext>
            </a:extLst>
          </p:cNvPr>
          <p:cNvSpPr/>
          <p:nvPr/>
        </p:nvSpPr>
        <p:spPr>
          <a:xfrm>
            <a:off x="10033005" y="3407365"/>
            <a:ext cx="272044" cy="266695"/>
          </a:xfrm>
          <a:prstGeom prst="star5">
            <a:avLst/>
          </a:prstGeom>
          <a:ln>
            <a:solidFill>
              <a:schemeClr val="accent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latin typeface="Daytona Condensed" panose="020B0506030503040204" pitchFamily="34" charset="0"/>
            </a:endParaRPr>
          </a:p>
        </p:txBody>
      </p:sp>
      <p:sp>
        <p:nvSpPr>
          <p:cNvPr id="54" name="object 12">
            <a:extLst>
              <a:ext uri="{FF2B5EF4-FFF2-40B4-BE49-F238E27FC236}">
                <a16:creationId xmlns:a16="http://schemas.microsoft.com/office/drawing/2014/main" id="{943A5491-2A3C-FCEF-2913-879640579969}"/>
              </a:ext>
            </a:extLst>
          </p:cNvPr>
          <p:cNvSpPr txBox="1"/>
          <p:nvPr/>
        </p:nvSpPr>
        <p:spPr>
          <a:xfrm>
            <a:off x="10950870" y="4029600"/>
            <a:ext cx="1410955" cy="1656864"/>
          </a:xfrm>
          <a:prstGeom prst="rect">
            <a:avLst/>
          </a:prstGeom>
        </p:spPr>
        <p:txBody>
          <a:bodyPr vert="horz" wrap="square" lIns="0" tIns="0" rIns="0" bIns="0" rtlCol="0">
            <a:spAutoFit/>
          </a:bodyPr>
          <a:lstStyle/>
          <a:p>
            <a:pPr marL="12700">
              <a:lnSpc>
                <a:spcPct val="100000"/>
              </a:lnSpc>
              <a:spcBef>
                <a:spcPts val="575"/>
              </a:spcBef>
            </a:pPr>
            <a:r>
              <a:rPr lang="en-US" sz="1400" spc="35">
                <a:solidFill>
                  <a:schemeClr val="accent1"/>
                </a:solidFill>
                <a:latin typeface="Daytona Condensed" panose="020B0506030503040204" pitchFamily="34" charset="0"/>
                <a:cs typeface="Lato"/>
              </a:rPr>
              <a:t>Q4 2023</a:t>
            </a:r>
            <a:endParaRPr sz="1400">
              <a:solidFill>
                <a:schemeClr val="accent1"/>
              </a:solidFill>
              <a:latin typeface="Daytona Condensed" panose="020B0506030503040204" pitchFamily="34" charset="0"/>
              <a:cs typeface="Lato"/>
            </a:endParaRPr>
          </a:p>
          <a:p>
            <a:pPr marL="12700">
              <a:spcBef>
                <a:spcPts val="385"/>
              </a:spcBef>
            </a:pPr>
            <a:r>
              <a:rPr lang="en-GB" sz="1100" spc="5">
                <a:solidFill>
                  <a:srgbClr val="58595B"/>
                </a:solidFill>
                <a:latin typeface="Daytona Condensed" panose="020B0506030503040204" pitchFamily="34" charset="0"/>
                <a:cs typeface="Lato"/>
              </a:rPr>
              <a:t>CDM 5.0</a:t>
            </a:r>
          </a:p>
          <a:p>
            <a:pPr marL="12700">
              <a:spcBef>
                <a:spcPts val="385"/>
              </a:spcBef>
            </a:pPr>
            <a:r>
              <a:rPr lang="en-GB" sz="1100" spc="5">
                <a:solidFill>
                  <a:srgbClr val="58595B"/>
                </a:solidFill>
                <a:latin typeface="Daytona Condensed" panose="020B0506030503040204" pitchFamily="34" charset="0"/>
                <a:cs typeface="Lato"/>
              </a:rPr>
              <a:t>ETD &amp; Commodity</a:t>
            </a:r>
          </a:p>
          <a:p>
            <a:pPr marL="12700">
              <a:spcBef>
                <a:spcPts val="385"/>
              </a:spcBef>
            </a:pPr>
            <a:r>
              <a:rPr lang="en-GB" sz="1100" spc="5">
                <a:solidFill>
                  <a:srgbClr val="58595B"/>
                </a:solidFill>
                <a:latin typeface="Daytona Condensed" panose="020B0506030503040204" pitchFamily="34" charset="0"/>
                <a:cs typeface="Lato"/>
              </a:rPr>
              <a:t>Derivatives</a:t>
            </a:r>
          </a:p>
          <a:p>
            <a:pPr marL="12700">
              <a:spcBef>
                <a:spcPts val="385"/>
              </a:spcBef>
            </a:pPr>
            <a:r>
              <a:rPr lang="en-GB" sz="1100" spc="5">
                <a:solidFill>
                  <a:srgbClr val="58595B"/>
                </a:solidFill>
                <a:latin typeface="Daytona Condensed" panose="020B0506030503040204" pitchFamily="34" charset="0"/>
                <a:cs typeface="Lato"/>
              </a:rPr>
              <a:t>ISLA GMSLA Clause Library</a:t>
            </a:r>
          </a:p>
          <a:p>
            <a:pPr marL="12700">
              <a:spcBef>
                <a:spcPts val="385"/>
              </a:spcBef>
            </a:pPr>
            <a:r>
              <a:rPr lang="en-GB" sz="1100" spc="5">
                <a:solidFill>
                  <a:srgbClr val="58595B"/>
                </a:solidFill>
                <a:latin typeface="Daytona Condensed" panose="020B0506030503040204" pitchFamily="34" charset="0"/>
                <a:cs typeface="Lato"/>
              </a:rPr>
              <a:t>Further Repo &amp; Bond enhancements</a:t>
            </a:r>
          </a:p>
        </p:txBody>
      </p:sp>
      <p:cxnSp>
        <p:nvCxnSpPr>
          <p:cNvPr id="55" name="Straight Connector 54">
            <a:extLst>
              <a:ext uri="{FF2B5EF4-FFF2-40B4-BE49-F238E27FC236}">
                <a16:creationId xmlns:a16="http://schemas.microsoft.com/office/drawing/2014/main" id="{FB705FC3-5AC1-9773-1D3E-B466A218A399}"/>
              </a:ext>
            </a:extLst>
          </p:cNvPr>
          <p:cNvCxnSpPr>
            <a:cxnSpLocks/>
          </p:cNvCxnSpPr>
          <p:nvPr/>
        </p:nvCxnSpPr>
        <p:spPr>
          <a:xfrm>
            <a:off x="10892158" y="3771880"/>
            <a:ext cx="8048" cy="1961568"/>
          </a:xfrm>
          <a:prstGeom prst="line">
            <a:avLst/>
          </a:prstGeom>
          <a:ln w="38100">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57" name="Star: 5 Points 56">
            <a:extLst>
              <a:ext uri="{FF2B5EF4-FFF2-40B4-BE49-F238E27FC236}">
                <a16:creationId xmlns:a16="http://schemas.microsoft.com/office/drawing/2014/main" id="{BB4DCAE4-4888-FB9E-7664-8F464CB7A9D1}"/>
              </a:ext>
            </a:extLst>
          </p:cNvPr>
          <p:cNvSpPr/>
          <p:nvPr/>
        </p:nvSpPr>
        <p:spPr>
          <a:xfrm>
            <a:off x="10764184" y="3402163"/>
            <a:ext cx="272044" cy="266695"/>
          </a:xfrm>
          <a:prstGeom prst="star5">
            <a:avLst/>
          </a:prstGeom>
          <a:ln>
            <a:solidFill>
              <a:schemeClr val="accent1"/>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latin typeface="Daytona Condensed" panose="020B0506030503040204" pitchFamily="34" charset="0"/>
            </a:endParaRPr>
          </a:p>
        </p:txBody>
      </p:sp>
      <p:sp>
        <p:nvSpPr>
          <p:cNvPr id="58" name="Arrow: Striped Right 57">
            <a:extLst>
              <a:ext uri="{FF2B5EF4-FFF2-40B4-BE49-F238E27FC236}">
                <a16:creationId xmlns:a16="http://schemas.microsoft.com/office/drawing/2014/main" id="{EB7C5A28-BF3F-C404-3C7C-66B0E18A8F89}"/>
              </a:ext>
            </a:extLst>
          </p:cNvPr>
          <p:cNvSpPr/>
          <p:nvPr/>
        </p:nvSpPr>
        <p:spPr>
          <a:xfrm>
            <a:off x="3790988" y="5733448"/>
            <a:ext cx="7427701" cy="926561"/>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Increasing momentum through industry contributions</a:t>
            </a:r>
            <a:endParaRPr lang="en-GB"/>
          </a:p>
        </p:txBody>
      </p:sp>
    </p:spTree>
    <p:extLst>
      <p:ext uri="{BB962C8B-B14F-4D97-AF65-F5344CB8AC3E}">
        <p14:creationId xmlns:p14="http://schemas.microsoft.com/office/powerpoint/2010/main" val="282367430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Arrow: Pentagon 34">
            <a:extLst>
              <a:ext uri="{FF2B5EF4-FFF2-40B4-BE49-F238E27FC236}">
                <a16:creationId xmlns:a16="http://schemas.microsoft.com/office/drawing/2014/main" id="{AFAAAFBC-4F08-4D6F-A843-71DBAC75D585}"/>
              </a:ext>
            </a:extLst>
          </p:cNvPr>
          <p:cNvSpPr/>
          <p:nvPr/>
        </p:nvSpPr>
        <p:spPr>
          <a:xfrm>
            <a:off x="4808980" y="1921647"/>
            <a:ext cx="3954020" cy="807142"/>
          </a:xfrm>
          <a:prstGeom prst="homePlate">
            <a:avLst/>
          </a:prstGeom>
          <a:solidFill>
            <a:srgbClr val="ABB1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object 58">
            <a:extLst>
              <a:ext uri="{FF2B5EF4-FFF2-40B4-BE49-F238E27FC236}">
                <a16:creationId xmlns:a16="http://schemas.microsoft.com/office/drawing/2014/main" id="{7D3F9860-73E6-4C93-82CB-4A323F745C3D}"/>
              </a:ext>
            </a:extLst>
          </p:cNvPr>
          <p:cNvSpPr txBox="1">
            <a:spLocks noGrp="1"/>
          </p:cNvSpPr>
          <p:nvPr>
            <p:ph type="title"/>
          </p:nvPr>
        </p:nvSpPr>
        <p:spPr>
          <a:xfrm>
            <a:off x="527405" y="334067"/>
            <a:ext cx="5873395" cy="382156"/>
          </a:xfrm>
          <a:prstGeom prst="rect">
            <a:avLst/>
          </a:prstGeom>
        </p:spPr>
        <p:txBody>
          <a:bodyPr vert="horz" lIns="0" tIns="0" rIns="0" bIns="0" rtlCol="0" anchor="ctr">
            <a:normAutofit/>
          </a:bodyPr>
          <a:lstStyle/>
          <a:p>
            <a:r>
              <a:rPr lang="en-GB" sz="2400" b="0">
                <a:solidFill>
                  <a:srgbClr val="32007C"/>
                </a:solidFill>
                <a:latin typeface="Helvetica" panose="020B0604020202020204" pitchFamily="34" charset="0"/>
                <a:cs typeface="Helvetica" panose="020B0604020202020204" pitchFamily="34" charset="0"/>
              </a:rPr>
              <a:t>Trade Association Collaboration</a:t>
            </a:r>
            <a:endParaRPr lang="en-US" sz="2400" b="0">
              <a:solidFill>
                <a:srgbClr val="32007C"/>
              </a:solidFill>
              <a:latin typeface="Helvetica" panose="020B0604020202020204" pitchFamily="34" charset="0"/>
              <a:cs typeface="Helvetica" panose="020B0604020202020204" pitchFamily="34" charset="0"/>
            </a:endParaRPr>
          </a:p>
        </p:txBody>
      </p:sp>
      <p:sp>
        <p:nvSpPr>
          <p:cNvPr id="9" name="Text Placeholder 4">
            <a:extLst>
              <a:ext uri="{FF2B5EF4-FFF2-40B4-BE49-F238E27FC236}">
                <a16:creationId xmlns:a16="http://schemas.microsoft.com/office/drawing/2014/main" id="{B9011982-56B7-48C6-AB3C-B0E6628AA321}"/>
              </a:ext>
            </a:extLst>
          </p:cNvPr>
          <p:cNvSpPr txBox="1">
            <a:spLocks/>
          </p:cNvSpPr>
          <p:nvPr/>
        </p:nvSpPr>
        <p:spPr>
          <a:xfrm>
            <a:off x="457201" y="3877588"/>
            <a:ext cx="11506200" cy="2602516"/>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Tx/>
              <a:buNone/>
              <a:defRPr sz="2000" b="0" kern="120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400"/>
              </a:spcBef>
              <a:spcAft>
                <a:spcPts val="400"/>
              </a:spcAft>
              <a:buFontTx/>
              <a:buNone/>
              <a:defRPr sz="1200" i="1" kern="1200">
                <a:solidFill>
                  <a:schemeClr val="tx1"/>
                </a:solidFill>
                <a:latin typeface="+mn-lt"/>
                <a:ea typeface="+mn-ea"/>
                <a:cs typeface="+mn-cs"/>
              </a:defRPr>
            </a:lvl3pPr>
            <a:lvl4pPr marL="27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4pPr>
            <a:lvl5pPr marL="27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5pPr>
            <a:lvl6pPr marL="54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6pPr>
            <a:lvl7pPr marL="54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7pPr>
            <a:lvl8pPr marL="81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8pPr>
            <a:lvl9pPr marL="81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GB" sz="1800" b="1" i="0" u="none" strike="noStrike" kern="1200" cap="none" spc="0" normalizeH="0" baseline="0" noProof="0">
                <a:ln>
                  <a:noFill/>
                </a:ln>
                <a:solidFill>
                  <a:srgbClr val="32007D"/>
                </a:solidFill>
                <a:effectLst/>
                <a:uLnTx/>
                <a:uFillTx/>
                <a:latin typeface="Calibri"/>
                <a:ea typeface="+mn-ea"/>
                <a:cs typeface="+mn-cs"/>
              </a:rPr>
              <a:t>Associations are collaborating towards the same future goal, to benefit the whole industry</a:t>
            </a:r>
          </a:p>
          <a:p>
            <a:pPr marL="171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58595B"/>
              </a:solidFill>
              <a:effectLst/>
              <a:uLnTx/>
              <a:uFillTx/>
              <a:latin typeface="Calibri"/>
              <a:ea typeface="+mn-ea"/>
              <a:cs typeface="+mn-cs"/>
            </a:endParaRPr>
          </a:p>
          <a:p>
            <a:pPr marL="171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2007D"/>
                </a:solidFill>
                <a:effectLst/>
                <a:uLnTx/>
                <a:uFillTx/>
                <a:latin typeface="Calibri"/>
                <a:ea typeface="+mn-ea"/>
                <a:cs typeface="+mn-cs"/>
              </a:rPr>
              <a:t>An open-source model </a:t>
            </a:r>
            <a:r>
              <a:rPr kumimoji="0" lang="en-US" sz="1600" b="0" i="0" u="none" strike="noStrike" kern="1200" cap="none" spc="0" normalizeH="0" baseline="0" noProof="0" err="1">
                <a:ln>
                  <a:noFill/>
                </a:ln>
                <a:solidFill>
                  <a:srgbClr val="32007D"/>
                </a:solidFill>
                <a:effectLst/>
                <a:uLnTx/>
                <a:uFillTx/>
                <a:latin typeface="Calibri"/>
                <a:ea typeface="+mn-ea"/>
                <a:cs typeface="+mn-cs"/>
              </a:rPr>
              <a:t>mutualises</a:t>
            </a:r>
            <a:r>
              <a:rPr kumimoji="0" lang="en-US" sz="1600" b="0" i="0" u="none" strike="noStrike" kern="1200" cap="none" spc="0" normalizeH="0" baseline="0" noProof="0">
                <a:ln>
                  <a:noFill/>
                </a:ln>
                <a:solidFill>
                  <a:srgbClr val="32007D"/>
                </a:solidFill>
                <a:effectLst/>
                <a:uLnTx/>
                <a:uFillTx/>
                <a:latin typeface="Calibri"/>
                <a:ea typeface="+mn-ea"/>
                <a:cs typeface="+mn-cs"/>
              </a:rPr>
              <a:t> cost of development between TAs and contributing firms while retaining best practice governance</a:t>
            </a:r>
          </a:p>
          <a:p>
            <a:pPr marL="171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2007D"/>
                </a:solidFill>
                <a:effectLst/>
                <a:uLnTx/>
                <a:uFillTx/>
                <a:latin typeface="Calibri"/>
                <a:ea typeface="+mn-ea"/>
                <a:cs typeface="+mn-cs"/>
              </a:rPr>
              <a:t>MoU in 2021 enshrined collaboration publicly</a:t>
            </a:r>
          </a:p>
          <a:p>
            <a:pPr marL="171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2007D"/>
                </a:solidFill>
                <a:effectLst/>
                <a:uLnTx/>
                <a:uFillTx/>
                <a:latin typeface="Calibri"/>
                <a:ea typeface="+mn-ea"/>
                <a:cs typeface="+mn-cs"/>
              </a:rPr>
              <a:t>Working groups were opened to each others’ members</a:t>
            </a:r>
          </a:p>
          <a:p>
            <a:pPr marL="171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2007D"/>
                </a:solidFill>
                <a:effectLst/>
                <a:uLnTx/>
                <a:uFillTx/>
                <a:latin typeface="Calibri"/>
                <a:ea typeface="+mn-ea"/>
                <a:cs typeface="+mn-cs"/>
              </a:rPr>
              <a:t>TAs appointed FINOS to provide a repository with a view to fostering the growth of an open-source community for the CDM, with migration completed early 2023</a:t>
            </a:r>
          </a:p>
        </p:txBody>
      </p:sp>
      <p:sp>
        <p:nvSpPr>
          <p:cNvPr id="17" name="Text Placeholder 4">
            <a:extLst>
              <a:ext uri="{FF2B5EF4-FFF2-40B4-BE49-F238E27FC236}">
                <a16:creationId xmlns:a16="http://schemas.microsoft.com/office/drawing/2014/main" id="{9A700011-505C-4591-B1E0-EC59EF42C5A0}"/>
              </a:ext>
            </a:extLst>
          </p:cNvPr>
          <p:cNvSpPr txBox="1">
            <a:spLocks/>
          </p:cNvSpPr>
          <p:nvPr/>
        </p:nvSpPr>
        <p:spPr>
          <a:xfrm>
            <a:off x="3195579" y="1279924"/>
            <a:ext cx="1613401" cy="207005"/>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Tx/>
              <a:buNone/>
              <a:defRPr sz="2000" b="0" kern="120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400"/>
              </a:spcBef>
              <a:spcAft>
                <a:spcPts val="400"/>
              </a:spcAft>
              <a:buFontTx/>
              <a:buNone/>
              <a:defRPr sz="1200" i="1" kern="1200">
                <a:solidFill>
                  <a:schemeClr val="tx1"/>
                </a:solidFill>
                <a:latin typeface="+mn-lt"/>
                <a:ea typeface="+mn-ea"/>
                <a:cs typeface="+mn-cs"/>
              </a:defRPr>
            </a:lvl3pPr>
            <a:lvl4pPr marL="27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4pPr>
            <a:lvl5pPr marL="27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5pPr>
            <a:lvl6pPr marL="54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6pPr>
            <a:lvl7pPr marL="54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7pPr>
            <a:lvl8pPr marL="81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8pPr>
            <a:lvl9pPr marL="81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a:ln>
                  <a:noFill/>
                </a:ln>
                <a:solidFill>
                  <a:srgbClr val="58595B"/>
                </a:solidFill>
                <a:effectLst/>
                <a:uLnTx/>
                <a:uFillTx/>
                <a:latin typeface="Calibri"/>
                <a:ea typeface="+mn-ea"/>
                <a:cs typeface="+mn-cs"/>
              </a:rPr>
              <a:t>Align Functional Roadmaps</a:t>
            </a:r>
          </a:p>
        </p:txBody>
      </p:sp>
      <p:grpSp>
        <p:nvGrpSpPr>
          <p:cNvPr id="20" name="Group 19">
            <a:extLst>
              <a:ext uri="{FF2B5EF4-FFF2-40B4-BE49-F238E27FC236}">
                <a16:creationId xmlns:a16="http://schemas.microsoft.com/office/drawing/2014/main" id="{6EE88336-AF3E-45EF-8DC7-08D71AEFA79B}"/>
              </a:ext>
            </a:extLst>
          </p:cNvPr>
          <p:cNvGrpSpPr/>
          <p:nvPr/>
        </p:nvGrpSpPr>
        <p:grpSpPr>
          <a:xfrm>
            <a:off x="1376646" y="2529722"/>
            <a:ext cx="3652554" cy="898110"/>
            <a:chOff x="2824446" y="1387890"/>
            <a:chExt cx="3652554" cy="898110"/>
          </a:xfrm>
          <a:solidFill>
            <a:srgbClr val="002060"/>
          </a:solidFill>
        </p:grpSpPr>
        <p:sp>
          <p:nvSpPr>
            <p:cNvPr id="5" name="Rectangle 4">
              <a:extLst>
                <a:ext uri="{FF2B5EF4-FFF2-40B4-BE49-F238E27FC236}">
                  <a16:creationId xmlns:a16="http://schemas.microsoft.com/office/drawing/2014/main" id="{53BA0320-0E5F-45D9-8F05-7AD6D9215462}"/>
                </a:ext>
              </a:extLst>
            </p:cNvPr>
            <p:cNvSpPr/>
            <p:nvPr/>
          </p:nvSpPr>
          <p:spPr>
            <a:xfrm>
              <a:off x="2824446" y="1828800"/>
              <a:ext cx="1595154"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9C2D9AEE-7E17-436B-9EB6-E8A95FDDB893}"/>
                </a:ext>
              </a:extLst>
            </p:cNvPr>
            <p:cNvSpPr/>
            <p:nvPr/>
          </p:nvSpPr>
          <p:spPr>
            <a:xfrm>
              <a:off x="3967446" y="1597020"/>
              <a:ext cx="1595154" cy="476670"/>
            </a:xfrm>
            <a:prstGeom prst="rect">
              <a:avLst/>
            </a:prstGeom>
            <a:grpFill/>
            <a:ln>
              <a:no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Arrow: Pentagon 9">
              <a:extLst>
                <a:ext uri="{FF2B5EF4-FFF2-40B4-BE49-F238E27FC236}">
                  <a16:creationId xmlns:a16="http://schemas.microsoft.com/office/drawing/2014/main" id="{0D20D290-BF79-4D16-8F34-B3A80515921F}"/>
                </a:ext>
              </a:extLst>
            </p:cNvPr>
            <p:cNvSpPr/>
            <p:nvPr/>
          </p:nvSpPr>
          <p:spPr>
            <a:xfrm>
              <a:off x="5105400" y="1387890"/>
              <a:ext cx="1371600" cy="457200"/>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1" name="Rectangle 20">
            <a:extLst>
              <a:ext uri="{FF2B5EF4-FFF2-40B4-BE49-F238E27FC236}">
                <a16:creationId xmlns:a16="http://schemas.microsoft.com/office/drawing/2014/main" id="{A23951C8-0B30-4482-BBA2-4CBE9105E45E}"/>
              </a:ext>
            </a:extLst>
          </p:cNvPr>
          <p:cNvSpPr/>
          <p:nvPr/>
        </p:nvSpPr>
        <p:spPr>
          <a:xfrm>
            <a:off x="2514600" y="2736632"/>
            <a:ext cx="1595154" cy="476670"/>
          </a:xfrm>
          <a:prstGeom prst="rect">
            <a:avLst/>
          </a:prstGeom>
          <a:solidFill>
            <a:srgbClr val="ABB1BF">
              <a:alpha val="45000"/>
            </a:srgbClr>
          </a:solidFill>
          <a:ln>
            <a:no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30" name="Group 29">
            <a:extLst>
              <a:ext uri="{FF2B5EF4-FFF2-40B4-BE49-F238E27FC236}">
                <a16:creationId xmlns:a16="http://schemas.microsoft.com/office/drawing/2014/main" id="{16962ACE-E0BD-4997-8963-626F4E9F9D13}"/>
              </a:ext>
            </a:extLst>
          </p:cNvPr>
          <p:cNvGrpSpPr/>
          <p:nvPr/>
        </p:nvGrpSpPr>
        <p:grpSpPr>
          <a:xfrm>
            <a:off x="497909" y="1237673"/>
            <a:ext cx="4531291" cy="889077"/>
            <a:chOff x="4292567" y="1974837"/>
            <a:chExt cx="4531291" cy="889077"/>
          </a:xfrm>
          <a:solidFill>
            <a:srgbClr val="4BACC6"/>
          </a:solidFill>
        </p:grpSpPr>
        <p:sp>
          <p:nvSpPr>
            <p:cNvPr id="23" name="Rectangle 22">
              <a:extLst>
                <a:ext uri="{FF2B5EF4-FFF2-40B4-BE49-F238E27FC236}">
                  <a16:creationId xmlns:a16="http://schemas.microsoft.com/office/drawing/2014/main" id="{B8450354-7982-4061-A1DA-20B5798C8A5E}"/>
                </a:ext>
              </a:extLst>
            </p:cNvPr>
            <p:cNvSpPr/>
            <p:nvPr/>
          </p:nvSpPr>
          <p:spPr>
            <a:xfrm>
              <a:off x="4292567" y="1974837"/>
              <a:ext cx="1595154"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Rectangle 23">
              <a:extLst>
                <a:ext uri="{FF2B5EF4-FFF2-40B4-BE49-F238E27FC236}">
                  <a16:creationId xmlns:a16="http://schemas.microsoft.com/office/drawing/2014/main" id="{9BA3C1E0-32F3-4BB9-A755-1E77BF9E7B24}"/>
                </a:ext>
              </a:extLst>
            </p:cNvPr>
            <p:cNvSpPr/>
            <p:nvPr/>
          </p:nvSpPr>
          <p:spPr>
            <a:xfrm>
              <a:off x="5433044" y="2178809"/>
              <a:ext cx="1595154" cy="476670"/>
            </a:xfrm>
            <a:prstGeom prst="rect">
              <a:avLst/>
            </a:prstGeom>
            <a:grpFill/>
            <a:ln>
              <a:noFill/>
            </a:ln>
            <a:scene3d>
              <a:camera prst="isometricOffAxis1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Arrow: Pentagon 24">
              <a:extLst>
                <a:ext uri="{FF2B5EF4-FFF2-40B4-BE49-F238E27FC236}">
                  <a16:creationId xmlns:a16="http://schemas.microsoft.com/office/drawing/2014/main" id="{49B610D1-2D53-437F-948E-27A265F87BCE}"/>
                </a:ext>
              </a:extLst>
            </p:cNvPr>
            <p:cNvSpPr/>
            <p:nvPr/>
          </p:nvSpPr>
          <p:spPr>
            <a:xfrm>
              <a:off x="6570000" y="2406714"/>
              <a:ext cx="2253858" cy="457200"/>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6" name="Rectangle 25">
            <a:extLst>
              <a:ext uri="{FF2B5EF4-FFF2-40B4-BE49-F238E27FC236}">
                <a16:creationId xmlns:a16="http://schemas.microsoft.com/office/drawing/2014/main" id="{8E838EFB-5360-4844-9FD2-23CB68DE3FFD}"/>
              </a:ext>
            </a:extLst>
          </p:cNvPr>
          <p:cNvSpPr/>
          <p:nvPr/>
        </p:nvSpPr>
        <p:spPr>
          <a:xfrm>
            <a:off x="1638386" y="1449983"/>
            <a:ext cx="1595154" cy="476670"/>
          </a:xfrm>
          <a:prstGeom prst="rect">
            <a:avLst/>
          </a:prstGeom>
          <a:solidFill>
            <a:srgbClr val="ABB1BF">
              <a:alpha val="45000"/>
            </a:srgbClr>
          </a:solidFill>
          <a:ln>
            <a:noFill/>
          </a:ln>
          <a:scene3d>
            <a:camera prst="isometricOffAxis1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Arrow: Pentagon 26">
            <a:extLst>
              <a:ext uri="{FF2B5EF4-FFF2-40B4-BE49-F238E27FC236}">
                <a16:creationId xmlns:a16="http://schemas.microsoft.com/office/drawing/2014/main" id="{7AA61A80-99C7-4FCC-A351-68310FC417EE}"/>
              </a:ext>
            </a:extLst>
          </p:cNvPr>
          <p:cNvSpPr/>
          <p:nvPr/>
        </p:nvSpPr>
        <p:spPr>
          <a:xfrm>
            <a:off x="838200" y="2104174"/>
            <a:ext cx="4191000" cy="457200"/>
          </a:xfrm>
          <a:prstGeom prst="homePlate">
            <a:avLst/>
          </a:prstGeom>
          <a:solidFill>
            <a:srgbClr val="77C2C0"/>
          </a:solidFill>
          <a:ln>
            <a:solidFill>
              <a:srgbClr val="77C2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pic>
        <p:nvPicPr>
          <p:cNvPr id="28" name="Picture 2">
            <a:extLst>
              <a:ext uri="{FF2B5EF4-FFF2-40B4-BE49-F238E27FC236}">
                <a16:creationId xmlns:a16="http://schemas.microsoft.com/office/drawing/2014/main" id="{6A1A28A8-5FFA-4047-AD61-F8387C95C52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9967"/>
          <a:stretch/>
        </p:blipFill>
        <p:spPr bwMode="auto">
          <a:xfrm>
            <a:off x="544597" y="1333124"/>
            <a:ext cx="843246" cy="31642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E6977008-FDB5-48BB-90F1-EB7F91C9D815}"/>
              </a:ext>
            </a:extLst>
          </p:cNvPr>
          <p:cNvPicPr>
            <a:picLocks noChangeAspect="1"/>
          </p:cNvPicPr>
          <p:nvPr/>
        </p:nvPicPr>
        <p:blipFill rotWithShape="1">
          <a:blip r:embed="rId4"/>
          <a:srcRect l="8750" t="9989" r="71250" b="77207"/>
          <a:stretch/>
        </p:blipFill>
        <p:spPr>
          <a:xfrm>
            <a:off x="1414615" y="3023850"/>
            <a:ext cx="1021348" cy="350763"/>
          </a:xfrm>
          <a:prstGeom prst="rect">
            <a:avLst/>
          </a:prstGeom>
        </p:spPr>
      </p:pic>
      <p:pic>
        <p:nvPicPr>
          <p:cNvPr id="34" name="Picture 33" descr="Icon&#10;&#10;Description automatically generated">
            <a:extLst>
              <a:ext uri="{FF2B5EF4-FFF2-40B4-BE49-F238E27FC236}">
                <a16:creationId xmlns:a16="http://schemas.microsoft.com/office/drawing/2014/main" id="{DEAA541F-2BEF-48A1-B461-1ADAE05AEE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4464" y="2118609"/>
            <a:ext cx="785116" cy="413219"/>
          </a:xfrm>
          <a:prstGeom prst="rect">
            <a:avLst/>
          </a:prstGeom>
        </p:spPr>
      </p:pic>
      <p:sp>
        <p:nvSpPr>
          <p:cNvPr id="38" name="Circle: Hollow 37">
            <a:extLst>
              <a:ext uri="{FF2B5EF4-FFF2-40B4-BE49-F238E27FC236}">
                <a16:creationId xmlns:a16="http://schemas.microsoft.com/office/drawing/2014/main" id="{5D98CBAE-3395-453D-A6AD-8C038A6BC954}"/>
              </a:ext>
            </a:extLst>
          </p:cNvPr>
          <p:cNvSpPr/>
          <p:nvPr/>
        </p:nvSpPr>
        <p:spPr>
          <a:xfrm>
            <a:off x="4369884" y="1581570"/>
            <a:ext cx="1271107" cy="1405352"/>
          </a:xfrm>
          <a:prstGeom prst="donut">
            <a:avLst>
              <a:gd name="adj" fmla="val 17234"/>
            </a:avLst>
          </a:prstGeom>
          <a:scene3d>
            <a:camera prst="perspectiveContrastingRightFacing" fov="2700000">
              <a:rot lat="1211634" lon="16477793" rev="45930"/>
            </a:camera>
            <a:lightRig rig="threePt" dir="t"/>
          </a:scene3d>
          <a:sp3d z="101600" extrusionH="203200" contourW="12700" prstMaterial="metal">
            <a:bevelT w="152400" h="50800" prst="softRound"/>
            <a:contourClr>
              <a:srgbClr val="00206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8595B"/>
              </a:solidFill>
              <a:effectLst/>
              <a:uLnTx/>
              <a:uFillTx/>
              <a:latin typeface="Calibri"/>
              <a:ea typeface="+mn-ea"/>
              <a:cs typeface="+mn-cs"/>
            </a:endParaRPr>
          </a:p>
        </p:txBody>
      </p:sp>
      <p:sp>
        <p:nvSpPr>
          <p:cNvPr id="39" name="Circle: Hollow 38">
            <a:extLst>
              <a:ext uri="{FF2B5EF4-FFF2-40B4-BE49-F238E27FC236}">
                <a16:creationId xmlns:a16="http://schemas.microsoft.com/office/drawing/2014/main" id="{CF66299F-441C-4FF6-B152-C564DD48EFAF}"/>
              </a:ext>
            </a:extLst>
          </p:cNvPr>
          <p:cNvSpPr/>
          <p:nvPr/>
        </p:nvSpPr>
        <p:spPr>
          <a:xfrm>
            <a:off x="4863599" y="1565400"/>
            <a:ext cx="1271107" cy="1405352"/>
          </a:xfrm>
          <a:prstGeom prst="donut">
            <a:avLst>
              <a:gd name="adj" fmla="val 17234"/>
            </a:avLst>
          </a:prstGeom>
          <a:scene3d>
            <a:camera prst="perspectiveContrastingRightFacing" fov="2700000">
              <a:rot lat="1211634" lon="16477793" rev="45930"/>
            </a:camera>
            <a:lightRig rig="threePt" dir="t"/>
          </a:scene3d>
          <a:sp3d z="101600" extrusionH="203200" contourW="12700" prstMaterial="metal">
            <a:bevelT w="152400" h="50800" prst="softRound"/>
            <a:contourClr>
              <a:srgbClr val="00206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8595B"/>
              </a:solidFill>
              <a:effectLst/>
              <a:uLnTx/>
              <a:uFillTx/>
              <a:latin typeface="Calibri"/>
              <a:ea typeface="+mn-ea"/>
              <a:cs typeface="+mn-cs"/>
            </a:endParaRPr>
          </a:p>
        </p:txBody>
      </p:sp>
      <p:sp>
        <p:nvSpPr>
          <p:cNvPr id="40" name="Circle: Hollow 39">
            <a:extLst>
              <a:ext uri="{FF2B5EF4-FFF2-40B4-BE49-F238E27FC236}">
                <a16:creationId xmlns:a16="http://schemas.microsoft.com/office/drawing/2014/main" id="{3507D6DA-3D58-422A-9D82-CB00A5F53297}"/>
              </a:ext>
            </a:extLst>
          </p:cNvPr>
          <p:cNvSpPr/>
          <p:nvPr/>
        </p:nvSpPr>
        <p:spPr>
          <a:xfrm>
            <a:off x="5352635" y="1581570"/>
            <a:ext cx="1271107" cy="1405352"/>
          </a:xfrm>
          <a:prstGeom prst="donut">
            <a:avLst>
              <a:gd name="adj" fmla="val 17234"/>
            </a:avLst>
          </a:prstGeom>
          <a:scene3d>
            <a:camera prst="perspectiveContrastingRightFacing" fov="2700000">
              <a:rot lat="1211634" lon="16477793" rev="45930"/>
            </a:camera>
            <a:lightRig rig="threePt" dir="t"/>
          </a:scene3d>
          <a:sp3d z="101600" extrusionH="203200" contourW="12700" prstMaterial="metal">
            <a:bevelT w="152400" h="50800" prst="softRound"/>
            <a:contourClr>
              <a:srgbClr val="00206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8595B"/>
              </a:solidFill>
              <a:effectLst/>
              <a:uLnTx/>
              <a:uFillTx/>
              <a:latin typeface="Calibri"/>
              <a:ea typeface="+mn-ea"/>
              <a:cs typeface="+mn-cs"/>
            </a:endParaRPr>
          </a:p>
        </p:txBody>
      </p:sp>
      <p:pic>
        <p:nvPicPr>
          <p:cNvPr id="42" name="Picture 41">
            <a:extLst>
              <a:ext uri="{FF2B5EF4-FFF2-40B4-BE49-F238E27FC236}">
                <a16:creationId xmlns:a16="http://schemas.microsoft.com/office/drawing/2014/main" id="{5C9713F5-C3D6-4898-99EE-B0688E4C83C0}"/>
              </a:ext>
            </a:extLst>
          </p:cNvPr>
          <p:cNvPicPr>
            <a:picLocks noChangeAspect="1"/>
          </p:cNvPicPr>
          <p:nvPr/>
        </p:nvPicPr>
        <p:blipFill rotWithShape="1">
          <a:blip r:embed="rId6"/>
          <a:srcRect t="11013" r="50815" b="11192"/>
          <a:stretch/>
        </p:blipFill>
        <p:spPr>
          <a:xfrm>
            <a:off x="5119186" y="1986741"/>
            <a:ext cx="209550" cy="692063"/>
          </a:xfrm>
          <a:prstGeom prst="rect">
            <a:avLst/>
          </a:prstGeom>
          <a:effectLst>
            <a:softEdge rad="31750"/>
          </a:effectLst>
        </p:spPr>
      </p:pic>
      <p:pic>
        <p:nvPicPr>
          <p:cNvPr id="43" name="Picture 42">
            <a:extLst>
              <a:ext uri="{FF2B5EF4-FFF2-40B4-BE49-F238E27FC236}">
                <a16:creationId xmlns:a16="http://schemas.microsoft.com/office/drawing/2014/main" id="{7D818479-33FD-4329-978E-3E428601923A}"/>
              </a:ext>
            </a:extLst>
          </p:cNvPr>
          <p:cNvPicPr>
            <a:picLocks noChangeAspect="1"/>
          </p:cNvPicPr>
          <p:nvPr/>
        </p:nvPicPr>
        <p:blipFill rotWithShape="1">
          <a:blip r:embed="rId6"/>
          <a:srcRect t="11013" r="50815" b="11192"/>
          <a:stretch/>
        </p:blipFill>
        <p:spPr>
          <a:xfrm>
            <a:off x="5606704" y="2084070"/>
            <a:ext cx="209550" cy="472322"/>
          </a:xfrm>
          <a:prstGeom prst="rect">
            <a:avLst/>
          </a:prstGeom>
          <a:effectLst>
            <a:softEdge rad="31750"/>
          </a:effectLst>
        </p:spPr>
      </p:pic>
      <p:sp>
        <p:nvSpPr>
          <p:cNvPr id="44" name="Circle: Hollow 43">
            <a:extLst>
              <a:ext uri="{FF2B5EF4-FFF2-40B4-BE49-F238E27FC236}">
                <a16:creationId xmlns:a16="http://schemas.microsoft.com/office/drawing/2014/main" id="{6385763C-5640-471D-B201-A457BED26674}"/>
              </a:ext>
            </a:extLst>
          </p:cNvPr>
          <p:cNvSpPr/>
          <p:nvPr/>
        </p:nvSpPr>
        <p:spPr>
          <a:xfrm>
            <a:off x="5848064" y="1581570"/>
            <a:ext cx="1271107" cy="1405352"/>
          </a:xfrm>
          <a:prstGeom prst="donut">
            <a:avLst>
              <a:gd name="adj" fmla="val 17234"/>
            </a:avLst>
          </a:prstGeom>
          <a:scene3d>
            <a:camera prst="perspectiveContrastingRightFacing" fov="2700000">
              <a:rot lat="1211634" lon="16477793" rev="45930"/>
            </a:camera>
            <a:lightRig rig="threePt" dir="t"/>
          </a:scene3d>
          <a:sp3d z="101600" extrusionH="203200" contourW="12700" prstMaterial="metal">
            <a:bevelT w="152400" h="50800" prst="softRound"/>
            <a:contourClr>
              <a:srgbClr val="00206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8595B"/>
              </a:solidFill>
              <a:effectLst/>
              <a:uLnTx/>
              <a:uFillTx/>
              <a:latin typeface="Calibri"/>
              <a:ea typeface="+mn-ea"/>
              <a:cs typeface="+mn-cs"/>
            </a:endParaRPr>
          </a:p>
        </p:txBody>
      </p:sp>
      <p:pic>
        <p:nvPicPr>
          <p:cNvPr id="45" name="Picture 44">
            <a:extLst>
              <a:ext uri="{FF2B5EF4-FFF2-40B4-BE49-F238E27FC236}">
                <a16:creationId xmlns:a16="http://schemas.microsoft.com/office/drawing/2014/main" id="{C0748079-AF1F-4460-907F-07BBFD674ACD}"/>
              </a:ext>
            </a:extLst>
          </p:cNvPr>
          <p:cNvPicPr>
            <a:picLocks noChangeAspect="1"/>
          </p:cNvPicPr>
          <p:nvPr/>
        </p:nvPicPr>
        <p:blipFill rotWithShape="1">
          <a:blip r:embed="rId6"/>
          <a:srcRect t="11013" r="50815" b="11192"/>
          <a:stretch/>
        </p:blipFill>
        <p:spPr>
          <a:xfrm>
            <a:off x="6096001" y="2197576"/>
            <a:ext cx="228600" cy="270392"/>
          </a:xfrm>
          <a:prstGeom prst="rect">
            <a:avLst/>
          </a:prstGeom>
          <a:effectLst>
            <a:softEdge rad="31750"/>
          </a:effectLst>
        </p:spPr>
      </p:pic>
      <p:sp>
        <p:nvSpPr>
          <p:cNvPr id="47" name="Text Placeholder 4">
            <a:extLst>
              <a:ext uri="{FF2B5EF4-FFF2-40B4-BE49-F238E27FC236}">
                <a16:creationId xmlns:a16="http://schemas.microsoft.com/office/drawing/2014/main" id="{BE678557-B0C9-4A45-AC22-1E3BC78D828F}"/>
              </a:ext>
            </a:extLst>
          </p:cNvPr>
          <p:cNvSpPr txBox="1">
            <a:spLocks/>
          </p:cNvSpPr>
          <p:nvPr/>
        </p:nvSpPr>
        <p:spPr>
          <a:xfrm>
            <a:off x="9799389" y="1941477"/>
            <a:ext cx="2204720" cy="597593"/>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Tx/>
              <a:buNone/>
              <a:defRPr sz="2000" b="0" kern="120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400"/>
              </a:spcBef>
              <a:spcAft>
                <a:spcPts val="400"/>
              </a:spcAft>
              <a:buFontTx/>
              <a:buNone/>
              <a:defRPr sz="1200" i="1" kern="1200">
                <a:solidFill>
                  <a:schemeClr val="tx1"/>
                </a:solidFill>
                <a:latin typeface="+mn-lt"/>
                <a:ea typeface="+mn-ea"/>
                <a:cs typeface="+mn-cs"/>
              </a:defRPr>
            </a:lvl3pPr>
            <a:lvl4pPr marL="27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4pPr>
            <a:lvl5pPr marL="27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5pPr>
            <a:lvl6pPr marL="54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6pPr>
            <a:lvl7pPr marL="54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7pPr>
            <a:lvl8pPr marL="81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8pPr>
            <a:lvl9pPr marL="81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32007D"/>
                </a:solidFill>
                <a:effectLst/>
                <a:uLnTx/>
                <a:uFillTx/>
                <a:latin typeface="Calibri"/>
                <a:ea typeface="+mn-ea"/>
                <a:cs typeface="+mn-cs"/>
              </a:rPr>
              <a:t>Best-practice led Governance</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32007D"/>
                </a:solidFill>
                <a:effectLst/>
                <a:uLnTx/>
                <a:uFillTx/>
                <a:latin typeface="Calibri"/>
                <a:ea typeface="+mn-ea"/>
                <a:cs typeface="+mn-cs"/>
              </a:rPr>
              <a:t>Open-Source Community of Members</a:t>
            </a:r>
          </a:p>
        </p:txBody>
      </p:sp>
      <p:cxnSp>
        <p:nvCxnSpPr>
          <p:cNvPr id="54" name="Straight Arrow Connector 53">
            <a:extLst>
              <a:ext uri="{FF2B5EF4-FFF2-40B4-BE49-F238E27FC236}">
                <a16:creationId xmlns:a16="http://schemas.microsoft.com/office/drawing/2014/main" id="{9D40173A-C522-4F75-B30A-A06AE2833F28}"/>
              </a:ext>
            </a:extLst>
          </p:cNvPr>
          <p:cNvCxnSpPr>
            <a:cxnSpLocks/>
            <a:stCxn id="17" idx="3"/>
          </p:cNvCxnSpPr>
          <p:nvPr/>
        </p:nvCxnSpPr>
        <p:spPr>
          <a:xfrm>
            <a:off x="4808980" y="1383427"/>
            <a:ext cx="144020" cy="141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Text Placeholder 4">
            <a:extLst>
              <a:ext uri="{FF2B5EF4-FFF2-40B4-BE49-F238E27FC236}">
                <a16:creationId xmlns:a16="http://schemas.microsoft.com/office/drawing/2014/main" id="{5556516E-8148-4426-BE4E-7E08E3F65FD6}"/>
              </a:ext>
            </a:extLst>
          </p:cNvPr>
          <p:cNvSpPr txBox="1">
            <a:spLocks/>
          </p:cNvSpPr>
          <p:nvPr/>
        </p:nvSpPr>
        <p:spPr>
          <a:xfrm>
            <a:off x="3982292" y="3156498"/>
            <a:ext cx="1271107" cy="21231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Tx/>
              <a:buNone/>
              <a:defRPr sz="2000" b="0" kern="120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400"/>
              </a:spcBef>
              <a:spcAft>
                <a:spcPts val="400"/>
              </a:spcAft>
              <a:buFontTx/>
              <a:buNone/>
              <a:defRPr sz="1200" i="1" kern="1200">
                <a:solidFill>
                  <a:schemeClr val="tx1"/>
                </a:solidFill>
                <a:latin typeface="+mn-lt"/>
                <a:ea typeface="+mn-ea"/>
                <a:cs typeface="+mn-cs"/>
              </a:defRPr>
            </a:lvl3pPr>
            <a:lvl4pPr marL="27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4pPr>
            <a:lvl5pPr marL="27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5pPr>
            <a:lvl6pPr marL="54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6pPr>
            <a:lvl7pPr marL="54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7pPr>
            <a:lvl8pPr marL="81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8pPr>
            <a:lvl9pPr marL="81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a:ln>
                  <a:noFill/>
                </a:ln>
                <a:solidFill>
                  <a:srgbClr val="58595B"/>
                </a:solidFill>
                <a:effectLst/>
                <a:uLnTx/>
                <a:uFillTx/>
                <a:latin typeface="Calibri"/>
                <a:ea typeface="+mn-ea"/>
                <a:cs typeface="+mn-cs"/>
              </a:rPr>
              <a:t>Joint steering forum</a:t>
            </a:r>
          </a:p>
        </p:txBody>
      </p:sp>
      <p:cxnSp>
        <p:nvCxnSpPr>
          <p:cNvPr id="56" name="Straight Arrow Connector 55">
            <a:extLst>
              <a:ext uri="{FF2B5EF4-FFF2-40B4-BE49-F238E27FC236}">
                <a16:creationId xmlns:a16="http://schemas.microsoft.com/office/drawing/2014/main" id="{1DED92D8-5846-4118-BBB3-1534B3807E48}"/>
              </a:ext>
            </a:extLst>
          </p:cNvPr>
          <p:cNvCxnSpPr>
            <a:cxnSpLocks/>
            <a:stCxn id="55" idx="3"/>
          </p:cNvCxnSpPr>
          <p:nvPr/>
        </p:nvCxnSpPr>
        <p:spPr>
          <a:xfrm flipV="1">
            <a:off x="5253399" y="3051575"/>
            <a:ext cx="111033" cy="21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 Placeholder 4">
            <a:extLst>
              <a:ext uri="{FF2B5EF4-FFF2-40B4-BE49-F238E27FC236}">
                <a16:creationId xmlns:a16="http://schemas.microsoft.com/office/drawing/2014/main" id="{85DC832D-1475-4872-8F84-8FCE218B4417}"/>
              </a:ext>
            </a:extLst>
          </p:cNvPr>
          <p:cNvSpPr txBox="1">
            <a:spLocks/>
          </p:cNvSpPr>
          <p:nvPr/>
        </p:nvSpPr>
        <p:spPr>
          <a:xfrm>
            <a:off x="5316099" y="1235866"/>
            <a:ext cx="1803069" cy="173308"/>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Tx/>
              <a:buNone/>
              <a:defRPr sz="2000" b="0" kern="120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400"/>
              </a:spcBef>
              <a:spcAft>
                <a:spcPts val="400"/>
              </a:spcAft>
              <a:buFontTx/>
              <a:buNone/>
              <a:defRPr sz="1200" i="1" kern="1200">
                <a:solidFill>
                  <a:schemeClr val="tx1"/>
                </a:solidFill>
                <a:latin typeface="+mn-lt"/>
                <a:ea typeface="+mn-ea"/>
                <a:cs typeface="+mn-cs"/>
              </a:defRPr>
            </a:lvl3pPr>
            <a:lvl4pPr marL="27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4pPr>
            <a:lvl5pPr marL="27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5pPr>
            <a:lvl6pPr marL="54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6pPr>
            <a:lvl7pPr marL="54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7pPr>
            <a:lvl8pPr marL="81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8pPr>
            <a:lvl9pPr marL="81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a:ln>
                  <a:noFill/>
                </a:ln>
                <a:solidFill>
                  <a:srgbClr val="58595B"/>
                </a:solidFill>
                <a:effectLst/>
                <a:uLnTx/>
                <a:uFillTx/>
                <a:latin typeface="Calibri"/>
                <a:ea typeface="+mn-ea"/>
                <a:cs typeface="+mn-cs"/>
              </a:rPr>
              <a:t>Combined governance policy</a:t>
            </a:r>
          </a:p>
        </p:txBody>
      </p:sp>
      <p:cxnSp>
        <p:nvCxnSpPr>
          <p:cNvPr id="60" name="Straight Arrow Connector 59">
            <a:extLst>
              <a:ext uri="{FF2B5EF4-FFF2-40B4-BE49-F238E27FC236}">
                <a16:creationId xmlns:a16="http://schemas.microsoft.com/office/drawing/2014/main" id="{61F86709-FB95-42DB-8576-F6B7C176A060}"/>
              </a:ext>
            </a:extLst>
          </p:cNvPr>
          <p:cNvCxnSpPr>
            <a:cxnSpLocks/>
          </p:cNvCxnSpPr>
          <p:nvPr/>
        </p:nvCxnSpPr>
        <p:spPr>
          <a:xfrm>
            <a:off x="5911496" y="1389901"/>
            <a:ext cx="0" cy="159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 Placeholder 4">
            <a:extLst>
              <a:ext uri="{FF2B5EF4-FFF2-40B4-BE49-F238E27FC236}">
                <a16:creationId xmlns:a16="http://schemas.microsoft.com/office/drawing/2014/main" id="{01B96AD8-306D-4351-8428-B2C0676019DC}"/>
              </a:ext>
            </a:extLst>
          </p:cNvPr>
          <p:cNvSpPr txBox="1">
            <a:spLocks/>
          </p:cNvSpPr>
          <p:nvPr/>
        </p:nvSpPr>
        <p:spPr>
          <a:xfrm>
            <a:off x="5734004" y="3199231"/>
            <a:ext cx="1803069" cy="173308"/>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Tx/>
              <a:buNone/>
              <a:defRPr sz="2000" b="0" kern="120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400"/>
              </a:spcBef>
              <a:spcAft>
                <a:spcPts val="400"/>
              </a:spcAft>
              <a:buFontTx/>
              <a:buNone/>
              <a:defRPr sz="1200" i="1" kern="1200">
                <a:solidFill>
                  <a:schemeClr val="tx1"/>
                </a:solidFill>
                <a:latin typeface="+mn-lt"/>
                <a:ea typeface="+mn-ea"/>
                <a:cs typeface="+mn-cs"/>
              </a:defRPr>
            </a:lvl3pPr>
            <a:lvl4pPr marL="27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4pPr>
            <a:lvl5pPr marL="27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5pPr>
            <a:lvl6pPr marL="54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6pPr>
            <a:lvl7pPr marL="54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7pPr>
            <a:lvl8pPr marL="810000" indent="-270000" algn="l" defTabSz="914400" rtl="0" eaLnBrk="1" latinLnBrk="0" hangingPunct="1">
              <a:lnSpc>
                <a:spcPct val="100000"/>
              </a:lnSpc>
              <a:spcBef>
                <a:spcPts val="400"/>
              </a:spcBef>
              <a:spcAft>
                <a:spcPts val="400"/>
              </a:spcAft>
              <a:buFont typeface="Symbol" panose="05050102010706020507" pitchFamily="18" charset="2"/>
              <a:buChar char="·"/>
              <a:defRPr sz="1200" kern="1200">
                <a:solidFill>
                  <a:schemeClr val="tx1"/>
                </a:solidFill>
                <a:latin typeface="+mn-lt"/>
                <a:ea typeface="+mn-ea"/>
                <a:cs typeface="+mn-cs"/>
              </a:defRPr>
            </a:lvl8pPr>
            <a:lvl9pPr marL="810000" indent="0" algn="l" defTabSz="914400" rtl="0" eaLnBrk="1" latinLnBrk="0" hangingPunct="1">
              <a:lnSpc>
                <a:spcPct val="100000"/>
              </a:lnSpc>
              <a:spcBef>
                <a:spcPts val="0"/>
              </a:spcBef>
              <a:spcAft>
                <a:spcPts val="400"/>
              </a:spcAft>
              <a:buFontTx/>
              <a:buNone/>
              <a:defRPr sz="12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a:ln>
                  <a:noFill/>
                </a:ln>
                <a:solidFill>
                  <a:srgbClr val="58595B"/>
                </a:solidFill>
                <a:effectLst/>
                <a:uLnTx/>
                <a:uFillTx/>
                <a:latin typeface="Calibri"/>
                <a:ea typeface="+mn-ea"/>
                <a:cs typeface="+mn-cs"/>
              </a:rPr>
              <a:t>Open-Source Repository</a:t>
            </a:r>
          </a:p>
        </p:txBody>
      </p:sp>
      <p:cxnSp>
        <p:nvCxnSpPr>
          <p:cNvPr id="64" name="Straight Arrow Connector 63">
            <a:extLst>
              <a:ext uri="{FF2B5EF4-FFF2-40B4-BE49-F238E27FC236}">
                <a16:creationId xmlns:a16="http://schemas.microsoft.com/office/drawing/2014/main" id="{53F9E3FE-7755-43FD-A065-8557A3F9979D}"/>
              </a:ext>
            </a:extLst>
          </p:cNvPr>
          <p:cNvCxnSpPr>
            <a:cxnSpLocks/>
          </p:cNvCxnSpPr>
          <p:nvPr/>
        </p:nvCxnSpPr>
        <p:spPr>
          <a:xfrm flipV="1">
            <a:off x="6393180" y="3023850"/>
            <a:ext cx="0" cy="189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8" name="Graphic 67" descr="Target outline">
            <a:extLst>
              <a:ext uri="{FF2B5EF4-FFF2-40B4-BE49-F238E27FC236}">
                <a16:creationId xmlns:a16="http://schemas.microsoft.com/office/drawing/2014/main" id="{88EFB635-E84A-4449-8C19-7DD50B8B76D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63000" y="1873845"/>
            <a:ext cx="914400" cy="914400"/>
          </a:xfrm>
          <a:prstGeom prst="rect">
            <a:avLst/>
          </a:prstGeom>
        </p:spPr>
      </p:pic>
      <p:pic>
        <p:nvPicPr>
          <p:cNvPr id="2" name="Picture 2">
            <a:extLst>
              <a:ext uri="{FF2B5EF4-FFF2-40B4-BE49-F238E27FC236}">
                <a16:creationId xmlns:a16="http://schemas.microsoft.com/office/drawing/2014/main" id="{11654660-65BC-5B2E-066C-EDDC7FF455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7260"/>
          <a:stretch/>
        </p:blipFill>
        <p:spPr bwMode="auto">
          <a:xfrm>
            <a:off x="3465354" y="2037067"/>
            <a:ext cx="1550295" cy="58171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Logo&#10;&#10;Description automatically generated">
            <a:extLst>
              <a:ext uri="{FF2B5EF4-FFF2-40B4-BE49-F238E27FC236}">
                <a16:creationId xmlns:a16="http://schemas.microsoft.com/office/drawing/2014/main" id="{0BF449D8-81FB-8899-55FD-80460706A19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833209" y="1943536"/>
            <a:ext cx="1484097" cy="768773"/>
          </a:xfrm>
          <a:prstGeom prst="rect">
            <a:avLst/>
          </a:prstGeom>
        </p:spPr>
      </p:pic>
      <p:pic>
        <p:nvPicPr>
          <p:cNvPr id="4" name="Picture 2" descr="About Us">
            <a:extLst>
              <a:ext uri="{FF2B5EF4-FFF2-40B4-BE49-F238E27FC236}">
                <a16:creationId xmlns:a16="http://schemas.microsoft.com/office/drawing/2014/main" id="{EC891A49-F2E5-2380-8165-9BA58CFFDF6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55595" y="2011387"/>
            <a:ext cx="1370832" cy="717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9609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Product Coverage</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3" name="Rectangle 2">
            <a:extLst>
              <a:ext uri="{FF2B5EF4-FFF2-40B4-BE49-F238E27FC236}">
                <a16:creationId xmlns:a16="http://schemas.microsoft.com/office/drawing/2014/main" id="{1DA55F99-A855-2B30-B378-CFF41EBE9437}"/>
              </a:ext>
            </a:extLst>
          </p:cNvPr>
          <p:cNvSpPr/>
          <p:nvPr/>
        </p:nvSpPr>
        <p:spPr>
          <a:xfrm>
            <a:off x="390196" y="6351812"/>
            <a:ext cx="11411607" cy="461665"/>
          </a:xfrm>
          <a:prstGeom prst="rect">
            <a:avLst/>
          </a:prstGeom>
        </p:spPr>
        <p:txBody>
          <a:bodyPr wrap="square">
            <a:spAutoFit/>
          </a:bodyPr>
          <a:lstStyle/>
          <a:p>
            <a:r>
              <a:rPr lang="en-US" sz="1200">
                <a:solidFill>
                  <a:srgbClr val="32007D"/>
                </a:solidFill>
              </a:rPr>
              <a:t>The use of common elements allow for representation of multiple types of products and events in the trade workflow with minimal incremental work. Thus, this coverage list does not represent an exhaustive list of all possible combinations of elements or events</a:t>
            </a:r>
          </a:p>
        </p:txBody>
      </p:sp>
      <p:sp>
        <p:nvSpPr>
          <p:cNvPr id="61" name="TextBox 60">
            <a:extLst>
              <a:ext uri="{FF2B5EF4-FFF2-40B4-BE49-F238E27FC236}">
                <a16:creationId xmlns:a16="http://schemas.microsoft.com/office/drawing/2014/main" id="{6AF00E78-7D36-7440-68FF-48A459DF5DAC}"/>
              </a:ext>
            </a:extLst>
          </p:cNvPr>
          <p:cNvSpPr txBox="1"/>
          <p:nvPr/>
        </p:nvSpPr>
        <p:spPr>
          <a:xfrm>
            <a:off x="477957" y="1246129"/>
            <a:ext cx="11236086" cy="4524315"/>
          </a:xfrm>
          <a:prstGeom prst="rect">
            <a:avLst/>
          </a:prstGeom>
          <a:noFill/>
        </p:spPr>
        <p:txBody>
          <a:bodyPr wrap="square">
            <a:spAutoFit/>
          </a:bodyPr>
          <a:lstStyle/>
          <a:p>
            <a:pPr algn="l"/>
            <a:r>
              <a:rPr lang="en-US" sz="1600" b="0" i="0">
                <a:solidFill>
                  <a:srgbClr val="32007D"/>
                </a:solidFill>
                <a:effectLst/>
                <a:latin typeface="Overpass"/>
              </a:rPr>
              <a:t>The scope of contractual products in the current model are summarized below:</a:t>
            </a:r>
          </a:p>
          <a:p>
            <a:pPr algn="l">
              <a:buFont typeface="Arial" panose="020B0604020202020204" pitchFamily="34" charset="0"/>
              <a:buChar char="•"/>
            </a:pPr>
            <a:r>
              <a:rPr lang="en-US" sz="1600" b="1" i="0">
                <a:solidFill>
                  <a:srgbClr val="32007D"/>
                </a:solidFill>
                <a:effectLst/>
                <a:latin typeface="Overpass"/>
              </a:rPr>
              <a:t> Interest rate derivatives</a:t>
            </a:r>
            <a:r>
              <a:rPr lang="en-US" sz="1600" b="0" i="0">
                <a:solidFill>
                  <a:srgbClr val="32007D"/>
                </a:solidFill>
                <a:effectLst/>
                <a:latin typeface="Overpass"/>
              </a:rPr>
              <a:t>:</a:t>
            </a:r>
          </a:p>
          <a:p>
            <a:pPr marL="742950" lvl="1" indent="-285750" algn="l">
              <a:buFont typeface="Arial" panose="020B0604020202020204" pitchFamily="34" charset="0"/>
              <a:buChar char="•"/>
            </a:pPr>
            <a:r>
              <a:rPr lang="en-US" sz="1600" b="0" i="0">
                <a:solidFill>
                  <a:srgbClr val="32007D"/>
                </a:solidFill>
                <a:effectLst/>
                <a:latin typeface="Overpass"/>
              </a:rPr>
              <a:t>Interest Rate Swaps (incl. cross-currency swaps, non-deliverable swaps, basis swaps, swaps with non-regular periods, ...)</a:t>
            </a:r>
          </a:p>
          <a:p>
            <a:pPr marL="742950" lvl="1" indent="-285750" algn="l">
              <a:buFont typeface="Arial" panose="020B0604020202020204" pitchFamily="34" charset="0"/>
              <a:buChar char="•"/>
            </a:pPr>
            <a:r>
              <a:rPr lang="en-US" sz="1600" b="0" i="0">
                <a:solidFill>
                  <a:srgbClr val="32007D"/>
                </a:solidFill>
                <a:effectLst/>
                <a:latin typeface="Overpass"/>
              </a:rPr>
              <a:t>Swaptions</a:t>
            </a:r>
          </a:p>
          <a:p>
            <a:pPr marL="742950" lvl="1" indent="-285750" algn="l">
              <a:buFont typeface="Arial" panose="020B0604020202020204" pitchFamily="34" charset="0"/>
              <a:buChar char="•"/>
            </a:pPr>
            <a:r>
              <a:rPr lang="en-US" sz="1600" b="0" i="0">
                <a:solidFill>
                  <a:srgbClr val="32007D"/>
                </a:solidFill>
                <a:effectLst/>
                <a:latin typeface="Overpass"/>
              </a:rPr>
              <a:t>Caps/floors</a:t>
            </a:r>
          </a:p>
          <a:p>
            <a:pPr marL="742950" lvl="1" indent="-285750" algn="l">
              <a:buFont typeface="Arial" panose="020B0604020202020204" pitchFamily="34" charset="0"/>
              <a:buChar char="•"/>
            </a:pPr>
            <a:r>
              <a:rPr lang="en-US" sz="1600" b="0" i="0">
                <a:solidFill>
                  <a:srgbClr val="32007D"/>
                </a:solidFill>
                <a:effectLst/>
                <a:latin typeface="Overpass"/>
              </a:rPr>
              <a:t>FRAs</a:t>
            </a:r>
          </a:p>
          <a:p>
            <a:pPr marL="742950" lvl="1" indent="-285750" algn="l">
              <a:buFont typeface="Arial" panose="020B0604020202020204" pitchFamily="34" charset="0"/>
              <a:buChar char="•"/>
            </a:pPr>
            <a:r>
              <a:rPr lang="en-US" sz="1600" b="0" i="0">
                <a:solidFill>
                  <a:srgbClr val="32007D"/>
                </a:solidFill>
                <a:effectLst/>
                <a:latin typeface="Overpass"/>
              </a:rPr>
              <a:t>OTC Options on Bonds</a:t>
            </a:r>
          </a:p>
          <a:p>
            <a:pPr algn="l">
              <a:buFont typeface="Arial" panose="020B0604020202020204" pitchFamily="34" charset="0"/>
              <a:buChar char="•"/>
            </a:pPr>
            <a:r>
              <a:rPr lang="en-US" sz="1600" b="1" i="0">
                <a:solidFill>
                  <a:srgbClr val="32007D"/>
                </a:solidFill>
                <a:effectLst/>
                <a:latin typeface="Overpass"/>
              </a:rPr>
              <a:t> Credit derivatives</a:t>
            </a:r>
            <a:r>
              <a:rPr lang="en-US" sz="1600" b="0" i="0">
                <a:solidFill>
                  <a:srgbClr val="32007D"/>
                </a:solidFill>
                <a:effectLst/>
                <a:latin typeface="Overpass"/>
              </a:rPr>
              <a:t>:</a:t>
            </a:r>
          </a:p>
          <a:p>
            <a:pPr marL="742950" lvl="1" indent="-285750" algn="l">
              <a:buFont typeface="Arial" panose="020B0604020202020204" pitchFamily="34" charset="0"/>
              <a:buChar char="•"/>
            </a:pPr>
            <a:r>
              <a:rPr lang="en-US" sz="1600" b="0" i="0">
                <a:solidFill>
                  <a:srgbClr val="32007D"/>
                </a:solidFill>
                <a:effectLst/>
                <a:latin typeface="Overpass"/>
              </a:rPr>
              <a:t>Credit Default Swaps (incl. baskets, tranche, swaps with mortgage and loans underliers, ...)</a:t>
            </a:r>
          </a:p>
          <a:p>
            <a:pPr marL="742950" lvl="1" indent="-285750" algn="l">
              <a:buFont typeface="Arial" panose="020B0604020202020204" pitchFamily="34" charset="0"/>
              <a:buChar char="•"/>
            </a:pPr>
            <a:r>
              <a:rPr lang="en-US" sz="1600" b="0" i="0">
                <a:solidFill>
                  <a:srgbClr val="32007D"/>
                </a:solidFill>
                <a:effectLst/>
                <a:latin typeface="Overpass"/>
              </a:rPr>
              <a:t>Options on Credit Default Swaps</a:t>
            </a:r>
          </a:p>
          <a:p>
            <a:pPr algn="l">
              <a:buFont typeface="Arial" panose="020B0604020202020204" pitchFamily="34" charset="0"/>
              <a:buChar char="•"/>
            </a:pPr>
            <a:r>
              <a:rPr lang="en-US" sz="1600" b="1" i="0">
                <a:solidFill>
                  <a:srgbClr val="32007D"/>
                </a:solidFill>
                <a:effectLst/>
                <a:latin typeface="Overpass"/>
              </a:rPr>
              <a:t> Equity derivatives</a:t>
            </a:r>
            <a:r>
              <a:rPr lang="en-US" sz="1600" b="0" i="0">
                <a:solidFill>
                  <a:srgbClr val="32007D"/>
                </a:solidFill>
                <a:effectLst/>
                <a:latin typeface="Overpass"/>
              </a:rPr>
              <a:t>:</a:t>
            </a:r>
          </a:p>
          <a:p>
            <a:pPr marL="742950" lvl="1" indent="-285750" algn="l">
              <a:buFont typeface="Arial" panose="020B0604020202020204" pitchFamily="34" charset="0"/>
              <a:buChar char="•"/>
            </a:pPr>
            <a:r>
              <a:rPr lang="en-US" sz="1600" b="0" i="0">
                <a:solidFill>
                  <a:srgbClr val="32007D"/>
                </a:solidFill>
                <a:effectLst/>
                <a:latin typeface="Overpass"/>
              </a:rPr>
              <a:t>Equity Swaps (TRS, PRS, single name/index/basket, </a:t>
            </a:r>
            <a:r>
              <a:rPr lang="en-US" sz="1600" b="0" i="0" err="1">
                <a:solidFill>
                  <a:srgbClr val="32007D"/>
                </a:solidFill>
                <a:effectLst/>
                <a:latin typeface="Overpass"/>
              </a:rPr>
              <a:t>VarSwap</a:t>
            </a:r>
            <a:r>
              <a:rPr lang="en-US" sz="1600" b="0" i="0">
                <a:solidFill>
                  <a:srgbClr val="32007D"/>
                </a:solidFill>
                <a:effectLst/>
                <a:latin typeface="Overpass"/>
              </a:rPr>
              <a:t>, </a:t>
            </a:r>
            <a:r>
              <a:rPr lang="en-US" sz="1600" b="0" i="0" err="1">
                <a:solidFill>
                  <a:srgbClr val="32007D"/>
                </a:solidFill>
                <a:effectLst/>
                <a:latin typeface="Overpass"/>
              </a:rPr>
              <a:t>VolSwap</a:t>
            </a:r>
            <a:r>
              <a:rPr lang="en-US" sz="1600" b="0" i="0">
                <a:solidFill>
                  <a:srgbClr val="32007D"/>
                </a:solidFill>
                <a:effectLst/>
                <a:latin typeface="Overpass"/>
              </a:rPr>
              <a:t>, Dispersion, Correlation, Dividend Swap)</a:t>
            </a:r>
          </a:p>
          <a:p>
            <a:pPr marL="742950" lvl="1" indent="-285750" algn="l">
              <a:buFont typeface="Arial" panose="020B0604020202020204" pitchFamily="34" charset="0"/>
              <a:buChar char="•"/>
            </a:pPr>
            <a:r>
              <a:rPr lang="en-US" sz="1600">
                <a:solidFill>
                  <a:srgbClr val="32007D"/>
                </a:solidFill>
                <a:latin typeface="Overpass"/>
              </a:rPr>
              <a:t>Options &amp; Forwards</a:t>
            </a:r>
            <a:endParaRPr lang="en-US" sz="1600" b="0" i="0">
              <a:solidFill>
                <a:srgbClr val="32007D"/>
              </a:solidFill>
              <a:effectLst/>
              <a:latin typeface="Overpass"/>
            </a:endParaRPr>
          </a:p>
          <a:p>
            <a:pPr algn="l">
              <a:buFont typeface="Arial" panose="020B0604020202020204" pitchFamily="34" charset="0"/>
              <a:buChar char="•"/>
            </a:pPr>
            <a:r>
              <a:rPr lang="en-US" sz="1600" b="1" i="0">
                <a:solidFill>
                  <a:srgbClr val="32007D"/>
                </a:solidFill>
                <a:effectLst/>
                <a:latin typeface="Overpass"/>
              </a:rPr>
              <a:t> Foreign Exchange derivatives:</a:t>
            </a:r>
            <a:endParaRPr lang="en-US" sz="1600" b="1">
              <a:solidFill>
                <a:srgbClr val="32007D"/>
              </a:solidFill>
              <a:latin typeface="Overpass"/>
            </a:endParaRPr>
          </a:p>
          <a:p>
            <a:pPr lvl="1">
              <a:buFont typeface="Arial" panose="020B0604020202020204" pitchFamily="34" charset="0"/>
              <a:buChar char="•"/>
            </a:pPr>
            <a:r>
              <a:rPr lang="en-US" sz="1600" b="1" i="0">
                <a:solidFill>
                  <a:srgbClr val="32007D"/>
                </a:solidFill>
                <a:effectLst/>
                <a:latin typeface="Overpass"/>
              </a:rPr>
              <a:t> </a:t>
            </a:r>
            <a:r>
              <a:rPr lang="en-US" sz="1600" i="0">
                <a:solidFill>
                  <a:srgbClr val="32007D"/>
                </a:solidFill>
                <a:effectLst/>
                <a:latin typeface="Overpass"/>
              </a:rPr>
              <a:t>FX Swap, Forward, NDF, Options</a:t>
            </a:r>
          </a:p>
          <a:p>
            <a:pPr algn="l">
              <a:buFont typeface="Arial" panose="020B0604020202020204" pitchFamily="34" charset="0"/>
              <a:buChar char="•"/>
            </a:pPr>
            <a:r>
              <a:rPr lang="en-US" sz="1600" b="1">
                <a:solidFill>
                  <a:srgbClr val="32007D"/>
                </a:solidFill>
                <a:latin typeface="Overpass"/>
              </a:rPr>
              <a:t> Commodity derivatives</a:t>
            </a:r>
            <a:r>
              <a:rPr lang="en-US" sz="1600" b="0" i="0">
                <a:solidFill>
                  <a:srgbClr val="32007D"/>
                </a:solidFill>
                <a:effectLst/>
                <a:latin typeface="Overpass"/>
              </a:rPr>
              <a:t>:</a:t>
            </a:r>
          </a:p>
          <a:p>
            <a:pPr lvl="1">
              <a:buFont typeface="Arial" panose="020B0604020202020204" pitchFamily="34" charset="0"/>
              <a:buChar char="•"/>
            </a:pPr>
            <a:r>
              <a:rPr lang="en-US" sz="1600">
                <a:solidFill>
                  <a:srgbClr val="32007D"/>
                </a:solidFill>
                <a:latin typeface="Overpass"/>
              </a:rPr>
              <a:t> Swaps, options, swaptions</a:t>
            </a:r>
            <a:endParaRPr lang="en-US" sz="1600" b="0" i="0">
              <a:solidFill>
                <a:srgbClr val="32007D"/>
              </a:solidFill>
              <a:effectLst/>
              <a:latin typeface="Overpass"/>
            </a:endParaRPr>
          </a:p>
          <a:p>
            <a:pPr algn="l"/>
            <a:r>
              <a:rPr lang="en-US" sz="1600" b="1" i="0">
                <a:solidFill>
                  <a:srgbClr val="32007D"/>
                </a:solidFill>
                <a:effectLst/>
                <a:latin typeface="Overpass"/>
              </a:rPr>
              <a:t>	</a:t>
            </a:r>
            <a:endParaRPr lang="en-US" sz="1600">
              <a:solidFill>
                <a:srgbClr val="32007D"/>
              </a:solidFill>
              <a:latin typeface="Overpass"/>
            </a:endParaRPr>
          </a:p>
        </p:txBody>
      </p:sp>
    </p:spTree>
    <p:extLst>
      <p:ext uri="{BB962C8B-B14F-4D97-AF65-F5344CB8AC3E}">
        <p14:creationId xmlns:p14="http://schemas.microsoft.com/office/powerpoint/2010/main" val="240992539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Product &amp; Event Coverage</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3" name="Rectangle 2">
            <a:extLst>
              <a:ext uri="{FF2B5EF4-FFF2-40B4-BE49-F238E27FC236}">
                <a16:creationId xmlns:a16="http://schemas.microsoft.com/office/drawing/2014/main" id="{1DA55F99-A855-2B30-B378-CFF41EBE9437}"/>
              </a:ext>
            </a:extLst>
          </p:cNvPr>
          <p:cNvSpPr/>
          <p:nvPr/>
        </p:nvSpPr>
        <p:spPr>
          <a:xfrm>
            <a:off x="390196" y="6351812"/>
            <a:ext cx="11411607" cy="461665"/>
          </a:xfrm>
          <a:prstGeom prst="rect">
            <a:avLst/>
          </a:prstGeom>
        </p:spPr>
        <p:txBody>
          <a:bodyPr wrap="square">
            <a:spAutoFit/>
          </a:bodyPr>
          <a:lstStyle/>
          <a:p>
            <a:r>
              <a:rPr lang="en-US" sz="1200">
                <a:solidFill>
                  <a:srgbClr val="32007D"/>
                </a:solidFill>
              </a:rPr>
              <a:t>The use of common elements allow for representation of multiple types of products and events in the trade workflow with minimal incremental work. Thus, this coverage list does not represent an exhaustive list of all possible combinations of elements or events</a:t>
            </a:r>
          </a:p>
        </p:txBody>
      </p:sp>
      <p:sp>
        <p:nvSpPr>
          <p:cNvPr id="61" name="TextBox 60">
            <a:extLst>
              <a:ext uri="{FF2B5EF4-FFF2-40B4-BE49-F238E27FC236}">
                <a16:creationId xmlns:a16="http://schemas.microsoft.com/office/drawing/2014/main" id="{6AF00E78-7D36-7440-68FF-48A459DF5DAC}"/>
              </a:ext>
            </a:extLst>
          </p:cNvPr>
          <p:cNvSpPr txBox="1"/>
          <p:nvPr/>
        </p:nvSpPr>
        <p:spPr>
          <a:xfrm>
            <a:off x="477957" y="1246129"/>
            <a:ext cx="11236086" cy="4770537"/>
          </a:xfrm>
          <a:prstGeom prst="rect">
            <a:avLst/>
          </a:prstGeom>
          <a:noFill/>
        </p:spPr>
        <p:txBody>
          <a:bodyPr wrap="square">
            <a:spAutoFit/>
          </a:bodyPr>
          <a:lstStyle/>
          <a:p>
            <a:pPr algn="l"/>
            <a:r>
              <a:rPr lang="en-US" sz="1600" b="0" i="0">
                <a:solidFill>
                  <a:srgbClr val="32007D"/>
                </a:solidFill>
                <a:effectLst/>
                <a:latin typeface="Overpass"/>
              </a:rPr>
              <a:t>The scope of contractual products and events in the current model are summarized below:</a:t>
            </a:r>
          </a:p>
          <a:p>
            <a:pPr algn="l">
              <a:buFont typeface="Arial" panose="020B0604020202020204" pitchFamily="34" charset="0"/>
              <a:buChar char="•"/>
            </a:pPr>
            <a:r>
              <a:rPr lang="en-US" sz="1600" b="1" i="0">
                <a:solidFill>
                  <a:srgbClr val="32007D"/>
                </a:solidFill>
                <a:effectLst/>
                <a:latin typeface="Overpass"/>
              </a:rPr>
              <a:t> Securities Lending</a:t>
            </a:r>
            <a:r>
              <a:rPr lang="en-US" sz="1600" b="0" i="0">
                <a:solidFill>
                  <a:srgbClr val="32007D"/>
                </a:solidFill>
                <a:effectLst/>
                <a:latin typeface="Overpass"/>
              </a:rPr>
              <a:t>:</a:t>
            </a:r>
          </a:p>
          <a:p>
            <a:pPr marL="742950" lvl="1" indent="-285750" algn="l">
              <a:buFont typeface="Arial" panose="020B0604020202020204" pitchFamily="34" charset="0"/>
              <a:buChar char="•"/>
            </a:pPr>
            <a:r>
              <a:rPr lang="en-US" sz="1600" b="0" i="0">
                <a:solidFill>
                  <a:srgbClr val="32007D"/>
                </a:solidFill>
                <a:effectLst/>
                <a:latin typeface="Overpass"/>
              </a:rPr>
              <a:t>Single underlier, cash </a:t>
            </a:r>
            <a:r>
              <a:rPr lang="en-US" sz="1600" b="0" i="0" err="1">
                <a:solidFill>
                  <a:srgbClr val="32007D"/>
                </a:solidFill>
                <a:effectLst/>
                <a:latin typeface="Overpass"/>
              </a:rPr>
              <a:t>collateralised</a:t>
            </a:r>
            <a:r>
              <a:rPr lang="en-US" sz="1600" b="0" i="0">
                <a:solidFill>
                  <a:srgbClr val="32007D"/>
                </a:solidFill>
                <a:effectLst/>
                <a:latin typeface="Overpass"/>
              </a:rPr>
              <a:t>, open/term security loan</a:t>
            </a:r>
          </a:p>
          <a:p>
            <a:pPr algn="l">
              <a:buFont typeface="Arial" panose="020B0604020202020204" pitchFamily="34" charset="0"/>
              <a:buChar char="•"/>
            </a:pPr>
            <a:r>
              <a:rPr lang="en-US" sz="1600" b="1" i="0">
                <a:solidFill>
                  <a:srgbClr val="32007D"/>
                </a:solidFill>
                <a:effectLst/>
                <a:latin typeface="Overpass"/>
              </a:rPr>
              <a:t> Repurchase Agreements</a:t>
            </a:r>
            <a:r>
              <a:rPr lang="en-US" sz="1600" b="0" i="0">
                <a:solidFill>
                  <a:srgbClr val="32007D"/>
                </a:solidFill>
                <a:effectLst/>
                <a:latin typeface="Overpass"/>
              </a:rPr>
              <a:t>:</a:t>
            </a:r>
          </a:p>
          <a:p>
            <a:pPr marL="742950" lvl="1" indent="-285750" algn="l">
              <a:buFont typeface="Arial" panose="020B0604020202020204" pitchFamily="34" charset="0"/>
              <a:buChar char="•"/>
            </a:pPr>
            <a:r>
              <a:rPr lang="en-US" sz="1600" b="0" i="0">
                <a:solidFill>
                  <a:srgbClr val="32007D"/>
                </a:solidFill>
                <a:effectLst/>
                <a:latin typeface="Overpass"/>
              </a:rPr>
              <a:t>Open Term, Fixed Term, Fixed Rate, Floating Rate</a:t>
            </a:r>
          </a:p>
          <a:p>
            <a:pPr algn="l">
              <a:buFont typeface="Arial" panose="020B0604020202020204" pitchFamily="34" charset="0"/>
              <a:buChar char="•"/>
            </a:pPr>
            <a:r>
              <a:rPr lang="en-US" sz="1600" b="1" i="0">
                <a:solidFill>
                  <a:srgbClr val="32007D"/>
                </a:solidFill>
                <a:effectLst/>
                <a:latin typeface="Overpass"/>
              </a:rPr>
              <a:t> Events</a:t>
            </a:r>
            <a:r>
              <a:rPr lang="en-US" sz="1600" b="0" i="0">
                <a:solidFill>
                  <a:srgbClr val="32007D"/>
                </a:solidFill>
                <a:effectLst/>
                <a:latin typeface="Overpass"/>
              </a:rPr>
              <a:t>:</a:t>
            </a:r>
          </a:p>
          <a:p>
            <a:pPr marL="742950" lvl="1" indent="-285750" algn="l">
              <a:buFont typeface="Arial" panose="020B0604020202020204" pitchFamily="34" charset="0"/>
              <a:buChar char="•"/>
            </a:pPr>
            <a:r>
              <a:rPr lang="en-US" sz="1600" b="0" i="0">
                <a:solidFill>
                  <a:srgbClr val="32007D"/>
                </a:solidFill>
                <a:effectLst/>
                <a:latin typeface="Overpass"/>
              </a:rPr>
              <a:t>Allocation, Re-allocation</a:t>
            </a:r>
          </a:p>
          <a:p>
            <a:pPr marL="742950" lvl="1" indent="-285750" algn="l">
              <a:buFont typeface="Arial" panose="020B0604020202020204" pitchFamily="34" charset="0"/>
              <a:buChar char="•"/>
            </a:pPr>
            <a:r>
              <a:rPr lang="en-US" sz="1600">
                <a:solidFill>
                  <a:srgbClr val="32007D"/>
                </a:solidFill>
                <a:latin typeface="Overpass"/>
              </a:rPr>
              <a:t>Cash, Security transfers, DVP settlement</a:t>
            </a:r>
          </a:p>
          <a:p>
            <a:pPr marL="742950" lvl="1" indent="-285750" algn="l">
              <a:buFont typeface="Arial" panose="020B0604020202020204" pitchFamily="34" charset="0"/>
              <a:buChar char="•"/>
            </a:pPr>
            <a:r>
              <a:rPr lang="en-US" sz="1600">
                <a:solidFill>
                  <a:srgbClr val="32007D"/>
                </a:solidFill>
                <a:latin typeface="Overpass"/>
              </a:rPr>
              <a:t>Clearing events</a:t>
            </a:r>
          </a:p>
          <a:p>
            <a:pPr marL="742950" lvl="1" indent="-285750" algn="l">
              <a:buFont typeface="Arial" panose="020B0604020202020204" pitchFamily="34" charset="0"/>
              <a:buChar char="•"/>
            </a:pPr>
            <a:r>
              <a:rPr lang="en-US" sz="1600">
                <a:solidFill>
                  <a:srgbClr val="32007D"/>
                </a:solidFill>
                <a:latin typeface="Overpass"/>
              </a:rPr>
              <a:t>Compression</a:t>
            </a:r>
          </a:p>
          <a:p>
            <a:pPr marL="742950" lvl="1" indent="-285750" algn="l">
              <a:buFont typeface="Arial" panose="020B0604020202020204" pitchFamily="34" charset="0"/>
              <a:buChar char="•"/>
            </a:pPr>
            <a:r>
              <a:rPr lang="en-US" sz="1600">
                <a:solidFill>
                  <a:srgbClr val="32007D"/>
                </a:solidFill>
                <a:latin typeface="Overpass"/>
              </a:rPr>
              <a:t>Increase and decreases/returns</a:t>
            </a:r>
          </a:p>
          <a:p>
            <a:pPr marL="742950" lvl="1" indent="-285750" algn="l">
              <a:buFont typeface="Arial" panose="020B0604020202020204" pitchFamily="34" charset="0"/>
              <a:buChar char="•"/>
            </a:pPr>
            <a:r>
              <a:rPr lang="en-US" sz="1600" err="1">
                <a:solidFill>
                  <a:srgbClr val="32007D"/>
                </a:solidFill>
                <a:latin typeface="Overpass"/>
              </a:rPr>
              <a:t>Novations</a:t>
            </a:r>
            <a:r>
              <a:rPr lang="en-US" sz="1600">
                <a:solidFill>
                  <a:srgbClr val="32007D"/>
                </a:solidFill>
                <a:latin typeface="Overpass"/>
              </a:rPr>
              <a:t>- full, partial</a:t>
            </a:r>
          </a:p>
          <a:p>
            <a:pPr marL="742950" lvl="1" indent="-285750" algn="l">
              <a:buFont typeface="Arial" panose="020B0604020202020204" pitchFamily="34" charset="0"/>
              <a:buChar char="•"/>
            </a:pPr>
            <a:r>
              <a:rPr lang="en-US" sz="1600">
                <a:solidFill>
                  <a:srgbClr val="32007D"/>
                </a:solidFill>
                <a:latin typeface="Overpass"/>
              </a:rPr>
              <a:t>Terminations- full, partial</a:t>
            </a:r>
          </a:p>
          <a:p>
            <a:pPr marL="742950" lvl="1" indent="-285750" algn="l">
              <a:buFont typeface="Arial" panose="020B0604020202020204" pitchFamily="34" charset="0"/>
              <a:buChar char="•"/>
            </a:pPr>
            <a:r>
              <a:rPr lang="en-US" sz="1600">
                <a:solidFill>
                  <a:srgbClr val="32007D"/>
                </a:solidFill>
                <a:latin typeface="Overpass"/>
              </a:rPr>
              <a:t>Renegotiation</a:t>
            </a:r>
          </a:p>
          <a:p>
            <a:pPr marL="742950" lvl="1" indent="-285750" algn="l">
              <a:buFont typeface="Arial" panose="020B0604020202020204" pitchFamily="34" charset="0"/>
              <a:buChar char="•"/>
            </a:pPr>
            <a:r>
              <a:rPr lang="en-US" sz="1600">
                <a:solidFill>
                  <a:srgbClr val="32007D"/>
                </a:solidFill>
                <a:latin typeface="Overpass"/>
              </a:rPr>
              <a:t>Reset</a:t>
            </a:r>
          </a:p>
          <a:p>
            <a:pPr marL="742950" lvl="1" indent="-285750" algn="l">
              <a:buFont typeface="Arial" panose="020B0604020202020204" pitchFamily="34" charset="0"/>
              <a:buChar char="•"/>
            </a:pPr>
            <a:r>
              <a:rPr lang="en-US" sz="1600">
                <a:solidFill>
                  <a:srgbClr val="32007D"/>
                </a:solidFill>
                <a:latin typeface="Overpass"/>
              </a:rPr>
              <a:t>Execution</a:t>
            </a:r>
          </a:p>
          <a:p>
            <a:pPr marL="742950" lvl="1" indent="-285750" algn="l">
              <a:buFont typeface="Arial" panose="020B0604020202020204" pitchFamily="34" charset="0"/>
              <a:buChar char="•"/>
            </a:pPr>
            <a:r>
              <a:rPr lang="en-US" sz="1600">
                <a:solidFill>
                  <a:srgbClr val="32007D"/>
                </a:solidFill>
                <a:latin typeface="Overpass"/>
              </a:rPr>
              <a:t>Stock Split</a:t>
            </a:r>
          </a:p>
          <a:p>
            <a:pPr marL="742950" lvl="1" indent="-285750" algn="l">
              <a:buFont typeface="Arial" panose="020B0604020202020204" pitchFamily="34" charset="0"/>
              <a:buChar char="•"/>
            </a:pPr>
            <a:r>
              <a:rPr lang="en-US" sz="1600">
                <a:solidFill>
                  <a:srgbClr val="32007D"/>
                </a:solidFill>
                <a:latin typeface="Overpass"/>
              </a:rPr>
              <a:t>Index Transition</a:t>
            </a:r>
          </a:p>
          <a:p>
            <a:pPr marL="742950" lvl="1" indent="-285750" algn="l">
              <a:buFont typeface="Arial" panose="020B0604020202020204" pitchFamily="34" charset="0"/>
              <a:buChar char="•"/>
            </a:pPr>
            <a:r>
              <a:rPr lang="en-US" sz="1600">
                <a:solidFill>
                  <a:srgbClr val="32007D"/>
                </a:solidFill>
                <a:latin typeface="Overpass"/>
              </a:rPr>
              <a:t>Determination of corporate action and credit events</a:t>
            </a:r>
          </a:p>
        </p:txBody>
      </p:sp>
    </p:spTree>
    <p:extLst>
      <p:ext uri="{BB962C8B-B14F-4D97-AF65-F5344CB8AC3E}">
        <p14:creationId xmlns:p14="http://schemas.microsoft.com/office/powerpoint/2010/main" val="19650484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Legal Document Coverage</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pic>
        <p:nvPicPr>
          <p:cNvPr id="4" name="Picture 3">
            <a:extLst>
              <a:ext uri="{FF2B5EF4-FFF2-40B4-BE49-F238E27FC236}">
                <a16:creationId xmlns:a16="http://schemas.microsoft.com/office/drawing/2014/main" id="{67BFF34D-A9C5-F3A0-7A50-CB54576E7293}"/>
              </a:ext>
            </a:extLst>
          </p:cNvPr>
          <p:cNvPicPr>
            <a:picLocks noChangeAspect="1"/>
          </p:cNvPicPr>
          <p:nvPr/>
        </p:nvPicPr>
        <p:blipFill>
          <a:blip r:embed="rId4"/>
          <a:stretch>
            <a:fillRect/>
          </a:stretch>
        </p:blipFill>
        <p:spPr>
          <a:xfrm>
            <a:off x="273344" y="1340263"/>
            <a:ext cx="5807380" cy="4655002"/>
          </a:xfrm>
          <a:prstGeom prst="rect">
            <a:avLst/>
          </a:prstGeom>
        </p:spPr>
      </p:pic>
      <p:pic>
        <p:nvPicPr>
          <p:cNvPr id="8" name="Picture 7">
            <a:extLst>
              <a:ext uri="{FF2B5EF4-FFF2-40B4-BE49-F238E27FC236}">
                <a16:creationId xmlns:a16="http://schemas.microsoft.com/office/drawing/2014/main" id="{BA9238B4-277F-1951-CF22-ED5CAEC0D566}"/>
              </a:ext>
            </a:extLst>
          </p:cNvPr>
          <p:cNvPicPr>
            <a:picLocks noChangeAspect="1"/>
          </p:cNvPicPr>
          <p:nvPr/>
        </p:nvPicPr>
        <p:blipFill>
          <a:blip r:embed="rId5"/>
          <a:stretch>
            <a:fillRect/>
          </a:stretch>
        </p:blipFill>
        <p:spPr>
          <a:xfrm>
            <a:off x="6237081" y="1340263"/>
            <a:ext cx="5681575" cy="3612176"/>
          </a:xfrm>
          <a:prstGeom prst="rect">
            <a:avLst/>
          </a:prstGeom>
        </p:spPr>
      </p:pic>
      <p:sp>
        <p:nvSpPr>
          <p:cNvPr id="9" name="TextBox 8">
            <a:extLst>
              <a:ext uri="{FF2B5EF4-FFF2-40B4-BE49-F238E27FC236}">
                <a16:creationId xmlns:a16="http://schemas.microsoft.com/office/drawing/2014/main" id="{A276BC1F-097E-4BDE-87B2-A84B1A7F4B36}"/>
              </a:ext>
            </a:extLst>
          </p:cNvPr>
          <p:cNvSpPr txBox="1"/>
          <p:nvPr/>
        </p:nvSpPr>
        <p:spPr>
          <a:xfrm>
            <a:off x="520114" y="1440303"/>
            <a:ext cx="1800464" cy="307777"/>
          </a:xfrm>
          <a:prstGeom prst="rect">
            <a:avLst/>
          </a:prstGeom>
          <a:noFill/>
        </p:spPr>
        <p:txBody>
          <a:bodyPr wrap="square">
            <a:spAutoFit/>
          </a:bodyPr>
          <a:lstStyle/>
          <a:p>
            <a:pPr>
              <a:defRPr/>
            </a:pPr>
            <a:r>
              <a:rPr kumimoji="0" lang="en-US" sz="1400" b="1" i="0" u="none" strike="noStrike" kern="0" cap="none" spc="0" normalizeH="0" baseline="0" noProof="0">
                <a:ln>
                  <a:noFill/>
                </a:ln>
                <a:solidFill>
                  <a:srgbClr val="32007C"/>
                </a:solidFill>
                <a:effectLst/>
                <a:uLnTx/>
                <a:uFillTx/>
                <a:latin typeface="+mj-lt"/>
                <a:ea typeface="Helvetica Light" charset="0"/>
                <a:cs typeface="Helvetica Light" charset="0"/>
              </a:rPr>
              <a:t>ISDA Documentation</a:t>
            </a:r>
            <a:endParaRPr kumimoji="0" lang="en-GB" sz="1400" b="1"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sp>
        <p:nvSpPr>
          <p:cNvPr id="10" name="TextBox 9">
            <a:extLst>
              <a:ext uri="{FF2B5EF4-FFF2-40B4-BE49-F238E27FC236}">
                <a16:creationId xmlns:a16="http://schemas.microsoft.com/office/drawing/2014/main" id="{BFFB8B47-CF05-4E45-FF0E-9863BB33EC4F}"/>
              </a:ext>
            </a:extLst>
          </p:cNvPr>
          <p:cNvSpPr txBox="1"/>
          <p:nvPr/>
        </p:nvSpPr>
        <p:spPr>
          <a:xfrm>
            <a:off x="6327494" y="1440303"/>
            <a:ext cx="1800464" cy="307777"/>
          </a:xfrm>
          <a:prstGeom prst="rect">
            <a:avLst/>
          </a:prstGeom>
          <a:noFill/>
        </p:spPr>
        <p:txBody>
          <a:bodyPr wrap="square">
            <a:spAutoFit/>
          </a:bodyPr>
          <a:lstStyle/>
          <a:p>
            <a:pPr>
              <a:defRPr/>
            </a:pPr>
            <a:r>
              <a:rPr kumimoji="0" lang="en-US" sz="1400" b="1" i="0" u="none" strike="noStrike" kern="0" cap="none" spc="0" normalizeH="0" baseline="0" noProof="0">
                <a:ln>
                  <a:noFill/>
                </a:ln>
                <a:solidFill>
                  <a:srgbClr val="32007C"/>
                </a:solidFill>
                <a:effectLst/>
                <a:uLnTx/>
                <a:uFillTx/>
                <a:latin typeface="+mj-lt"/>
                <a:ea typeface="Helvetica Light" charset="0"/>
                <a:cs typeface="Helvetica Light" charset="0"/>
              </a:rPr>
              <a:t>ISDA Documentation</a:t>
            </a:r>
            <a:endParaRPr kumimoji="0" lang="en-GB" sz="1400" b="1"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sp>
        <p:nvSpPr>
          <p:cNvPr id="12" name="TextBox 11">
            <a:extLst>
              <a:ext uri="{FF2B5EF4-FFF2-40B4-BE49-F238E27FC236}">
                <a16:creationId xmlns:a16="http://schemas.microsoft.com/office/drawing/2014/main" id="{8B4BA7C4-546D-25FE-4FDA-A44DA1DBE2A4}"/>
              </a:ext>
            </a:extLst>
          </p:cNvPr>
          <p:cNvSpPr txBox="1"/>
          <p:nvPr/>
        </p:nvSpPr>
        <p:spPr>
          <a:xfrm>
            <a:off x="6327494" y="5266701"/>
            <a:ext cx="4276472" cy="523220"/>
          </a:xfrm>
          <a:prstGeom prst="rect">
            <a:avLst/>
          </a:prstGeom>
          <a:noFill/>
        </p:spPr>
        <p:txBody>
          <a:bodyPr wrap="square">
            <a:spAutoFit/>
          </a:bodyPr>
          <a:lstStyle/>
          <a:p>
            <a:pPr>
              <a:defRPr/>
            </a:pPr>
            <a:r>
              <a:rPr kumimoji="0" lang="en-US" sz="1400" b="1" i="0" u="none" strike="noStrike" kern="0" cap="none" spc="0" normalizeH="0" baseline="0" noProof="0">
                <a:ln>
                  <a:noFill/>
                </a:ln>
                <a:solidFill>
                  <a:srgbClr val="32007C"/>
                </a:solidFill>
                <a:effectLst/>
                <a:uLnTx/>
                <a:uFillTx/>
                <a:latin typeface="+mj-lt"/>
                <a:ea typeface="Helvetica Light" charset="0"/>
                <a:cs typeface="Helvetica Light" charset="0"/>
              </a:rPr>
              <a:t>ISLA have also contributed their Clause Library and Taxonomy for the GMSLA 2010/2018</a:t>
            </a:r>
            <a:endParaRPr kumimoji="0" lang="en-GB" sz="1400" b="1"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spTree>
    <p:extLst>
      <p:ext uri="{BB962C8B-B14F-4D97-AF65-F5344CB8AC3E}">
        <p14:creationId xmlns:p14="http://schemas.microsoft.com/office/powerpoint/2010/main" val="283435737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Roadmap &amp; Ongoing Initiatives</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TextBox 1">
            <a:extLst>
              <a:ext uri="{FF2B5EF4-FFF2-40B4-BE49-F238E27FC236}">
                <a16:creationId xmlns:a16="http://schemas.microsoft.com/office/drawing/2014/main" id="{AF1C6595-7A37-BA10-A819-3B04075AC964}"/>
              </a:ext>
            </a:extLst>
          </p:cNvPr>
          <p:cNvSpPr txBox="1"/>
          <p:nvPr/>
        </p:nvSpPr>
        <p:spPr>
          <a:xfrm>
            <a:off x="10610530" y="6389894"/>
            <a:ext cx="1422667" cy="307777"/>
          </a:xfrm>
          <a:prstGeom prst="rect">
            <a:avLst/>
          </a:prstGeom>
          <a:noFill/>
        </p:spPr>
        <p:txBody>
          <a:bodyPr wrap="square">
            <a:spAutoFit/>
          </a:bodyPr>
          <a:lstStyle/>
          <a:p>
            <a:pPr>
              <a:defRPr/>
            </a:pPr>
            <a:r>
              <a:rPr kumimoji="0" lang="en-US" sz="1400" b="1" i="0" u="none" strike="noStrike" kern="0" cap="none" spc="0" normalizeH="0" baseline="0" noProof="0">
                <a:ln>
                  <a:noFill/>
                </a:ln>
                <a:solidFill>
                  <a:srgbClr val="32007C"/>
                </a:solidFill>
                <a:effectLst/>
                <a:uLnTx/>
                <a:uFillTx/>
                <a:latin typeface="+mj-lt"/>
                <a:ea typeface="Helvetica Light" charset="0"/>
                <a:cs typeface="Helvetica Light" charset="0"/>
              </a:rPr>
              <a:t>As at Oct 2023</a:t>
            </a:r>
            <a:endParaRPr kumimoji="0" lang="en-GB" sz="1400" b="1"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sp>
        <p:nvSpPr>
          <p:cNvPr id="3" name="TextBox 2">
            <a:extLst>
              <a:ext uri="{FF2B5EF4-FFF2-40B4-BE49-F238E27FC236}">
                <a16:creationId xmlns:a16="http://schemas.microsoft.com/office/drawing/2014/main" id="{56597B7B-2315-BA7F-29E6-39087901B374}"/>
              </a:ext>
            </a:extLst>
          </p:cNvPr>
          <p:cNvSpPr txBox="1"/>
          <p:nvPr/>
        </p:nvSpPr>
        <p:spPr>
          <a:xfrm>
            <a:off x="520114" y="1286415"/>
            <a:ext cx="1422667" cy="307777"/>
          </a:xfrm>
          <a:prstGeom prst="rect">
            <a:avLst/>
          </a:prstGeom>
          <a:noFill/>
        </p:spPr>
        <p:txBody>
          <a:bodyPr wrap="square">
            <a:spAutoFit/>
          </a:bodyPr>
          <a:lstStyle/>
          <a:p>
            <a:pPr>
              <a:defRPr/>
            </a:pPr>
            <a:r>
              <a:rPr kumimoji="0" lang="en-US" sz="1400" b="1" i="0" u="none" strike="noStrike" kern="0" cap="none" spc="0" normalizeH="0" baseline="0" noProof="0">
                <a:ln>
                  <a:noFill/>
                </a:ln>
                <a:solidFill>
                  <a:srgbClr val="32007C"/>
                </a:solidFill>
                <a:effectLst/>
                <a:uLnTx/>
                <a:uFillTx/>
                <a:latin typeface="+mj-lt"/>
                <a:ea typeface="Helvetica Light" charset="0"/>
                <a:cs typeface="Helvetica Light" charset="0"/>
              </a:rPr>
              <a:t>Derivatives:</a:t>
            </a:r>
            <a:endParaRPr kumimoji="0" lang="en-GB" sz="1400" b="1"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sp>
        <p:nvSpPr>
          <p:cNvPr id="4" name="TextBox 3">
            <a:extLst>
              <a:ext uri="{FF2B5EF4-FFF2-40B4-BE49-F238E27FC236}">
                <a16:creationId xmlns:a16="http://schemas.microsoft.com/office/drawing/2014/main" id="{E541B523-8A2E-1E67-A362-CB361726F5A6}"/>
              </a:ext>
            </a:extLst>
          </p:cNvPr>
          <p:cNvSpPr txBox="1"/>
          <p:nvPr/>
        </p:nvSpPr>
        <p:spPr>
          <a:xfrm>
            <a:off x="520114" y="3512442"/>
            <a:ext cx="1808148" cy="307777"/>
          </a:xfrm>
          <a:prstGeom prst="rect">
            <a:avLst/>
          </a:prstGeom>
          <a:noFill/>
        </p:spPr>
        <p:txBody>
          <a:bodyPr wrap="square">
            <a:spAutoFit/>
          </a:bodyPr>
          <a:lstStyle/>
          <a:p>
            <a:pPr>
              <a:defRPr/>
            </a:pPr>
            <a:r>
              <a:rPr kumimoji="0" lang="en-US" sz="1400" b="1" i="0" u="none" strike="noStrike" kern="0" cap="none" spc="0" normalizeH="0" baseline="0" noProof="0">
                <a:ln>
                  <a:noFill/>
                </a:ln>
                <a:solidFill>
                  <a:srgbClr val="32007C"/>
                </a:solidFill>
                <a:effectLst/>
                <a:uLnTx/>
                <a:uFillTx/>
                <a:latin typeface="+mj-lt"/>
                <a:ea typeface="Helvetica Light" charset="0"/>
                <a:cs typeface="Helvetica Light" charset="0"/>
              </a:rPr>
              <a:t>Securities Finance:</a:t>
            </a:r>
            <a:endParaRPr kumimoji="0" lang="en-GB" sz="1400" b="1"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sp>
        <p:nvSpPr>
          <p:cNvPr id="6" name="TextBox 5">
            <a:extLst>
              <a:ext uri="{FF2B5EF4-FFF2-40B4-BE49-F238E27FC236}">
                <a16:creationId xmlns:a16="http://schemas.microsoft.com/office/drawing/2014/main" id="{DDF6ED64-F2C3-748D-A27C-7EA2D9C9F8F5}"/>
              </a:ext>
            </a:extLst>
          </p:cNvPr>
          <p:cNvSpPr txBox="1"/>
          <p:nvPr/>
        </p:nvSpPr>
        <p:spPr>
          <a:xfrm>
            <a:off x="466326" y="5180361"/>
            <a:ext cx="2207718" cy="307777"/>
          </a:xfrm>
          <a:prstGeom prst="rect">
            <a:avLst/>
          </a:prstGeom>
          <a:noFill/>
        </p:spPr>
        <p:txBody>
          <a:bodyPr wrap="square">
            <a:spAutoFit/>
          </a:bodyPr>
          <a:lstStyle/>
          <a:p>
            <a:pPr>
              <a:defRPr/>
            </a:pPr>
            <a:r>
              <a:rPr kumimoji="0" lang="en-US" sz="1400" b="1" i="0" u="none" strike="noStrike" kern="0" cap="none" spc="0" normalizeH="0" baseline="0" noProof="0">
                <a:ln>
                  <a:noFill/>
                </a:ln>
                <a:solidFill>
                  <a:srgbClr val="32007C"/>
                </a:solidFill>
                <a:effectLst/>
                <a:uLnTx/>
                <a:uFillTx/>
                <a:latin typeface="+mj-lt"/>
                <a:ea typeface="Helvetica Light" charset="0"/>
                <a:cs typeface="Helvetica Light" charset="0"/>
              </a:rPr>
              <a:t>Technical Implementation:</a:t>
            </a:r>
            <a:endParaRPr kumimoji="0" lang="en-GB" sz="1400" b="1"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sp>
        <p:nvSpPr>
          <p:cNvPr id="8" name="TextBox 7">
            <a:extLst>
              <a:ext uri="{FF2B5EF4-FFF2-40B4-BE49-F238E27FC236}">
                <a16:creationId xmlns:a16="http://schemas.microsoft.com/office/drawing/2014/main" id="{77441716-F6C4-64DA-15F7-2FEDFF0FC4EB}"/>
              </a:ext>
            </a:extLst>
          </p:cNvPr>
          <p:cNvSpPr txBox="1"/>
          <p:nvPr/>
        </p:nvSpPr>
        <p:spPr>
          <a:xfrm>
            <a:off x="741670" y="1623434"/>
            <a:ext cx="10607648" cy="1815882"/>
          </a:xfrm>
          <a:prstGeom prst="rect">
            <a:avLst/>
          </a:prstGeom>
          <a:noFill/>
        </p:spPr>
        <p:txBody>
          <a:bodyPr wrap="square">
            <a:spAutoFit/>
          </a:bodyPr>
          <a:lstStyle/>
          <a:p>
            <a:pPr>
              <a:defRPr/>
            </a:pPr>
            <a:r>
              <a:rPr kumimoji="0" lang="en-US" sz="1400" i="0" u="none" strike="noStrike" kern="0" cap="none" spc="0" normalizeH="0" baseline="0" noProof="0">
                <a:ln>
                  <a:noFill/>
                </a:ln>
                <a:solidFill>
                  <a:srgbClr val="32007C"/>
                </a:solidFill>
                <a:effectLst/>
                <a:uLnTx/>
                <a:uFillTx/>
                <a:latin typeface="+mj-lt"/>
                <a:ea typeface="Helvetica Light" charset="0"/>
                <a:cs typeface="Helvetica Light" charset="0"/>
              </a:rPr>
              <a:t>DRR driven items- Q4 2023</a:t>
            </a:r>
            <a:r>
              <a:rPr kumimoji="0" lang="en-US" sz="1400" b="1" i="0" u="none" strike="noStrike" kern="0" cap="none" spc="0" normalizeH="0" baseline="0" noProof="0">
                <a:ln>
                  <a:noFill/>
                </a:ln>
                <a:solidFill>
                  <a:srgbClr val="32007C"/>
                </a:solidFill>
                <a:effectLst/>
                <a:uLnTx/>
                <a:uFillTx/>
                <a:latin typeface="+mj-lt"/>
                <a:ea typeface="Helvetica Light" charset="0"/>
                <a:cs typeface="Helvetica Light" charset="0"/>
              </a:rPr>
              <a:t>: </a:t>
            </a:r>
          </a:p>
          <a:p>
            <a:pPr marL="285750" indent="-285750">
              <a:buFont typeface="Arial" panose="020B0604020202020204" pitchFamily="34" charset="0"/>
              <a:buChar char="•"/>
              <a:defRPr/>
            </a:pPr>
            <a:r>
              <a:rPr kumimoji="0" lang="en-US" sz="1400" i="0" u="none" strike="noStrike" kern="0" cap="none" spc="0" normalizeH="0" baseline="0" noProof="0">
                <a:ln>
                  <a:noFill/>
                </a:ln>
                <a:solidFill>
                  <a:srgbClr val="32007C"/>
                </a:solidFill>
                <a:effectLst/>
                <a:uLnTx/>
                <a:uFillTx/>
                <a:latin typeface="+mj-lt"/>
                <a:ea typeface="Helvetica Light" charset="0"/>
                <a:cs typeface="Helvetica Light" charset="0"/>
              </a:rPr>
              <a:t>ETD &amp; Commodity derivatives including position reporting</a:t>
            </a:r>
          </a:p>
          <a:p>
            <a:pPr marL="285750" indent="-285750">
              <a:buFont typeface="Arial" panose="020B0604020202020204" pitchFamily="34" charset="0"/>
              <a:buChar char="•"/>
              <a:defRPr/>
            </a:pPr>
            <a:r>
              <a:rPr lang="en-US" sz="1400" kern="0">
                <a:solidFill>
                  <a:srgbClr val="32007C"/>
                </a:solidFill>
                <a:latin typeface="+mj-lt"/>
                <a:ea typeface="Helvetica Light" charset="0"/>
                <a:cs typeface="Helvetica Light" charset="0"/>
              </a:rPr>
              <a:t>Trade Valuation report</a:t>
            </a:r>
          </a:p>
          <a:p>
            <a:pPr marL="285750" indent="-285750">
              <a:buFont typeface="Arial" panose="020B0604020202020204" pitchFamily="34" charset="0"/>
              <a:buChar char="•"/>
              <a:defRPr/>
            </a:pPr>
            <a:r>
              <a:rPr kumimoji="0" lang="en-US" sz="1400" i="0" u="none" strike="noStrike" kern="0" cap="none" spc="0" normalizeH="0" baseline="0" noProof="0">
                <a:ln>
                  <a:noFill/>
                </a:ln>
                <a:solidFill>
                  <a:srgbClr val="32007C"/>
                </a:solidFill>
                <a:effectLst/>
                <a:uLnTx/>
                <a:uFillTx/>
                <a:latin typeface="+mj-lt"/>
                <a:ea typeface="Helvetica Light" charset="0"/>
                <a:cs typeface="Helvetica Light" charset="0"/>
              </a:rPr>
              <a:t>Margin reporting</a:t>
            </a:r>
          </a:p>
          <a:p>
            <a:pPr>
              <a:defRPr/>
            </a:pPr>
            <a:endParaRPr kumimoji="0" lang="en-US" sz="1400" i="0" u="none" strike="noStrike" kern="0" cap="none" spc="0" normalizeH="0" baseline="0" noProof="0">
              <a:ln>
                <a:noFill/>
              </a:ln>
              <a:solidFill>
                <a:srgbClr val="32007C"/>
              </a:solidFill>
              <a:effectLst/>
              <a:uLnTx/>
              <a:uFillTx/>
              <a:latin typeface="+mj-lt"/>
              <a:ea typeface="Helvetica Light" charset="0"/>
              <a:cs typeface="Helvetica Light" charset="0"/>
            </a:endParaRPr>
          </a:p>
          <a:p>
            <a:pPr>
              <a:defRPr/>
            </a:pPr>
            <a:r>
              <a:rPr kumimoji="0" lang="en-US" sz="1400" i="0" u="none" strike="noStrike" kern="0" cap="none" spc="0" normalizeH="0" baseline="0" noProof="0">
                <a:ln>
                  <a:noFill/>
                </a:ln>
                <a:solidFill>
                  <a:srgbClr val="32007C"/>
                </a:solidFill>
                <a:effectLst/>
                <a:uLnTx/>
                <a:uFillTx/>
                <a:latin typeface="+mj-lt"/>
                <a:ea typeface="Helvetica Light" charset="0"/>
                <a:cs typeface="Helvetica Light" charset="0"/>
              </a:rPr>
              <a:t>Collateral driven items- Q1 2024</a:t>
            </a:r>
          </a:p>
          <a:p>
            <a:pPr marL="285750" indent="-285750">
              <a:buFont typeface="Arial" panose="020B0604020202020204" pitchFamily="34" charset="0"/>
              <a:buChar char="•"/>
              <a:defRPr/>
            </a:pPr>
            <a:r>
              <a:rPr kumimoji="0" lang="en-US" sz="1400" i="0" u="none" strike="noStrike" kern="0" cap="none" spc="0" normalizeH="0" baseline="0" noProof="0">
                <a:ln>
                  <a:noFill/>
                </a:ln>
                <a:solidFill>
                  <a:srgbClr val="32007C"/>
                </a:solidFill>
                <a:effectLst/>
                <a:uLnTx/>
                <a:uFillTx/>
                <a:latin typeface="+mj-lt"/>
                <a:ea typeface="Helvetica Light" charset="0"/>
                <a:cs typeface="Helvetica Light" charset="0"/>
              </a:rPr>
              <a:t>Enhancements </a:t>
            </a:r>
            <a:r>
              <a:rPr lang="en-US" sz="1400" kern="0">
                <a:solidFill>
                  <a:srgbClr val="32007C"/>
                </a:solidFill>
                <a:latin typeface="+mj-lt"/>
                <a:ea typeface="Helvetica Light" charset="0"/>
                <a:cs typeface="Helvetica Light" charset="0"/>
              </a:rPr>
              <a:t>to collateral models</a:t>
            </a:r>
          </a:p>
          <a:p>
            <a:pPr marL="285750" indent="-285750">
              <a:buFont typeface="Arial" panose="020B0604020202020204" pitchFamily="34" charset="0"/>
              <a:buChar char="•"/>
              <a:defRPr/>
            </a:pPr>
            <a:r>
              <a:rPr lang="en-US" sz="1400" kern="0">
                <a:solidFill>
                  <a:srgbClr val="32007C"/>
                </a:solidFill>
                <a:latin typeface="+mj-lt"/>
                <a:ea typeface="Helvetica Light" charset="0"/>
                <a:cs typeface="Helvetica Light" charset="0"/>
              </a:rPr>
              <a:t>Additions of earlier CSAs to Legal document model</a:t>
            </a:r>
            <a:endParaRPr kumimoji="0" lang="en-GB" sz="1400"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sp>
        <p:nvSpPr>
          <p:cNvPr id="9" name="TextBox 8">
            <a:extLst>
              <a:ext uri="{FF2B5EF4-FFF2-40B4-BE49-F238E27FC236}">
                <a16:creationId xmlns:a16="http://schemas.microsoft.com/office/drawing/2014/main" id="{729EF720-2EA7-0868-2BCE-0424C16047B0}"/>
              </a:ext>
            </a:extLst>
          </p:cNvPr>
          <p:cNvSpPr txBox="1"/>
          <p:nvPr/>
        </p:nvSpPr>
        <p:spPr>
          <a:xfrm>
            <a:off x="741670" y="3844093"/>
            <a:ext cx="10607648" cy="1169551"/>
          </a:xfrm>
          <a:prstGeom prst="rect">
            <a:avLst/>
          </a:prstGeom>
          <a:noFill/>
        </p:spPr>
        <p:txBody>
          <a:bodyPr wrap="square">
            <a:spAutoFit/>
          </a:bodyPr>
          <a:lstStyle/>
          <a:p>
            <a:pPr>
              <a:defRPr/>
            </a:pPr>
            <a:r>
              <a:rPr kumimoji="0" lang="en-US" sz="1400" i="0" u="none" strike="noStrike" kern="0" cap="none" spc="0" normalizeH="0" baseline="0" noProof="0">
                <a:ln>
                  <a:noFill/>
                </a:ln>
                <a:solidFill>
                  <a:srgbClr val="32007C"/>
                </a:solidFill>
                <a:effectLst/>
                <a:uLnTx/>
                <a:uFillTx/>
                <a:latin typeface="+mj-lt"/>
                <a:ea typeface="Helvetica Light" charset="0"/>
                <a:cs typeface="Helvetica Light" charset="0"/>
              </a:rPr>
              <a:t>Enhancements for partial and failed settlements- 2024</a:t>
            </a:r>
          </a:p>
          <a:p>
            <a:pPr>
              <a:defRPr/>
            </a:pPr>
            <a:r>
              <a:rPr lang="en-US" sz="1400" kern="0">
                <a:solidFill>
                  <a:srgbClr val="32007C"/>
                </a:solidFill>
                <a:latin typeface="+mj-lt"/>
                <a:ea typeface="Helvetica Light" charset="0"/>
                <a:cs typeface="Helvetica Light" charset="0"/>
              </a:rPr>
              <a:t>Locate process for securities lending- Q4 2023</a:t>
            </a:r>
          </a:p>
          <a:p>
            <a:pPr>
              <a:defRPr/>
            </a:pPr>
            <a:r>
              <a:rPr lang="en-US" sz="1400" kern="0">
                <a:solidFill>
                  <a:srgbClr val="32007C"/>
                </a:solidFill>
                <a:latin typeface="+mj-lt"/>
                <a:ea typeface="Helvetica Light" charset="0"/>
                <a:cs typeface="Helvetica Light" charset="0"/>
              </a:rPr>
              <a:t>Clearing workflows for Repo</a:t>
            </a:r>
          </a:p>
          <a:p>
            <a:pPr>
              <a:defRPr/>
            </a:pPr>
            <a:r>
              <a:rPr lang="en-US" sz="1400" kern="0">
                <a:solidFill>
                  <a:srgbClr val="32007C"/>
                </a:solidFill>
                <a:latin typeface="+mj-lt"/>
                <a:ea typeface="Helvetica Light" charset="0"/>
                <a:cs typeface="Helvetica Light" charset="0"/>
              </a:rPr>
              <a:t>SFTR and US OFR Repo reporting</a:t>
            </a:r>
          </a:p>
          <a:p>
            <a:pPr>
              <a:defRPr/>
            </a:pPr>
            <a:r>
              <a:rPr lang="en-US" sz="1400" kern="0">
                <a:solidFill>
                  <a:srgbClr val="32007C"/>
                </a:solidFill>
                <a:latin typeface="+mj-lt"/>
                <a:ea typeface="Helvetica Light" charset="0"/>
                <a:cs typeface="Helvetica Light" charset="0"/>
              </a:rPr>
              <a:t>Incorporation of ICMA Bond Data Taxonomy</a:t>
            </a:r>
            <a:endParaRPr kumimoji="0" lang="en-GB" sz="1400"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sp>
        <p:nvSpPr>
          <p:cNvPr id="10" name="TextBox 9">
            <a:extLst>
              <a:ext uri="{FF2B5EF4-FFF2-40B4-BE49-F238E27FC236}">
                <a16:creationId xmlns:a16="http://schemas.microsoft.com/office/drawing/2014/main" id="{FA6E4263-BA6B-A042-B13F-A53A23A3458E}"/>
              </a:ext>
            </a:extLst>
          </p:cNvPr>
          <p:cNvSpPr txBox="1"/>
          <p:nvPr/>
        </p:nvSpPr>
        <p:spPr>
          <a:xfrm>
            <a:off x="714215" y="5573567"/>
            <a:ext cx="10607648" cy="1169551"/>
          </a:xfrm>
          <a:prstGeom prst="rect">
            <a:avLst/>
          </a:prstGeom>
          <a:noFill/>
        </p:spPr>
        <p:txBody>
          <a:bodyPr wrap="square">
            <a:spAutoFit/>
          </a:bodyPr>
          <a:lstStyle/>
          <a:p>
            <a:pPr>
              <a:defRPr/>
            </a:pPr>
            <a:r>
              <a:rPr kumimoji="0" lang="en-US" sz="1400" i="0" u="none" strike="noStrike" kern="0" cap="none" spc="0" normalizeH="0" baseline="0" noProof="0">
                <a:ln>
                  <a:noFill/>
                </a:ln>
                <a:solidFill>
                  <a:srgbClr val="32007C"/>
                </a:solidFill>
                <a:effectLst/>
                <a:uLnTx/>
                <a:uFillTx/>
                <a:latin typeface="+mj-lt"/>
                <a:ea typeface="Helvetica Light" charset="0"/>
                <a:cs typeface="Helvetica Light" charset="0"/>
              </a:rPr>
              <a:t>Working groups are looking at:</a:t>
            </a:r>
          </a:p>
          <a:p>
            <a:pPr marL="285750" indent="-285750">
              <a:buFontTx/>
              <a:buChar char="-"/>
              <a:defRPr/>
            </a:pPr>
            <a:r>
              <a:rPr lang="en-US" sz="1400" kern="0" err="1">
                <a:solidFill>
                  <a:srgbClr val="32007C"/>
                </a:solidFill>
                <a:latin typeface="+mj-lt"/>
                <a:ea typeface="Helvetica Light" charset="0"/>
                <a:cs typeface="Helvetica Light" charset="0"/>
              </a:rPr>
              <a:t>Standardising</a:t>
            </a:r>
            <a:r>
              <a:rPr lang="en-US" sz="1400" kern="0">
                <a:solidFill>
                  <a:srgbClr val="32007C"/>
                </a:solidFill>
                <a:latin typeface="+mj-lt"/>
                <a:ea typeface="Helvetica Light" charset="0"/>
                <a:cs typeface="Helvetica Light" charset="0"/>
              </a:rPr>
              <a:t> </a:t>
            </a:r>
            <a:r>
              <a:rPr lang="en-US" sz="1400" kern="0" err="1">
                <a:solidFill>
                  <a:srgbClr val="32007C"/>
                </a:solidFill>
                <a:latin typeface="+mj-lt"/>
                <a:ea typeface="Helvetica Light" charset="0"/>
                <a:cs typeface="Helvetica Light" charset="0"/>
              </a:rPr>
              <a:t>Serialisation</a:t>
            </a:r>
            <a:endParaRPr lang="en-US" sz="1400" kern="0">
              <a:solidFill>
                <a:srgbClr val="32007C"/>
              </a:solidFill>
              <a:latin typeface="+mj-lt"/>
              <a:ea typeface="Helvetica Light" charset="0"/>
              <a:cs typeface="Helvetica Light" charset="0"/>
            </a:endParaRPr>
          </a:p>
          <a:p>
            <a:pPr marL="285750" indent="-285750">
              <a:buFontTx/>
              <a:buChar char="-"/>
              <a:defRPr/>
            </a:pPr>
            <a:r>
              <a:rPr lang="en-US" sz="1400" kern="0">
                <a:solidFill>
                  <a:srgbClr val="32007C"/>
                </a:solidFill>
                <a:latin typeface="+mj-lt"/>
                <a:ea typeface="Helvetica Light" charset="0"/>
                <a:cs typeface="Helvetica Light" charset="0"/>
              </a:rPr>
              <a:t>Improving interaction with Reference Data lists</a:t>
            </a:r>
          </a:p>
          <a:p>
            <a:pPr marL="285750" indent="-285750">
              <a:buFontTx/>
              <a:buChar char="-"/>
              <a:defRPr/>
            </a:pPr>
            <a:r>
              <a:rPr lang="en-US" sz="1400" kern="0" err="1">
                <a:solidFill>
                  <a:srgbClr val="32007C"/>
                </a:solidFill>
                <a:latin typeface="+mj-lt"/>
                <a:ea typeface="Helvetica Light" charset="0"/>
                <a:cs typeface="Helvetica Light" charset="0"/>
              </a:rPr>
              <a:t>Formalising</a:t>
            </a:r>
            <a:r>
              <a:rPr lang="en-US" sz="1400" kern="0">
                <a:solidFill>
                  <a:srgbClr val="32007C"/>
                </a:solidFill>
                <a:latin typeface="+mj-lt"/>
                <a:ea typeface="Helvetica Light" charset="0"/>
                <a:cs typeface="Helvetica Light" charset="0"/>
              </a:rPr>
              <a:t> Release process and governance</a:t>
            </a:r>
          </a:p>
          <a:p>
            <a:pPr>
              <a:defRPr/>
            </a:pPr>
            <a:endParaRPr kumimoji="0" lang="en-GB" sz="1400"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spTree>
    <p:extLst>
      <p:ext uri="{BB962C8B-B14F-4D97-AF65-F5344CB8AC3E}">
        <p14:creationId xmlns:p14="http://schemas.microsoft.com/office/powerpoint/2010/main" val="170278899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ISDA Extensions to CDM</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Rectangle: Rounded Corners 1">
            <a:extLst>
              <a:ext uri="{FF2B5EF4-FFF2-40B4-BE49-F238E27FC236}">
                <a16:creationId xmlns:a16="http://schemas.microsoft.com/office/drawing/2014/main" id="{A6CF3ACD-6274-3567-6A1B-C72682959C91}"/>
              </a:ext>
            </a:extLst>
          </p:cNvPr>
          <p:cNvSpPr/>
          <p:nvPr/>
        </p:nvSpPr>
        <p:spPr>
          <a:xfrm>
            <a:off x="9208545" y="1524201"/>
            <a:ext cx="2820227" cy="986292"/>
          </a:xfrm>
          <a:prstGeom prst="roundRect">
            <a:avLst/>
          </a:prstGeom>
          <a:noFill/>
          <a:ln w="19050">
            <a:solidFill>
              <a:schemeClr val="accent1">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1C81BED5-A64E-B7CD-E660-E618AE7D0F86}"/>
              </a:ext>
            </a:extLst>
          </p:cNvPr>
          <p:cNvSpPr/>
          <p:nvPr/>
        </p:nvSpPr>
        <p:spPr>
          <a:xfrm>
            <a:off x="6388318" y="1532421"/>
            <a:ext cx="2820227" cy="986292"/>
          </a:xfrm>
          <a:prstGeom prst="roundRect">
            <a:avLst/>
          </a:prstGeom>
          <a:noFill/>
          <a:ln w="19050">
            <a:solidFill>
              <a:schemeClr val="accent1">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D78D14C1-6783-7C6E-7F02-DF687E37054B}"/>
              </a:ext>
            </a:extLst>
          </p:cNvPr>
          <p:cNvSpPr/>
          <p:nvPr/>
        </p:nvSpPr>
        <p:spPr>
          <a:xfrm>
            <a:off x="2329030" y="2746606"/>
            <a:ext cx="9656773" cy="4057313"/>
          </a:xfrm>
          <a:prstGeom prst="rect">
            <a:avLst/>
          </a:prstGeom>
          <a:solidFill>
            <a:srgbClr val="64BDAD">
              <a:alpha val="20000"/>
            </a:srgbClr>
          </a:solidFill>
          <a:ln>
            <a:solidFill>
              <a:srgbClr val="F0C7CE">
                <a:alpha val="2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Rounded Corners 9">
            <a:extLst>
              <a:ext uri="{FF2B5EF4-FFF2-40B4-BE49-F238E27FC236}">
                <a16:creationId xmlns:a16="http://schemas.microsoft.com/office/drawing/2014/main" id="{75419EBE-2051-46E1-BF63-BE038C4F2444}"/>
              </a:ext>
            </a:extLst>
          </p:cNvPr>
          <p:cNvSpPr/>
          <p:nvPr/>
        </p:nvSpPr>
        <p:spPr>
          <a:xfrm>
            <a:off x="4289245" y="1524201"/>
            <a:ext cx="1910466" cy="986292"/>
          </a:xfrm>
          <a:prstGeom prst="roundRect">
            <a:avLst/>
          </a:prstGeom>
          <a:noFill/>
          <a:ln w="19050">
            <a:solidFill>
              <a:schemeClr val="accent1">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2838C608-E6E6-11AC-2FC5-DEFA80EBA846}"/>
              </a:ext>
            </a:extLst>
          </p:cNvPr>
          <p:cNvSpPr/>
          <p:nvPr/>
        </p:nvSpPr>
        <p:spPr>
          <a:xfrm>
            <a:off x="2380837" y="1532421"/>
            <a:ext cx="1910466" cy="986292"/>
          </a:xfrm>
          <a:prstGeom prst="roundRect">
            <a:avLst/>
          </a:prstGeom>
          <a:noFill/>
          <a:ln w="19050">
            <a:solidFill>
              <a:schemeClr val="accent1">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869CFAEC-B78C-6FD4-2549-7E54BE052B25}"/>
              </a:ext>
            </a:extLst>
          </p:cNvPr>
          <p:cNvSpPr/>
          <p:nvPr/>
        </p:nvSpPr>
        <p:spPr>
          <a:xfrm>
            <a:off x="473423" y="1532421"/>
            <a:ext cx="1910466" cy="986292"/>
          </a:xfrm>
          <a:prstGeom prst="roundRect">
            <a:avLst/>
          </a:prstGeom>
          <a:noFill/>
          <a:ln w="19050">
            <a:solidFill>
              <a:schemeClr val="accent1">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ounded Rectangle 15">
            <a:extLst>
              <a:ext uri="{FF2B5EF4-FFF2-40B4-BE49-F238E27FC236}">
                <a16:creationId xmlns:a16="http://schemas.microsoft.com/office/drawing/2014/main" id="{9DD46D8F-A699-85F7-7C5C-420D5B330F12}"/>
              </a:ext>
            </a:extLst>
          </p:cNvPr>
          <p:cNvSpPr/>
          <p:nvPr/>
        </p:nvSpPr>
        <p:spPr>
          <a:xfrm>
            <a:off x="2402614" y="6062829"/>
            <a:ext cx="9592654" cy="632767"/>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b="1">
                <a:solidFill>
                  <a:srgbClr val="44546A"/>
                </a:solidFill>
              </a:rPr>
              <a:t>base</a:t>
            </a:r>
            <a:r>
              <a:rPr lang="en-US" sz="2000">
                <a:solidFill>
                  <a:srgbClr val="44546A"/>
                </a:solidFill>
              </a:rPr>
              <a:t> </a:t>
            </a:r>
            <a:r>
              <a:rPr lang="en-US" sz="1600">
                <a:solidFill>
                  <a:srgbClr val="44546A"/>
                </a:solidFill>
              </a:rPr>
              <a:t>- common elements: date &amp; time, static data etc.</a:t>
            </a:r>
            <a:endParaRPr lang="en-US" sz="1600">
              <a:solidFill>
                <a:srgbClr val="44546A"/>
              </a:solidFill>
              <a:ea typeface="+mn-lt"/>
              <a:cs typeface="+mn-lt"/>
            </a:endParaRPr>
          </a:p>
        </p:txBody>
      </p:sp>
      <p:sp>
        <p:nvSpPr>
          <p:cNvPr id="15" name="Rounded Rectangle 16">
            <a:extLst>
              <a:ext uri="{FF2B5EF4-FFF2-40B4-BE49-F238E27FC236}">
                <a16:creationId xmlns:a16="http://schemas.microsoft.com/office/drawing/2014/main" id="{FA1FE046-EFCD-BFDE-C6CB-96BDE31F4B0D}"/>
              </a:ext>
            </a:extLst>
          </p:cNvPr>
          <p:cNvSpPr/>
          <p:nvPr/>
        </p:nvSpPr>
        <p:spPr>
          <a:xfrm>
            <a:off x="2405889" y="5002747"/>
            <a:ext cx="9589378" cy="637377"/>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900" b="1">
                <a:solidFill>
                  <a:srgbClr val="44546A"/>
                </a:solidFill>
              </a:rPr>
              <a:t>observable</a:t>
            </a:r>
            <a:r>
              <a:rPr lang="en-US" sz="1900">
                <a:solidFill>
                  <a:srgbClr val="44546A"/>
                </a:solidFill>
              </a:rPr>
              <a:t> </a:t>
            </a:r>
            <a:r>
              <a:rPr lang="en-US" sz="1600">
                <a:solidFill>
                  <a:srgbClr val="44546A"/>
                </a:solidFill>
              </a:rPr>
              <a:t>- asset &amp; event (e.g. credit event) – basic building blocks to construct products</a:t>
            </a:r>
            <a:endParaRPr lang="en-US" sz="1600">
              <a:solidFill>
                <a:srgbClr val="44546A"/>
              </a:solidFill>
              <a:cs typeface="Calibri"/>
            </a:endParaRPr>
          </a:p>
        </p:txBody>
      </p:sp>
      <p:sp>
        <p:nvSpPr>
          <p:cNvPr id="16" name="Rounded Rectangle 15">
            <a:extLst>
              <a:ext uri="{FF2B5EF4-FFF2-40B4-BE49-F238E27FC236}">
                <a16:creationId xmlns:a16="http://schemas.microsoft.com/office/drawing/2014/main" id="{38847ABC-7E3B-DD02-0DF1-2FC954C1C5E7}"/>
              </a:ext>
            </a:extLst>
          </p:cNvPr>
          <p:cNvSpPr/>
          <p:nvPr/>
        </p:nvSpPr>
        <p:spPr>
          <a:xfrm>
            <a:off x="2405889" y="3865375"/>
            <a:ext cx="9589378" cy="637377"/>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900" b="1">
                <a:solidFill>
                  <a:srgbClr val="44546A"/>
                </a:solidFill>
                <a:ea typeface="+mn-lt"/>
                <a:cs typeface="+mn-lt"/>
              </a:rPr>
              <a:t>product</a:t>
            </a:r>
            <a:r>
              <a:rPr lang="en-US" sz="1900">
                <a:solidFill>
                  <a:srgbClr val="44546A"/>
                </a:solidFill>
                <a:ea typeface="+mn-lt"/>
                <a:cs typeface="+mn-lt"/>
              </a:rPr>
              <a:t> </a:t>
            </a:r>
            <a:r>
              <a:rPr lang="en-US" sz="1600">
                <a:solidFill>
                  <a:srgbClr val="44546A"/>
                </a:solidFill>
                <a:ea typeface="+mn-lt"/>
                <a:cs typeface="+mn-lt"/>
              </a:rPr>
              <a:t>– the product model</a:t>
            </a:r>
            <a:endParaRPr lang="en-US" sz="1600">
              <a:solidFill>
                <a:srgbClr val="44546A"/>
              </a:solidFill>
              <a:cs typeface="Calibri"/>
            </a:endParaRPr>
          </a:p>
        </p:txBody>
      </p:sp>
      <p:sp>
        <p:nvSpPr>
          <p:cNvPr id="17" name="Rounded Rectangle 16">
            <a:extLst>
              <a:ext uri="{FF2B5EF4-FFF2-40B4-BE49-F238E27FC236}">
                <a16:creationId xmlns:a16="http://schemas.microsoft.com/office/drawing/2014/main" id="{15244976-63EB-33AC-ADED-AB564F968584}"/>
              </a:ext>
            </a:extLst>
          </p:cNvPr>
          <p:cNvSpPr/>
          <p:nvPr/>
        </p:nvSpPr>
        <p:spPr>
          <a:xfrm>
            <a:off x="566514" y="1783689"/>
            <a:ext cx="5529486" cy="605116"/>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b="1">
                <a:solidFill>
                  <a:srgbClr val="44546A"/>
                </a:solidFill>
              </a:rPr>
              <a:t>Legal Agreement/documentation</a:t>
            </a:r>
            <a:r>
              <a:rPr lang="en-US" sz="2000">
                <a:solidFill>
                  <a:srgbClr val="44546A"/>
                </a:solidFill>
              </a:rPr>
              <a:t> – </a:t>
            </a:r>
            <a:r>
              <a:rPr lang="en-US" sz="1600">
                <a:solidFill>
                  <a:srgbClr val="44546A"/>
                </a:solidFill>
                <a:ea typeface="+mn-lt"/>
                <a:cs typeface="+mn-lt"/>
              </a:rPr>
              <a:t>including market master agreements, definitions, contract, etc.</a:t>
            </a:r>
          </a:p>
        </p:txBody>
      </p:sp>
      <p:sp>
        <p:nvSpPr>
          <p:cNvPr id="18" name="Rounded Rectangle 15">
            <a:extLst>
              <a:ext uri="{FF2B5EF4-FFF2-40B4-BE49-F238E27FC236}">
                <a16:creationId xmlns:a16="http://schemas.microsoft.com/office/drawing/2014/main" id="{113792FA-D4BB-1712-0962-861125AB618B}"/>
              </a:ext>
            </a:extLst>
          </p:cNvPr>
          <p:cNvSpPr/>
          <p:nvPr/>
        </p:nvSpPr>
        <p:spPr>
          <a:xfrm>
            <a:off x="6452475" y="2810304"/>
            <a:ext cx="5470956" cy="660925"/>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900" b="1">
                <a:solidFill>
                  <a:srgbClr val="44546A"/>
                </a:solidFill>
                <a:ea typeface="+mn-lt"/>
                <a:cs typeface="+mn-lt"/>
              </a:rPr>
              <a:t>event</a:t>
            </a:r>
            <a:r>
              <a:rPr lang="en-US" sz="1900">
                <a:solidFill>
                  <a:srgbClr val="44546A"/>
                </a:solidFill>
                <a:ea typeface="+mn-lt"/>
                <a:cs typeface="+mn-lt"/>
              </a:rPr>
              <a:t> </a:t>
            </a:r>
            <a:r>
              <a:rPr lang="en-US" sz="1600">
                <a:solidFill>
                  <a:srgbClr val="44546A"/>
                </a:solidFill>
                <a:ea typeface="+mn-lt"/>
                <a:cs typeface="+mn-lt"/>
              </a:rPr>
              <a:t>– including workflow &amp; position</a:t>
            </a:r>
            <a:endParaRPr lang="en-US" sz="1600">
              <a:solidFill>
                <a:srgbClr val="44546A"/>
              </a:solidFill>
              <a:cs typeface="Calibri"/>
            </a:endParaRPr>
          </a:p>
        </p:txBody>
      </p:sp>
      <p:sp>
        <p:nvSpPr>
          <p:cNvPr id="19" name="Rounded Rectangle 16">
            <a:extLst>
              <a:ext uri="{FF2B5EF4-FFF2-40B4-BE49-F238E27FC236}">
                <a16:creationId xmlns:a16="http://schemas.microsoft.com/office/drawing/2014/main" id="{9722C2C4-CE67-8E36-9B1D-70FCBD94DD09}"/>
              </a:ext>
            </a:extLst>
          </p:cNvPr>
          <p:cNvSpPr/>
          <p:nvPr/>
        </p:nvSpPr>
        <p:spPr>
          <a:xfrm>
            <a:off x="6452475" y="1774811"/>
            <a:ext cx="5469176" cy="62768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2000" b="1">
                <a:solidFill>
                  <a:srgbClr val="44546A"/>
                </a:solidFill>
              </a:rPr>
              <a:t>Reporting </a:t>
            </a:r>
            <a:r>
              <a:rPr lang="en-US" sz="1600">
                <a:solidFill>
                  <a:srgbClr val="44546A"/>
                </a:solidFill>
              </a:rPr>
              <a:t>– including models for derivatives reg reporting</a:t>
            </a:r>
          </a:p>
        </p:txBody>
      </p:sp>
      <p:sp>
        <p:nvSpPr>
          <p:cNvPr id="20" name="Arrow: Up 15">
            <a:extLst>
              <a:ext uri="{FF2B5EF4-FFF2-40B4-BE49-F238E27FC236}">
                <a16:creationId xmlns:a16="http://schemas.microsoft.com/office/drawing/2014/main" id="{2DFC06ED-6113-ECC0-EEA5-7B930D9F06CE}"/>
              </a:ext>
            </a:extLst>
          </p:cNvPr>
          <p:cNvSpPr/>
          <p:nvPr/>
        </p:nvSpPr>
        <p:spPr>
          <a:xfrm>
            <a:off x="8947575" y="3332362"/>
            <a:ext cx="478971" cy="609600"/>
          </a:xfrm>
          <a:prstGeom prst="up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Up 17">
            <a:extLst>
              <a:ext uri="{FF2B5EF4-FFF2-40B4-BE49-F238E27FC236}">
                <a16:creationId xmlns:a16="http://schemas.microsoft.com/office/drawing/2014/main" id="{F5601F63-5A2A-E77F-B8F1-7FA600578C72}"/>
              </a:ext>
            </a:extLst>
          </p:cNvPr>
          <p:cNvSpPr/>
          <p:nvPr/>
        </p:nvSpPr>
        <p:spPr>
          <a:xfrm>
            <a:off x="8947576" y="2262408"/>
            <a:ext cx="478971" cy="609600"/>
          </a:xfrm>
          <a:prstGeom prst="up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Up 15">
            <a:extLst>
              <a:ext uri="{FF2B5EF4-FFF2-40B4-BE49-F238E27FC236}">
                <a16:creationId xmlns:a16="http://schemas.microsoft.com/office/drawing/2014/main" id="{2DAFD5D3-CD4C-63D4-BC16-EDF6C5626AA2}"/>
              </a:ext>
            </a:extLst>
          </p:cNvPr>
          <p:cNvSpPr/>
          <p:nvPr/>
        </p:nvSpPr>
        <p:spPr>
          <a:xfrm>
            <a:off x="3182607" y="2533782"/>
            <a:ext cx="478971" cy="1331593"/>
          </a:xfrm>
          <a:prstGeom prst="up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Up 15">
            <a:extLst>
              <a:ext uri="{FF2B5EF4-FFF2-40B4-BE49-F238E27FC236}">
                <a16:creationId xmlns:a16="http://schemas.microsoft.com/office/drawing/2014/main" id="{7477C255-B240-7A88-C3D0-53C22FE281A4}"/>
              </a:ext>
            </a:extLst>
          </p:cNvPr>
          <p:cNvSpPr/>
          <p:nvPr/>
        </p:nvSpPr>
        <p:spPr>
          <a:xfrm>
            <a:off x="3182606" y="4443583"/>
            <a:ext cx="478971" cy="609600"/>
          </a:xfrm>
          <a:prstGeom prst="up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Up 15">
            <a:extLst>
              <a:ext uri="{FF2B5EF4-FFF2-40B4-BE49-F238E27FC236}">
                <a16:creationId xmlns:a16="http://schemas.microsoft.com/office/drawing/2014/main" id="{1E41CE4A-7662-3079-9040-95BED8C6EA6F}"/>
              </a:ext>
            </a:extLst>
          </p:cNvPr>
          <p:cNvSpPr/>
          <p:nvPr/>
        </p:nvSpPr>
        <p:spPr>
          <a:xfrm>
            <a:off x="3182606" y="5508971"/>
            <a:ext cx="478971" cy="609600"/>
          </a:xfrm>
          <a:prstGeom prst="up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D6C7DC34-F747-01A0-175E-FE42115A9A82}"/>
              </a:ext>
            </a:extLst>
          </p:cNvPr>
          <p:cNvSpPr txBox="1"/>
          <p:nvPr/>
        </p:nvSpPr>
        <p:spPr>
          <a:xfrm>
            <a:off x="132985" y="2841785"/>
            <a:ext cx="2119606" cy="369332"/>
          </a:xfrm>
          <a:prstGeom prst="rect">
            <a:avLst/>
          </a:prstGeom>
          <a:noFill/>
        </p:spPr>
        <p:txBody>
          <a:bodyPr wrap="square" rtlCol="0">
            <a:spAutoFit/>
          </a:bodyPr>
          <a:lstStyle/>
          <a:p>
            <a:r>
              <a:rPr lang="en-US">
                <a:solidFill>
                  <a:srgbClr val="0070C0"/>
                </a:solidFill>
              </a:rPr>
              <a:t>ISDA </a:t>
            </a:r>
            <a:r>
              <a:rPr lang="en-US" err="1">
                <a:solidFill>
                  <a:srgbClr val="0070C0"/>
                </a:solidFill>
              </a:rPr>
              <a:t>Licences</a:t>
            </a:r>
            <a:endParaRPr lang="en-US">
              <a:solidFill>
                <a:srgbClr val="0070C0"/>
              </a:solidFill>
            </a:endParaRPr>
          </a:p>
        </p:txBody>
      </p:sp>
      <p:sp>
        <p:nvSpPr>
          <p:cNvPr id="26" name="Rectangle: Rounded Corners 25">
            <a:extLst>
              <a:ext uri="{FF2B5EF4-FFF2-40B4-BE49-F238E27FC236}">
                <a16:creationId xmlns:a16="http://schemas.microsoft.com/office/drawing/2014/main" id="{19E8DC1F-99DA-5EA8-4B19-2AE0D88A15BB}"/>
              </a:ext>
            </a:extLst>
          </p:cNvPr>
          <p:cNvSpPr/>
          <p:nvPr/>
        </p:nvSpPr>
        <p:spPr>
          <a:xfrm>
            <a:off x="113911" y="2810304"/>
            <a:ext cx="2119606" cy="423679"/>
          </a:xfrm>
          <a:prstGeom prst="roundRect">
            <a:avLst/>
          </a:prstGeom>
          <a:noFill/>
          <a:ln w="19050">
            <a:solidFill>
              <a:schemeClr val="accent1">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84D40671-A540-F459-0B8A-0B1776A8C65A}"/>
              </a:ext>
            </a:extLst>
          </p:cNvPr>
          <p:cNvSpPr/>
          <p:nvPr/>
        </p:nvSpPr>
        <p:spPr>
          <a:xfrm>
            <a:off x="186487" y="3359357"/>
            <a:ext cx="1850663" cy="947029"/>
          </a:xfrm>
          <a:prstGeom prst="rect">
            <a:avLst/>
          </a:prstGeom>
          <a:solidFill>
            <a:srgbClr val="64BDAD">
              <a:alpha val="20000"/>
            </a:srgbClr>
          </a:solidFill>
          <a:ln>
            <a:solidFill>
              <a:srgbClr val="F0C7CE">
                <a:alpha val="2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solidFill>
                  <a:srgbClr val="32007D"/>
                </a:solidFill>
              </a:rPr>
              <a:t>CDM under open source license at FINOS</a:t>
            </a:r>
          </a:p>
        </p:txBody>
      </p:sp>
      <p:sp>
        <p:nvSpPr>
          <p:cNvPr id="29" name="TextBox 28">
            <a:extLst>
              <a:ext uri="{FF2B5EF4-FFF2-40B4-BE49-F238E27FC236}">
                <a16:creationId xmlns:a16="http://schemas.microsoft.com/office/drawing/2014/main" id="{0BDD4556-DAEB-A02B-2AAE-735188769192}"/>
              </a:ext>
            </a:extLst>
          </p:cNvPr>
          <p:cNvSpPr txBox="1"/>
          <p:nvPr/>
        </p:nvSpPr>
        <p:spPr>
          <a:xfrm>
            <a:off x="196733" y="4762174"/>
            <a:ext cx="1685855" cy="1169551"/>
          </a:xfrm>
          <a:prstGeom prst="rect">
            <a:avLst/>
          </a:prstGeom>
          <a:noFill/>
        </p:spPr>
        <p:txBody>
          <a:bodyPr wrap="square">
            <a:spAutoFit/>
          </a:bodyPr>
          <a:lstStyle/>
          <a:p>
            <a:pPr>
              <a:defRPr/>
            </a:pPr>
            <a:r>
              <a:rPr kumimoji="0" lang="en-US" sz="1400" i="0" u="none" strike="noStrike" kern="0" cap="none" spc="0" normalizeH="0" baseline="0" noProof="0">
                <a:ln>
                  <a:noFill/>
                </a:ln>
                <a:solidFill>
                  <a:srgbClr val="32007C"/>
                </a:solidFill>
                <a:effectLst/>
                <a:uLnTx/>
                <a:uFillTx/>
                <a:latin typeface="+mj-lt"/>
                <a:ea typeface="Helvetica Light" charset="0"/>
                <a:cs typeface="Helvetica Light" charset="0"/>
              </a:rPr>
              <a:t>ISDA has created two extensions to the core CDM: DRR and ISDA Foundations</a:t>
            </a:r>
            <a:endParaRPr kumimoji="0" lang="en-GB" sz="1400"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pic>
        <p:nvPicPr>
          <p:cNvPr id="2050" name="Picture 2">
            <a:extLst>
              <a:ext uri="{FF2B5EF4-FFF2-40B4-BE49-F238E27FC236}">
                <a16:creationId xmlns:a16="http://schemas.microsoft.com/office/drawing/2014/main" id="{DF1B30EF-86F6-FDB6-51D6-D66BC4FE112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875" t="12480" r="27527" b="56108"/>
          <a:stretch/>
        </p:blipFill>
        <p:spPr bwMode="auto">
          <a:xfrm>
            <a:off x="2062778" y="1103154"/>
            <a:ext cx="686222" cy="657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Box 29">
            <a:extLst>
              <a:ext uri="{FF2B5EF4-FFF2-40B4-BE49-F238E27FC236}">
                <a16:creationId xmlns:a16="http://schemas.microsoft.com/office/drawing/2014/main" id="{0FE200D0-982B-E693-0FF3-BE17221EC8CF}"/>
              </a:ext>
            </a:extLst>
          </p:cNvPr>
          <p:cNvSpPr txBox="1"/>
          <p:nvPr/>
        </p:nvSpPr>
        <p:spPr>
          <a:xfrm>
            <a:off x="2699751" y="1283200"/>
            <a:ext cx="1685855" cy="307777"/>
          </a:xfrm>
          <a:prstGeom prst="rect">
            <a:avLst/>
          </a:prstGeom>
          <a:noFill/>
        </p:spPr>
        <p:txBody>
          <a:bodyPr wrap="square">
            <a:spAutoFit/>
          </a:bodyPr>
          <a:lstStyle/>
          <a:p>
            <a:pPr>
              <a:defRPr/>
            </a:pPr>
            <a:r>
              <a:rPr kumimoji="0" lang="en-US" sz="1400" i="0" u="none" strike="noStrike" kern="0" cap="none" spc="0" normalizeH="0" baseline="0" noProof="0">
                <a:ln>
                  <a:noFill/>
                </a:ln>
                <a:solidFill>
                  <a:srgbClr val="32007C"/>
                </a:solidFill>
                <a:effectLst/>
                <a:uLnTx/>
                <a:uFillTx/>
                <a:latin typeface="+mj-lt"/>
                <a:ea typeface="Helvetica Light" charset="0"/>
                <a:cs typeface="Helvetica Light" charset="0"/>
              </a:rPr>
              <a:t>ISDA Foundations</a:t>
            </a:r>
            <a:endParaRPr kumimoji="0" lang="en-GB" sz="1400"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pic>
        <p:nvPicPr>
          <p:cNvPr id="32" name="Picture 31">
            <a:extLst>
              <a:ext uri="{FF2B5EF4-FFF2-40B4-BE49-F238E27FC236}">
                <a16:creationId xmlns:a16="http://schemas.microsoft.com/office/drawing/2014/main" id="{82FFB7DC-4D11-2F57-80CE-F4D736A2B9A4}"/>
              </a:ext>
            </a:extLst>
          </p:cNvPr>
          <p:cNvPicPr>
            <a:picLocks noChangeAspect="1"/>
          </p:cNvPicPr>
          <p:nvPr/>
        </p:nvPicPr>
        <p:blipFill rotWithShape="1">
          <a:blip r:embed="rId5"/>
          <a:srcRect l="57763" t="28481" r="37291" b="67011"/>
          <a:stretch/>
        </p:blipFill>
        <p:spPr>
          <a:xfrm>
            <a:off x="8015983" y="1294119"/>
            <a:ext cx="561485" cy="309174"/>
          </a:xfrm>
          <a:prstGeom prst="rect">
            <a:avLst/>
          </a:prstGeom>
        </p:spPr>
      </p:pic>
      <p:sp>
        <p:nvSpPr>
          <p:cNvPr id="33" name="TextBox 32">
            <a:extLst>
              <a:ext uri="{FF2B5EF4-FFF2-40B4-BE49-F238E27FC236}">
                <a16:creationId xmlns:a16="http://schemas.microsoft.com/office/drawing/2014/main" id="{4A713827-6CD2-4E4E-801A-029750442757}"/>
              </a:ext>
            </a:extLst>
          </p:cNvPr>
          <p:cNvSpPr txBox="1"/>
          <p:nvPr/>
        </p:nvSpPr>
        <p:spPr>
          <a:xfrm>
            <a:off x="8500839" y="1281711"/>
            <a:ext cx="2244608" cy="307777"/>
          </a:xfrm>
          <a:prstGeom prst="rect">
            <a:avLst/>
          </a:prstGeom>
          <a:noFill/>
        </p:spPr>
        <p:txBody>
          <a:bodyPr wrap="square">
            <a:spAutoFit/>
          </a:bodyPr>
          <a:lstStyle/>
          <a:p>
            <a:pPr>
              <a:defRPr/>
            </a:pPr>
            <a:r>
              <a:rPr lang="en-US" sz="1400" kern="0">
                <a:solidFill>
                  <a:srgbClr val="32007C"/>
                </a:solidFill>
                <a:latin typeface="+mj-lt"/>
                <a:ea typeface="Helvetica Light" charset="0"/>
                <a:cs typeface="Helvetica Light" charset="0"/>
              </a:rPr>
              <a:t>Digital Regulatory Reporting</a:t>
            </a:r>
            <a:endParaRPr kumimoji="0" lang="en-GB" sz="1400"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spTree>
    <p:extLst>
      <p:ext uri="{BB962C8B-B14F-4D97-AF65-F5344CB8AC3E}">
        <p14:creationId xmlns:p14="http://schemas.microsoft.com/office/powerpoint/2010/main" val="310923714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Logo&#10;&#10;Description automatically generated">
            <a:extLst>
              <a:ext uri="{FF2B5EF4-FFF2-40B4-BE49-F238E27FC236}">
                <a16:creationId xmlns:a16="http://schemas.microsoft.com/office/drawing/2014/main" id="{7F4A23B7-5A0F-4164-1A36-C09EFFB0AE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6785" y="2778964"/>
            <a:ext cx="2579303" cy="1336098"/>
          </a:xfrm>
          <a:prstGeom prst="rect">
            <a:avLst/>
          </a:prstGeom>
        </p:spPr>
      </p:pic>
      <p:sp>
        <p:nvSpPr>
          <p:cNvPr id="2" name="Text Box 2">
            <a:extLst>
              <a:ext uri="{FF2B5EF4-FFF2-40B4-BE49-F238E27FC236}">
                <a16:creationId xmlns:a16="http://schemas.microsoft.com/office/drawing/2014/main" id="{52004F27-750E-9E4E-1ABF-807D8D28C031}"/>
              </a:ext>
            </a:extLst>
          </p:cNvPr>
          <p:cNvSpPr txBox="1">
            <a:spLocks noChangeArrowheads="1"/>
          </p:cNvSpPr>
          <p:nvPr/>
        </p:nvSpPr>
        <p:spPr bwMode="auto">
          <a:xfrm>
            <a:off x="514130" y="2955073"/>
            <a:ext cx="7215137" cy="983881"/>
          </a:xfrm>
          <a:prstGeom prst="rect">
            <a:avLst/>
          </a:prstGeom>
          <a:solidFill>
            <a:srgbClr val="32007D"/>
          </a:solidFill>
          <a:ln w="9525">
            <a:noFill/>
            <a:miter lim="800000"/>
            <a:headEnd/>
            <a:tailEnd/>
          </a:ln>
        </p:spPr>
        <p:txBody>
          <a:bodyPr rot="0" vert="horz" wrap="square" lIns="91435" tIns="45717" rIns="91435" bIns="45717" anchor="ctr" anchorCtr="0">
            <a:noAutofit/>
          </a:bodyPr>
          <a:lstStyle/>
          <a:p>
            <a:r>
              <a:rPr lang="en-GB" sz="2000" b="1">
                <a:solidFill>
                  <a:srgbClr val="FFFFFF"/>
                </a:solidFill>
                <a:ea typeface="Calibri"/>
              </a:rPr>
              <a:t>Use Cases</a:t>
            </a:r>
            <a:endParaRPr lang="en-GB">
              <a:solidFill>
                <a:srgbClr val="FFFFFF"/>
              </a:solidFill>
              <a:ea typeface="Calibri"/>
              <a:cs typeface="Arial"/>
            </a:endParaRPr>
          </a:p>
        </p:txBody>
      </p:sp>
    </p:spTree>
    <p:extLst>
      <p:ext uri="{BB962C8B-B14F-4D97-AF65-F5344CB8AC3E}">
        <p14:creationId xmlns:p14="http://schemas.microsoft.com/office/powerpoint/2010/main" val="3115105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a:defRPr/>
            </a:pPr>
            <a:r>
              <a:rPr lang="en-US" sz="2400" b="0">
                <a:solidFill>
                  <a:srgbClr val="32007C"/>
                </a:solidFill>
                <a:latin typeface="Helvetica"/>
                <a:ea typeface="Lato"/>
                <a:cs typeface="Helvetica"/>
              </a:rPr>
              <a:t>Collateral -</a:t>
            </a:r>
            <a:r>
              <a:rPr kumimoji="0" lang="en-US" sz="2400" b="0" i="0" u="none" strike="noStrike" kern="1200" cap="none" spc="0" normalizeH="0" baseline="0" noProof="0">
                <a:ln>
                  <a:noFill/>
                </a:ln>
                <a:solidFill>
                  <a:srgbClr val="32007C"/>
                </a:solidFill>
                <a:effectLst/>
                <a:uLnTx/>
                <a:uFillTx/>
                <a:latin typeface="Helvetica"/>
                <a:ea typeface="Lato"/>
                <a:cs typeface="Helvetica"/>
              </a:rPr>
              <a:t> Today’s Challenge</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object 2">
            <a:extLst>
              <a:ext uri="{FF2B5EF4-FFF2-40B4-BE49-F238E27FC236}">
                <a16:creationId xmlns:a16="http://schemas.microsoft.com/office/drawing/2014/main" id="{FE6D4FD2-3EFD-8664-AA3B-41932BF12415}"/>
              </a:ext>
            </a:extLst>
          </p:cNvPr>
          <p:cNvSpPr/>
          <p:nvPr/>
        </p:nvSpPr>
        <p:spPr>
          <a:xfrm>
            <a:off x="3751326" y="2497546"/>
            <a:ext cx="175260" cy="3575050"/>
          </a:xfrm>
          <a:custGeom>
            <a:avLst/>
            <a:gdLst/>
            <a:ahLst/>
            <a:cxnLst/>
            <a:rect l="l" t="t" r="r" b="b"/>
            <a:pathLst>
              <a:path w="175260" h="3575050">
                <a:moveTo>
                  <a:pt x="0" y="0"/>
                </a:moveTo>
                <a:lnTo>
                  <a:pt x="34112" y="9093"/>
                </a:lnTo>
                <a:lnTo>
                  <a:pt x="61963" y="33883"/>
                </a:lnTo>
                <a:lnTo>
                  <a:pt x="80746" y="70662"/>
                </a:lnTo>
                <a:lnTo>
                  <a:pt x="87630" y="115709"/>
                </a:lnTo>
                <a:lnTo>
                  <a:pt x="87630" y="1671751"/>
                </a:lnTo>
                <a:lnTo>
                  <a:pt x="94513" y="1716798"/>
                </a:lnTo>
                <a:lnTo>
                  <a:pt x="113296" y="1753577"/>
                </a:lnTo>
                <a:lnTo>
                  <a:pt x="141147" y="1778368"/>
                </a:lnTo>
                <a:lnTo>
                  <a:pt x="175260" y="1787461"/>
                </a:lnTo>
                <a:lnTo>
                  <a:pt x="141147" y="1796554"/>
                </a:lnTo>
                <a:lnTo>
                  <a:pt x="113296" y="1821345"/>
                </a:lnTo>
                <a:lnTo>
                  <a:pt x="94513" y="1858124"/>
                </a:lnTo>
                <a:lnTo>
                  <a:pt x="87630" y="1903171"/>
                </a:lnTo>
                <a:lnTo>
                  <a:pt x="87630" y="3459213"/>
                </a:lnTo>
                <a:lnTo>
                  <a:pt x="80746" y="3504260"/>
                </a:lnTo>
                <a:lnTo>
                  <a:pt x="61963" y="3541039"/>
                </a:lnTo>
                <a:lnTo>
                  <a:pt x="34112" y="3565829"/>
                </a:lnTo>
                <a:lnTo>
                  <a:pt x="0" y="3574923"/>
                </a:lnTo>
              </a:path>
            </a:pathLst>
          </a:custGeom>
          <a:ln w="38100">
            <a:solidFill>
              <a:srgbClr val="5B9BD3"/>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 name="object 3">
            <a:extLst>
              <a:ext uri="{FF2B5EF4-FFF2-40B4-BE49-F238E27FC236}">
                <a16:creationId xmlns:a16="http://schemas.microsoft.com/office/drawing/2014/main" id="{5BDD2E3D-6C44-913E-5E67-1DD9ABEB6D74}"/>
              </a:ext>
            </a:extLst>
          </p:cNvPr>
          <p:cNvSpPr/>
          <p:nvPr/>
        </p:nvSpPr>
        <p:spPr>
          <a:xfrm>
            <a:off x="4179570" y="3622258"/>
            <a:ext cx="735965" cy="504190"/>
          </a:xfrm>
          <a:custGeom>
            <a:avLst/>
            <a:gdLst/>
            <a:ahLst/>
            <a:cxnLst/>
            <a:rect l="l" t="t" r="r" b="b"/>
            <a:pathLst>
              <a:path w="735964" h="504189">
                <a:moveTo>
                  <a:pt x="0" y="504126"/>
                </a:moveTo>
                <a:lnTo>
                  <a:pt x="735520" y="0"/>
                </a:lnTo>
              </a:path>
            </a:pathLst>
          </a:custGeom>
          <a:ln w="38100">
            <a:solidFill>
              <a:srgbClr val="5B9BD3"/>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 name="object 4">
            <a:extLst>
              <a:ext uri="{FF2B5EF4-FFF2-40B4-BE49-F238E27FC236}">
                <a16:creationId xmlns:a16="http://schemas.microsoft.com/office/drawing/2014/main" id="{6EEC1A4D-9256-E8DC-C055-FA4748206CE2}"/>
              </a:ext>
            </a:extLst>
          </p:cNvPr>
          <p:cNvSpPr/>
          <p:nvPr/>
        </p:nvSpPr>
        <p:spPr>
          <a:xfrm>
            <a:off x="4866128" y="3566632"/>
            <a:ext cx="127635" cy="113030"/>
          </a:xfrm>
          <a:custGeom>
            <a:avLst/>
            <a:gdLst/>
            <a:ahLst/>
            <a:cxnLst/>
            <a:rect l="l" t="t" r="r" b="b"/>
            <a:pathLst>
              <a:path w="127635" h="113029">
                <a:moveTo>
                  <a:pt x="127622" y="0"/>
                </a:moveTo>
                <a:lnTo>
                  <a:pt x="0" y="17526"/>
                </a:lnTo>
                <a:lnTo>
                  <a:pt x="65049" y="112725"/>
                </a:lnTo>
                <a:lnTo>
                  <a:pt x="127622"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 name="object 5">
            <a:extLst>
              <a:ext uri="{FF2B5EF4-FFF2-40B4-BE49-F238E27FC236}">
                <a16:creationId xmlns:a16="http://schemas.microsoft.com/office/drawing/2014/main" id="{871BDEF5-4E24-1A31-CEE5-F33208A6AC9D}"/>
              </a:ext>
            </a:extLst>
          </p:cNvPr>
          <p:cNvSpPr/>
          <p:nvPr/>
        </p:nvSpPr>
        <p:spPr>
          <a:xfrm>
            <a:off x="4153661" y="4288245"/>
            <a:ext cx="745490" cy="10795"/>
          </a:xfrm>
          <a:custGeom>
            <a:avLst/>
            <a:gdLst/>
            <a:ahLst/>
            <a:cxnLst/>
            <a:rect l="l" t="t" r="r" b="b"/>
            <a:pathLst>
              <a:path w="745489" h="10795">
                <a:moveTo>
                  <a:pt x="0" y="10617"/>
                </a:moveTo>
                <a:lnTo>
                  <a:pt x="744905" y="0"/>
                </a:lnTo>
              </a:path>
            </a:pathLst>
          </a:custGeom>
          <a:ln w="38100">
            <a:solidFill>
              <a:srgbClr val="5B9BD3"/>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 name="object 6">
            <a:extLst>
              <a:ext uri="{FF2B5EF4-FFF2-40B4-BE49-F238E27FC236}">
                <a16:creationId xmlns:a16="http://schemas.microsoft.com/office/drawing/2014/main" id="{82B1CF30-EC66-F096-7E94-3C5F1EE4C89C}"/>
              </a:ext>
            </a:extLst>
          </p:cNvPr>
          <p:cNvSpPr/>
          <p:nvPr/>
        </p:nvSpPr>
        <p:spPr>
          <a:xfrm>
            <a:off x="4878323" y="4231095"/>
            <a:ext cx="115570" cy="114300"/>
          </a:xfrm>
          <a:custGeom>
            <a:avLst/>
            <a:gdLst/>
            <a:ahLst/>
            <a:cxnLst/>
            <a:rect l="l" t="t" r="r" b="b"/>
            <a:pathLst>
              <a:path w="115570" h="114300">
                <a:moveTo>
                  <a:pt x="0" y="0"/>
                </a:moveTo>
                <a:lnTo>
                  <a:pt x="1651" y="114287"/>
                </a:lnTo>
                <a:lnTo>
                  <a:pt x="115366" y="55486"/>
                </a:lnTo>
                <a:lnTo>
                  <a:pt x="0"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9" name="object 7">
            <a:extLst>
              <a:ext uri="{FF2B5EF4-FFF2-40B4-BE49-F238E27FC236}">
                <a16:creationId xmlns:a16="http://schemas.microsoft.com/office/drawing/2014/main" id="{1DF9B7EA-BF54-4F13-15F8-6EB5AE8E18C6}"/>
              </a:ext>
            </a:extLst>
          </p:cNvPr>
          <p:cNvSpPr/>
          <p:nvPr/>
        </p:nvSpPr>
        <p:spPr>
          <a:xfrm>
            <a:off x="4153661" y="4538182"/>
            <a:ext cx="744855" cy="388620"/>
          </a:xfrm>
          <a:custGeom>
            <a:avLst/>
            <a:gdLst/>
            <a:ahLst/>
            <a:cxnLst/>
            <a:rect l="l" t="t" r="r" b="b"/>
            <a:pathLst>
              <a:path w="744854" h="388620">
                <a:moveTo>
                  <a:pt x="0" y="0"/>
                </a:moveTo>
                <a:lnTo>
                  <a:pt x="744702" y="388175"/>
                </a:lnTo>
              </a:path>
            </a:pathLst>
          </a:custGeom>
          <a:ln w="38099">
            <a:solidFill>
              <a:srgbClr val="5B9BD3"/>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10" name="object 8">
            <a:extLst>
              <a:ext uri="{FF2B5EF4-FFF2-40B4-BE49-F238E27FC236}">
                <a16:creationId xmlns:a16="http://schemas.microsoft.com/office/drawing/2014/main" id="{BCAD4DAC-D730-B268-1E2E-8E018CF1D806}"/>
              </a:ext>
            </a:extLst>
          </p:cNvPr>
          <p:cNvSpPr/>
          <p:nvPr/>
        </p:nvSpPr>
        <p:spPr>
          <a:xfrm>
            <a:off x="4853942" y="4865080"/>
            <a:ext cx="129539" cy="104775"/>
          </a:xfrm>
          <a:custGeom>
            <a:avLst/>
            <a:gdLst/>
            <a:ahLst/>
            <a:cxnLst/>
            <a:rect l="l" t="t" r="r" b="b"/>
            <a:pathLst>
              <a:path w="129539" h="104775">
                <a:moveTo>
                  <a:pt x="53378" y="0"/>
                </a:moveTo>
                <a:lnTo>
                  <a:pt x="0" y="102336"/>
                </a:lnTo>
                <a:lnTo>
                  <a:pt x="129031" y="104546"/>
                </a:lnTo>
                <a:lnTo>
                  <a:pt x="53378"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12" name="object 9">
            <a:extLst>
              <a:ext uri="{FF2B5EF4-FFF2-40B4-BE49-F238E27FC236}">
                <a16:creationId xmlns:a16="http://schemas.microsoft.com/office/drawing/2014/main" id="{F39980B1-F586-C574-79BC-39BE759A0A77}"/>
              </a:ext>
            </a:extLst>
          </p:cNvPr>
          <p:cNvSpPr/>
          <p:nvPr/>
        </p:nvSpPr>
        <p:spPr>
          <a:xfrm>
            <a:off x="5562600" y="2481544"/>
            <a:ext cx="650747" cy="579107"/>
          </a:xfrm>
          <a:prstGeom prst="rect">
            <a:avLst/>
          </a:prstGeom>
          <a:blipFill>
            <a:blip r:embed="rId4" cstate="print"/>
            <a:stretch>
              <a:fillRect/>
            </a:stretch>
          </a:bli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13" name="object 10">
            <a:extLst>
              <a:ext uri="{FF2B5EF4-FFF2-40B4-BE49-F238E27FC236}">
                <a16:creationId xmlns:a16="http://schemas.microsoft.com/office/drawing/2014/main" id="{1BACE6B5-77E2-CE5E-20FD-7245DCC82E4F}"/>
              </a:ext>
            </a:extLst>
          </p:cNvPr>
          <p:cNvSpPr/>
          <p:nvPr/>
        </p:nvSpPr>
        <p:spPr>
          <a:xfrm>
            <a:off x="5568696" y="3545295"/>
            <a:ext cx="644651" cy="574547"/>
          </a:xfrm>
          <a:prstGeom prst="rect">
            <a:avLst/>
          </a:prstGeom>
          <a:blipFill>
            <a:blip r:embed="rId5" cstate="print"/>
            <a:stretch>
              <a:fillRect/>
            </a:stretch>
          </a:bli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14" name="object 11">
            <a:extLst>
              <a:ext uri="{FF2B5EF4-FFF2-40B4-BE49-F238E27FC236}">
                <a16:creationId xmlns:a16="http://schemas.microsoft.com/office/drawing/2014/main" id="{3574BCBE-5219-F8C0-1208-8DBE1E782253}"/>
              </a:ext>
            </a:extLst>
          </p:cNvPr>
          <p:cNvSpPr txBox="1"/>
          <p:nvPr/>
        </p:nvSpPr>
        <p:spPr>
          <a:xfrm>
            <a:off x="5614706" y="3082261"/>
            <a:ext cx="566420" cy="453390"/>
          </a:xfrm>
          <a:prstGeom prst="rect">
            <a:avLst/>
          </a:prstGeom>
        </p:spPr>
        <p:txBody>
          <a:bodyPr vert="horz" wrap="square" lIns="0" tIns="13335" rIns="0" bIns="0" rtlCol="0">
            <a:spAutoFit/>
          </a:bodyPr>
          <a:lstStyle/>
          <a:p>
            <a:pPr marL="13970" marR="5080" indent="-1905">
              <a:spcBef>
                <a:spcPts val="105"/>
              </a:spcBef>
              <a:defRPr/>
            </a:pPr>
            <a:r>
              <a:rPr sz="1400">
                <a:solidFill>
                  <a:prstClr val="black"/>
                </a:solidFill>
                <a:cs typeface="Calibri"/>
              </a:rPr>
              <a:t>B</a:t>
            </a:r>
            <a:r>
              <a:rPr sz="1400" spc="-50">
                <a:solidFill>
                  <a:prstClr val="black"/>
                </a:solidFill>
                <a:cs typeface="Calibri"/>
              </a:rPr>
              <a:t>r</a:t>
            </a:r>
            <a:r>
              <a:rPr sz="1400">
                <a:solidFill>
                  <a:prstClr val="black"/>
                </a:solidFill>
                <a:cs typeface="Calibri"/>
              </a:rPr>
              <a:t>o</a:t>
            </a:r>
            <a:r>
              <a:rPr sz="1400" spc="-114">
                <a:solidFill>
                  <a:prstClr val="black"/>
                </a:solidFill>
                <a:cs typeface="Calibri"/>
              </a:rPr>
              <a:t>k</a:t>
            </a:r>
            <a:r>
              <a:rPr sz="1400" spc="-5">
                <a:solidFill>
                  <a:prstClr val="black"/>
                </a:solidFill>
                <a:cs typeface="Calibri"/>
              </a:rPr>
              <a:t>e</a:t>
            </a:r>
            <a:r>
              <a:rPr sz="1400">
                <a:solidFill>
                  <a:prstClr val="black"/>
                </a:solidFill>
                <a:cs typeface="Calibri"/>
              </a:rPr>
              <a:t>r/  </a:t>
            </a:r>
            <a:r>
              <a:rPr sz="1400" spc="-5">
                <a:solidFill>
                  <a:prstClr val="black"/>
                </a:solidFill>
                <a:cs typeface="Calibri"/>
              </a:rPr>
              <a:t>De</a:t>
            </a:r>
            <a:r>
              <a:rPr sz="1400">
                <a:solidFill>
                  <a:prstClr val="black"/>
                </a:solidFill>
                <a:cs typeface="Calibri"/>
              </a:rPr>
              <a:t>al</a:t>
            </a:r>
            <a:r>
              <a:rPr sz="1400" spc="-5">
                <a:solidFill>
                  <a:prstClr val="black"/>
                </a:solidFill>
                <a:cs typeface="Calibri"/>
              </a:rPr>
              <a:t>e</a:t>
            </a:r>
            <a:r>
              <a:rPr sz="1400" spc="-50">
                <a:solidFill>
                  <a:prstClr val="black"/>
                </a:solidFill>
                <a:cs typeface="Calibri"/>
              </a:rPr>
              <a:t>r</a:t>
            </a:r>
            <a:r>
              <a:rPr sz="1400">
                <a:solidFill>
                  <a:prstClr val="black"/>
                </a:solidFill>
                <a:cs typeface="Calibri"/>
              </a:rPr>
              <a:t>s</a:t>
            </a:r>
          </a:p>
        </p:txBody>
      </p:sp>
      <p:sp>
        <p:nvSpPr>
          <p:cNvPr id="15" name="object 12">
            <a:extLst>
              <a:ext uri="{FF2B5EF4-FFF2-40B4-BE49-F238E27FC236}">
                <a16:creationId xmlns:a16="http://schemas.microsoft.com/office/drawing/2014/main" id="{57A2216C-802F-FAC9-16F3-16169186FDF6}"/>
              </a:ext>
            </a:extLst>
          </p:cNvPr>
          <p:cNvSpPr txBox="1"/>
          <p:nvPr/>
        </p:nvSpPr>
        <p:spPr>
          <a:xfrm>
            <a:off x="5607217" y="4148721"/>
            <a:ext cx="630555" cy="239395"/>
          </a:xfrm>
          <a:prstGeom prst="rect">
            <a:avLst/>
          </a:prstGeom>
        </p:spPr>
        <p:txBody>
          <a:bodyPr vert="horz" wrap="square" lIns="0" tIns="12700" rIns="0" bIns="0" rtlCol="0">
            <a:spAutoFit/>
          </a:bodyPr>
          <a:lstStyle/>
          <a:p>
            <a:pPr marL="12700">
              <a:spcBef>
                <a:spcPts val="100"/>
              </a:spcBef>
              <a:defRPr/>
            </a:pPr>
            <a:r>
              <a:rPr sz="1400" spc="-5">
                <a:solidFill>
                  <a:prstClr val="black"/>
                </a:solidFill>
                <a:cs typeface="Calibri"/>
              </a:rPr>
              <a:t>Buy</a:t>
            </a:r>
            <a:r>
              <a:rPr sz="1400" spc="-145">
                <a:solidFill>
                  <a:prstClr val="black"/>
                </a:solidFill>
                <a:cs typeface="Calibri"/>
              </a:rPr>
              <a:t> </a:t>
            </a:r>
            <a:r>
              <a:rPr sz="1400" spc="-5">
                <a:solidFill>
                  <a:prstClr val="black"/>
                </a:solidFill>
                <a:cs typeface="Calibri"/>
              </a:rPr>
              <a:t>Side</a:t>
            </a:r>
            <a:endParaRPr sz="1400">
              <a:solidFill>
                <a:prstClr val="black"/>
              </a:solidFill>
              <a:cs typeface="Calibri"/>
            </a:endParaRPr>
          </a:p>
        </p:txBody>
      </p:sp>
      <p:sp>
        <p:nvSpPr>
          <p:cNvPr id="16" name="object 13">
            <a:extLst>
              <a:ext uri="{FF2B5EF4-FFF2-40B4-BE49-F238E27FC236}">
                <a16:creationId xmlns:a16="http://schemas.microsoft.com/office/drawing/2014/main" id="{A0EDC969-5EAD-C4F7-5750-20C4069B8DFF}"/>
              </a:ext>
            </a:extLst>
          </p:cNvPr>
          <p:cNvSpPr txBox="1"/>
          <p:nvPr/>
        </p:nvSpPr>
        <p:spPr>
          <a:xfrm>
            <a:off x="5592061" y="5057557"/>
            <a:ext cx="596900" cy="239395"/>
          </a:xfrm>
          <a:prstGeom prst="rect">
            <a:avLst/>
          </a:prstGeom>
        </p:spPr>
        <p:txBody>
          <a:bodyPr vert="horz" wrap="square" lIns="0" tIns="12700" rIns="0" bIns="0" rtlCol="0">
            <a:spAutoFit/>
          </a:bodyPr>
          <a:lstStyle/>
          <a:p>
            <a:pPr marL="12700">
              <a:spcBef>
                <a:spcPts val="100"/>
              </a:spcBef>
              <a:defRPr/>
            </a:pPr>
            <a:r>
              <a:rPr sz="1400" spc="-40">
                <a:solidFill>
                  <a:prstClr val="black"/>
                </a:solidFill>
                <a:cs typeface="Calibri"/>
              </a:rPr>
              <a:t>Vendors</a:t>
            </a:r>
            <a:endParaRPr sz="1400">
              <a:solidFill>
                <a:prstClr val="black"/>
              </a:solidFill>
              <a:cs typeface="Calibri"/>
            </a:endParaRPr>
          </a:p>
        </p:txBody>
      </p:sp>
      <p:sp>
        <p:nvSpPr>
          <p:cNvPr id="17" name="object 14">
            <a:extLst>
              <a:ext uri="{FF2B5EF4-FFF2-40B4-BE49-F238E27FC236}">
                <a16:creationId xmlns:a16="http://schemas.microsoft.com/office/drawing/2014/main" id="{D5C567A0-7A65-5BB7-FD25-CEB7BC467DAD}"/>
              </a:ext>
            </a:extLst>
          </p:cNvPr>
          <p:cNvSpPr txBox="1"/>
          <p:nvPr/>
        </p:nvSpPr>
        <p:spPr>
          <a:xfrm>
            <a:off x="8234494" y="3131696"/>
            <a:ext cx="3031490" cy="756920"/>
          </a:xfrm>
          <a:prstGeom prst="rect">
            <a:avLst/>
          </a:prstGeom>
        </p:spPr>
        <p:txBody>
          <a:bodyPr vert="horz" wrap="square" lIns="0" tIns="12065" rIns="0" bIns="0" rtlCol="0">
            <a:spAutoFit/>
          </a:bodyPr>
          <a:lstStyle/>
          <a:p>
            <a:pPr marL="298450" marR="5080" indent="-286385">
              <a:spcBef>
                <a:spcPts val="95"/>
              </a:spcBef>
              <a:buFont typeface="Wingdings"/>
              <a:buChar char=""/>
              <a:tabLst>
                <a:tab pos="299085" algn="l"/>
                <a:tab pos="299720" algn="l"/>
              </a:tabLst>
              <a:defRPr/>
            </a:pPr>
            <a:r>
              <a:rPr sz="1600" spc="-5">
                <a:solidFill>
                  <a:srgbClr val="32007D"/>
                </a:solidFill>
                <a:cs typeface="Calibri"/>
              </a:rPr>
              <a:t>Lack of industry </a:t>
            </a:r>
            <a:r>
              <a:rPr sz="1600" spc="-25">
                <a:solidFill>
                  <a:srgbClr val="32007D"/>
                </a:solidFill>
                <a:cs typeface="Calibri"/>
              </a:rPr>
              <a:t>standards </a:t>
            </a:r>
            <a:r>
              <a:rPr sz="1600" spc="-5">
                <a:solidFill>
                  <a:srgbClr val="32007D"/>
                </a:solidFill>
                <a:cs typeface="Calibri"/>
              </a:rPr>
              <a:t>-</a:t>
            </a:r>
            <a:r>
              <a:rPr sz="1600" spc="-75">
                <a:solidFill>
                  <a:srgbClr val="32007D"/>
                </a:solidFill>
                <a:cs typeface="Calibri"/>
              </a:rPr>
              <a:t> </a:t>
            </a:r>
            <a:r>
              <a:rPr sz="1600" spc="-25">
                <a:solidFill>
                  <a:srgbClr val="32007D"/>
                </a:solidFill>
                <a:cs typeface="Calibri"/>
              </a:rPr>
              <a:t>Every  </a:t>
            </a:r>
            <a:r>
              <a:rPr sz="1600" spc="-5">
                <a:solidFill>
                  <a:srgbClr val="32007D"/>
                </a:solidFill>
                <a:cs typeface="Calibri"/>
              </a:rPr>
              <a:t>industry </a:t>
            </a:r>
            <a:r>
              <a:rPr sz="1600" spc="-10">
                <a:solidFill>
                  <a:srgbClr val="32007D"/>
                </a:solidFill>
                <a:cs typeface="Calibri"/>
              </a:rPr>
              <a:t>participant </a:t>
            </a:r>
            <a:r>
              <a:rPr sz="1600" spc="-5">
                <a:solidFill>
                  <a:srgbClr val="32007D"/>
                </a:solidFill>
                <a:cs typeface="Calibri"/>
              </a:rPr>
              <a:t>left </a:t>
            </a:r>
            <a:r>
              <a:rPr sz="1600" spc="-25">
                <a:solidFill>
                  <a:srgbClr val="32007D"/>
                </a:solidFill>
                <a:cs typeface="Calibri"/>
              </a:rPr>
              <a:t>to  </a:t>
            </a:r>
            <a:r>
              <a:rPr sz="1600" spc="-10">
                <a:solidFill>
                  <a:srgbClr val="32007D"/>
                </a:solidFill>
                <a:cs typeface="Calibri"/>
              </a:rPr>
              <a:t>implement </a:t>
            </a:r>
            <a:r>
              <a:rPr sz="1600" spc="-5">
                <a:solidFill>
                  <a:srgbClr val="32007D"/>
                </a:solidFill>
                <a:cs typeface="Calibri"/>
              </a:rPr>
              <a:t>their </a:t>
            </a:r>
            <a:r>
              <a:rPr sz="1600" spc="-20">
                <a:solidFill>
                  <a:srgbClr val="32007D"/>
                </a:solidFill>
                <a:cs typeface="Calibri"/>
              </a:rPr>
              <a:t>own</a:t>
            </a:r>
            <a:r>
              <a:rPr sz="1600" spc="-40">
                <a:solidFill>
                  <a:srgbClr val="32007D"/>
                </a:solidFill>
                <a:cs typeface="Calibri"/>
              </a:rPr>
              <a:t> </a:t>
            </a:r>
            <a:r>
              <a:rPr sz="1600" spc="-25">
                <a:solidFill>
                  <a:srgbClr val="32007D"/>
                </a:solidFill>
                <a:cs typeface="Calibri"/>
              </a:rPr>
              <a:t>version</a:t>
            </a:r>
            <a:endParaRPr sz="1600">
              <a:solidFill>
                <a:srgbClr val="32007D"/>
              </a:solidFill>
              <a:cs typeface="Calibri"/>
            </a:endParaRPr>
          </a:p>
        </p:txBody>
      </p:sp>
      <p:sp>
        <p:nvSpPr>
          <p:cNvPr id="18" name="object 15">
            <a:extLst>
              <a:ext uri="{FF2B5EF4-FFF2-40B4-BE49-F238E27FC236}">
                <a16:creationId xmlns:a16="http://schemas.microsoft.com/office/drawing/2014/main" id="{6B0E0470-5B9A-8638-08F7-8F859C6D32DE}"/>
              </a:ext>
            </a:extLst>
          </p:cNvPr>
          <p:cNvSpPr txBox="1"/>
          <p:nvPr/>
        </p:nvSpPr>
        <p:spPr>
          <a:xfrm>
            <a:off x="8234494" y="4107054"/>
            <a:ext cx="2997200" cy="513080"/>
          </a:xfrm>
          <a:prstGeom prst="rect">
            <a:avLst/>
          </a:prstGeom>
        </p:spPr>
        <p:txBody>
          <a:bodyPr vert="horz" wrap="square" lIns="0" tIns="12065" rIns="0" bIns="0" rtlCol="0">
            <a:spAutoFit/>
          </a:bodyPr>
          <a:lstStyle/>
          <a:p>
            <a:pPr marL="299085" marR="5080" indent="-287020">
              <a:spcBef>
                <a:spcPts val="95"/>
              </a:spcBef>
              <a:buFont typeface="Wingdings"/>
              <a:buChar char=""/>
              <a:tabLst>
                <a:tab pos="299085" algn="l"/>
                <a:tab pos="299720" algn="l"/>
              </a:tabLst>
              <a:defRPr/>
            </a:pPr>
            <a:r>
              <a:rPr sz="1600" spc="-5">
                <a:solidFill>
                  <a:srgbClr val="32007D"/>
                </a:solidFill>
                <a:cs typeface="Calibri"/>
              </a:rPr>
              <a:t>Loss of </a:t>
            </a:r>
            <a:r>
              <a:rPr sz="1600" spc="-20">
                <a:solidFill>
                  <a:srgbClr val="32007D"/>
                </a:solidFill>
                <a:cs typeface="Calibri"/>
              </a:rPr>
              <a:t>inter-operability between  </a:t>
            </a:r>
            <a:r>
              <a:rPr sz="1600" spc="-5">
                <a:solidFill>
                  <a:srgbClr val="32007D"/>
                </a:solidFill>
                <a:cs typeface="Calibri"/>
              </a:rPr>
              <a:t>solutions</a:t>
            </a:r>
            <a:endParaRPr sz="1600">
              <a:solidFill>
                <a:srgbClr val="32007D"/>
              </a:solidFill>
              <a:cs typeface="Calibri"/>
            </a:endParaRPr>
          </a:p>
        </p:txBody>
      </p:sp>
      <p:sp>
        <p:nvSpPr>
          <p:cNvPr id="19" name="object 16">
            <a:extLst>
              <a:ext uri="{FF2B5EF4-FFF2-40B4-BE49-F238E27FC236}">
                <a16:creationId xmlns:a16="http://schemas.microsoft.com/office/drawing/2014/main" id="{17675B90-EBA3-46D1-9726-FC6BC74C34CD}"/>
              </a:ext>
            </a:extLst>
          </p:cNvPr>
          <p:cNvSpPr txBox="1"/>
          <p:nvPr/>
        </p:nvSpPr>
        <p:spPr>
          <a:xfrm>
            <a:off x="8234494" y="4838575"/>
            <a:ext cx="2753360" cy="756920"/>
          </a:xfrm>
          <a:prstGeom prst="rect">
            <a:avLst/>
          </a:prstGeom>
        </p:spPr>
        <p:txBody>
          <a:bodyPr vert="horz" wrap="square" lIns="0" tIns="12065" rIns="0" bIns="0" rtlCol="0">
            <a:spAutoFit/>
          </a:bodyPr>
          <a:lstStyle/>
          <a:p>
            <a:pPr marL="298450" marR="5080" indent="-286385">
              <a:spcBef>
                <a:spcPts val="95"/>
              </a:spcBef>
              <a:buFont typeface="Wingdings"/>
              <a:buChar char=""/>
              <a:tabLst>
                <a:tab pos="299085" algn="l"/>
                <a:tab pos="299720" algn="l"/>
              </a:tabLst>
              <a:defRPr/>
            </a:pPr>
            <a:r>
              <a:rPr sz="1600" spc="-25">
                <a:solidFill>
                  <a:srgbClr val="32007D"/>
                </a:solidFill>
                <a:cs typeface="Calibri"/>
              </a:rPr>
              <a:t>Pervasive </a:t>
            </a:r>
            <a:r>
              <a:rPr sz="1600" spc="-20">
                <a:solidFill>
                  <a:srgbClr val="32007D"/>
                </a:solidFill>
                <a:cs typeface="Calibri"/>
              </a:rPr>
              <a:t>reconciliation </a:t>
            </a:r>
            <a:r>
              <a:rPr sz="1600" spc="-5">
                <a:solidFill>
                  <a:srgbClr val="32007D"/>
                </a:solidFill>
                <a:cs typeface="Calibri"/>
              </a:rPr>
              <a:t>issues  and other </a:t>
            </a:r>
            <a:r>
              <a:rPr sz="1600" spc="-20">
                <a:solidFill>
                  <a:srgbClr val="32007D"/>
                </a:solidFill>
                <a:cs typeface="Calibri"/>
              </a:rPr>
              <a:t>operational  </a:t>
            </a:r>
            <a:r>
              <a:rPr sz="1600" spc="-10">
                <a:solidFill>
                  <a:srgbClr val="32007D"/>
                </a:solidFill>
                <a:cs typeface="Calibri"/>
              </a:rPr>
              <a:t>inefficiencies</a:t>
            </a:r>
            <a:endParaRPr sz="1600">
              <a:solidFill>
                <a:srgbClr val="32007D"/>
              </a:solidFill>
              <a:cs typeface="Calibri"/>
            </a:endParaRPr>
          </a:p>
        </p:txBody>
      </p:sp>
      <p:sp>
        <p:nvSpPr>
          <p:cNvPr id="20" name="object 17">
            <a:extLst>
              <a:ext uri="{FF2B5EF4-FFF2-40B4-BE49-F238E27FC236}">
                <a16:creationId xmlns:a16="http://schemas.microsoft.com/office/drawing/2014/main" id="{0FCC0530-73F5-77F7-ADDA-8C540893F0C8}"/>
              </a:ext>
            </a:extLst>
          </p:cNvPr>
          <p:cNvSpPr txBox="1"/>
          <p:nvPr/>
        </p:nvSpPr>
        <p:spPr>
          <a:xfrm>
            <a:off x="785878" y="1257308"/>
            <a:ext cx="10441940" cy="1143000"/>
          </a:xfrm>
          <a:prstGeom prst="rect">
            <a:avLst/>
          </a:prstGeom>
        </p:spPr>
        <p:txBody>
          <a:bodyPr vert="horz" wrap="square" lIns="0" tIns="13335" rIns="0" bIns="0" rtlCol="0" anchor="t">
            <a:spAutoFit/>
          </a:bodyPr>
          <a:lstStyle/>
          <a:p>
            <a:pPr marL="12700" marR="5080" algn="just">
              <a:spcBef>
                <a:spcPts val="105"/>
              </a:spcBef>
              <a:defRPr/>
            </a:pPr>
            <a:r>
              <a:rPr sz="1400" b="1" spc="-5">
                <a:solidFill>
                  <a:srgbClr val="32007D"/>
                </a:solidFill>
                <a:cs typeface="Calibri"/>
              </a:rPr>
              <a:t>Guidelines </a:t>
            </a:r>
            <a:r>
              <a:rPr sz="1400" b="1" spc="-10">
                <a:solidFill>
                  <a:srgbClr val="32007D"/>
                </a:solidFill>
                <a:cs typeface="Calibri"/>
              </a:rPr>
              <a:t>outlined </a:t>
            </a:r>
            <a:r>
              <a:rPr sz="1400" b="1" spc="-5">
                <a:solidFill>
                  <a:srgbClr val="32007D"/>
                </a:solidFill>
                <a:cs typeface="Calibri"/>
              </a:rPr>
              <a:t>under </a:t>
            </a:r>
            <a:r>
              <a:rPr sz="1400" b="1" spc="-10">
                <a:solidFill>
                  <a:srgbClr val="32007D"/>
                </a:solidFill>
                <a:cs typeface="Calibri"/>
              </a:rPr>
              <a:t>BCBS/IOSCO </a:t>
            </a:r>
            <a:r>
              <a:rPr sz="1400" b="1" spc="-5">
                <a:solidFill>
                  <a:srgbClr val="32007D"/>
                </a:solidFill>
                <a:cs typeface="Calibri"/>
              </a:rPr>
              <a:t>and Basel III </a:t>
            </a:r>
            <a:r>
              <a:rPr sz="1400" b="1" spc="-15">
                <a:solidFill>
                  <a:srgbClr val="32007D"/>
                </a:solidFill>
                <a:cs typeface="Calibri"/>
              </a:rPr>
              <a:t>were translated </a:t>
            </a:r>
            <a:r>
              <a:rPr sz="1400" b="1" spc="-5">
                <a:solidFill>
                  <a:srgbClr val="32007D"/>
                </a:solidFill>
                <a:cs typeface="Calibri"/>
              </a:rPr>
              <a:t>by each </a:t>
            </a:r>
            <a:r>
              <a:rPr sz="1400" b="1" spc="-15">
                <a:solidFill>
                  <a:srgbClr val="32007D"/>
                </a:solidFill>
                <a:cs typeface="Calibri"/>
              </a:rPr>
              <a:t>regulatory </a:t>
            </a:r>
            <a:r>
              <a:rPr sz="1400" b="1" spc="-10">
                <a:solidFill>
                  <a:srgbClr val="32007D"/>
                </a:solidFill>
                <a:cs typeface="Calibri"/>
              </a:rPr>
              <a:t>regime </a:t>
            </a:r>
            <a:r>
              <a:rPr sz="1400" b="1" spc="-5">
                <a:solidFill>
                  <a:srgbClr val="32007D"/>
                </a:solidFill>
                <a:cs typeface="Calibri"/>
              </a:rPr>
              <a:t>spearheading </a:t>
            </a:r>
            <a:r>
              <a:rPr sz="1400" b="1" spc="-20">
                <a:solidFill>
                  <a:srgbClr val="32007D"/>
                </a:solidFill>
                <a:cs typeface="Calibri"/>
              </a:rPr>
              <a:t>collateral </a:t>
            </a:r>
            <a:r>
              <a:rPr sz="1400" b="1" spc="-15">
                <a:solidFill>
                  <a:srgbClr val="32007D"/>
                </a:solidFill>
                <a:cs typeface="Calibri"/>
              </a:rPr>
              <a:t>management </a:t>
            </a:r>
            <a:r>
              <a:rPr sz="1400" b="1">
                <a:solidFill>
                  <a:srgbClr val="32007D"/>
                </a:solidFill>
                <a:cs typeface="Calibri"/>
              </a:rPr>
              <a:t>as a </a:t>
            </a:r>
            <a:r>
              <a:rPr sz="1400" b="1" spc="-35">
                <a:solidFill>
                  <a:srgbClr val="32007D"/>
                </a:solidFill>
                <a:cs typeface="Calibri"/>
              </a:rPr>
              <a:t>key</a:t>
            </a:r>
            <a:r>
              <a:rPr lang="en-US" sz="1400" b="1" spc="-35">
                <a:solidFill>
                  <a:srgbClr val="32007D"/>
                </a:solidFill>
                <a:cs typeface="Calibri"/>
              </a:rPr>
              <a:t> </a:t>
            </a:r>
            <a:r>
              <a:rPr sz="1400" b="1" spc="-35">
                <a:solidFill>
                  <a:srgbClr val="32007D"/>
                </a:solidFill>
                <a:cs typeface="Calibri"/>
              </a:rPr>
              <a:t> </a:t>
            </a:r>
            <a:r>
              <a:rPr sz="1400" b="1" spc="-5">
                <a:solidFill>
                  <a:srgbClr val="32007D"/>
                </a:solidFill>
                <a:cs typeface="Calibri"/>
              </a:rPr>
              <a:t>function </a:t>
            </a:r>
            <a:r>
              <a:rPr sz="1400" b="1">
                <a:solidFill>
                  <a:srgbClr val="32007D"/>
                </a:solidFill>
                <a:cs typeface="Calibri"/>
              </a:rPr>
              <a:t>in </a:t>
            </a:r>
            <a:r>
              <a:rPr sz="1400" b="1" spc="-10">
                <a:solidFill>
                  <a:srgbClr val="32007D"/>
                </a:solidFill>
                <a:cs typeface="Calibri"/>
              </a:rPr>
              <a:t>capital </a:t>
            </a:r>
            <a:r>
              <a:rPr sz="1400" b="1" spc="-20">
                <a:solidFill>
                  <a:srgbClr val="32007D"/>
                </a:solidFill>
                <a:cs typeface="Calibri"/>
              </a:rPr>
              <a:t>markets </a:t>
            </a:r>
            <a:r>
              <a:rPr sz="1400" b="1" spc="-25">
                <a:solidFill>
                  <a:srgbClr val="32007D"/>
                </a:solidFill>
                <a:cs typeface="Calibri"/>
              </a:rPr>
              <a:t>for </a:t>
            </a:r>
            <a:r>
              <a:rPr sz="1400" b="1" spc="-5">
                <a:solidFill>
                  <a:srgbClr val="32007D"/>
                </a:solidFill>
                <a:cs typeface="Calibri"/>
              </a:rPr>
              <a:t>both </a:t>
            </a:r>
            <a:r>
              <a:rPr sz="1400" b="1" spc="-15">
                <a:solidFill>
                  <a:srgbClr val="32007D"/>
                </a:solidFill>
                <a:cs typeface="Calibri"/>
              </a:rPr>
              <a:t>bilateral </a:t>
            </a:r>
            <a:r>
              <a:rPr sz="1400" b="1" spc="-5">
                <a:solidFill>
                  <a:srgbClr val="32007D"/>
                </a:solidFill>
                <a:cs typeface="Calibri"/>
              </a:rPr>
              <a:t>and </a:t>
            </a:r>
            <a:r>
              <a:rPr sz="1400" b="1" spc="-10">
                <a:solidFill>
                  <a:srgbClr val="32007D"/>
                </a:solidFill>
                <a:cs typeface="Calibri"/>
              </a:rPr>
              <a:t>cleared </a:t>
            </a:r>
            <a:r>
              <a:rPr sz="1400" b="1" spc="-40">
                <a:solidFill>
                  <a:srgbClr val="32007D"/>
                </a:solidFill>
                <a:cs typeface="Calibri"/>
              </a:rPr>
              <a:t>OTC. </a:t>
            </a:r>
            <a:r>
              <a:rPr sz="1400" b="1" spc="-5">
                <a:solidFill>
                  <a:srgbClr val="32007D"/>
                </a:solidFill>
                <a:cs typeface="Calibri"/>
              </a:rPr>
              <a:t>Compliance has increased </a:t>
            </a:r>
            <a:r>
              <a:rPr sz="1400" b="1" spc="-10">
                <a:solidFill>
                  <a:srgbClr val="32007D"/>
                </a:solidFill>
                <a:cs typeface="Calibri"/>
              </a:rPr>
              <a:t>processing volumes significantly </a:t>
            </a:r>
            <a:r>
              <a:rPr sz="1400" b="1" spc="-5">
                <a:solidFill>
                  <a:srgbClr val="32007D"/>
                </a:solidFill>
                <a:cs typeface="Calibri"/>
              </a:rPr>
              <a:t>and </a:t>
            </a:r>
            <a:r>
              <a:rPr sz="1400" b="1">
                <a:solidFill>
                  <a:srgbClr val="32007D"/>
                </a:solidFill>
                <a:cs typeface="Calibri"/>
              </a:rPr>
              <a:t>will </a:t>
            </a:r>
            <a:r>
              <a:rPr sz="1400" b="1" spc="-10">
                <a:solidFill>
                  <a:srgbClr val="32007D"/>
                </a:solidFill>
                <a:cs typeface="Calibri"/>
              </a:rPr>
              <a:t>continue to</a:t>
            </a:r>
            <a:r>
              <a:rPr lang="en-US" sz="1400" b="1" spc="-10">
                <a:solidFill>
                  <a:srgbClr val="32007D"/>
                </a:solidFill>
                <a:cs typeface="Calibri"/>
              </a:rPr>
              <a:t> </a:t>
            </a:r>
            <a:r>
              <a:rPr sz="1400" b="1" spc="-10">
                <a:solidFill>
                  <a:srgbClr val="32007D"/>
                </a:solidFill>
                <a:cs typeface="Calibri"/>
              </a:rPr>
              <a:t> </a:t>
            </a:r>
            <a:r>
              <a:rPr sz="1400" b="1">
                <a:solidFill>
                  <a:srgbClr val="32007D"/>
                </a:solidFill>
                <a:cs typeface="Calibri"/>
              </a:rPr>
              <a:t>do </a:t>
            </a:r>
            <a:r>
              <a:rPr sz="1400" b="1" spc="-15">
                <a:solidFill>
                  <a:srgbClr val="32007D"/>
                </a:solidFill>
                <a:cs typeface="Calibri"/>
              </a:rPr>
              <a:t>so, </a:t>
            </a:r>
            <a:r>
              <a:rPr sz="1400" b="1">
                <a:solidFill>
                  <a:srgbClr val="32007D"/>
                </a:solidFill>
                <a:cs typeface="Calibri"/>
              </a:rPr>
              <a:t>the </a:t>
            </a:r>
            <a:r>
              <a:rPr sz="1400" b="1" spc="-5">
                <a:solidFill>
                  <a:srgbClr val="32007D"/>
                </a:solidFill>
                <a:cs typeface="Calibri"/>
              </a:rPr>
              <a:t>need </a:t>
            </a:r>
            <a:r>
              <a:rPr sz="1400" b="1" spc="-25">
                <a:solidFill>
                  <a:srgbClr val="32007D"/>
                </a:solidFill>
                <a:cs typeface="Calibri"/>
              </a:rPr>
              <a:t>for </a:t>
            </a:r>
            <a:r>
              <a:rPr sz="1400" b="1" spc="-10">
                <a:solidFill>
                  <a:srgbClr val="32007D"/>
                </a:solidFill>
                <a:cs typeface="Calibri"/>
              </a:rPr>
              <a:t>automation </a:t>
            </a:r>
            <a:r>
              <a:rPr sz="1400" b="1">
                <a:solidFill>
                  <a:srgbClr val="32007D"/>
                </a:solidFill>
                <a:cs typeface="Calibri"/>
              </a:rPr>
              <a:t>in </a:t>
            </a:r>
            <a:r>
              <a:rPr sz="1400" b="1" spc="-20">
                <a:solidFill>
                  <a:srgbClr val="32007D"/>
                </a:solidFill>
                <a:cs typeface="Calibri"/>
              </a:rPr>
              <a:t>collateral </a:t>
            </a:r>
            <a:r>
              <a:rPr sz="1400" b="1" spc="-10">
                <a:solidFill>
                  <a:srgbClr val="32007D"/>
                </a:solidFill>
                <a:cs typeface="Calibri"/>
              </a:rPr>
              <a:t>management processing. </a:t>
            </a:r>
            <a:r>
              <a:rPr sz="1400" b="1" spc="-5">
                <a:solidFill>
                  <a:srgbClr val="32007D"/>
                </a:solidFill>
                <a:cs typeface="Calibri"/>
              </a:rPr>
              <a:t>The industry </a:t>
            </a:r>
            <a:r>
              <a:rPr sz="1400" b="1">
                <a:solidFill>
                  <a:srgbClr val="32007D"/>
                </a:solidFill>
                <a:cs typeface="Calibri"/>
              </a:rPr>
              <a:t>is </a:t>
            </a:r>
            <a:r>
              <a:rPr sz="1400" b="1" spc="-15">
                <a:solidFill>
                  <a:srgbClr val="32007D"/>
                </a:solidFill>
                <a:cs typeface="Calibri"/>
              </a:rPr>
              <a:t>faced </a:t>
            </a:r>
            <a:r>
              <a:rPr sz="1400" b="1" spc="-5">
                <a:solidFill>
                  <a:srgbClr val="32007D"/>
                </a:solidFill>
                <a:cs typeface="Calibri"/>
              </a:rPr>
              <a:t>with </a:t>
            </a:r>
            <a:r>
              <a:rPr sz="1400" b="1" spc="-20">
                <a:solidFill>
                  <a:srgbClr val="32007D"/>
                </a:solidFill>
                <a:cs typeface="Calibri"/>
              </a:rPr>
              <a:t>many </a:t>
            </a:r>
            <a:r>
              <a:rPr sz="1400" b="1" spc="-10">
                <a:solidFill>
                  <a:srgbClr val="32007D"/>
                </a:solidFill>
                <a:cs typeface="Calibri"/>
              </a:rPr>
              <a:t>challenges </a:t>
            </a:r>
            <a:r>
              <a:rPr sz="1400" b="1" spc="-5">
                <a:solidFill>
                  <a:srgbClr val="32007D"/>
                </a:solidFill>
                <a:cs typeface="Calibri"/>
              </a:rPr>
              <a:t>which has led </a:t>
            </a:r>
            <a:r>
              <a:rPr sz="1400" b="1" spc="-10">
                <a:solidFill>
                  <a:srgbClr val="32007D"/>
                </a:solidFill>
                <a:cs typeface="Calibri"/>
              </a:rPr>
              <a:t>to </a:t>
            </a:r>
            <a:r>
              <a:rPr sz="1400" b="1" spc="-20">
                <a:solidFill>
                  <a:srgbClr val="32007D"/>
                </a:solidFill>
                <a:cs typeface="Calibri"/>
              </a:rPr>
              <a:t>fragmented</a:t>
            </a:r>
            <a:r>
              <a:rPr lang="en-US" sz="1400" b="1" spc="-20">
                <a:solidFill>
                  <a:srgbClr val="32007D"/>
                </a:solidFill>
                <a:cs typeface="Calibri"/>
              </a:rPr>
              <a:t> </a:t>
            </a:r>
            <a:r>
              <a:rPr sz="1400" b="1" spc="275">
                <a:solidFill>
                  <a:srgbClr val="32007D"/>
                </a:solidFill>
                <a:cs typeface="Calibri"/>
              </a:rPr>
              <a:t> </a:t>
            </a:r>
            <a:r>
              <a:rPr sz="1400" b="1" spc="-10">
                <a:solidFill>
                  <a:srgbClr val="32007D"/>
                </a:solidFill>
                <a:cs typeface="Calibri"/>
              </a:rPr>
              <a:t>implementations </a:t>
            </a:r>
            <a:r>
              <a:rPr sz="1400" b="1">
                <a:solidFill>
                  <a:srgbClr val="32007D"/>
                </a:solidFill>
                <a:cs typeface="Calibri"/>
              </a:rPr>
              <a:t>and</a:t>
            </a:r>
            <a:r>
              <a:rPr sz="1400" b="1" spc="-65">
                <a:solidFill>
                  <a:srgbClr val="32007D"/>
                </a:solidFill>
                <a:cs typeface="Calibri"/>
              </a:rPr>
              <a:t> </a:t>
            </a:r>
            <a:r>
              <a:rPr lang="en-US" sz="1400" b="1">
                <a:solidFill>
                  <a:srgbClr val="32007D"/>
                </a:solidFill>
                <a:cs typeface="Calibri"/>
              </a:rPr>
              <a:t>operational inefficiencies</a:t>
            </a:r>
            <a:r>
              <a:rPr sz="1400" b="1">
                <a:solidFill>
                  <a:srgbClr val="32007D"/>
                </a:solidFill>
                <a:cs typeface="Calibri"/>
              </a:rPr>
              <a:t>.</a:t>
            </a:r>
            <a:endParaRPr sz="1400">
              <a:solidFill>
                <a:srgbClr val="32007D"/>
              </a:solidFill>
              <a:cs typeface="Calibri"/>
            </a:endParaRPr>
          </a:p>
          <a:p>
            <a:pPr marR="220345" algn="ctr">
              <a:lnSpc>
                <a:spcPts val="2070"/>
              </a:lnSpc>
              <a:defRPr/>
            </a:pPr>
            <a:r>
              <a:rPr b="1" spc="-20">
                <a:solidFill>
                  <a:srgbClr val="32007D"/>
                </a:solidFill>
                <a:cs typeface="Calibri"/>
              </a:rPr>
              <a:t>INDUSTRY</a:t>
            </a:r>
            <a:r>
              <a:rPr b="1" spc="-5">
                <a:solidFill>
                  <a:srgbClr val="32007D"/>
                </a:solidFill>
                <a:cs typeface="Calibri"/>
              </a:rPr>
              <a:t> </a:t>
            </a:r>
            <a:r>
              <a:rPr b="1" spc="-50">
                <a:solidFill>
                  <a:srgbClr val="32007D"/>
                </a:solidFill>
                <a:cs typeface="Calibri"/>
              </a:rPr>
              <a:t>PARTICIPANTS</a:t>
            </a:r>
            <a:endParaRPr>
              <a:solidFill>
                <a:srgbClr val="32007D"/>
              </a:solidFill>
              <a:cs typeface="Calibri"/>
            </a:endParaRPr>
          </a:p>
        </p:txBody>
      </p:sp>
      <p:sp>
        <p:nvSpPr>
          <p:cNvPr id="21" name="object 18">
            <a:extLst>
              <a:ext uri="{FF2B5EF4-FFF2-40B4-BE49-F238E27FC236}">
                <a16:creationId xmlns:a16="http://schemas.microsoft.com/office/drawing/2014/main" id="{82925AC2-18EC-0054-5CA1-1B53AB849C8A}"/>
              </a:ext>
            </a:extLst>
          </p:cNvPr>
          <p:cNvSpPr/>
          <p:nvPr/>
        </p:nvSpPr>
        <p:spPr>
          <a:xfrm>
            <a:off x="7368396" y="3770356"/>
            <a:ext cx="109855" cy="76200"/>
          </a:xfrm>
          <a:custGeom>
            <a:avLst/>
            <a:gdLst/>
            <a:ahLst/>
            <a:cxnLst/>
            <a:rect l="l" t="t" r="r" b="b"/>
            <a:pathLst>
              <a:path w="109854" h="76200">
                <a:moveTo>
                  <a:pt x="109562" y="0"/>
                </a:moveTo>
                <a:lnTo>
                  <a:pt x="16916" y="0"/>
                </a:lnTo>
                <a:lnTo>
                  <a:pt x="0" y="46431"/>
                </a:lnTo>
                <a:lnTo>
                  <a:pt x="81800" y="76187"/>
                </a:lnTo>
                <a:lnTo>
                  <a:pt x="109562"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2" name="object 19">
            <a:extLst>
              <a:ext uri="{FF2B5EF4-FFF2-40B4-BE49-F238E27FC236}">
                <a16:creationId xmlns:a16="http://schemas.microsoft.com/office/drawing/2014/main" id="{28358514-669E-8774-E9E7-8AADCD6E6B1A}"/>
              </a:ext>
            </a:extLst>
          </p:cNvPr>
          <p:cNvSpPr/>
          <p:nvPr/>
        </p:nvSpPr>
        <p:spPr>
          <a:xfrm>
            <a:off x="7228331" y="3683383"/>
            <a:ext cx="486409" cy="86995"/>
          </a:xfrm>
          <a:custGeom>
            <a:avLst/>
            <a:gdLst/>
            <a:ahLst/>
            <a:cxnLst/>
            <a:rect l="l" t="t" r="r" b="b"/>
            <a:pathLst>
              <a:path w="486409" h="86995">
                <a:moveTo>
                  <a:pt x="485825" y="0"/>
                </a:moveTo>
                <a:lnTo>
                  <a:pt x="0" y="0"/>
                </a:lnTo>
                <a:lnTo>
                  <a:pt x="0" y="86982"/>
                </a:lnTo>
                <a:lnTo>
                  <a:pt x="485825" y="86982"/>
                </a:lnTo>
                <a:lnTo>
                  <a:pt x="485825"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3" name="object 20">
            <a:extLst>
              <a:ext uri="{FF2B5EF4-FFF2-40B4-BE49-F238E27FC236}">
                <a16:creationId xmlns:a16="http://schemas.microsoft.com/office/drawing/2014/main" id="{959D164B-C8BB-74B4-40C4-2552C3CE0660}"/>
              </a:ext>
            </a:extLst>
          </p:cNvPr>
          <p:cNvSpPr/>
          <p:nvPr/>
        </p:nvSpPr>
        <p:spPr>
          <a:xfrm>
            <a:off x="7416987" y="3639878"/>
            <a:ext cx="108585" cy="43815"/>
          </a:xfrm>
          <a:custGeom>
            <a:avLst/>
            <a:gdLst/>
            <a:ahLst/>
            <a:cxnLst/>
            <a:rect l="l" t="t" r="r" b="b"/>
            <a:pathLst>
              <a:path w="108584" h="43814">
                <a:moveTo>
                  <a:pt x="108496" y="0"/>
                </a:moveTo>
                <a:lnTo>
                  <a:pt x="15862" y="0"/>
                </a:lnTo>
                <a:lnTo>
                  <a:pt x="0" y="43497"/>
                </a:lnTo>
                <a:lnTo>
                  <a:pt x="92659" y="43497"/>
                </a:lnTo>
                <a:lnTo>
                  <a:pt x="108496"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4" name="object 21">
            <a:extLst>
              <a:ext uri="{FF2B5EF4-FFF2-40B4-BE49-F238E27FC236}">
                <a16:creationId xmlns:a16="http://schemas.microsoft.com/office/drawing/2014/main" id="{A0F7FEA8-4EAB-CD72-52CC-155F65D898CD}"/>
              </a:ext>
            </a:extLst>
          </p:cNvPr>
          <p:cNvSpPr/>
          <p:nvPr/>
        </p:nvSpPr>
        <p:spPr>
          <a:xfrm>
            <a:off x="7228331" y="3552903"/>
            <a:ext cx="486409" cy="86995"/>
          </a:xfrm>
          <a:custGeom>
            <a:avLst/>
            <a:gdLst/>
            <a:ahLst/>
            <a:cxnLst/>
            <a:rect l="l" t="t" r="r" b="b"/>
            <a:pathLst>
              <a:path w="486409" h="86995">
                <a:moveTo>
                  <a:pt x="485825" y="0"/>
                </a:moveTo>
                <a:lnTo>
                  <a:pt x="0" y="0"/>
                </a:lnTo>
                <a:lnTo>
                  <a:pt x="0" y="86982"/>
                </a:lnTo>
                <a:lnTo>
                  <a:pt x="485825" y="86982"/>
                </a:lnTo>
                <a:lnTo>
                  <a:pt x="485825"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5" name="object 22">
            <a:extLst>
              <a:ext uri="{FF2B5EF4-FFF2-40B4-BE49-F238E27FC236}">
                <a16:creationId xmlns:a16="http://schemas.microsoft.com/office/drawing/2014/main" id="{327BD574-C966-4563-EEE1-B4319C50C470}"/>
              </a:ext>
            </a:extLst>
          </p:cNvPr>
          <p:cNvSpPr/>
          <p:nvPr/>
        </p:nvSpPr>
        <p:spPr>
          <a:xfrm>
            <a:off x="7464528" y="3476715"/>
            <a:ext cx="109855" cy="76200"/>
          </a:xfrm>
          <a:custGeom>
            <a:avLst/>
            <a:gdLst/>
            <a:ahLst/>
            <a:cxnLst/>
            <a:rect l="l" t="t" r="r" b="b"/>
            <a:pathLst>
              <a:path w="109854" h="76200">
                <a:moveTo>
                  <a:pt x="27749" y="0"/>
                </a:moveTo>
                <a:lnTo>
                  <a:pt x="0" y="76187"/>
                </a:lnTo>
                <a:lnTo>
                  <a:pt x="92633" y="76187"/>
                </a:lnTo>
                <a:lnTo>
                  <a:pt x="109562" y="29756"/>
                </a:lnTo>
                <a:lnTo>
                  <a:pt x="27749"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6" name="object 23">
            <a:extLst>
              <a:ext uri="{FF2B5EF4-FFF2-40B4-BE49-F238E27FC236}">
                <a16:creationId xmlns:a16="http://schemas.microsoft.com/office/drawing/2014/main" id="{2372E149-2761-0B65-0F6D-EF1B5F0A9099}"/>
              </a:ext>
            </a:extLst>
          </p:cNvPr>
          <p:cNvSpPr/>
          <p:nvPr/>
        </p:nvSpPr>
        <p:spPr>
          <a:xfrm>
            <a:off x="7368396" y="5096236"/>
            <a:ext cx="109855" cy="76200"/>
          </a:xfrm>
          <a:custGeom>
            <a:avLst/>
            <a:gdLst/>
            <a:ahLst/>
            <a:cxnLst/>
            <a:rect l="l" t="t" r="r" b="b"/>
            <a:pathLst>
              <a:path w="109854" h="76200">
                <a:moveTo>
                  <a:pt x="109562" y="0"/>
                </a:moveTo>
                <a:lnTo>
                  <a:pt x="16916" y="0"/>
                </a:lnTo>
                <a:lnTo>
                  <a:pt x="0" y="46431"/>
                </a:lnTo>
                <a:lnTo>
                  <a:pt x="81800" y="76187"/>
                </a:lnTo>
                <a:lnTo>
                  <a:pt x="109562"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7" name="object 24">
            <a:extLst>
              <a:ext uri="{FF2B5EF4-FFF2-40B4-BE49-F238E27FC236}">
                <a16:creationId xmlns:a16="http://schemas.microsoft.com/office/drawing/2014/main" id="{502572B2-4B4E-6E8A-6656-74FDAFFC6F5B}"/>
              </a:ext>
            </a:extLst>
          </p:cNvPr>
          <p:cNvSpPr/>
          <p:nvPr/>
        </p:nvSpPr>
        <p:spPr>
          <a:xfrm>
            <a:off x="7228331" y="5009263"/>
            <a:ext cx="486409" cy="86995"/>
          </a:xfrm>
          <a:custGeom>
            <a:avLst/>
            <a:gdLst/>
            <a:ahLst/>
            <a:cxnLst/>
            <a:rect l="l" t="t" r="r" b="b"/>
            <a:pathLst>
              <a:path w="486409" h="86995">
                <a:moveTo>
                  <a:pt x="485825" y="0"/>
                </a:moveTo>
                <a:lnTo>
                  <a:pt x="0" y="0"/>
                </a:lnTo>
                <a:lnTo>
                  <a:pt x="0" y="86982"/>
                </a:lnTo>
                <a:lnTo>
                  <a:pt x="485825" y="86982"/>
                </a:lnTo>
                <a:lnTo>
                  <a:pt x="485825"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8" name="object 25">
            <a:extLst>
              <a:ext uri="{FF2B5EF4-FFF2-40B4-BE49-F238E27FC236}">
                <a16:creationId xmlns:a16="http://schemas.microsoft.com/office/drawing/2014/main" id="{2F397201-31B7-3DF0-A560-1FAAA8BCF5F2}"/>
              </a:ext>
            </a:extLst>
          </p:cNvPr>
          <p:cNvSpPr/>
          <p:nvPr/>
        </p:nvSpPr>
        <p:spPr>
          <a:xfrm>
            <a:off x="7416987" y="4965757"/>
            <a:ext cx="108585" cy="43815"/>
          </a:xfrm>
          <a:custGeom>
            <a:avLst/>
            <a:gdLst/>
            <a:ahLst/>
            <a:cxnLst/>
            <a:rect l="l" t="t" r="r" b="b"/>
            <a:pathLst>
              <a:path w="108584" h="43814">
                <a:moveTo>
                  <a:pt x="108496" y="0"/>
                </a:moveTo>
                <a:lnTo>
                  <a:pt x="15862" y="0"/>
                </a:lnTo>
                <a:lnTo>
                  <a:pt x="0" y="43497"/>
                </a:lnTo>
                <a:lnTo>
                  <a:pt x="92659" y="43497"/>
                </a:lnTo>
                <a:lnTo>
                  <a:pt x="108496"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9" name="object 26">
            <a:extLst>
              <a:ext uri="{FF2B5EF4-FFF2-40B4-BE49-F238E27FC236}">
                <a16:creationId xmlns:a16="http://schemas.microsoft.com/office/drawing/2014/main" id="{96CBE40D-4D21-BC24-B072-513617E53E05}"/>
              </a:ext>
            </a:extLst>
          </p:cNvPr>
          <p:cNvSpPr/>
          <p:nvPr/>
        </p:nvSpPr>
        <p:spPr>
          <a:xfrm>
            <a:off x="7228331" y="4878783"/>
            <a:ext cx="486409" cy="86995"/>
          </a:xfrm>
          <a:custGeom>
            <a:avLst/>
            <a:gdLst/>
            <a:ahLst/>
            <a:cxnLst/>
            <a:rect l="l" t="t" r="r" b="b"/>
            <a:pathLst>
              <a:path w="486409" h="86995">
                <a:moveTo>
                  <a:pt x="485825" y="0"/>
                </a:moveTo>
                <a:lnTo>
                  <a:pt x="0" y="0"/>
                </a:lnTo>
                <a:lnTo>
                  <a:pt x="0" y="86982"/>
                </a:lnTo>
                <a:lnTo>
                  <a:pt x="485825" y="86982"/>
                </a:lnTo>
                <a:lnTo>
                  <a:pt x="485825"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0" name="object 27">
            <a:extLst>
              <a:ext uri="{FF2B5EF4-FFF2-40B4-BE49-F238E27FC236}">
                <a16:creationId xmlns:a16="http://schemas.microsoft.com/office/drawing/2014/main" id="{E34F5CFC-6CC2-BBCD-78B8-A9CB31AF325B}"/>
              </a:ext>
            </a:extLst>
          </p:cNvPr>
          <p:cNvSpPr/>
          <p:nvPr/>
        </p:nvSpPr>
        <p:spPr>
          <a:xfrm>
            <a:off x="7464528" y="4802595"/>
            <a:ext cx="109855" cy="76200"/>
          </a:xfrm>
          <a:custGeom>
            <a:avLst/>
            <a:gdLst/>
            <a:ahLst/>
            <a:cxnLst/>
            <a:rect l="l" t="t" r="r" b="b"/>
            <a:pathLst>
              <a:path w="109854" h="76200">
                <a:moveTo>
                  <a:pt x="27749" y="0"/>
                </a:moveTo>
                <a:lnTo>
                  <a:pt x="0" y="76187"/>
                </a:lnTo>
                <a:lnTo>
                  <a:pt x="92633" y="76187"/>
                </a:lnTo>
                <a:lnTo>
                  <a:pt x="109562" y="29756"/>
                </a:lnTo>
                <a:lnTo>
                  <a:pt x="27749" y="0"/>
                </a:lnTo>
                <a:close/>
              </a:path>
            </a:pathLst>
          </a:custGeom>
          <a:solidFill>
            <a:srgbClr val="5B9BD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1" name="object 28">
            <a:extLst>
              <a:ext uri="{FF2B5EF4-FFF2-40B4-BE49-F238E27FC236}">
                <a16:creationId xmlns:a16="http://schemas.microsoft.com/office/drawing/2014/main" id="{1CE66B84-6BAB-C10E-0EF7-A5C534B043A0}"/>
              </a:ext>
            </a:extLst>
          </p:cNvPr>
          <p:cNvSpPr/>
          <p:nvPr/>
        </p:nvSpPr>
        <p:spPr>
          <a:xfrm>
            <a:off x="5565647" y="4433788"/>
            <a:ext cx="644651" cy="574547"/>
          </a:xfrm>
          <a:prstGeom prst="rect">
            <a:avLst/>
          </a:prstGeom>
          <a:blipFill>
            <a:blip r:embed="rId6" cstate="print"/>
            <a:stretch>
              <a:fillRect/>
            </a:stretch>
          </a:bli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2" name="object 29">
            <a:extLst>
              <a:ext uri="{FF2B5EF4-FFF2-40B4-BE49-F238E27FC236}">
                <a16:creationId xmlns:a16="http://schemas.microsoft.com/office/drawing/2014/main" id="{15659EE4-998A-E1D0-D978-C1CD4C19958A}"/>
              </a:ext>
            </a:extLst>
          </p:cNvPr>
          <p:cNvSpPr txBox="1"/>
          <p:nvPr/>
        </p:nvSpPr>
        <p:spPr>
          <a:xfrm>
            <a:off x="1102719" y="2693388"/>
            <a:ext cx="2366645" cy="2997200"/>
          </a:xfrm>
          <a:prstGeom prst="rect">
            <a:avLst/>
          </a:prstGeom>
        </p:spPr>
        <p:txBody>
          <a:bodyPr vert="horz" wrap="square" lIns="0" tIns="12700" rIns="0" bIns="0" rtlCol="0">
            <a:spAutoFit/>
          </a:bodyPr>
          <a:lstStyle/>
          <a:p>
            <a:pPr marL="177165" marR="171450" algn="ctr">
              <a:spcBef>
                <a:spcPts val="100"/>
              </a:spcBef>
              <a:defRPr/>
            </a:pPr>
            <a:r>
              <a:rPr sz="1500" b="1" spc="-10">
                <a:solidFill>
                  <a:prstClr val="black"/>
                </a:solidFill>
                <a:cs typeface="Calibri"/>
              </a:rPr>
              <a:t>Calculation</a:t>
            </a:r>
            <a:r>
              <a:rPr sz="1500" b="1" spc="-165">
                <a:solidFill>
                  <a:prstClr val="black"/>
                </a:solidFill>
                <a:cs typeface="Calibri"/>
              </a:rPr>
              <a:t> </a:t>
            </a:r>
            <a:r>
              <a:rPr sz="1500" b="1" spc="-10">
                <a:solidFill>
                  <a:prstClr val="black"/>
                </a:solidFill>
                <a:cs typeface="Calibri"/>
              </a:rPr>
              <a:t>Dependencies  </a:t>
            </a:r>
            <a:r>
              <a:rPr sz="1500" b="1" spc="-5">
                <a:solidFill>
                  <a:prstClr val="black"/>
                </a:solidFill>
                <a:cs typeface="Calibri"/>
              </a:rPr>
              <a:t>Margin Monitoring  Margin </a:t>
            </a:r>
            <a:r>
              <a:rPr sz="1500" b="1" spc="-10">
                <a:solidFill>
                  <a:prstClr val="black"/>
                </a:solidFill>
                <a:cs typeface="Calibri"/>
              </a:rPr>
              <a:t>Allocation  </a:t>
            </a:r>
            <a:r>
              <a:rPr sz="1500" b="1" spc="-20">
                <a:solidFill>
                  <a:prstClr val="black"/>
                </a:solidFill>
                <a:cs typeface="Calibri"/>
              </a:rPr>
              <a:t>Documentation</a:t>
            </a:r>
            <a:endParaRPr sz="1500">
              <a:solidFill>
                <a:prstClr val="black"/>
              </a:solidFill>
              <a:cs typeface="Calibri"/>
            </a:endParaRPr>
          </a:p>
          <a:p>
            <a:pPr marL="12700" marR="5080" indent="1905" algn="ctr">
              <a:defRPr/>
            </a:pPr>
            <a:r>
              <a:rPr sz="1500" b="1" spc="-20">
                <a:solidFill>
                  <a:prstClr val="black"/>
                </a:solidFill>
                <a:cs typeface="Calibri"/>
              </a:rPr>
              <a:t>Collateral Segregation  </a:t>
            </a:r>
            <a:r>
              <a:rPr sz="1500" b="1" spc="-10">
                <a:solidFill>
                  <a:prstClr val="black"/>
                </a:solidFill>
                <a:cs typeface="Calibri"/>
              </a:rPr>
              <a:t>Establishing </a:t>
            </a:r>
            <a:r>
              <a:rPr sz="1500" b="1" spc="-20">
                <a:solidFill>
                  <a:prstClr val="black"/>
                </a:solidFill>
                <a:cs typeface="Calibri"/>
              </a:rPr>
              <a:t>Custody</a:t>
            </a:r>
            <a:r>
              <a:rPr sz="1500" b="1" spc="-130">
                <a:solidFill>
                  <a:prstClr val="black"/>
                </a:solidFill>
                <a:cs typeface="Calibri"/>
              </a:rPr>
              <a:t> </a:t>
            </a:r>
            <a:r>
              <a:rPr sz="1500" b="1" spc="-20">
                <a:solidFill>
                  <a:prstClr val="black"/>
                </a:solidFill>
                <a:cs typeface="Calibri"/>
              </a:rPr>
              <a:t>Accounts  </a:t>
            </a:r>
            <a:r>
              <a:rPr sz="1500" b="1" spc="-10">
                <a:solidFill>
                  <a:prstClr val="black"/>
                </a:solidFill>
                <a:cs typeface="Calibri"/>
              </a:rPr>
              <a:t>Eligibility</a:t>
            </a:r>
            <a:r>
              <a:rPr sz="1500" b="1" spc="-85">
                <a:solidFill>
                  <a:prstClr val="black"/>
                </a:solidFill>
                <a:cs typeface="Calibri"/>
              </a:rPr>
              <a:t> </a:t>
            </a:r>
            <a:r>
              <a:rPr sz="1500" b="1" spc="-10">
                <a:solidFill>
                  <a:prstClr val="black"/>
                </a:solidFill>
                <a:cs typeface="Calibri"/>
              </a:rPr>
              <a:t>Schedules</a:t>
            </a:r>
            <a:endParaRPr sz="1500">
              <a:solidFill>
                <a:prstClr val="black"/>
              </a:solidFill>
              <a:cs typeface="Calibri"/>
            </a:endParaRPr>
          </a:p>
          <a:p>
            <a:pPr marL="279400" marR="273050" indent="-2540" algn="ctr">
              <a:defRPr/>
            </a:pPr>
            <a:r>
              <a:rPr sz="1500" b="1" spc="-5">
                <a:solidFill>
                  <a:prstClr val="black"/>
                </a:solidFill>
                <a:cs typeface="Calibri"/>
              </a:rPr>
              <a:t>Risk </a:t>
            </a:r>
            <a:r>
              <a:rPr sz="1500" b="1" spc="-25">
                <a:solidFill>
                  <a:prstClr val="black"/>
                </a:solidFill>
                <a:cs typeface="Calibri"/>
              </a:rPr>
              <a:t>Control  </a:t>
            </a:r>
            <a:r>
              <a:rPr sz="1500" b="1" spc="-10">
                <a:solidFill>
                  <a:prstClr val="black"/>
                </a:solidFill>
                <a:cs typeface="Calibri"/>
              </a:rPr>
              <a:t>Optimisation  </a:t>
            </a:r>
            <a:r>
              <a:rPr sz="1500" b="1" spc="-20">
                <a:solidFill>
                  <a:prstClr val="black"/>
                </a:solidFill>
                <a:cs typeface="Calibri"/>
              </a:rPr>
              <a:t>Regulatory</a:t>
            </a:r>
            <a:r>
              <a:rPr sz="1500" b="1" spc="-105">
                <a:solidFill>
                  <a:prstClr val="black"/>
                </a:solidFill>
                <a:cs typeface="Calibri"/>
              </a:rPr>
              <a:t> </a:t>
            </a:r>
            <a:r>
              <a:rPr sz="1500" b="1" spc="-5">
                <a:solidFill>
                  <a:prstClr val="black"/>
                </a:solidFill>
                <a:cs typeface="Calibri"/>
              </a:rPr>
              <a:t>Compliance  </a:t>
            </a:r>
            <a:r>
              <a:rPr sz="1500" b="1" spc="-20">
                <a:solidFill>
                  <a:prstClr val="black"/>
                </a:solidFill>
                <a:cs typeface="Calibri"/>
              </a:rPr>
              <a:t>Reconciliation</a:t>
            </a:r>
            <a:endParaRPr sz="1500">
              <a:solidFill>
                <a:prstClr val="black"/>
              </a:solidFill>
              <a:cs typeface="Calibri"/>
            </a:endParaRPr>
          </a:p>
          <a:p>
            <a:pPr marL="339725" marR="332105" algn="ctr">
              <a:defRPr/>
            </a:pPr>
            <a:r>
              <a:rPr sz="1500" b="1" spc="-15">
                <a:solidFill>
                  <a:prstClr val="black"/>
                </a:solidFill>
                <a:cs typeface="Calibri"/>
              </a:rPr>
              <a:t>Dispute</a:t>
            </a:r>
            <a:r>
              <a:rPr sz="1500" b="1" spc="-160">
                <a:solidFill>
                  <a:prstClr val="black"/>
                </a:solidFill>
                <a:cs typeface="Calibri"/>
              </a:rPr>
              <a:t> </a:t>
            </a:r>
            <a:r>
              <a:rPr sz="1500" b="1" spc="-10">
                <a:solidFill>
                  <a:prstClr val="black"/>
                </a:solidFill>
                <a:cs typeface="Calibri"/>
              </a:rPr>
              <a:t>Management  </a:t>
            </a:r>
            <a:r>
              <a:rPr sz="1500" b="1" spc="-20">
                <a:solidFill>
                  <a:prstClr val="black"/>
                </a:solidFill>
                <a:cs typeface="Calibri"/>
              </a:rPr>
              <a:t>Efficient</a:t>
            </a:r>
            <a:r>
              <a:rPr sz="1500" b="1" spc="-95">
                <a:solidFill>
                  <a:prstClr val="black"/>
                </a:solidFill>
                <a:cs typeface="Calibri"/>
              </a:rPr>
              <a:t> </a:t>
            </a:r>
            <a:r>
              <a:rPr sz="1500" b="1" spc="-20">
                <a:solidFill>
                  <a:prstClr val="black"/>
                </a:solidFill>
                <a:cs typeface="Calibri"/>
              </a:rPr>
              <a:t>Settlement</a:t>
            </a:r>
            <a:endParaRPr sz="1500">
              <a:solidFill>
                <a:prstClr val="black"/>
              </a:solidFill>
              <a:cs typeface="Calibri"/>
            </a:endParaRPr>
          </a:p>
        </p:txBody>
      </p:sp>
      <p:sp>
        <p:nvSpPr>
          <p:cNvPr id="33" name="object 30">
            <a:extLst>
              <a:ext uri="{FF2B5EF4-FFF2-40B4-BE49-F238E27FC236}">
                <a16:creationId xmlns:a16="http://schemas.microsoft.com/office/drawing/2014/main" id="{D2FA8E99-301D-5498-2BCD-EE6A075DF3E4}"/>
              </a:ext>
            </a:extLst>
          </p:cNvPr>
          <p:cNvSpPr/>
          <p:nvPr/>
        </p:nvSpPr>
        <p:spPr>
          <a:xfrm>
            <a:off x="5576316" y="5368000"/>
            <a:ext cx="649223" cy="614171"/>
          </a:xfrm>
          <a:prstGeom prst="rect">
            <a:avLst/>
          </a:prstGeom>
          <a:blipFill>
            <a:blip r:embed="rId7" cstate="print"/>
            <a:stretch>
              <a:fillRect/>
            </a:stretch>
          </a:bli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4" name="object 31">
            <a:extLst>
              <a:ext uri="{FF2B5EF4-FFF2-40B4-BE49-F238E27FC236}">
                <a16:creationId xmlns:a16="http://schemas.microsoft.com/office/drawing/2014/main" id="{281A5D41-D17E-BF0F-68A4-5F92C57577A0}"/>
              </a:ext>
            </a:extLst>
          </p:cNvPr>
          <p:cNvSpPr txBox="1"/>
          <p:nvPr/>
        </p:nvSpPr>
        <p:spPr>
          <a:xfrm>
            <a:off x="5520607" y="5968990"/>
            <a:ext cx="802640" cy="239395"/>
          </a:xfrm>
          <a:prstGeom prst="rect">
            <a:avLst/>
          </a:prstGeom>
        </p:spPr>
        <p:txBody>
          <a:bodyPr vert="horz" wrap="square" lIns="0" tIns="12700" rIns="0" bIns="0" rtlCol="0">
            <a:spAutoFit/>
          </a:bodyPr>
          <a:lstStyle/>
          <a:p>
            <a:pPr marL="12700">
              <a:spcBef>
                <a:spcPts val="100"/>
              </a:spcBef>
              <a:defRPr/>
            </a:pPr>
            <a:r>
              <a:rPr sz="1400" spc="-20">
                <a:solidFill>
                  <a:prstClr val="black"/>
                </a:solidFill>
                <a:cs typeface="Calibri"/>
              </a:rPr>
              <a:t>Custodians</a:t>
            </a:r>
            <a:endParaRPr sz="1400">
              <a:solidFill>
                <a:prstClr val="black"/>
              </a:solidFill>
              <a:cs typeface="Calibri"/>
            </a:endParaRPr>
          </a:p>
        </p:txBody>
      </p:sp>
    </p:spTree>
    <p:extLst>
      <p:ext uri="{BB962C8B-B14F-4D97-AF65-F5344CB8AC3E}">
        <p14:creationId xmlns:p14="http://schemas.microsoft.com/office/powerpoint/2010/main" val="260808012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0" y="98455"/>
            <a:ext cx="8448097"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a:defRPr/>
            </a:pPr>
            <a:r>
              <a:rPr lang="en-US" sz="2400" b="0">
                <a:solidFill>
                  <a:srgbClr val="32007C"/>
                </a:solidFill>
                <a:latin typeface="Helvetica"/>
                <a:ea typeface="Lato"/>
                <a:cs typeface="Helvetica"/>
              </a:rPr>
              <a:t>Collateral- Documentation Model Representation 2020/2021</a:t>
            </a:r>
            <a:endParaRPr kumimoji="0" lang="en-US" sz="2400" b="0" i="0" u="none" strike="noStrike" kern="1200" cap="none" spc="0" normalizeH="0" baseline="0" noProof="0">
              <a:ln>
                <a:noFill/>
              </a:ln>
              <a:solidFill>
                <a:srgbClr val="32007C"/>
              </a:solidFill>
              <a:effectLst/>
              <a:uLnTx/>
              <a:uFillTx/>
              <a:latin typeface="Helvetica"/>
              <a:ea typeface="Lato"/>
              <a:cs typeface="Helvetica"/>
            </a:endParaRP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pic>
        <p:nvPicPr>
          <p:cNvPr id="46" name="Picture 45">
            <a:extLst>
              <a:ext uri="{FF2B5EF4-FFF2-40B4-BE49-F238E27FC236}">
                <a16:creationId xmlns:a16="http://schemas.microsoft.com/office/drawing/2014/main" id="{883B29BF-3F74-614B-4360-D2921A98984B}"/>
              </a:ext>
            </a:extLst>
          </p:cNvPr>
          <p:cNvPicPr>
            <a:picLocks noChangeAspect="1"/>
          </p:cNvPicPr>
          <p:nvPr/>
        </p:nvPicPr>
        <p:blipFill>
          <a:blip r:embed="rId4"/>
          <a:stretch>
            <a:fillRect/>
          </a:stretch>
        </p:blipFill>
        <p:spPr>
          <a:xfrm>
            <a:off x="515395" y="1184886"/>
            <a:ext cx="11046909" cy="5529551"/>
          </a:xfrm>
          <a:prstGeom prst="rect">
            <a:avLst/>
          </a:prstGeom>
        </p:spPr>
      </p:pic>
    </p:spTree>
    <p:extLst>
      <p:ext uri="{BB962C8B-B14F-4D97-AF65-F5344CB8AC3E}">
        <p14:creationId xmlns:p14="http://schemas.microsoft.com/office/powerpoint/2010/main" val="294160781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Collateral- Benefits of CDM Standard Documentation</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pic>
        <p:nvPicPr>
          <p:cNvPr id="35" name="Picture 34">
            <a:extLst>
              <a:ext uri="{FF2B5EF4-FFF2-40B4-BE49-F238E27FC236}">
                <a16:creationId xmlns:a16="http://schemas.microsoft.com/office/drawing/2014/main" id="{EBFDCCDD-8F78-0083-CAC6-660E0833F952}"/>
              </a:ext>
            </a:extLst>
          </p:cNvPr>
          <p:cNvPicPr>
            <a:picLocks noChangeAspect="1"/>
          </p:cNvPicPr>
          <p:nvPr/>
        </p:nvPicPr>
        <p:blipFill>
          <a:blip r:embed="rId4"/>
          <a:stretch>
            <a:fillRect/>
          </a:stretch>
        </p:blipFill>
        <p:spPr>
          <a:xfrm>
            <a:off x="214083" y="1331341"/>
            <a:ext cx="11449280" cy="5194242"/>
          </a:xfrm>
          <a:prstGeom prst="rect">
            <a:avLst/>
          </a:prstGeom>
        </p:spPr>
      </p:pic>
    </p:spTree>
    <p:extLst>
      <p:ext uri="{BB962C8B-B14F-4D97-AF65-F5344CB8AC3E}">
        <p14:creationId xmlns:p14="http://schemas.microsoft.com/office/powerpoint/2010/main" val="210504528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Collateral- ECS Challenges – No Standard Data Format</a:t>
            </a:r>
            <a:endPar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endParaRP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pic>
        <p:nvPicPr>
          <p:cNvPr id="2" name="Picture 1">
            <a:extLst>
              <a:ext uri="{FF2B5EF4-FFF2-40B4-BE49-F238E27FC236}">
                <a16:creationId xmlns:a16="http://schemas.microsoft.com/office/drawing/2014/main" id="{51B43375-DB4C-F405-0B5A-3A2F0F669E25}"/>
              </a:ext>
            </a:extLst>
          </p:cNvPr>
          <p:cNvPicPr>
            <a:picLocks noChangeAspect="1"/>
          </p:cNvPicPr>
          <p:nvPr/>
        </p:nvPicPr>
        <p:blipFill>
          <a:blip r:embed="rId4"/>
          <a:stretch>
            <a:fillRect/>
          </a:stretch>
        </p:blipFill>
        <p:spPr>
          <a:xfrm>
            <a:off x="617971" y="1139665"/>
            <a:ext cx="10796952" cy="5505165"/>
          </a:xfrm>
          <a:prstGeom prst="rect">
            <a:avLst/>
          </a:prstGeom>
        </p:spPr>
      </p:pic>
    </p:spTree>
    <p:extLst>
      <p:ext uri="{BB962C8B-B14F-4D97-AF65-F5344CB8AC3E}">
        <p14:creationId xmlns:p14="http://schemas.microsoft.com/office/powerpoint/2010/main" val="219839082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Collateral- Eligible Collateral Schedules</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46782"/>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56" name="object 2">
            <a:extLst>
              <a:ext uri="{FF2B5EF4-FFF2-40B4-BE49-F238E27FC236}">
                <a16:creationId xmlns:a16="http://schemas.microsoft.com/office/drawing/2014/main" id="{A48072D4-B41B-C5D7-2ADC-B7C772C582D2}"/>
              </a:ext>
            </a:extLst>
          </p:cNvPr>
          <p:cNvSpPr txBox="1"/>
          <p:nvPr/>
        </p:nvSpPr>
        <p:spPr>
          <a:xfrm>
            <a:off x="452387" y="1263491"/>
            <a:ext cx="3021330" cy="243656"/>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500" b="1" i="0" u="none" strike="noStrike" kern="1200" cap="none" spc="-5" normalizeH="0" baseline="0" noProof="0">
                <a:ln>
                  <a:noFill/>
                </a:ln>
                <a:solidFill>
                  <a:srgbClr val="32007D"/>
                </a:solidFill>
                <a:effectLst/>
                <a:uLnTx/>
                <a:uFillTx/>
                <a:latin typeface="Calibri"/>
                <a:ea typeface="+mn-ea"/>
                <a:cs typeface="Calibri"/>
              </a:rPr>
              <a:t>CDM Digital </a:t>
            </a:r>
            <a:r>
              <a:rPr kumimoji="0" sz="1500" b="1" i="0" u="none" strike="noStrike" kern="1200" cap="none" spc="-20" normalizeH="0" baseline="0" noProof="0">
                <a:ln>
                  <a:noFill/>
                </a:ln>
                <a:solidFill>
                  <a:srgbClr val="32007D"/>
                </a:solidFill>
                <a:effectLst/>
                <a:uLnTx/>
                <a:uFillTx/>
                <a:latin typeface="Calibri"/>
                <a:ea typeface="+mn-ea"/>
                <a:cs typeface="Calibri"/>
              </a:rPr>
              <a:t>structure </a:t>
            </a:r>
            <a:r>
              <a:rPr kumimoji="0" sz="1500" b="1" i="0" u="none" strike="noStrike" kern="1200" cap="none" spc="-5" normalizeH="0" baseline="0" noProof="0">
                <a:ln>
                  <a:noFill/>
                </a:ln>
                <a:solidFill>
                  <a:srgbClr val="32007D"/>
                </a:solidFill>
                <a:effectLst/>
                <a:uLnTx/>
                <a:uFillTx/>
                <a:latin typeface="Calibri"/>
                <a:ea typeface="+mn-ea"/>
                <a:cs typeface="Calibri"/>
              </a:rPr>
              <a:t>KEY </a:t>
            </a:r>
            <a:r>
              <a:rPr kumimoji="0" sz="1500" b="1" i="0" u="none" strike="noStrike" kern="1200" cap="none" spc="-20" normalizeH="0" baseline="0" noProof="0">
                <a:ln>
                  <a:noFill/>
                </a:ln>
                <a:solidFill>
                  <a:srgbClr val="32007D"/>
                </a:solidFill>
                <a:effectLst/>
                <a:uLnTx/>
                <a:uFillTx/>
                <a:latin typeface="Calibri"/>
                <a:ea typeface="+mn-ea"/>
                <a:cs typeface="Calibri"/>
              </a:rPr>
              <a:t>data</a:t>
            </a:r>
            <a:r>
              <a:rPr kumimoji="0" sz="1500" b="1" i="0" u="none" strike="noStrike" kern="1200" cap="none" spc="-120" normalizeH="0" baseline="0" noProof="0">
                <a:ln>
                  <a:noFill/>
                </a:ln>
                <a:solidFill>
                  <a:srgbClr val="32007D"/>
                </a:solidFill>
                <a:effectLst/>
                <a:uLnTx/>
                <a:uFillTx/>
                <a:latin typeface="Calibri"/>
                <a:ea typeface="+mn-ea"/>
                <a:cs typeface="Calibri"/>
              </a:rPr>
              <a:t> </a:t>
            </a:r>
            <a:r>
              <a:rPr kumimoji="0" sz="1500" b="1" i="0" u="none" strike="noStrike" kern="1200" cap="none" spc="-5" normalizeH="0" baseline="0" noProof="0">
                <a:ln>
                  <a:noFill/>
                </a:ln>
                <a:solidFill>
                  <a:srgbClr val="32007D"/>
                </a:solidFill>
                <a:effectLst/>
                <a:uLnTx/>
                <a:uFillTx/>
                <a:latin typeface="Calibri"/>
                <a:ea typeface="+mn-ea"/>
                <a:cs typeface="Calibri"/>
              </a:rPr>
              <a:t>points:</a:t>
            </a:r>
            <a:endParaRPr kumimoji="0" sz="1500" b="0" i="0" u="none" strike="noStrike" kern="1200" cap="none" spc="0" normalizeH="0" baseline="0" noProof="0">
              <a:ln>
                <a:noFill/>
              </a:ln>
              <a:solidFill>
                <a:srgbClr val="32007D"/>
              </a:solidFill>
              <a:effectLst/>
              <a:uLnTx/>
              <a:uFillTx/>
              <a:latin typeface="Calibri"/>
              <a:ea typeface="+mn-ea"/>
              <a:cs typeface="Calibri"/>
            </a:endParaRPr>
          </a:p>
        </p:txBody>
      </p:sp>
      <p:sp>
        <p:nvSpPr>
          <p:cNvPr id="99" name="object 4">
            <a:extLst>
              <a:ext uri="{FF2B5EF4-FFF2-40B4-BE49-F238E27FC236}">
                <a16:creationId xmlns:a16="http://schemas.microsoft.com/office/drawing/2014/main" id="{DB994F56-5BBA-FCAE-1466-98EBBCAB4919}"/>
              </a:ext>
            </a:extLst>
          </p:cNvPr>
          <p:cNvSpPr/>
          <p:nvPr/>
        </p:nvSpPr>
        <p:spPr>
          <a:xfrm>
            <a:off x="4933807" y="1326917"/>
            <a:ext cx="1797050" cy="914400"/>
          </a:xfrm>
          <a:custGeom>
            <a:avLst/>
            <a:gdLst/>
            <a:ahLst/>
            <a:cxnLst/>
            <a:rect l="l" t="t" r="r" b="b"/>
            <a:pathLst>
              <a:path w="1797050" h="914400">
                <a:moveTo>
                  <a:pt x="898271" y="0"/>
                </a:moveTo>
                <a:lnTo>
                  <a:pt x="836764" y="1054"/>
                </a:lnTo>
                <a:lnTo>
                  <a:pt x="776376" y="4178"/>
                </a:lnTo>
                <a:lnTo>
                  <a:pt x="717232" y="9283"/>
                </a:lnTo>
                <a:lnTo>
                  <a:pt x="659472" y="16332"/>
                </a:lnTo>
                <a:lnTo>
                  <a:pt x="603224" y="25234"/>
                </a:lnTo>
                <a:lnTo>
                  <a:pt x="548627" y="35928"/>
                </a:lnTo>
                <a:lnTo>
                  <a:pt x="495795" y="48348"/>
                </a:lnTo>
                <a:lnTo>
                  <a:pt x="444893" y="62420"/>
                </a:lnTo>
                <a:lnTo>
                  <a:pt x="396036" y="78079"/>
                </a:lnTo>
                <a:lnTo>
                  <a:pt x="349364" y="95262"/>
                </a:lnTo>
                <a:lnTo>
                  <a:pt x="305003" y="113893"/>
                </a:lnTo>
                <a:lnTo>
                  <a:pt x="263093" y="133908"/>
                </a:lnTo>
                <a:lnTo>
                  <a:pt x="223774" y="155244"/>
                </a:lnTo>
                <a:lnTo>
                  <a:pt x="187159" y="177825"/>
                </a:lnTo>
                <a:lnTo>
                  <a:pt x="153416" y="201574"/>
                </a:lnTo>
                <a:lnTo>
                  <a:pt x="122643" y="226440"/>
                </a:lnTo>
                <a:lnTo>
                  <a:pt x="70586" y="279234"/>
                </a:lnTo>
                <a:lnTo>
                  <a:pt x="32092" y="335661"/>
                </a:lnTo>
                <a:lnTo>
                  <a:pt x="8204" y="395160"/>
                </a:lnTo>
                <a:lnTo>
                  <a:pt x="0" y="457200"/>
                </a:lnTo>
                <a:lnTo>
                  <a:pt x="2070" y="488505"/>
                </a:lnTo>
                <a:lnTo>
                  <a:pt x="18249" y="549338"/>
                </a:lnTo>
                <a:lnTo>
                  <a:pt x="49580" y="607364"/>
                </a:lnTo>
                <a:lnTo>
                  <a:pt x="94983" y="662051"/>
                </a:lnTo>
                <a:lnTo>
                  <a:pt x="153416" y="712825"/>
                </a:lnTo>
                <a:lnTo>
                  <a:pt x="187159" y="736574"/>
                </a:lnTo>
                <a:lnTo>
                  <a:pt x="223774" y="759155"/>
                </a:lnTo>
                <a:lnTo>
                  <a:pt x="263093" y="780491"/>
                </a:lnTo>
                <a:lnTo>
                  <a:pt x="305003" y="800506"/>
                </a:lnTo>
                <a:lnTo>
                  <a:pt x="349364" y="819137"/>
                </a:lnTo>
                <a:lnTo>
                  <a:pt x="396036" y="836320"/>
                </a:lnTo>
                <a:lnTo>
                  <a:pt x="444893" y="851979"/>
                </a:lnTo>
                <a:lnTo>
                  <a:pt x="495795" y="866051"/>
                </a:lnTo>
                <a:lnTo>
                  <a:pt x="548627" y="878471"/>
                </a:lnTo>
                <a:lnTo>
                  <a:pt x="603224" y="889165"/>
                </a:lnTo>
                <a:lnTo>
                  <a:pt x="659472" y="898067"/>
                </a:lnTo>
                <a:lnTo>
                  <a:pt x="717232" y="905116"/>
                </a:lnTo>
                <a:lnTo>
                  <a:pt x="776376" y="910221"/>
                </a:lnTo>
                <a:lnTo>
                  <a:pt x="836764" y="913345"/>
                </a:lnTo>
                <a:lnTo>
                  <a:pt x="898271" y="914400"/>
                </a:lnTo>
                <a:lnTo>
                  <a:pt x="959777" y="913345"/>
                </a:lnTo>
                <a:lnTo>
                  <a:pt x="1020165" y="910221"/>
                </a:lnTo>
                <a:lnTo>
                  <a:pt x="1079309" y="905116"/>
                </a:lnTo>
                <a:lnTo>
                  <a:pt x="1137069" y="898067"/>
                </a:lnTo>
                <a:lnTo>
                  <a:pt x="1193317" y="889165"/>
                </a:lnTo>
                <a:lnTo>
                  <a:pt x="1247927" y="878471"/>
                </a:lnTo>
                <a:lnTo>
                  <a:pt x="1300746" y="866051"/>
                </a:lnTo>
                <a:lnTo>
                  <a:pt x="1351648" y="851979"/>
                </a:lnTo>
                <a:lnTo>
                  <a:pt x="1400505" y="836320"/>
                </a:lnTo>
                <a:lnTo>
                  <a:pt x="1447177" y="819137"/>
                </a:lnTo>
                <a:lnTo>
                  <a:pt x="1491538" y="800506"/>
                </a:lnTo>
                <a:lnTo>
                  <a:pt x="1533448" y="780491"/>
                </a:lnTo>
                <a:lnTo>
                  <a:pt x="1572768" y="759155"/>
                </a:lnTo>
                <a:lnTo>
                  <a:pt x="1609382" y="736574"/>
                </a:lnTo>
                <a:lnTo>
                  <a:pt x="1643138" y="712825"/>
                </a:lnTo>
                <a:lnTo>
                  <a:pt x="1673898" y="687959"/>
                </a:lnTo>
                <a:lnTo>
                  <a:pt x="1725955" y="635165"/>
                </a:lnTo>
                <a:lnTo>
                  <a:pt x="1764461" y="578739"/>
                </a:lnTo>
                <a:lnTo>
                  <a:pt x="1788337" y="519239"/>
                </a:lnTo>
                <a:lnTo>
                  <a:pt x="1796542" y="457200"/>
                </a:lnTo>
                <a:lnTo>
                  <a:pt x="1794471" y="425894"/>
                </a:lnTo>
                <a:lnTo>
                  <a:pt x="1778292" y="365061"/>
                </a:lnTo>
                <a:lnTo>
                  <a:pt x="1746961" y="307035"/>
                </a:lnTo>
                <a:lnTo>
                  <a:pt x="1701558" y="252349"/>
                </a:lnTo>
                <a:lnTo>
                  <a:pt x="1643138" y="201574"/>
                </a:lnTo>
                <a:lnTo>
                  <a:pt x="1609382" y="177825"/>
                </a:lnTo>
                <a:lnTo>
                  <a:pt x="1572768" y="155244"/>
                </a:lnTo>
                <a:lnTo>
                  <a:pt x="1533448" y="133908"/>
                </a:lnTo>
                <a:lnTo>
                  <a:pt x="1491538" y="113893"/>
                </a:lnTo>
                <a:lnTo>
                  <a:pt x="1447177" y="95262"/>
                </a:lnTo>
                <a:lnTo>
                  <a:pt x="1400505" y="78079"/>
                </a:lnTo>
                <a:lnTo>
                  <a:pt x="1351648" y="62420"/>
                </a:lnTo>
                <a:lnTo>
                  <a:pt x="1300746" y="48348"/>
                </a:lnTo>
                <a:lnTo>
                  <a:pt x="1247927" y="35928"/>
                </a:lnTo>
                <a:lnTo>
                  <a:pt x="1193317" y="25234"/>
                </a:lnTo>
                <a:lnTo>
                  <a:pt x="1137069" y="16332"/>
                </a:lnTo>
                <a:lnTo>
                  <a:pt x="1079309" y="9283"/>
                </a:lnTo>
                <a:lnTo>
                  <a:pt x="1020165" y="4178"/>
                </a:lnTo>
                <a:lnTo>
                  <a:pt x="959777" y="1054"/>
                </a:lnTo>
                <a:lnTo>
                  <a:pt x="898271" y="0"/>
                </a:lnTo>
                <a:close/>
              </a:path>
            </a:pathLst>
          </a:custGeom>
          <a:solidFill>
            <a:srgbClr val="5B9BD3"/>
          </a:solidFill>
        </p:spPr>
        <p:txBody>
          <a:bodyPr wrap="square" lIns="0" tIns="0" rIns="0" bIns="0" rtlCol="0"/>
          <a:lstStyle/>
          <a:p>
            <a:endParaRPr/>
          </a:p>
        </p:txBody>
      </p:sp>
      <p:sp>
        <p:nvSpPr>
          <p:cNvPr id="100" name="object 5">
            <a:extLst>
              <a:ext uri="{FF2B5EF4-FFF2-40B4-BE49-F238E27FC236}">
                <a16:creationId xmlns:a16="http://schemas.microsoft.com/office/drawing/2014/main" id="{3579AD57-7400-12E8-0B1A-3803184A902E}"/>
              </a:ext>
            </a:extLst>
          </p:cNvPr>
          <p:cNvSpPr/>
          <p:nvPr/>
        </p:nvSpPr>
        <p:spPr>
          <a:xfrm>
            <a:off x="4933808" y="1326917"/>
            <a:ext cx="1797050" cy="914400"/>
          </a:xfrm>
          <a:custGeom>
            <a:avLst/>
            <a:gdLst/>
            <a:ahLst/>
            <a:cxnLst/>
            <a:rect l="l" t="t" r="r" b="b"/>
            <a:pathLst>
              <a:path w="1797050" h="914400">
                <a:moveTo>
                  <a:pt x="0" y="457200"/>
                </a:moveTo>
                <a:lnTo>
                  <a:pt x="8204" y="395160"/>
                </a:lnTo>
                <a:lnTo>
                  <a:pt x="32080" y="335661"/>
                </a:lnTo>
                <a:lnTo>
                  <a:pt x="70586" y="279234"/>
                </a:lnTo>
                <a:lnTo>
                  <a:pt x="122643" y="226440"/>
                </a:lnTo>
                <a:lnTo>
                  <a:pt x="153403" y="201574"/>
                </a:lnTo>
                <a:lnTo>
                  <a:pt x="187159" y="177825"/>
                </a:lnTo>
                <a:lnTo>
                  <a:pt x="223774" y="155244"/>
                </a:lnTo>
                <a:lnTo>
                  <a:pt x="263093" y="133908"/>
                </a:lnTo>
                <a:lnTo>
                  <a:pt x="305003" y="113893"/>
                </a:lnTo>
                <a:lnTo>
                  <a:pt x="349364" y="95262"/>
                </a:lnTo>
                <a:lnTo>
                  <a:pt x="396036" y="78079"/>
                </a:lnTo>
                <a:lnTo>
                  <a:pt x="444893" y="62420"/>
                </a:lnTo>
                <a:lnTo>
                  <a:pt x="495795" y="48348"/>
                </a:lnTo>
                <a:lnTo>
                  <a:pt x="548614" y="35928"/>
                </a:lnTo>
                <a:lnTo>
                  <a:pt x="603224" y="25234"/>
                </a:lnTo>
                <a:lnTo>
                  <a:pt x="659472" y="16332"/>
                </a:lnTo>
                <a:lnTo>
                  <a:pt x="717232" y="9283"/>
                </a:lnTo>
                <a:lnTo>
                  <a:pt x="776376" y="4178"/>
                </a:lnTo>
                <a:lnTo>
                  <a:pt x="836764" y="1054"/>
                </a:lnTo>
                <a:lnTo>
                  <a:pt x="898271" y="0"/>
                </a:lnTo>
                <a:lnTo>
                  <a:pt x="959777" y="1054"/>
                </a:lnTo>
                <a:lnTo>
                  <a:pt x="1020165" y="4178"/>
                </a:lnTo>
                <a:lnTo>
                  <a:pt x="1079309" y="9283"/>
                </a:lnTo>
                <a:lnTo>
                  <a:pt x="1137069" y="16332"/>
                </a:lnTo>
                <a:lnTo>
                  <a:pt x="1193317" y="25234"/>
                </a:lnTo>
                <a:lnTo>
                  <a:pt x="1247914" y="35928"/>
                </a:lnTo>
                <a:lnTo>
                  <a:pt x="1300746" y="48348"/>
                </a:lnTo>
                <a:lnTo>
                  <a:pt x="1351648" y="62420"/>
                </a:lnTo>
                <a:lnTo>
                  <a:pt x="1400505" y="78079"/>
                </a:lnTo>
                <a:lnTo>
                  <a:pt x="1447177" y="95262"/>
                </a:lnTo>
                <a:lnTo>
                  <a:pt x="1491538" y="113893"/>
                </a:lnTo>
                <a:lnTo>
                  <a:pt x="1533448" y="133908"/>
                </a:lnTo>
                <a:lnTo>
                  <a:pt x="1572768" y="155244"/>
                </a:lnTo>
                <a:lnTo>
                  <a:pt x="1609382" y="177825"/>
                </a:lnTo>
                <a:lnTo>
                  <a:pt x="1643126" y="201574"/>
                </a:lnTo>
                <a:lnTo>
                  <a:pt x="1673898" y="226440"/>
                </a:lnTo>
                <a:lnTo>
                  <a:pt x="1725955" y="279234"/>
                </a:lnTo>
                <a:lnTo>
                  <a:pt x="1764449" y="335661"/>
                </a:lnTo>
                <a:lnTo>
                  <a:pt x="1788337" y="395160"/>
                </a:lnTo>
                <a:lnTo>
                  <a:pt x="1796542" y="457200"/>
                </a:lnTo>
                <a:lnTo>
                  <a:pt x="1794471" y="488505"/>
                </a:lnTo>
                <a:lnTo>
                  <a:pt x="1778292" y="549338"/>
                </a:lnTo>
                <a:lnTo>
                  <a:pt x="1746961" y="607364"/>
                </a:lnTo>
                <a:lnTo>
                  <a:pt x="1701558" y="662051"/>
                </a:lnTo>
                <a:lnTo>
                  <a:pt x="1643126" y="712825"/>
                </a:lnTo>
                <a:lnTo>
                  <a:pt x="1609382" y="736574"/>
                </a:lnTo>
                <a:lnTo>
                  <a:pt x="1572768" y="759155"/>
                </a:lnTo>
                <a:lnTo>
                  <a:pt x="1533448" y="780491"/>
                </a:lnTo>
                <a:lnTo>
                  <a:pt x="1491538" y="800506"/>
                </a:lnTo>
                <a:lnTo>
                  <a:pt x="1447177" y="819137"/>
                </a:lnTo>
                <a:lnTo>
                  <a:pt x="1400505" y="836320"/>
                </a:lnTo>
                <a:lnTo>
                  <a:pt x="1351648" y="851979"/>
                </a:lnTo>
                <a:lnTo>
                  <a:pt x="1300746" y="866051"/>
                </a:lnTo>
                <a:lnTo>
                  <a:pt x="1247914" y="878471"/>
                </a:lnTo>
                <a:lnTo>
                  <a:pt x="1193317" y="889165"/>
                </a:lnTo>
                <a:lnTo>
                  <a:pt x="1137069" y="898067"/>
                </a:lnTo>
                <a:lnTo>
                  <a:pt x="1079309" y="905116"/>
                </a:lnTo>
                <a:lnTo>
                  <a:pt x="1020165" y="910221"/>
                </a:lnTo>
                <a:lnTo>
                  <a:pt x="959777" y="913345"/>
                </a:lnTo>
                <a:lnTo>
                  <a:pt x="898271" y="914400"/>
                </a:lnTo>
                <a:lnTo>
                  <a:pt x="836764" y="913345"/>
                </a:lnTo>
                <a:lnTo>
                  <a:pt x="776376" y="910221"/>
                </a:lnTo>
                <a:lnTo>
                  <a:pt x="717232" y="905116"/>
                </a:lnTo>
                <a:lnTo>
                  <a:pt x="659472" y="898067"/>
                </a:lnTo>
                <a:lnTo>
                  <a:pt x="603224" y="889165"/>
                </a:lnTo>
                <a:lnTo>
                  <a:pt x="548614" y="878471"/>
                </a:lnTo>
                <a:lnTo>
                  <a:pt x="495795" y="866051"/>
                </a:lnTo>
                <a:lnTo>
                  <a:pt x="444893" y="851979"/>
                </a:lnTo>
                <a:lnTo>
                  <a:pt x="396036" y="836320"/>
                </a:lnTo>
                <a:lnTo>
                  <a:pt x="349364" y="819137"/>
                </a:lnTo>
                <a:lnTo>
                  <a:pt x="305003" y="800506"/>
                </a:lnTo>
                <a:lnTo>
                  <a:pt x="263093" y="780491"/>
                </a:lnTo>
                <a:lnTo>
                  <a:pt x="223774" y="759155"/>
                </a:lnTo>
                <a:lnTo>
                  <a:pt x="187159" y="736574"/>
                </a:lnTo>
                <a:lnTo>
                  <a:pt x="153403" y="712825"/>
                </a:lnTo>
                <a:lnTo>
                  <a:pt x="122643" y="687959"/>
                </a:lnTo>
                <a:lnTo>
                  <a:pt x="70586" y="635165"/>
                </a:lnTo>
                <a:lnTo>
                  <a:pt x="32080" y="578739"/>
                </a:lnTo>
                <a:lnTo>
                  <a:pt x="8204" y="519239"/>
                </a:lnTo>
                <a:lnTo>
                  <a:pt x="0" y="457200"/>
                </a:lnTo>
                <a:close/>
              </a:path>
            </a:pathLst>
          </a:custGeom>
          <a:ln w="12700">
            <a:solidFill>
              <a:srgbClr val="416F9C"/>
            </a:solidFill>
          </a:ln>
        </p:spPr>
        <p:txBody>
          <a:bodyPr wrap="square" lIns="0" tIns="0" rIns="0" bIns="0" rtlCol="0"/>
          <a:lstStyle/>
          <a:p>
            <a:endParaRPr/>
          </a:p>
        </p:txBody>
      </p:sp>
      <p:sp>
        <p:nvSpPr>
          <p:cNvPr id="101" name="object 6">
            <a:extLst>
              <a:ext uri="{FF2B5EF4-FFF2-40B4-BE49-F238E27FC236}">
                <a16:creationId xmlns:a16="http://schemas.microsoft.com/office/drawing/2014/main" id="{44AB1F93-7324-1B94-DF4E-0E6040B0472E}"/>
              </a:ext>
            </a:extLst>
          </p:cNvPr>
          <p:cNvSpPr txBox="1"/>
          <p:nvPr/>
        </p:nvSpPr>
        <p:spPr>
          <a:xfrm>
            <a:off x="5380522" y="1466755"/>
            <a:ext cx="894080" cy="574040"/>
          </a:xfrm>
          <a:prstGeom prst="rect">
            <a:avLst/>
          </a:prstGeom>
        </p:spPr>
        <p:txBody>
          <a:bodyPr vert="horz" wrap="square" lIns="0" tIns="12700" rIns="0" bIns="0" rtlCol="0">
            <a:spAutoFit/>
          </a:bodyPr>
          <a:lstStyle/>
          <a:p>
            <a:pPr marL="12700" marR="5080" indent="107950">
              <a:lnSpc>
                <a:spcPct val="100000"/>
              </a:lnSpc>
              <a:spcBef>
                <a:spcPts val="100"/>
              </a:spcBef>
            </a:pPr>
            <a:r>
              <a:rPr sz="1800" spc="-5">
                <a:solidFill>
                  <a:srgbClr val="FFFFFF"/>
                </a:solidFill>
                <a:latin typeface="Calibri"/>
                <a:cs typeface="Calibri"/>
              </a:rPr>
              <a:t>Eligible  Col</a:t>
            </a:r>
            <a:r>
              <a:rPr sz="1800" spc="-10">
                <a:solidFill>
                  <a:srgbClr val="FFFFFF"/>
                </a:solidFill>
                <a:latin typeface="Calibri"/>
                <a:cs typeface="Calibri"/>
              </a:rPr>
              <a:t>l</a:t>
            </a:r>
            <a:r>
              <a:rPr sz="1800" spc="-25">
                <a:solidFill>
                  <a:srgbClr val="FFFFFF"/>
                </a:solidFill>
                <a:latin typeface="Calibri"/>
                <a:cs typeface="Calibri"/>
              </a:rPr>
              <a:t>a</a:t>
            </a:r>
            <a:r>
              <a:rPr sz="1800" spc="-65">
                <a:solidFill>
                  <a:srgbClr val="FFFFFF"/>
                </a:solidFill>
                <a:latin typeface="Calibri"/>
                <a:cs typeface="Calibri"/>
              </a:rPr>
              <a:t>t</a:t>
            </a:r>
            <a:r>
              <a:rPr sz="1800">
                <a:solidFill>
                  <a:srgbClr val="FFFFFF"/>
                </a:solidFill>
                <a:latin typeface="Calibri"/>
                <a:cs typeface="Calibri"/>
              </a:rPr>
              <a:t>e</a:t>
            </a:r>
            <a:r>
              <a:rPr sz="1800" spc="-75">
                <a:solidFill>
                  <a:srgbClr val="FFFFFF"/>
                </a:solidFill>
                <a:latin typeface="Calibri"/>
                <a:cs typeface="Calibri"/>
              </a:rPr>
              <a:t>r</a:t>
            </a:r>
            <a:r>
              <a:rPr sz="1800">
                <a:solidFill>
                  <a:srgbClr val="FFFFFF"/>
                </a:solidFill>
                <a:latin typeface="Calibri"/>
                <a:cs typeface="Calibri"/>
              </a:rPr>
              <a:t>al</a:t>
            </a:r>
            <a:endParaRPr sz="1800">
              <a:latin typeface="Calibri"/>
              <a:cs typeface="Calibri"/>
            </a:endParaRPr>
          </a:p>
        </p:txBody>
      </p:sp>
      <p:sp>
        <p:nvSpPr>
          <p:cNvPr id="102" name="object 7">
            <a:extLst>
              <a:ext uri="{FF2B5EF4-FFF2-40B4-BE49-F238E27FC236}">
                <a16:creationId xmlns:a16="http://schemas.microsoft.com/office/drawing/2014/main" id="{A9C09467-DF78-9BDB-2AAF-FE6568EA27D0}"/>
              </a:ext>
            </a:extLst>
          </p:cNvPr>
          <p:cNvSpPr/>
          <p:nvPr/>
        </p:nvSpPr>
        <p:spPr>
          <a:xfrm>
            <a:off x="844917" y="2796052"/>
            <a:ext cx="1435735" cy="585470"/>
          </a:xfrm>
          <a:custGeom>
            <a:avLst/>
            <a:gdLst/>
            <a:ahLst/>
            <a:cxnLst/>
            <a:rect l="l" t="t" r="r" b="b"/>
            <a:pathLst>
              <a:path w="1435735" h="585469">
                <a:moveTo>
                  <a:pt x="717740" y="0"/>
                </a:moveTo>
                <a:lnTo>
                  <a:pt x="652411" y="1193"/>
                </a:lnTo>
                <a:lnTo>
                  <a:pt x="588721" y="4711"/>
                </a:lnTo>
                <a:lnTo>
                  <a:pt x="526935" y="10452"/>
                </a:lnTo>
                <a:lnTo>
                  <a:pt x="467296" y="18300"/>
                </a:lnTo>
                <a:lnTo>
                  <a:pt x="410057" y="28155"/>
                </a:lnTo>
                <a:lnTo>
                  <a:pt x="355485" y="39928"/>
                </a:lnTo>
                <a:lnTo>
                  <a:pt x="303809" y="53505"/>
                </a:lnTo>
                <a:lnTo>
                  <a:pt x="255308" y="68783"/>
                </a:lnTo>
                <a:lnTo>
                  <a:pt x="210223" y="85661"/>
                </a:lnTo>
                <a:lnTo>
                  <a:pt x="168808" y="104038"/>
                </a:lnTo>
                <a:lnTo>
                  <a:pt x="131305" y="123799"/>
                </a:lnTo>
                <a:lnTo>
                  <a:pt x="97993" y="144856"/>
                </a:lnTo>
                <a:lnTo>
                  <a:pt x="44907" y="190423"/>
                </a:lnTo>
                <a:lnTo>
                  <a:pt x="11557" y="239903"/>
                </a:lnTo>
                <a:lnTo>
                  <a:pt x="0" y="292481"/>
                </a:lnTo>
                <a:lnTo>
                  <a:pt x="2933" y="319100"/>
                </a:lnTo>
                <a:lnTo>
                  <a:pt x="25641" y="370230"/>
                </a:lnTo>
                <a:lnTo>
                  <a:pt x="69100" y="417868"/>
                </a:lnTo>
                <a:lnTo>
                  <a:pt x="131305" y="461162"/>
                </a:lnTo>
                <a:lnTo>
                  <a:pt x="168808" y="480923"/>
                </a:lnTo>
                <a:lnTo>
                  <a:pt x="210223" y="499300"/>
                </a:lnTo>
                <a:lnTo>
                  <a:pt x="255308" y="516178"/>
                </a:lnTo>
                <a:lnTo>
                  <a:pt x="303809" y="531456"/>
                </a:lnTo>
                <a:lnTo>
                  <a:pt x="355485" y="545033"/>
                </a:lnTo>
                <a:lnTo>
                  <a:pt x="410057" y="556806"/>
                </a:lnTo>
                <a:lnTo>
                  <a:pt x="467296" y="566661"/>
                </a:lnTo>
                <a:lnTo>
                  <a:pt x="526935" y="574509"/>
                </a:lnTo>
                <a:lnTo>
                  <a:pt x="588721" y="580250"/>
                </a:lnTo>
                <a:lnTo>
                  <a:pt x="652411" y="583768"/>
                </a:lnTo>
                <a:lnTo>
                  <a:pt x="717740" y="584962"/>
                </a:lnTo>
                <a:lnTo>
                  <a:pt x="783069" y="583768"/>
                </a:lnTo>
                <a:lnTo>
                  <a:pt x="846759" y="580250"/>
                </a:lnTo>
                <a:lnTo>
                  <a:pt x="908545" y="574509"/>
                </a:lnTo>
                <a:lnTo>
                  <a:pt x="968184" y="566661"/>
                </a:lnTo>
                <a:lnTo>
                  <a:pt x="1025423" y="556806"/>
                </a:lnTo>
                <a:lnTo>
                  <a:pt x="1079995" y="545033"/>
                </a:lnTo>
                <a:lnTo>
                  <a:pt x="1131658" y="531456"/>
                </a:lnTo>
                <a:lnTo>
                  <a:pt x="1180172" y="516178"/>
                </a:lnTo>
                <a:lnTo>
                  <a:pt x="1225257" y="499300"/>
                </a:lnTo>
                <a:lnTo>
                  <a:pt x="1266672" y="480923"/>
                </a:lnTo>
                <a:lnTo>
                  <a:pt x="1304175" y="461162"/>
                </a:lnTo>
                <a:lnTo>
                  <a:pt x="1337487" y="440105"/>
                </a:lnTo>
                <a:lnTo>
                  <a:pt x="1390573" y="394538"/>
                </a:lnTo>
                <a:lnTo>
                  <a:pt x="1423911" y="345059"/>
                </a:lnTo>
                <a:lnTo>
                  <a:pt x="1435481" y="292481"/>
                </a:lnTo>
                <a:lnTo>
                  <a:pt x="1432547" y="265861"/>
                </a:lnTo>
                <a:lnTo>
                  <a:pt x="1409839" y="214731"/>
                </a:lnTo>
                <a:lnTo>
                  <a:pt x="1366380" y="167093"/>
                </a:lnTo>
                <a:lnTo>
                  <a:pt x="1304175" y="123799"/>
                </a:lnTo>
                <a:lnTo>
                  <a:pt x="1266672" y="104038"/>
                </a:lnTo>
                <a:lnTo>
                  <a:pt x="1225257" y="85661"/>
                </a:lnTo>
                <a:lnTo>
                  <a:pt x="1180172" y="68783"/>
                </a:lnTo>
                <a:lnTo>
                  <a:pt x="1131658" y="53505"/>
                </a:lnTo>
                <a:lnTo>
                  <a:pt x="1079995" y="39928"/>
                </a:lnTo>
                <a:lnTo>
                  <a:pt x="1025423" y="28155"/>
                </a:lnTo>
                <a:lnTo>
                  <a:pt x="968184" y="18300"/>
                </a:lnTo>
                <a:lnTo>
                  <a:pt x="908545" y="10452"/>
                </a:lnTo>
                <a:lnTo>
                  <a:pt x="846759" y="4711"/>
                </a:lnTo>
                <a:lnTo>
                  <a:pt x="783069" y="1193"/>
                </a:lnTo>
                <a:lnTo>
                  <a:pt x="717740" y="0"/>
                </a:lnTo>
                <a:close/>
              </a:path>
            </a:pathLst>
          </a:custGeom>
          <a:solidFill>
            <a:srgbClr val="5B9BD3"/>
          </a:solidFill>
        </p:spPr>
        <p:txBody>
          <a:bodyPr wrap="square" lIns="0" tIns="0" rIns="0" bIns="0" rtlCol="0"/>
          <a:lstStyle/>
          <a:p>
            <a:endParaRPr/>
          </a:p>
        </p:txBody>
      </p:sp>
      <p:sp>
        <p:nvSpPr>
          <p:cNvPr id="103" name="object 8">
            <a:extLst>
              <a:ext uri="{FF2B5EF4-FFF2-40B4-BE49-F238E27FC236}">
                <a16:creationId xmlns:a16="http://schemas.microsoft.com/office/drawing/2014/main" id="{B35D842A-7F79-830D-66EF-9499C228A30B}"/>
              </a:ext>
            </a:extLst>
          </p:cNvPr>
          <p:cNvSpPr/>
          <p:nvPr/>
        </p:nvSpPr>
        <p:spPr>
          <a:xfrm>
            <a:off x="844917" y="2796052"/>
            <a:ext cx="1435735" cy="585470"/>
          </a:xfrm>
          <a:custGeom>
            <a:avLst/>
            <a:gdLst/>
            <a:ahLst/>
            <a:cxnLst/>
            <a:rect l="l" t="t" r="r" b="b"/>
            <a:pathLst>
              <a:path w="1435735" h="585469">
                <a:moveTo>
                  <a:pt x="0" y="292480"/>
                </a:moveTo>
                <a:lnTo>
                  <a:pt x="11557" y="239902"/>
                </a:lnTo>
                <a:lnTo>
                  <a:pt x="44907" y="190423"/>
                </a:lnTo>
                <a:lnTo>
                  <a:pt x="97993" y="144856"/>
                </a:lnTo>
                <a:lnTo>
                  <a:pt x="131305" y="123799"/>
                </a:lnTo>
                <a:lnTo>
                  <a:pt x="168808" y="104038"/>
                </a:lnTo>
                <a:lnTo>
                  <a:pt x="210223" y="85661"/>
                </a:lnTo>
                <a:lnTo>
                  <a:pt x="255308" y="68783"/>
                </a:lnTo>
                <a:lnTo>
                  <a:pt x="303809" y="53505"/>
                </a:lnTo>
                <a:lnTo>
                  <a:pt x="355485" y="39928"/>
                </a:lnTo>
                <a:lnTo>
                  <a:pt x="410057" y="28155"/>
                </a:lnTo>
                <a:lnTo>
                  <a:pt x="467296" y="18300"/>
                </a:lnTo>
                <a:lnTo>
                  <a:pt x="526935" y="10452"/>
                </a:lnTo>
                <a:lnTo>
                  <a:pt x="588721" y="4711"/>
                </a:lnTo>
                <a:lnTo>
                  <a:pt x="652411" y="1193"/>
                </a:lnTo>
                <a:lnTo>
                  <a:pt x="717740" y="0"/>
                </a:lnTo>
                <a:lnTo>
                  <a:pt x="783069" y="1193"/>
                </a:lnTo>
                <a:lnTo>
                  <a:pt x="846759" y="4711"/>
                </a:lnTo>
                <a:lnTo>
                  <a:pt x="908545" y="10452"/>
                </a:lnTo>
                <a:lnTo>
                  <a:pt x="968184" y="18300"/>
                </a:lnTo>
                <a:lnTo>
                  <a:pt x="1025423" y="28155"/>
                </a:lnTo>
                <a:lnTo>
                  <a:pt x="1079995" y="39928"/>
                </a:lnTo>
                <a:lnTo>
                  <a:pt x="1131658" y="53505"/>
                </a:lnTo>
                <a:lnTo>
                  <a:pt x="1180172" y="68783"/>
                </a:lnTo>
                <a:lnTo>
                  <a:pt x="1225257" y="85661"/>
                </a:lnTo>
                <a:lnTo>
                  <a:pt x="1266672" y="104038"/>
                </a:lnTo>
                <a:lnTo>
                  <a:pt x="1304175" y="123799"/>
                </a:lnTo>
                <a:lnTo>
                  <a:pt x="1337487" y="144856"/>
                </a:lnTo>
                <a:lnTo>
                  <a:pt x="1390573" y="190423"/>
                </a:lnTo>
                <a:lnTo>
                  <a:pt x="1423911" y="239902"/>
                </a:lnTo>
                <a:lnTo>
                  <a:pt x="1435481" y="292480"/>
                </a:lnTo>
                <a:lnTo>
                  <a:pt x="1432547" y="319100"/>
                </a:lnTo>
                <a:lnTo>
                  <a:pt x="1409839" y="370230"/>
                </a:lnTo>
                <a:lnTo>
                  <a:pt x="1366380" y="417868"/>
                </a:lnTo>
                <a:lnTo>
                  <a:pt x="1304175" y="461162"/>
                </a:lnTo>
                <a:lnTo>
                  <a:pt x="1266672" y="480923"/>
                </a:lnTo>
                <a:lnTo>
                  <a:pt x="1225257" y="499300"/>
                </a:lnTo>
                <a:lnTo>
                  <a:pt x="1180172" y="516178"/>
                </a:lnTo>
                <a:lnTo>
                  <a:pt x="1131658" y="531456"/>
                </a:lnTo>
                <a:lnTo>
                  <a:pt x="1079995" y="545033"/>
                </a:lnTo>
                <a:lnTo>
                  <a:pt x="1025423" y="556806"/>
                </a:lnTo>
                <a:lnTo>
                  <a:pt x="968184" y="566661"/>
                </a:lnTo>
                <a:lnTo>
                  <a:pt x="908545" y="574509"/>
                </a:lnTo>
                <a:lnTo>
                  <a:pt x="846759" y="580250"/>
                </a:lnTo>
                <a:lnTo>
                  <a:pt x="783069" y="583768"/>
                </a:lnTo>
                <a:lnTo>
                  <a:pt x="717740" y="584961"/>
                </a:lnTo>
                <a:lnTo>
                  <a:pt x="652411" y="583768"/>
                </a:lnTo>
                <a:lnTo>
                  <a:pt x="588721" y="580250"/>
                </a:lnTo>
                <a:lnTo>
                  <a:pt x="526935" y="574509"/>
                </a:lnTo>
                <a:lnTo>
                  <a:pt x="467296" y="566661"/>
                </a:lnTo>
                <a:lnTo>
                  <a:pt x="410057" y="556806"/>
                </a:lnTo>
                <a:lnTo>
                  <a:pt x="355485" y="545033"/>
                </a:lnTo>
                <a:lnTo>
                  <a:pt x="303809" y="531456"/>
                </a:lnTo>
                <a:lnTo>
                  <a:pt x="255308" y="516178"/>
                </a:lnTo>
                <a:lnTo>
                  <a:pt x="210223" y="499300"/>
                </a:lnTo>
                <a:lnTo>
                  <a:pt x="168808" y="480923"/>
                </a:lnTo>
                <a:lnTo>
                  <a:pt x="131305" y="461162"/>
                </a:lnTo>
                <a:lnTo>
                  <a:pt x="97993" y="440105"/>
                </a:lnTo>
                <a:lnTo>
                  <a:pt x="44907" y="394538"/>
                </a:lnTo>
                <a:lnTo>
                  <a:pt x="11557" y="345058"/>
                </a:lnTo>
                <a:lnTo>
                  <a:pt x="0" y="292480"/>
                </a:lnTo>
                <a:close/>
              </a:path>
            </a:pathLst>
          </a:custGeom>
          <a:ln w="12700">
            <a:solidFill>
              <a:srgbClr val="416F9C"/>
            </a:solidFill>
          </a:ln>
        </p:spPr>
        <p:txBody>
          <a:bodyPr wrap="square" lIns="0" tIns="0" rIns="0" bIns="0" rtlCol="0"/>
          <a:lstStyle/>
          <a:p>
            <a:endParaRPr/>
          </a:p>
        </p:txBody>
      </p:sp>
      <p:sp>
        <p:nvSpPr>
          <p:cNvPr id="104" name="object 9">
            <a:extLst>
              <a:ext uri="{FF2B5EF4-FFF2-40B4-BE49-F238E27FC236}">
                <a16:creationId xmlns:a16="http://schemas.microsoft.com/office/drawing/2014/main" id="{99977FE2-EB23-CEE0-835B-2EF0A3F9E4A5}"/>
              </a:ext>
            </a:extLst>
          </p:cNvPr>
          <p:cNvSpPr txBox="1"/>
          <p:nvPr/>
        </p:nvSpPr>
        <p:spPr>
          <a:xfrm>
            <a:off x="1155955" y="2920955"/>
            <a:ext cx="803275" cy="193675"/>
          </a:xfrm>
          <a:prstGeom prst="rect">
            <a:avLst/>
          </a:prstGeom>
        </p:spPr>
        <p:txBody>
          <a:bodyPr vert="horz" wrap="square" lIns="0" tIns="13335" rIns="0" bIns="0" rtlCol="0">
            <a:spAutoFit/>
          </a:bodyPr>
          <a:lstStyle/>
          <a:p>
            <a:pPr marL="12700">
              <a:lnSpc>
                <a:spcPct val="100000"/>
              </a:lnSpc>
              <a:spcBef>
                <a:spcPts val="105"/>
              </a:spcBef>
            </a:pPr>
            <a:r>
              <a:rPr sz="1100" spc="-5">
                <a:solidFill>
                  <a:srgbClr val="FFFFFF"/>
                </a:solidFill>
                <a:latin typeface="Calibri"/>
                <a:cs typeface="Calibri"/>
              </a:rPr>
              <a:t>Issuer</a:t>
            </a:r>
            <a:r>
              <a:rPr sz="1100" spc="-125">
                <a:solidFill>
                  <a:srgbClr val="FFFFFF"/>
                </a:solidFill>
                <a:latin typeface="Calibri"/>
                <a:cs typeface="Calibri"/>
              </a:rPr>
              <a:t> </a:t>
            </a:r>
            <a:r>
              <a:rPr sz="1100" spc="-5">
                <a:solidFill>
                  <a:srgbClr val="FFFFFF"/>
                </a:solidFill>
                <a:latin typeface="Calibri"/>
                <a:cs typeface="Calibri"/>
              </a:rPr>
              <a:t>Criteria</a:t>
            </a:r>
            <a:endParaRPr sz="1100">
              <a:latin typeface="Calibri"/>
              <a:cs typeface="Calibri"/>
            </a:endParaRPr>
          </a:p>
        </p:txBody>
      </p:sp>
      <p:sp>
        <p:nvSpPr>
          <p:cNvPr id="105" name="object 10">
            <a:extLst>
              <a:ext uri="{FF2B5EF4-FFF2-40B4-BE49-F238E27FC236}">
                <a16:creationId xmlns:a16="http://schemas.microsoft.com/office/drawing/2014/main" id="{44668C86-5E8B-090F-0551-2C1037A21E3E}"/>
              </a:ext>
            </a:extLst>
          </p:cNvPr>
          <p:cNvSpPr/>
          <p:nvPr/>
        </p:nvSpPr>
        <p:spPr>
          <a:xfrm>
            <a:off x="2429878" y="2825008"/>
            <a:ext cx="1433830" cy="585470"/>
          </a:xfrm>
          <a:custGeom>
            <a:avLst/>
            <a:gdLst/>
            <a:ahLst/>
            <a:cxnLst/>
            <a:rect l="l" t="t" r="r" b="b"/>
            <a:pathLst>
              <a:path w="1433829" h="585469">
                <a:moveTo>
                  <a:pt x="716851" y="0"/>
                </a:moveTo>
                <a:lnTo>
                  <a:pt x="651598" y="1193"/>
                </a:lnTo>
                <a:lnTo>
                  <a:pt x="587997" y="4711"/>
                </a:lnTo>
                <a:lnTo>
                  <a:pt x="526287" y="10452"/>
                </a:lnTo>
                <a:lnTo>
                  <a:pt x="466712" y="18300"/>
                </a:lnTo>
                <a:lnTo>
                  <a:pt x="409549" y="28155"/>
                </a:lnTo>
                <a:lnTo>
                  <a:pt x="355041" y="39928"/>
                </a:lnTo>
                <a:lnTo>
                  <a:pt x="303441" y="53505"/>
                </a:lnTo>
                <a:lnTo>
                  <a:pt x="254990" y="68783"/>
                </a:lnTo>
                <a:lnTo>
                  <a:pt x="209956" y="85661"/>
                </a:lnTo>
                <a:lnTo>
                  <a:pt x="168592" y="104038"/>
                </a:lnTo>
                <a:lnTo>
                  <a:pt x="131140" y="123799"/>
                </a:lnTo>
                <a:lnTo>
                  <a:pt x="97866" y="144856"/>
                </a:lnTo>
                <a:lnTo>
                  <a:pt x="44843" y="190423"/>
                </a:lnTo>
                <a:lnTo>
                  <a:pt x="11544" y="239903"/>
                </a:lnTo>
                <a:lnTo>
                  <a:pt x="0" y="292481"/>
                </a:lnTo>
                <a:lnTo>
                  <a:pt x="2933" y="319100"/>
                </a:lnTo>
                <a:lnTo>
                  <a:pt x="25603" y="370230"/>
                </a:lnTo>
                <a:lnTo>
                  <a:pt x="69024" y="417868"/>
                </a:lnTo>
                <a:lnTo>
                  <a:pt x="131140" y="461162"/>
                </a:lnTo>
                <a:lnTo>
                  <a:pt x="168592" y="480923"/>
                </a:lnTo>
                <a:lnTo>
                  <a:pt x="209956" y="499300"/>
                </a:lnTo>
                <a:lnTo>
                  <a:pt x="254990" y="516178"/>
                </a:lnTo>
                <a:lnTo>
                  <a:pt x="303441" y="531456"/>
                </a:lnTo>
                <a:lnTo>
                  <a:pt x="355041" y="545033"/>
                </a:lnTo>
                <a:lnTo>
                  <a:pt x="409549" y="556806"/>
                </a:lnTo>
                <a:lnTo>
                  <a:pt x="466712" y="566661"/>
                </a:lnTo>
                <a:lnTo>
                  <a:pt x="526287" y="574509"/>
                </a:lnTo>
                <a:lnTo>
                  <a:pt x="587997" y="580250"/>
                </a:lnTo>
                <a:lnTo>
                  <a:pt x="651598" y="583768"/>
                </a:lnTo>
                <a:lnTo>
                  <a:pt x="716851" y="584962"/>
                </a:lnTo>
                <a:lnTo>
                  <a:pt x="782104" y="583768"/>
                </a:lnTo>
                <a:lnTo>
                  <a:pt x="845705" y="580250"/>
                </a:lnTo>
                <a:lnTo>
                  <a:pt x="907414" y="574509"/>
                </a:lnTo>
                <a:lnTo>
                  <a:pt x="966977" y="566661"/>
                </a:lnTo>
                <a:lnTo>
                  <a:pt x="1024153" y="556806"/>
                </a:lnTo>
                <a:lnTo>
                  <a:pt x="1078661" y="545033"/>
                </a:lnTo>
                <a:lnTo>
                  <a:pt x="1130261" y="531456"/>
                </a:lnTo>
                <a:lnTo>
                  <a:pt x="1178712" y="516178"/>
                </a:lnTo>
                <a:lnTo>
                  <a:pt x="1223746" y="499300"/>
                </a:lnTo>
                <a:lnTo>
                  <a:pt x="1265110" y="480923"/>
                </a:lnTo>
                <a:lnTo>
                  <a:pt x="1302550" y="461162"/>
                </a:lnTo>
                <a:lnTo>
                  <a:pt x="1335836" y="440105"/>
                </a:lnTo>
                <a:lnTo>
                  <a:pt x="1388859" y="394538"/>
                </a:lnTo>
                <a:lnTo>
                  <a:pt x="1422158" y="345059"/>
                </a:lnTo>
                <a:lnTo>
                  <a:pt x="1433702" y="292481"/>
                </a:lnTo>
                <a:lnTo>
                  <a:pt x="1430769" y="265861"/>
                </a:lnTo>
                <a:lnTo>
                  <a:pt x="1408099" y="214731"/>
                </a:lnTo>
                <a:lnTo>
                  <a:pt x="1364678" y="167093"/>
                </a:lnTo>
                <a:lnTo>
                  <a:pt x="1302550" y="123799"/>
                </a:lnTo>
                <a:lnTo>
                  <a:pt x="1265110" y="104038"/>
                </a:lnTo>
                <a:lnTo>
                  <a:pt x="1223746" y="85661"/>
                </a:lnTo>
                <a:lnTo>
                  <a:pt x="1178712" y="68783"/>
                </a:lnTo>
                <a:lnTo>
                  <a:pt x="1130261" y="53505"/>
                </a:lnTo>
                <a:lnTo>
                  <a:pt x="1078661" y="39928"/>
                </a:lnTo>
                <a:lnTo>
                  <a:pt x="1024153" y="28155"/>
                </a:lnTo>
                <a:lnTo>
                  <a:pt x="966977" y="18300"/>
                </a:lnTo>
                <a:lnTo>
                  <a:pt x="907414" y="10452"/>
                </a:lnTo>
                <a:lnTo>
                  <a:pt x="845705" y="4711"/>
                </a:lnTo>
                <a:lnTo>
                  <a:pt x="782104" y="1193"/>
                </a:lnTo>
                <a:lnTo>
                  <a:pt x="716851" y="0"/>
                </a:lnTo>
                <a:close/>
              </a:path>
            </a:pathLst>
          </a:custGeom>
          <a:solidFill>
            <a:srgbClr val="5B9BD3"/>
          </a:solidFill>
        </p:spPr>
        <p:txBody>
          <a:bodyPr wrap="square" lIns="0" tIns="0" rIns="0" bIns="0" rtlCol="0"/>
          <a:lstStyle/>
          <a:p>
            <a:endParaRPr/>
          </a:p>
        </p:txBody>
      </p:sp>
      <p:sp>
        <p:nvSpPr>
          <p:cNvPr id="106" name="object 11">
            <a:extLst>
              <a:ext uri="{FF2B5EF4-FFF2-40B4-BE49-F238E27FC236}">
                <a16:creationId xmlns:a16="http://schemas.microsoft.com/office/drawing/2014/main" id="{D52C1937-0ED1-0F23-9696-C321C18C9566}"/>
              </a:ext>
            </a:extLst>
          </p:cNvPr>
          <p:cNvSpPr/>
          <p:nvPr/>
        </p:nvSpPr>
        <p:spPr>
          <a:xfrm>
            <a:off x="2429876" y="2825008"/>
            <a:ext cx="1433830" cy="585470"/>
          </a:xfrm>
          <a:custGeom>
            <a:avLst/>
            <a:gdLst/>
            <a:ahLst/>
            <a:cxnLst/>
            <a:rect l="l" t="t" r="r" b="b"/>
            <a:pathLst>
              <a:path w="1433829" h="585469">
                <a:moveTo>
                  <a:pt x="0" y="292481"/>
                </a:moveTo>
                <a:lnTo>
                  <a:pt x="11544" y="239903"/>
                </a:lnTo>
                <a:lnTo>
                  <a:pt x="44843" y="190423"/>
                </a:lnTo>
                <a:lnTo>
                  <a:pt x="97866" y="144856"/>
                </a:lnTo>
                <a:lnTo>
                  <a:pt x="131140" y="123799"/>
                </a:lnTo>
                <a:lnTo>
                  <a:pt x="168592" y="104038"/>
                </a:lnTo>
                <a:lnTo>
                  <a:pt x="209956" y="85661"/>
                </a:lnTo>
                <a:lnTo>
                  <a:pt x="254990" y="68783"/>
                </a:lnTo>
                <a:lnTo>
                  <a:pt x="303441" y="53505"/>
                </a:lnTo>
                <a:lnTo>
                  <a:pt x="355041" y="39928"/>
                </a:lnTo>
                <a:lnTo>
                  <a:pt x="409549" y="28155"/>
                </a:lnTo>
                <a:lnTo>
                  <a:pt x="466712" y="18300"/>
                </a:lnTo>
                <a:lnTo>
                  <a:pt x="526288" y="10452"/>
                </a:lnTo>
                <a:lnTo>
                  <a:pt x="587997" y="4711"/>
                </a:lnTo>
                <a:lnTo>
                  <a:pt x="651598" y="1193"/>
                </a:lnTo>
                <a:lnTo>
                  <a:pt x="716851" y="0"/>
                </a:lnTo>
                <a:lnTo>
                  <a:pt x="782104" y="1193"/>
                </a:lnTo>
                <a:lnTo>
                  <a:pt x="845705" y="4711"/>
                </a:lnTo>
                <a:lnTo>
                  <a:pt x="907415" y="10452"/>
                </a:lnTo>
                <a:lnTo>
                  <a:pt x="966990" y="18300"/>
                </a:lnTo>
                <a:lnTo>
                  <a:pt x="1024153" y="28155"/>
                </a:lnTo>
                <a:lnTo>
                  <a:pt x="1078661" y="39928"/>
                </a:lnTo>
                <a:lnTo>
                  <a:pt x="1130261" y="53505"/>
                </a:lnTo>
                <a:lnTo>
                  <a:pt x="1178712" y="68783"/>
                </a:lnTo>
                <a:lnTo>
                  <a:pt x="1223746" y="85661"/>
                </a:lnTo>
                <a:lnTo>
                  <a:pt x="1265110" y="104038"/>
                </a:lnTo>
                <a:lnTo>
                  <a:pt x="1302562" y="123799"/>
                </a:lnTo>
                <a:lnTo>
                  <a:pt x="1335836" y="144856"/>
                </a:lnTo>
                <a:lnTo>
                  <a:pt x="1388859" y="190423"/>
                </a:lnTo>
                <a:lnTo>
                  <a:pt x="1422158" y="239903"/>
                </a:lnTo>
                <a:lnTo>
                  <a:pt x="1433703" y="292481"/>
                </a:lnTo>
                <a:lnTo>
                  <a:pt x="1430769" y="319100"/>
                </a:lnTo>
                <a:lnTo>
                  <a:pt x="1408099" y="370230"/>
                </a:lnTo>
                <a:lnTo>
                  <a:pt x="1364678" y="417868"/>
                </a:lnTo>
                <a:lnTo>
                  <a:pt x="1302562" y="461162"/>
                </a:lnTo>
                <a:lnTo>
                  <a:pt x="1265110" y="480923"/>
                </a:lnTo>
                <a:lnTo>
                  <a:pt x="1223746" y="499300"/>
                </a:lnTo>
                <a:lnTo>
                  <a:pt x="1178712" y="516178"/>
                </a:lnTo>
                <a:lnTo>
                  <a:pt x="1130261" y="531456"/>
                </a:lnTo>
                <a:lnTo>
                  <a:pt x="1078661" y="545033"/>
                </a:lnTo>
                <a:lnTo>
                  <a:pt x="1024153" y="556806"/>
                </a:lnTo>
                <a:lnTo>
                  <a:pt x="966990" y="566661"/>
                </a:lnTo>
                <a:lnTo>
                  <a:pt x="907415" y="574509"/>
                </a:lnTo>
                <a:lnTo>
                  <a:pt x="845705" y="580250"/>
                </a:lnTo>
                <a:lnTo>
                  <a:pt x="782104" y="583768"/>
                </a:lnTo>
                <a:lnTo>
                  <a:pt x="716851" y="584962"/>
                </a:lnTo>
                <a:lnTo>
                  <a:pt x="651598" y="583768"/>
                </a:lnTo>
                <a:lnTo>
                  <a:pt x="587997" y="580250"/>
                </a:lnTo>
                <a:lnTo>
                  <a:pt x="526288" y="574509"/>
                </a:lnTo>
                <a:lnTo>
                  <a:pt x="466712" y="566661"/>
                </a:lnTo>
                <a:lnTo>
                  <a:pt x="409549" y="556806"/>
                </a:lnTo>
                <a:lnTo>
                  <a:pt x="355041" y="545033"/>
                </a:lnTo>
                <a:lnTo>
                  <a:pt x="303441" y="531456"/>
                </a:lnTo>
                <a:lnTo>
                  <a:pt x="254990" y="516178"/>
                </a:lnTo>
                <a:lnTo>
                  <a:pt x="209956" y="499300"/>
                </a:lnTo>
                <a:lnTo>
                  <a:pt x="168592" y="480923"/>
                </a:lnTo>
                <a:lnTo>
                  <a:pt x="131140" y="461162"/>
                </a:lnTo>
                <a:lnTo>
                  <a:pt x="97866" y="440105"/>
                </a:lnTo>
                <a:lnTo>
                  <a:pt x="44843" y="394538"/>
                </a:lnTo>
                <a:lnTo>
                  <a:pt x="11544" y="345059"/>
                </a:lnTo>
                <a:lnTo>
                  <a:pt x="0" y="292481"/>
                </a:lnTo>
                <a:close/>
              </a:path>
            </a:pathLst>
          </a:custGeom>
          <a:ln w="12700">
            <a:solidFill>
              <a:srgbClr val="416F9C"/>
            </a:solidFill>
          </a:ln>
        </p:spPr>
        <p:txBody>
          <a:bodyPr wrap="square" lIns="0" tIns="0" rIns="0" bIns="0" rtlCol="0"/>
          <a:lstStyle/>
          <a:p>
            <a:endParaRPr/>
          </a:p>
        </p:txBody>
      </p:sp>
      <p:sp>
        <p:nvSpPr>
          <p:cNvPr id="107" name="object 12">
            <a:extLst>
              <a:ext uri="{FF2B5EF4-FFF2-40B4-BE49-F238E27FC236}">
                <a16:creationId xmlns:a16="http://schemas.microsoft.com/office/drawing/2014/main" id="{FFFEDCE6-1FC6-D0D2-A766-DBF4289AB447}"/>
              </a:ext>
            </a:extLst>
          </p:cNvPr>
          <p:cNvSpPr txBox="1"/>
          <p:nvPr/>
        </p:nvSpPr>
        <p:spPr>
          <a:xfrm>
            <a:off x="2826847" y="2950659"/>
            <a:ext cx="627380" cy="193675"/>
          </a:xfrm>
          <a:prstGeom prst="rect">
            <a:avLst/>
          </a:prstGeom>
        </p:spPr>
        <p:txBody>
          <a:bodyPr vert="horz" wrap="square" lIns="0" tIns="13335" rIns="0" bIns="0" rtlCol="0">
            <a:spAutoFit/>
          </a:bodyPr>
          <a:lstStyle/>
          <a:p>
            <a:pPr marL="12700">
              <a:lnSpc>
                <a:spcPct val="100000"/>
              </a:lnSpc>
              <a:spcBef>
                <a:spcPts val="105"/>
              </a:spcBef>
            </a:pPr>
            <a:r>
              <a:rPr sz="1100" spc="-5">
                <a:solidFill>
                  <a:srgbClr val="FFFFFF"/>
                </a:solidFill>
                <a:latin typeface="Calibri"/>
                <a:cs typeface="Calibri"/>
              </a:rPr>
              <a:t>Asset</a:t>
            </a:r>
            <a:r>
              <a:rPr sz="1100" spc="-150">
                <a:solidFill>
                  <a:srgbClr val="FFFFFF"/>
                </a:solidFill>
                <a:latin typeface="Calibri"/>
                <a:cs typeface="Calibri"/>
              </a:rPr>
              <a:t> </a:t>
            </a:r>
            <a:r>
              <a:rPr sz="1100">
                <a:solidFill>
                  <a:srgbClr val="FFFFFF"/>
                </a:solidFill>
                <a:latin typeface="Calibri"/>
                <a:cs typeface="Calibri"/>
              </a:rPr>
              <a:t>Type</a:t>
            </a:r>
            <a:endParaRPr sz="1100">
              <a:latin typeface="Calibri"/>
              <a:cs typeface="Calibri"/>
            </a:endParaRPr>
          </a:p>
        </p:txBody>
      </p:sp>
      <p:sp>
        <p:nvSpPr>
          <p:cNvPr id="108" name="object 13">
            <a:extLst>
              <a:ext uri="{FF2B5EF4-FFF2-40B4-BE49-F238E27FC236}">
                <a16:creationId xmlns:a16="http://schemas.microsoft.com/office/drawing/2014/main" id="{85D43589-1316-A571-68D9-2E09FAE968DB}"/>
              </a:ext>
            </a:extLst>
          </p:cNvPr>
          <p:cNvSpPr/>
          <p:nvPr/>
        </p:nvSpPr>
        <p:spPr>
          <a:xfrm>
            <a:off x="5669901" y="2806721"/>
            <a:ext cx="1435735" cy="684530"/>
          </a:xfrm>
          <a:custGeom>
            <a:avLst/>
            <a:gdLst/>
            <a:ahLst/>
            <a:cxnLst/>
            <a:rect l="l" t="t" r="r" b="b"/>
            <a:pathLst>
              <a:path w="1435734" h="684529">
                <a:moveTo>
                  <a:pt x="717740" y="0"/>
                </a:moveTo>
                <a:lnTo>
                  <a:pt x="655815" y="1257"/>
                </a:lnTo>
                <a:lnTo>
                  <a:pt x="595337" y="4953"/>
                </a:lnTo>
                <a:lnTo>
                  <a:pt x="536562" y="10985"/>
                </a:lnTo>
                <a:lnTo>
                  <a:pt x="479666" y="19265"/>
                </a:lnTo>
                <a:lnTo>
                  <a:pt x="424878" y="29667"/>
                </a:lnTo>
                <a:lnTo>
                  <a:pt x="372414" y="42113"/>
                </a:lnTo>
                <a:lnTo>
                  <a:pt x="322491" y="56476"/>
                </a:lnTo>
                <a:lnTo>
                  <a:pt x="275335" y="72682"/>
                </a:lnTo>
                <a:lnTo>
                  <a:pt x="231139" y="90601"/>
                </a:lnTo>
                <a:lnTo>
                  <a:pt x="190131" y="110134"/>
                </a:lnTo>
                <a:lnTo>
                  <a:pt x="152526" y="131191"/>
                </a:lnTo>
                <a:lnTo>
                  <a:pt x="118529" y="153670"/>
                </a:lnTo>
                <a:lnTo>
                  <a:pt x="88379" y="177457"/>
                </a:lnTo>
                <a:lnTo>
                  <a:pt x="40424" y="228561"/>
                </a:lnTo>
                <a:lnTo>
                  <a:pt x="10388" y="283679"/>
                </a:lnTo>
                <a:lnTo>
                  <a:pt x="0" y="342011"/>
                </a:lnTo>
                <a:lnTo>
                  <a:pt x="2628" y="371525"/>
                </a:lnTo>
                <a:lnTo>
                  <a:pt x="23063" y="428345"/>
                </a:lnTo>
                <a:lnTo>
                  <a:pt x="62268" y="481571"/>
                </a:lnTo>
                <a:lnTo>
                  <a:pt x="118529" y="530352"/>
                </a:lnTo>
                <a:lnTo>
                  <a:pt x="152526" y="552831"/>
                </a:lnTo>
                <a:lnTo>
                  <a:pt x="190131" y="573887"/>
                </a:lnTo>
                <a:lnTo>
                  <a:pt x="231139" y="593420"/>
                </a:lnTo>
                <a:lnTo>
                  <a:pt x="275335" y="611339"/>
                </a:lnTo>
                <a:lnTo>
                  <a:pt x="322491" y="627545"/>
                </a:lnTo>
                <a:lnTo>
                  <a:pt x="372414" y="641908"/>
                </a:lnTo>
                <a:lnTo>
                  <a:pt x="424878" y="654354"/>
                </a:lnTo>
                <a:lnTo>
                  <a:pt x="479666" y="664756"/>
                </a:lnTo>
                <a:lnTo>
                  <a:pt x="536562" y="673036"/>
                </a:lnTo>
                <a:lnTo>
                  <a:pt x="595337" y="679069"/>
                </a:lnTo>
                <a:lnTo>
                  <a:pt x="655815" y="682764"/>
                </a:lnTo>
                <a:lnTo>
                  <a:pt x="717740" y="684022"/>
                </a:lnTo>
                <a:lnTo>
                  <a:pt x="779665" y="682764"/>
                </a:lnTo>
                <a:lnTo>
                  <a:pt x="840130" y="679069"/>
                </a:lnTo>
                <a:lnTo>
                  <a:pt x="898918" y="673036"/>
                </a:lnTo>
                <a:lnTo>
                  <a:pt x="955814" y="664756"/>
                </a:lnTo>
                <a:lnTo>
                  <a:pt x="1010602" y="654354"/>
                </a:lnTo>
                <a:lnTo>
                  <a:pt x="1063066" y="641908"/>
                </a:lnTo>
                <a:lnTo>
                  <a:pt x="1112989" y="627545"/>
                </a:lnTo>
                <a:lnTo>
                  <a:pt x="1160145" y="611339"/>
                </a:lnTo>
                <a:lnTo>
                  <a:pt x="1204340" y="593420"/>
                </a:lnTo>
                <a:lnTo>
                  <a:pt x="1245349" y="573887"/>
                </a:lnTo>
                <a:lnTo>
                  <a:pt x="1282953" y="552831"/>
                </a:lnTo>
                <a:lnTo>
                  <a:pt x="1316939" y="530352"/>
                </a:lnTo>
                <a:lnTo>
                  <a:pt x="1347101" y="506564"/>
                </a:lnTo>
                <a:lnTo>
                  <a:pt x="1395056" y="455460"/>
                </a:lnTo>
                <a:lnTo>
                  <a:pt x="1425092" y="400342"/>
                </a:lnTo>
                <a:lnTo>
                  <a:pt x="1435480" y="342011"/>
                </a:lnTo>
                <a:lnTo>
                  <a:pt x="1432852" y="312496"/>
                </a:lnTo>
                <a:lnTo>
                  <a:pt x="1412417" y="255676"/>
                </a:lnTo>
                <a:lnTo>
                  <a:pt x="1373212" y="202450"/>
                </a:lnTo>
                <a:lnTo>
                  <a:pt x="1316939" y="153670"/>
                </a:lnTo>
                <a:lnTo>
                  <a:pt x="1282953" y="131191"/>
                </a:lnTo>
                <a:lnTo>
                  <a:pt x="1245349" y="110134"/>
                </a:lnTo>
                <a:lnTo>
                  <a:pt x="1204340" y="90601"/>
                </a:lnTo>
                <a:lnTo>
                  <a:pt x="1160145" y="72682"/>
                </a:lnTo>
                <a:lnTo>
                  <a:pt x="1112989" y="56476"/>
                </a:lnTo>
                <a:lnTo>
                  <a:pt x="1063066" y="42113"/>
                </a:lnTo>
                <a:lnTo>
                  <a:pt x="1010602" y="29667"/>
                </a:lnTo>
                <a:lnTo>
                  <a:pt x="955814" y="19265"/>
                </a:lnTo>
                <a:lnTo>
                  <a:pt x="898918" y="10985"/>
                </a:lnTo>
                <a:lnTo>
                  <a:pt x="840130" y="4953"/>
                </a:lnTo>
                <a:lnTo>
                  <a:pt x="779665" y="1257"/>
                </a:lnTo>
                <a:lnTo>
                  <a:pt x="717740" y="0"/>
                </a:lnTo>
                <a:close/>
              </a:path>
            </a:pathLst>
          </a:custGeom>
          <a:solidFill>
            <a:srgbClr val="5B9BD3"/>
          </a:solidFill>
        </p:spPr>
        <p:txBody>
          <a:bodyPr wrap="square" lIns="0" tIns="0" rIns="0" bIns="0" rtlCol="0"/>
          <a:lstStyle/>
          <a:p>
            <a:endParaRPr/>
          </a:p>
        </p:txBody>
      </p:sp>
      <p:sp>
        <p:nvSpPr>
          <p:cNvPr id="109" name="object 14">
            <a:extLst>
              <a:ext uri="{FF2B5EF4-FFF2-40B4-BE49-F238E27FC236}">
                <a16:creationId xmlns:a16="http://schemas.microsoft.com/office/drawing/2014/main" id="{86B8E8EF-029B-D421-35E4-A40AD615E63E}"/>
              </a:ext>
            </a:extLst>
          </p:cNvPr>
          <p:cNvSpPr/>
          <p:nvPr/>
        </p:nvSpPr>
        <p:spPr>
          <a:xfrm>
            <a:off x="5669901" y="2806722"/>
            <a:ext cx="1435735" cy="684530"/>
          </a:xfrm>
          <a:custGeom>
            <a:avLst/>
            <a:gdLst/>
            <a:ahLst/>
            <a:cxnLst/>
            <a:rect l="l" t="t" r="r" b="b"/>
            <a:pathLst>
              <a:path w="1435734" h="684529">
                <a:moveTo>
                  <a:pt x="0" y="342011"/>
                </a:moveTo>
                <a:lnTo>
                  <a:pt x="10388" y="283679"/>
                </a:lnTo>
                <a:lnTo>
                  <a:pt x="40424" y="228561"/>
                </a:lnTo>
                <a:lnTo>
                  <a:pt x="88379" y="177457"/>
                </a:lnTo>
                <a:lnTo>
                  <a:pt x="118529" y="153670"/>
                </a:lnTo>
                <a:lnTo>
                  <a:pt x="152527" y="131191"/>
                </a:lnTo>
                <a:lnTo>
                  <a:pt x="190131" y="110134"/>
                </a:lnTo>
                <a:lnTo>
                  <a:pt x="231140" y="90601"/>
                </a:lnTo>
                <a:lnTo>
                  <a:pt x="275336" y="72682"/>
                </a:lnTo>
                <a:lnTo>
                  <a:pt x="322491" y="56476"/>
                </a:lnTo>
                <a:lnTo>
                  <a:pt x="372414" y="42113"/>
                </a:lnTo>
                <a:lnTo>
                  <a:pt x="424878" y="29667"/>
                </a:lnTo>
                <a:lnTo>
                  <a:pt x="479666" y="19265"/>
                </a:lnTo>
                <a:lnTo>
                  <a:pt x="536562" y="10985"/>
                </a:lnTo>
                <a:lnTo>
                  <a:pt x="595350" y="4953"/>
                </a:lnTo>
                <a:lnTo>
                  <a:pt x="655815" y="1257"/>
                </a:lnTo>
                <a:lnTo>
                  <a:pt x="717740" y="0"/>
                </a:lnTo>
                <a:lnTo>
                  <a:pt x="779665" y="1257"/>
                </a:lnTo>
                <a:lnTo>
                  <a:pt x="840130" y="4953"/>
                </a:lnTo>
                <a:lnTo>
                  <a:pt x="898918" y="10985"/>
                </a:lnTo>
                <a:lnTo>
                  <a:pt x="955814" y="19265"/>
                </a:lnTo>
                <a:lnTo>
                  <a:pt x="1010602" y="29667"/>
                </a:lnTo>
                <a:lnTo>
                  <a:pt x="1063066" y="42113"/>
                </a:lnTo>
                <a:lnTo>
                  <a:pt x="1112989" y="56476"/>
                </a:lnTo>
                <a:lnTo>
                  <a:pt x="1160145" y="72682"/>
                </a:lnTo>
                <a:lnTo>
                  <a:pt x="1204341" y="90601"/>
                </a:lnTo>
                <a:lnTo>
                  <a:pt x="1245349" y="110134"/>
                </a:lnTo>
                <a:lnTo>
                  <a:pt x="1282954" y="131191"/>
                </a:lnTo>
                <a:lnTo>
                  <a:pt x="1316939" y="153670"/>
                </a:lnTo>
                <a:lnTo>
                  <a:pt x="1347101" y="177457"/>
                </a:lnTo>
                <a:lnTo>
                  <a:pt x="1395056" y="228561"/>
                </a:lnTo>
                <a:lnTo>
                  <a:pt x="1425092" y="283679"/>
                </a:lnTo>
                <a:lnTo>
                  <a:pt x="1435481" y="342011"/>
                </a:lnTo>
                <a:lnTo>
                  <a:pt x="1432852" y="371525"/>
                </a:lnTo>
                <a:lnTo>
                  <a:pt x="1412417" y="428345"/>
                </a:lnTo>
                <a:lnTo>
                  <a:pt x="1373212" y="481571"/>
                </a:lnTo>
                <a:lnTo>
                  <a:pt x="1316939" y="530352"/>
                </a:lnTo>
                <a:lnTo>
                  <a:pt x="1282954" y="552831"/>
                </a:lnTo>
                <a:lnTo>
                  <a:pt x="1245349" y="573887"/>
                </a:lnTo>
                <a:lnTo>
                  <a:pt x="1204341" y="593420"/>
                </a:lnTo>
                <a:lnTo>
                  <a:pt x="1160145" y="611339"/>
                </a:lnTo>
                <a:lnTo>
                  <a:pt x="1112989" y="627545"/>
                </a:lnTo>
                <a:lnTo>
                  <a:pt x="1063066" y="641908"/>
                </a:lnTo>
                <a:lnTo>
                  <a:pt x="1010602" y="654354"/>
                </a:lnTo>
                <a:lnTo>
                  <a:pt x="955814" y="664756"/>
                </a:lnTo>
                <a:lnTo>
                  <a:pt x="898918" y="673036"/>
                </a:lnTo>
                <a:lnTo>
                  <a:pt x="840130" y="679069"/>
                </a:lnTo>
                <a:lnTo>
                  <a:pt x="779665" y="682764"/>
                </a:lnTo>
                <a:lnTo>
                  <a:pt x="717740" y="684022"/>
                </a:lnTo>
                <a:lnTo>
                  <a:pt x="655815" y="682764"/>
                </a:lnTo>
                <a:lnTo>
                  <a:pt x="595350" y="679069"/>
                </a:lnTo>
                <a:lnTo>
                  <a:pt x="536562" y="673036"/>
                </a:lnTo>
                <a:lnTo>
                  <a:pt x="479666" y="664756"/>
                </a:lnTo>
                <a:lnTo>
                  <a:pt x="424878" y="654354"/>
                </a:lnTo>
                <a:lnTo>
                  <a:pt x="372414" y="641908"/>
                </a:lnTo>
                <a:lnTo>
                  <a:pt x="322491" y="627545"/>
                </a:lnTo>
                <a:lnTo>
                  <a:pt x="275336" y="611339"/>
                </a:lnTo>
                <a:lnTo>
                  <a:pt x="231140" y="593420"/>
                </a:lnTo>
                <a:lnTo>
                  <a:pt x="190131" y="573887"/>
                </a:lnTo>
                <a:lnTo>
                  <a:pt x="152527" y="552831"/>
                </a:lnTo>
                <a:lnTo>
                  <a:pt x="118529" y="530352"/>
                </a:lnTo>
                <a:lnTo>
                  <a:pt x="88379" y="506564"/>
                </a:lnTo>
                <a:lnTo>
                  <a:pt x="40424" y="455460"/>
                </a:lnTo>
                <a:lnTo>
                  <a:pt x="10388" y="400329"/>
                </a:lnTo>
                <a:lnTo>
                  <a:pt x="0" y="342011"/>
                </a:lnTo>
                <a:close/>
              </a:path>
            </a:pathLst>
          </a:custGeom>
          <a:ln w="12700">
            <a:solidFill>
              <a:srgbClr val="416F9C"/>
            </a:solidFill>
          </a:ln>
        </p:spPr>
        <p:txBody>
          <a:bodyPr wrap="square" lIns="0" tIns="0" rIns="0" bIns="0" rtlCol="0"/>
          <a:lstStyle/>
          <a:p>
            <a:endParaRPr/>
          </a:p>
        </p:txBody>
      </p:sp>
      <p:sp>
        <p:nvSpPr>
          <p:cNvPr id="110" name="object 15">
            <a:extLst>
              <a:ext uri="{FF2B5EF4-FFF2-40B4-BE49-F238E27FC236}">
                <a16:creationId xmlns:a16="http://schemas.microsoft.com/office/drawing/2014/main" id="{D1DEFC76-F7F8-2F04-2CA1-0F76E881539E}"/>
              </a:ext>
            </a:extLst>
          </p:cNvPr>
          <p:cNvSpPr txBox="1"/>
          <p:nvPr/>
        </p:nvSpPr>
        <p:spPr>
          <a:xfrm>
            <a:off x="5975951" y="2897682"/>
            <a:ext cx="833755" cy="529590"/>
          </a:xfrm>
          <a:prstGeom prst="rect">
            <a:avLst/>
          </a:prstGeom>
        </p:spPr>
        <p:txBody>
          <a:bodyPr vert="horz" wrap="square" lIns="0" tIns="13335" rIns="0" bIns="0" rtlCol="0">
            <a:spAutoFit/>
          </a:bodyPr>
          <a:lstStyle/>
          <a:p>
            <a:pPr marL="12065" marR="5080" algn="ctr">
              <a:lnSpc>
                <a:spcPct val="100000"/>
              </a:lnSpc>
              <a:spcBef>
                <a:spcPts val="105"/>
              </a:spcBef>
            </a:pPr>
            <a:r>
              <a:rPr sz="1100" spc="-5">
                <a:solidFill>
                  <a:srgbClr val="FFFFFF"/>
                </a:solidFill>
                <a:latin typeface="Calibri"/>
                <a:cs typeface="Calibri"/>
              </a:rPr>
              <a:t>C</a:t>
            </a:r>
            <a:r>
              <a:rPr sz="1100" spc="5">
                <a:solidFill>
                  <a:srgbClr val="FFFFFF"/>
                </a:solidFill>
                <a:latin typeface="Calibri"/>
                <a:cs typeface="Calibri"/>
              </a:rPr>
              <a:t>o</a:t>
            </a:r>
            <a:r>
              <a:rPr sz="1100" spc="-5">
                <a:solidFill>
                  <a:srgbClr val="FFFFFF"/>
                </a:solidFill>
                <a:latin typeface="Calibri"/>
                <a:cs typeface="Calibri"/>
              </a:rPr>
              <a:t>n</a:t>
            </a:r>
            <a:r>
              <a:rPr sz="1100">
                <a:solidFill>
                  <a:srgbClr val="FFFFFF"/>
                </a:solidFill>
                <a:latin typeface="Calibri"/>
                <a:cs typeface="Calibri"/>
              </a:rPr>
              <a:t>ce</a:t>
            </a:r>
            <a:r>
              <a:rPr sz="1100" spc="-5">
                <a:solidFill>
                  <a:srgbClr val="FFFFFF"/>
                </a:solidFill>
                <a:latin typeface="Calibri"/>
                <a:cs typeface="Calibri"/>
              </a:rPr>
              <a:t>n</a:t>
            </a:r>
            <a:r>
              <a:rPr sz="1100" spc="-10">
                <a:solidFill>
                  <a:srgbClr val="FFFFFF"/>
                </a:solidFill>
                <a:latin typeface="Calibri"/>
                <a:cs typeface="Calibri"/>
              </a:rPr>
              <a:t>t</a:t>
            </a:r>
            <a:r>
              <a:rPr sz="1100" spc="-5">
                <a:solidFill>
                  <a:srgbClr val="FFFFFF"/>
                </a:solidFill>
                <a:latin typeface="Calibri"/>
                <a:cs typeface="Calibri"/>
              </a:rPr>
              <a:t>ra</a:t>
            </a:r>
            <a:r>
              <a:rPr sz="1100" spc="-15">
                <a:solidFill>
                  <a:srgbClr val="FFFFFF"/>
                </a:solidFill>
                <a:latin typeface="Calibri"/>
                <a:cs typeface="Calibri"/>
              </a:rPr>
              <a:t>t</a:t>
            </a:r>
            <a:r>
              <a:rPr sz="1100" spc="-25">
                <a:solidFill>
                  <a:srgbClr val="FFFFFF"/>
                </a:solidFill>
                <a:latin typeface="Calibri"/>
                <a:cs typeface="Calibri"/>
              </a:rPr>
              <a:t>i</a:t>
            </a:r>
            <a:r>
              <a:rPr sz="1100" spc="-10">
                <a:solidFill>
                  <a:srgbClr val="FFFFFF"/>
                </a:solidFill>
                <a:latin typeface="Calibri"/>
                <a:cs typeface="Calibri"/>
              </a:rPr>
              <a:t>o</a:t>
            </a:r>
            <a:r>
              <a:rPr sz="1100">
                <a:solidFill>
                  <a:srgbClr val="FFFFFF"/>
                </a:solidFill>
                <a:latin typeface="Calibri"/>
                <a:cs typeface="Calibri"/>
              </a:rPr>
              <a:t>n  L</a:t>
            </a:r>
            <a:r>
              <a:rPr sz="1100" spc="-5">
                <a:solidFill>
                  <a:srgbClr val="FFFFFF"/>
                </a:solidFill>
                <a:latin typeface="Calibri"/>
                <a:cs typeface="Calibri"/>
              </a:rPr>
              <a:t>i</a:t>
            </a:r>
            <a:r>
              <a:rPr sz="1100" spc="5">
                <a:solidFill>
                  <a:srgbClr val="FFFFFF"/>
                </a:solidFill>
                <a:latin typeface="Calibri"/>
                <a:cs typeface="Calibri"/>
              </a:rPr>
              <a:t>m</a:t>
            </a:r>
            <a:r>
              <a:rPr sz="1100" spc="-5">
                <a:solidFill>
                  <a:srgbClr val="FFFFFF"/>
                </a:solidFill>
                <a:latin typeface="Calibri"/>
                <a:cs typeface="Calibri"/>
              </a:rPr>
              <a:t>i</a:t>
            </a:r>
            <a:r>
              <a:rPr sz="1100">
                <a:solidFill>
                  <a:srgbClr val="FFFFFF"/>
                </a:solidFill>
                <a:latin typeface="Calibri"/>
                <a:cs typeface="Calibri"/>
              </a:rPr>
              <a:t>ts</a:t>
            </a:r>
            <a:r>
              <a:rPr sz="1100" spc="90">
                <a:solidFill>
                  <a:srgbClr val="FFFFFF"/>
                </a:solidFill>
                <a:latin typeface="Calibri"/>
                <a:cs typeface="Calibri"/>
              </a:rPr>
              <a:t>/</a:t>
            </a:r>
            <a:r>
              <a:rPr sz="1100">
                <a:solidFill>
                  <a:srgbClr val="FFFFFF"/>
                </a:solidFill>
                <a:latin typeface="Calibri"/>
                <a:cs typeface="Calibri"/>
              </a:rPr>
              <a:t>W</a:t>
            </a:r>
            <a:r>
              <a:rPr sz="1100" spc="-5">
                <a:solidFill>
                  <a:srgbClr val="FFFFFF"/>
                </a:solidFill>
                <a:latin typeface="Calibri"/>
                <a:cs typeface="Calibri"/>
              </a:rPr>
              <a:t>r</a:t>
            </a:r>
            <a:r>
              <a:rPr sz="1100" spc="5">
                <a:solidFill>
                  <a:srgbClr val="FFFFFF"/>
                </a:solidFill>
                <a:latin typeface="Calibri"/>
                <a:cs typeface="Calibri"/>
              </a:rPr>
              <a:t>o</a:t>
            </a:r>
            <a:r>
              <a:rPr sz="1100" spc="-5">
                <a:solidFill>
                  <a:srgbClr val="FFFFFF"/>
                </a:solidFill>
                <a:latin typeface="Calibri"/>
                <a:cs typeface="Calibri"/>
              </a:rPr>
              <a:t>n</a:t>
            </a:r>
            <a:r>
              <a:rPr sz="1100">
                <a:solidFill>
                  <a:srgbClr val="FFFFFF"/>
                </a:solidFill>
                <a:latin typeface="Calibri"/>
                <a:cs typeface="Calibri"/>
              </a:rPr>
              <a:t>g  Way</a:t>
            </a:r>
            <a:r>
              <a:rPr sz="1100" spc="-55">
                <a:solidFill>
                  <a:srgbClr val="FFFFFF"/>
                </a:solidFill>
                <a:latin typeface="Calibri"/>
                <a:cs typeface="Calibri"/>
              </a:rPr>
              <a:t> </a:t>
            </a:r>
            <a:r>
              <a:rPr sz="1100" spc="-5">
                <a:solidFill>
                  <a:srgbClr val="FFFFFF"/>
                </a:solidFill>
                <a:latin typeface="Calibri"/>
                <a:cs typeface="Calibri"/>
              </a:rPr>
              <a:t>Risk</a:t>
            </a:r>
            <a:endParaRPr sz="1100">
              <a:latin typeface="Calibri"/>
              <a:cs typeface="Calibri"/>
            </a:endParaRPr>
          </a:p>
        </p:txBody>
      </p:sp>
      <p:sp>
        <p:nvSpPr>
          <p:cNvPr id="111" name="object 16">
            <a:extLst>
              <a:ext uri="{FF2B5EF4-FFF2-40B4-BE49-F238E27FC236}">
                <a16:creationId xmlns:a16="http://schemas.microsoft.com/office/drawing/2014/main" id="{7F667F7A-A4E3-039D-6963-6A9C94E1B20D}"/>
              </a:ext>
            </a:extLst>
          </p:cNvPr>
          <p:cNvSpPr/>
          <p:nvPr/>
        </p:nvSpPr>
        <p:spPr>
          <a:xfrm>
            <a:off x="7245716" y="2796052"/>
            <a:ext cx="1435735" cy="585470"/>
          </a:xfrm>
          <a:custGeom>
            <a:avLst/>
            <a:gdLst/>
            <a:ahLst/>
            <a:cxnLst/>
            <a:rect l="l" t="t" r="r" b="b"/>
            <a:pathLst>
              <a:path w="1435734" h="585469">
                <a:moveTo>
                  <a:pt x="717740" y="0"/>
                </a:moveTo>
                <a:lnTo>
                  <a:pt x="652411" y="1193"/>
                </a:lnTo>
                <a:lnTo>
                  <a:pt x="588721" y="4711"/>
                </a:lnTo>
                <a:lnTo>
                  <a:pt x="526935" y="10452"/>
                </a:lnTo>
                <a:lnTo>
                  <a:pt x="467296" y="18300"/>
                </a:lnTo>
                <a:lnTo>
                  <a:pt x="410057" y="28155"/>
                </a:lnTo>
                <a:lnTo>
                  <a:pt x="355485" y="39928"/>
                </a:lnTo>
                <a:lnTo>
                  <a:pt x="303809" y="53505"/>
                </a:lnTo>
                <a:lnTo>
                  <a:pt x="255308" y="68783"/>
                </a:lnTo>
                <a:lnTo>
                  <a:pt x="210223" y="85661"/>
                </a:lnTo>
                <a:lnTo>
                  <a:pt x="168808" y="104038"/>
                </a:lnTo>
                <a:lnTo>
                  <a:pt x="131305" y="123799"/>
                </a:lnTo>
                <a:lnTo>
                  <a:pt x="97993" y="144856"/>
                </a:lnTo>
                <a:lnTo>
                  <a:pt x="44907" y="190423"/>
                </a:lnTo>
                <a:lnTo>
                  <a:pt x="11556" y="239903"/>
                </a:lnTo>
                <a:lnTo>
                  <a:pt x="0" y="292481"/>
                </a:lnTo>
                <a:lnTo>
                  <a:pt x="2933" y="319100"/>
                </a:lnTo>
                <a:lnTo>
                  <a:pt x="25641" y="370230"/>
                </a:lnTo>
                <a:lnTo>
                  <a:pt x="69100" y="417868"/>
                </a:lnTo>
                <a:lnTo>
                  <a:pt x="131305" y="461162"/>
                </a:lnTo>
                <a:lnTo>
                  <a:pt x="168808" y="480923"/>
                </a:lnTo>
                <a:lnTo>
                  <a:pt x="210223" y="499300"/>
                </a:lnTo>
                <a:lnTo>
                  <a:pt x="255308" y="516178"/>
                </a:lnTo>
                <a:lnTo>
                  <a:pt x="303809" y="531456"/>
                </a:lnTo>
                <a:lnTo>
                  <a:pt x="355485" y="545033"/>
                </a:lnTo>
                <a:lnTo>
                  <a:pt x="410057" y="556806"/>
                </a:lnTo>
                <a:lnTo>
                  <a:pt x="467296" y="566661"/>
                </a:lnTo>
                <a:lnTo>
                  <a:pt x="526935" y="574509"/>
                </a:lnTo>
                <a:lnTo>
                  <a:pt x="588721" y="580250"/>
                </a:lnTo>
                <a:lnTo>
                  <a:pt x="652411" y="583768"/>
                </a:lnTo>
                <a:lnTo>
                  <a:pt x="717740" y="584962"/>
                </a:lnTo>
                <a:lnTo>
                  <a:pt x="783069" y="583768"/>
                </a:lnTo>
                <a:lnTo>
                  <a:pt x="846759" y="580250"/>
                </a:lnTo>
                <a:lnTo>
                  <a:pt x="908545" y="574509"/>
                </a:lnTo>
                <a:lnTo>
                  <a:pt x="968184" y="566661"/>
                </a:lnTo>
                <a:lnTo>
                  <a:pt x="1025423" y="556806"/>
                </a:lnTo>
                <a:lnTo>
                  <a:pt x="1079995" y="545033"/>
                </a:lnTo>
                <a:lnTo>
                  <a:pt x="1131671" y="531456"/>
                </a:lnTo>
                <a:lnTo>
                  <a:pt x="1180172" y="516178"/>
                </a:lnTo>
                <a:lnTo>
                  <a:pt x="1225257" y="499300"/>
                </a:lnTo>
                <a:lnTo>
                  <a:pt x="1266672" y="480923"/>
                </a:lnTo>
                <a:lnTo>
                  <a:pt x="1304175" y="461162"/>
                </a:lnTo>
                <a:lnTo>
                  <a:pt x="1337487" y="440105"/>
                </a:lnTo>
                <a:lnTo>
                  <a:pt x="1390573" y="394538"/>
                </a:lnTo>
                <a:lnTo>
                  <a:pt x="1423911" y="345059"/>
                </a:lnTo>
                <a:lnTo>
                  <a:pt x="1435480" y="292481"/>
                </a:lnTo>
                <a:lnTo>
                  <a:pt x="1432547" y="265861"/>
                </a:lnTo>
                <a:lnTo>
                  <a:pt x="1409839" y="214731"/>
                </a:lnTo>
                <a:lnTo>
                  <a:pt x="1366380" y="167093"/>
                </a:lnTo>
                <a:lnTo>
                  <a:pt x="1304175" y="123799"/>
                </a:lnTo>
                <a:lnTo>
                  <a:pt x="1266672" y="104038"/>
                </a:lnTo>
                <a:lnTo>
                  <a:pt x="1225257" y="85661"/>
                </a:lnTo>
                <a:lnTo>
                  <a:pt x="1180172" y="68783"/>
                </a:lnTo>
                <a:lnTo>
                  <a:pt x="1131671" y="53505"/>
                </a:lnTo>
                <a:lnTo>
                  <a:pt x="1079995" y="39928"/>
                </a:lnTo>
                <a:lnTo>
                  <a:pt x="1025423" y="28155"/>
                </a:lnTo>
                <a:lnTo>
                  <a:pt x="968184" y="18300"/>
                </a:lnTo>
                <a:lnTo>
                  <a:pt x="908545" y="10452"/>
                </a:lnTo>
                <a:lnTo>
                  <a:pt x="846759" y="4711"/>
                </a:lnTo>
                <a:lnTo>
                  <a:pt x="783069" y="1193"/>
                </a:lnTo>
                <a:lnTo>
                  <a:pt x="717740" y="0"/>
                </a:lnTo>
                <a:close/>
              </a:path>
            </a:pathLst>
          </a:custGeom>
          <a:solidFill>
            <a:srgbClr val="5B9BD3"/>
          </a:solidFill>
        </p:spPr>
        <p:txBody>
          <a:bodyPr wrap="square" lIns="0" tIns="0" rIns="0" bIns="0" rtlCol="0"/>
          <a:lstStyle/>
          <a:p>
            <a:endParaRPr/>
          </a:p>
        </p:txBody>
      </p:sp>
      <p:sp>
        <p:nvSpPr>
          <p:cNvPr id="112" name="object 17">
            <a:extLst>
              <a:ext uri="{FF2B5EF4-FFF2-40B4-BE49-F238E27FC236}">
                <a16:creationId xmlns:a16="http://schemas.microsoft.com/office/drawing/2014/main" id="{C5F7D452-E686-0CA9-E0F1-D028AC5F05F5}"/>
              </a:ext>
            </a:extLst>
          </p:cNvPr>
          <p:cNvSpPr/>
          <p:nvPr/>
        </p:nvSpPr>
        <p:spPr>
          <a:xfrm>
            <a:off x="7245716" y="2796052"/>
            <a:ext cx="1435735" cy="585470"/>
          </a:xfrm>
          <a:custGeom>
            <a:avLst/>
            <a:gdLst/>
            <a:ahLst/>
            <a:cxnLst/>
            <a:rect l="l" t="t" r="r" b="b"/>
            <a:pathLst>
              <a:path w="1435734" h="585469">
                <a:moveTo>
                  <a:pt x="0" y="292480"/>
                </a:moveTo>
                <a:lnTo>
                  <a:pt x="11557" y="239902"/>
                </a:lnTo>
                <a:lnTo>
                  <a:pt x="44907" y="190423"/>
                </a:lnTo>
                <a:lnTo>
                  <a:pt x="97993" y="144856"/>
                </a:lnTo>
                <a:lnTo>
                  <a:pt x="131305" y="123799"/>
                </a:lnTo>
                <a:lnTo>
                  <a:pt x="168808" y="104038"/>
                </a:lnTo>
                <a:lnTo>
                  <a:pt x="210223" y="85661"/>
                </a:lnTo>
                <a:lnTo>
                  <a:pt x="255308" y="68783"/>
                </a:lnTo>
                <a:lnTo>
                  <a:pt x="303809" y="53505"/>
                </a:lnTo>
                <a:lnTo>
                  <a:pt x="355485" y="39928"/>
                </a:lnTo>
                <a:lnTo>
                  <a:pt x="410057" y="28155"/>
                </a:lnTo>
                <a:lnTo>
                  <a:pt x="467296" y="18300"/>
                </a:lnTo>
                <a:lnTo>
                  <a:pt x="526935" y="10452"/>
                </a:lnTo>
                <a:lnTo>
                  <a:pt x="588721" y="4711"/>
                </a:lnTo>
                <a:lnTo>
                  <a:pt x="652411" y="1193"/>
                </a:lnTo>
                <a:lnTo>
                  <a:pt x="717740" y="0"/>
                </a:lnTo>
                <a:lnTo>
                  <a:pt x="783069" y="1193"/>
                </a:lnTo>
                <a:lnTo>
                  <a:pt x="846759" y="4711"/>
                </a:lnTo>
                <a:lnTo>
                  <a:pt x="908545" y="10452"/>
                </a:lnTo>
                <a:lnTo>
                  <a:pt x="968184" y="18300"/>
                </a:lnTo>
                <a:lnTo>
                  <a:pt x="1025423" y="28155"/>
                </a:lnTo>
                <a:lnTo>
                  <a:pt x="1079995" y="39928"/>
                </a:lnTo>
                <a:lnTo>
                  <a:pt x="1131671" y="53505"/>
                </a:lnTo>
                <a:lnTo>
                  <a:pt x="1180172" y="68783"/>
                </a:lnTo>
                <a:lnTo>
                  <a:pt x="1225257" y="85661"/>
                </a:lnTo>
                <a:lnTo>
                  <a:pt x="1266672" y="104038"/>
                </a:lnTo>
                <a:lnTo>
                  <a:pt x="1304175" y="123799"/>
                </a:lnTo>
                <a:lnTo>
                  <a:pt x="1337487" y="144856"/>
                </a:lnTo>
                <a:lnTo>
                  <a:pt x="1390573" y="190423"/>
                </a:lnTo>
                <a:lnTo>
                  <a:pt x="1423924" y="239902"/>
                </a:lnTo>
                <a:lnTo>
                  <a:pt x="1435481" y="292480"/>
                </a:lnTo>
                <a:lnTo>
                  <a:pt x="1432547" y="319100"/>
                </a:lnTo>
                <a:lnTo>
                  <a:pt x="1409839" y="370230"/>
                </a:lnTo>
                <a:lnTo>
                  <a:pt x="1366380" y="417868"/>
                </a:lnTo>
                <a:lnTo>
                  <a:pt x="1304175" y="461162"/>
                </a:lnTo>
                <a:lnTo>
                  <a:pt x="1266672" y="480923"/>
                </a:lnTo>
                <a:lnTo>
                  <a:pt x="1225257" y="499300"/>
                </a:lnTo>
                <a:lnTo>
                  <a:pt x="1180172" y="516178"/>
                </a:lnTo>
                <a:lnTo>
                  <a:pt x="1131671" y="531456"/>
                </a:lnTo>
                <a:lnTo>
                  <a:pt x="1079995" y="545033"/>
                </a:lnTo>
                <a:lnTo>
                  <a:pt x="1025423" y="556806"/>
                </a:lnTo>
                <a:lnTo>
                  <a:pt x="968184" y="566661"/>
                </a:lnTo>
                <a:lnTo>
                  <a:pt x="908545" y="574509"/>
                </a:lnTo>
                <a:lnTo>
                  <a:pt x="846759" y="580250"/>
                </a:lnTo>
                <a:lnTo>
                  <a:pt x="783069" y="583768"/>
                </a:lnTo>
                <a:lnTo>
                  <a:pt x="717740" y="584961"/>
                </a:lnTo>
                <a:lnTo>
                  <a:pt x="652411" y="583768"/>
                </a:lnTo>
                <a:lnTo>
                  <a:pt x="588721" y="580250"/>
                </a:lnTo>
                <a:lnTo>
                  <a:pt x="526935" y="574509"/>
                </a:lnTo>
                <a:lnTo>
                  <a:pt x="467296" y="566661"/>
                </a:lnTo>
                <a:lnTo>
                  <a:pt x="410057" y="556806"/>
                </a:lnTo>
                <a:lnTo>
                  <a:pt x="355485" y="545033"/>
                </a:lnTo>
                <a:lnTo>
                  <a:pt x="303809" y="531456"/>
                </a:lnTo>
                <a:lnTo>
                  <a:pt x="255308" y="516178"/>
                </a:lnTo>
                <a:lnTo>
                  <a:pt x="210223" y="499300"/>
                </a:lnTo>
                <a:lnTo>
                  <a:pt x="168808" y="480923"/>
                </a:lnTo>
                <a:lnTo>
                  <a:pt x="131305" y="461162"/>
                </a:lnTo>
                <a:lnTo>
                  <a:pt x="97993" y="440105"/>
                </a:lnTo>
                <a:lnTo>
                  <a:pt x="44907" y="394538"/>
                </a:lnTo>
                <a:lnTo>
                  <a:pt x="11557" y="345058"/>
                </a:lnTo>
                <a:lnTo>
                  <a:pt x="0" y="292480"/>
                </a:lnTo>
                <a:close/>
              </a:path>
            </a:pathLst>
          </a:custGeom>
          <a:ln w="12700">
            <a:solidFill>
              <a:srgbClr val="416F9C"/>
            </a:solidFill>
          </a:ln>
        </p:spPr>
        <p:txBody>
          <a:bodyPr wrap="square" lIns="0" tIns="0" rIns="0" bIns="0" rtlCol="0"/>
          <a:lstStyle/>
          <a:p>
            <a:endParaRPr/>
          </a:p>
        </p:txBody>
      </p:sp>
      <p:sp>
        <p:nvSpPr>
          <p:cNvPr id="113" name="object 18">
            <a:extLst>
              <a:ext uri="{FF2B5EF4-FFF2-40B4-BE49-F238E27FC236}">
                <a16:creationId xmlns:a16="http://schemas.microsoft.com/office/drawing/2014/main" id="{8E1483B4-F808-3029-ADDE-4B8D15C2F982}"/>
              </a:ext>
            </a:extLst>
          </p:cNvPr>
          <p:cNvSpPr txBox="1"/>
          <p:nvPr/>
        </p:nvSpPr>
        <p:spPr>
          <a:xfrm>
            <a:off x="7608147" y="2837134"/>
            <a:ext cx="708025" cy="361950"/>
          </a:xfrm>
          <a:prstGeom prst="rect">
            <a:avLst/>
          </a:prstGeom>
        </p:spPr>
        <p:txBody>
          <a:bodyPr vert="horz" wrap="square" lIns="0" tIns="13335" rIns="0" bIns="0" rtlCol="0">
            <a:spAutoFit/>
          </a:bodyPr>
          <a:lstStyle/>
          <a:p>
            <a:pPr marL="12700" marR="5080" indent="90805">
              <a:lnSpc>
                <a:spcPct val="100000"/>
              </a:lnSpc>
              <a:spcBef>
                <a:spcPts val="105"/>
              </a:spcBef>
            </a:pPr>
            <a:r>
              <a:rPr sz="1100" spc="-10">
                <a:solidFill>
                  <a:srgbClr val="FFFFFF"/>
                </a:solidFill>
                <a:latin typeface="Calibri"/>
                <a:cs typeface="Calibri"/>
              </a:rPr>
              <a:t>Maturity  </a:t>
            </a:r>
            <a:r>
              <a:rPr sz="1100">
                <a:solidFill>
                  <a:srgbClr val="FFFFFF"/>
                </a:solidFill>
                <a:latin typeface="Calibri"/>
                <a:cs typeface="Calibri"/>
              </a:rPr>
              <a:t>Ty</a:t>
            </a:r>
            <a:r>
              <a:rPr sz="1100" spc="-5">
                <a:solidFill>
                  <a:srgbClr val="FFFFFF"/>
                </a:solidFill>
                <a:latin typeface="Calibri"/>
                <a:cs typeface="Calibri"/>
              </a:rPr>
              <a:t>p</a:t>
            </a:r>
            <a:r>
              <a:rPr sz="1100">
                <a:solidFill>
                  <a:srgbClr val="FFFFFF"/>
                </a:solidFill>
                <a:latin typeface="Calibri"/>
                <a:cs typeface="Calibri"/>
              </a:rPr>
              <a:t>e</a:t>
            </a:r>
            <a:r>
              <a:rPr sz="1100" spc="5">
                <a:solidFill>
                  <a:srgbClr val="FFFFFF"/>
                </a:solidFill>
                <a:latin typeface="Calibri"/>
                <a:cs typeface="Calibri"/>
              </a:rPr>
              <a:t>/</a:t>
            </a:r>
            <a:r>
              <a:rPr sz="1100">
                <a:solidFill>
                  <a:srgbClr val="FFFFFF"/>
                </a:solidFill>
                <a:latin typeface="Calibri"/>
                <a:cs typeface="Calibri"/>
              </a:rPr>
              <a:t>R</a:t>
            </a:r>
            <a:r>
              <a:rPr sz="1100" spc="-5">
                <a:solidFill>
                  <a:srgbClr val="FFFFFF"/>
                </a:solidFill>
                <a:latin typeface="Calibri"/>
                <a:cs typeface="Calibri"/>
              </a:rPr>
              <a:t>ang</a:t>
            </a:r>
            <a:r>
              <a:rPr sz="1100">
                <a:solidFill>
                  <a:srgbClr val="FFFFFF"/>
                </a:solidFill>
                <a:latin typeface="Calibri"/>
                <a:cs typeface="Calibri"/>
              </a:rPr>
              <a:t>e</a:t>
            </a:r>
            <a:endParaRPr sz="1100">
              <a:latin typeface="Calibri"/>
              <a:cs typeface="Calibri"/>
            </a:endParaRPr>
          </a:p>
        </p:txBody>
      </p:sp>
      <p:sp>
        <p:nvSpPr>
          <p:cNvPr id="114" name="object 19">
            <a:extLst>
              <a:ext uri="{FF2B5EF4-FFF2-40B4-BE49-F238E27FC236}">
                <a16:creationId xmlns:a16="http://schemas.microsoft.com/office/drawing/2014/main" id="{C457A8C9-9EE2-88FC-AA49-39A560E642A5}"/>
              </a:ext>
            </a:extLst>
          </p:cNvPr>
          <p:cNvSpPr/>
          <p:nvPr/>
        </p:nvSpPr>
        <p:spPr>
          <a:xfrm>
            <a:off x="4005693" y="2825008"/>
            <a:ext cx="1566545" cy="585470"/>
          </a:xfrm>
          <a:custGeom>
            <a:avLst/>
            <a:gdLst/>
            <a:ahLst/>
            <a:cxnLst/>
            <a:rect l="l" t="t" r="r" b="b"/>
            <a:pathLst>
              <a:path w="1566545" h="585469">
                <a:moveTo>
                  <a:pt x="783082" y="0"/>
                </a:moveTo>
                <a:lnTo>
                  <a:pt x="715518" y="1079"/>
                </a:lnTo>
                <a:lnTo>
                  <a:pt x="649541" y="4229"/>
                </a:lnTo>
                <a:lnTo>
                  <a:pt x="585406" y="9398"/>
                </a:lnTo>
                <a:lnTo>
                  <a:pt x="523328" y="16471"/>
                </a:lnTo>
                <a:lnTo>
                  <a:pt x="463550" y="25374"/>
                </a:lnTo>
                <a:lnTo>
                  <a:pt x="406323" y="36017"/>
                </a:lnTo>
                <a:lnTo>
                  <a:pt x="351853" y="48298"/>
                </a:lnTo>
                <a:lnTo>
                  <a:pt x="300393" y="62153"/>
                </a:lnTo>
                <a:lnTo>
                  <a:pt x="252183" y="77482"/>
                </a:lnTo>
                <a:lnTo>
                  <a:pt x="207441" y="94183"/>
                </a:lnTo>
                <a:lnTo>
                  <a:pt x="166408" y="112191"/>
                </a:lnTo>
                <a:lnTo>
                  <a:pt x="129324" y="131419"/>
                </a:lnTo>
                <a:lnTo>
                  <a:pt x="96418" y="151752"/>
                </a:lnTo>
                <a:lnTo>
                  <a:pt x="44107" y="195465"/>
                </a:lnTo>
                <a:lnTo>
                  <a:pt x="11341" y="242608"/>
                </a:lnTo>
                <a:lnTo>
                  <a:pt x="0" y="292481"/>
                </a:lnTo>
                <a:lnTo>
                  <a:pt x="2870" y="317715"/>
                </a:lnTo>
                <a:lnTo>
                  <a:pt x="25158" y="366318"/>
                </a:lnTo>
                <a:lnTo>
                  <a:pt x="67945" y="411822"/>
                </a:lnTo>
                <a:lnTo>
                  <a:pt x="129324" y="453542"/>
                </a:lnTo>
                <a:lnTo>
                  <a:pt x="166408" y="472770"/>
                </a:lnTo>
                <a:lnTo>
                  <a:pt x="207441" y="490778"/>
                </a:lnTo>
                <a:lnTo>
                  <a:pt x="252183" y="507492"/>
                </a:lnTo>
                <a:lnTo>
                  <a:pt x="300393" y="522808"/>
                </a:lnTo>
                <a:lnTo>
                  <a:pt x="351853" y="536663"/>
                </a:lnTo>
                <a:lnTo>
                  <a:pt x="406323" y="548944"/>
                </a:lnTo>
                <a:lnTo>
                  <a:pt x="463550" y="559587"/>
                </a:lnTo>
                <a:lnTo>
                  <a:pt x="523328" y="568490"/>
                </a:lnTo>
                <a:lnTo>
                  <a:pt x="585406" y="575564"/>
                </a:lnTo>
                <a:lnTo>
                  <a:pt x="649541" y="580732"/>
                </a:lnTo>
                <a:lnTo>
                  <a:pt x="715518" y="583882"/>
                </a:lnTo>
                <a:lnTo>
                  <a:pt x="783082" y="584962"/>
                </a:lnTo>
                <a:lnTo>
                  <a:pt x="850646" y="583882"/>
                </a:lnTo>
                <a:lnTo>
                  <a:pt x="916622" y="580732"/>
                </a:lnTo>
                <a:lnTo>
                  <a:pt x="980757" y="575564"/>
                </a:lnTo>
                <a:lnTo>
                  <a:pt x="1042835" y="568490"/>
                </a:lnTo>
                <a:lnTo>
                  <a:pt x="1102614" y="559587"/>
                </a:lnTo>
                <a:lnTo>
                  <a:pt x="1159840" y="548944"/>
                </a:lnTo>
                <a:lnTo>
                  <a:pt x="1214310" y="536663"/>
                </a:lnTo>
                <a:lnTo>
                  <a:pt x="1265770" y="522808"/>
                </a:lnTo>
                <a:lnTo>
                  <a:pt x="1313980" y="507492"/>
                </a:lnTo>
                <a:lnTo>
                  <a:pt x="1358722" y="490778"/>
                </a:lnTo>
                <a:lnTo>
                  <a:pt x="1399755" y="472770"/>
                </a:lnTo>
                <a:lnTo>
                  <a:pt x="1436839" y="453542"/>
                </a:lnTo>
                <a:lnTo>
                  <a:pt x="1469732" y="433209"/>
                </a:lnTo>
                <a:lnTo>
                  <a:pt x="1522056" y="389496"/>
                </a:lnTo>
                <a:lnTo>
                  <a:pt x="1554822" y="342353"/>
                </a:lnTo>
                <a:lnTo>
                  <a:pt x="1566164" y="292481"/>
                </a:lnTo>
                <a:lnTo>
                  <a:pt x="1563293" y="267246"/>
                </a:lnTo>
                <a:lnTo>
                  <a:pt x="1541005" y="218643"/>
                </a:lnTo>
                <a:lnTo>
                  <a:pt x="1498219" y="173139"/>
                </a:lnTo>
                <a:lnTo>
                  <a:pt x="1436839" y="131419"/>
                </a:lnTo>
                <a:lnTo>
                  <a:pt x="1399755" y="112191"/>
                </a:lnTo>
                <a:lnTo>
                  <a:pt x="1358722" y="94183"/>
                </a:lnTo>
                <a:lnTo>
                  <a:pt x="1313980" y="77482"/>
                </a:lnTo>
                <a:lnTo>
                  <a:pt x="1265770" y="62153"/>
                </a:lnTo>
                <a:lnTo>
                  <a:pt x="1214310" y="48298"/>
                </a:lnTo>
                <a:lnTo>
                  <a:pt x="1159840" y="36017"/>
                </a:lnTo>
                <a:lnTo>
                  <a:pt x="1102614" y="25374"/>
                </a:lnTo>
                <a:lnTo>
                  <a:pt x="1042835" y="16471"/>
                </a:lnTo>
                <a:lnTo>
                  <a:pt x="980757" y="9398"/>
                </a:lnTo>
                <a:lnTo>
                  <a:pt x="916622" y="4229"/>
                </a:lnTo>
                <a:lnTo>
                  <a:pt x="850646" y="1079"/>
                </a:lnTo>
                <a:lnTo>
                  <a:pt x="783082" y="0"/>
                </a:lnTo>
                <a:close/>
              </a:path>
            </a:pathLst>
          </a:custGeom>
          <a:solidFill>
            <a:srgbClr val="5B9BD3"/>
          </a:solidFill>
        </p:spPr>
        <p:txBody>
          <a:bodyPr wrap="square" lIns="0" tIns="0" rIns="0" bIns="0" rtlCol="0"/>
          <a:lstStyle/>
          <a:p>
            <a:endParaRPr/>
          </a:p>
        </p:txBody>
      </p:sp>
      <p:sp>
        <p:nvSpPr>
          <p:cNvPr id="115" name="object 20">
            <a:extLst>
              <a:ext uri="{FF2B5EF4-FFF2-40B4-BE49-F238E27FC236}">
                <a16:creationId xmlns:a16="http://schemas.microsoft.com/office/drawing/2014/main" id="{9C4CD5CF-8A24-C36E-531F-9C0249A369AE}"/>
              </a:ext>
            </a:extLst>
          </p:cNvPr>
          <p:cNvSpPr/>
          <p:nvPr/>
        </p:nvSpPr>
        <p:spPr>
          <a:xfrm>
            <a:off x="4005693" y="2825008"/>
            <a:ext cx="1566545" cy="585470"/>
          </a:xfrm>
          <a:custGeom>
            <a:avLst/>
            <a:gdLst/>
            <a:ahLst/>
            <a:cxnLst/>
            <a:rect l="l" t="t" r="r" b="b"/>
            <a:pathLst>
              <a:path w="1566545" h="585469">
                <a:moveTo>
                  <a:pt x="0" y="292481"/>
                </a:moveTo>
                <a:lnTo>
                  <a:pt x="11341" y="242608"/>
                </a:lnTo>
                <a:lnTo>
                  <a:pt x="44107" y="195465"/>
                </a:lnTo>
                <a:lnTo>
                  <a:pt x="96418" y="151752"/>
                </a:lnTo>
                <a:lnTo>
                  <a:pt x="129324" y="131419"/>
                </a:lnTo>
                <a:lnTo>
                  <a:pt x="166408" y="112191"/>
                </a:lnTo>
                <a:lnTo>
                  <a:pt x="207441" y="94183"/>
                </a:lnTo>
                <a:lnTo>
                  <a:pt x="252183" y="77470"/>
                </a:lnTo>
                <a:lnTo>
                  <a:pt x="300393" y="62153"/>
                </a:lnTo>
                <a:lnTo>
                  <a:pt x="351853" y="48298"/>
                </a:lnTo>
                <a:lnTo>
                  <a:pt x="406323" y="36017"/>
                </a:lnTo>
                <a:lnTo>
                  <a:pt x="463550" y="25374"/>
                </a:lnTo>
                <a:lnTo>
                  <a:pt x="523328" y="16471"/>
                </a:lnTo>
                <a:lnTo>
                  <a:pt x="585406" y="9398"/>
                </a:lnTo>
                <a:lnTo>
                  <a:pt x="649541" y="4229"/>
                </a:lnTo>
                <a:lnTo>
                  <a:pt x="715518" y="1079"/>
                </a:lnTo>
                <a:lnTo>
                  <a:pt x="783082" y="0"/>
                </a:lnTo>
                <a:lnTo>
                  <a:pt x="850646" y="1079"/>
                </a:lnTo>
                <a:lnTo>
                  <a:pt x="916622" y="4229"/>
                </a:lnTo>
                <a:lnTo>
                  <a:pt x="980757" y="9398"/>
                </a:lnTo>
                <a:lnTo>
                  <a:pt x="1042835" y="16471"/>
                </a:lnTo>
                <a:lnTo>
                  <a:pt x="1102614" y="25374"/>
                </a:lnTo>
                <a:lnTo>
                  <a:pt x="1159840" y="36017"/>
                </a:lnTo>
                <a:lnTo>
                  <a:pt x="1214310" y="48298"/>
                </a:lnTo>
                <a:lnTo>
                  <a:pt x="1265770" y="62153"/>
                </a:lnTo>
                <a:lnTo>
                  <a:pt x="1313980" y="77470"/>
                </a:lnTo>
                <a:lnTo>
                  <a:pt x="1358722" y="94183"/>
                </a:lnTo>
                <a:lnTo>
                  <a:pt x="1399755" y="112191"/>
                </a:lnTo>
                <a:lnTo>
                  <a:pt x="1436839" y="131419"/>
                </a:lnTo>
                <a:lnTo>
                  <a:pt x="1469745" y="151752"/>
                </a:lnTo>
                <a:lnTo>
                  <a:pt x="1522056" y="195465"/>
                </a:lnTo>
                <a:lnTo>
                  <a:pt x="1554822" y="242608"/>
                </a:lnTo>
                <a:lnTo>
                  <a:pt x="1566164" y="292481"/>
                </a:lnTo>
                <a:lnTo>
                  <a:pt x="1563293" y="317715"/>
                </a:lnTo>
                <a:lnTo>
                  <a:pt x="1541005" y="366318"/>
                </a:lnTo>
                <a:lnTo>
                  <a:pt x="1498219" y="411822"/>
                </a:lnTo>
                <a:lnTo>
                  <a:pt x="1436839" y="453542"/>
                </a:lnTo>
                <a:lnTo>
                  <a:pt x="1399755" y="472770"/>
                </a:lnTo>
                <a:lnTo>
                  <a:pt x="1358722" y="490778"/>
                </a:lnTo>
                <a:lnTo>
                  <a:pt x="1313980" y="507479"/>
                </a:lnTo>
                <a:lnTo>
                  <a:pt x="1265770" y="522808"/>
                </a:lnTo>
                <a:lnTo>
                  <a:pt x="1214310" y="536663"/>
                </a:lnTo>
                <a:lnTo>
                  <a:pt x="1159840" y="548944"/>
                </a:lnTo>
                <a:lnTo>
                  <a:pt x="1102614" y="559587"/>
                </a:lnTo>
                <a:lnTo>
                  <a:pt x="1042835" y="568490"/>
                </a:lnTo>
                <a:lnTo>
                  <a:pt x="980757" y="575564"/>
                </a:lnTo>
                <a:lnTo>
                  <a:pt x="916622" y="580732"/>
                </a:lnTo>
                <a:lnTo>
                  <a:pt x="850646" y="583882"/>
                </a:lnTo>
                <a:lnTo>
                  <a:pt x="783082" y="584962"/>
                </a:lnTo>
                <a:lnTo>
                  <a:pt x="715518" y="583882"/>
                </a:lnTo>
                <a:lnTo>
                  <a:pt x="649541" y="580732"/>
                </a:lnTo>
                <a:lnTo>
                  <a:pt x="585406" y="575564"/>
                </a:lnTo>
                <a:lnTo>
                  <a:pt x="523328" y="568490"/>
                </a:lnTo>
                <a:lnTo>
                  <a:pt x="463550" y="559587"/>
                </a:lnTo>
                <a:lnTo>
                  <a:pt x="406323" y="548944"/>
                </a:lnTo>
                <a:lnTo>
                  <a:pt x="351853" y="536663"/>
                </a:lnTo>
                <a:lnTo>
                  <a:pt x="300393" y="522808"/>
                </a:lnTo>
                <a:lnTo>
                  <a:pt x="252183" y="507479"/>
                </a:lnTo>
                <a:lnTo>
                  <a:pt x="207441" y="490778"/>
                </a:lnTo>
                <a:lnTo>
                  <a:pt x="166408" y="472770"/>
                </a:lnTo>
                <a:lnTo>
                  <a:pt x="129324" y="453542"/>
                </a:lnTo>
                <a:lnTo>
                  <a:pt x="96418" y="433209"/>
                </a:lnTo>
                <a:lnTo>
                  <a:pt x="44107" y="389496"/>
                </a:lnTo>
                <a:lnTo>
                  <a:pt x="11341" y="342353"/>
                </a:lnTo>
                <a:lnTo>
                  <a:pt x="0" y="292481"/>
                </a:lnTo>
                <a:close/>
              </a:path>
            </a:pathLst>
          </a:custGeom>
          <a:ln w="12700">
            <a:solidFill>
              <a:srgbClr val="416F9C"/>
            </a:solidFill>
          </a:ln>
        </p:spPr>
        <p:txBody>
          <a:bodyPr wrap="square" lIns="0" tIns="0" rIns="0" bIns="0" rtlCol="0"/>
          <a:lstStyle/>
          <a:p>
            <a:endParaRPr/>
          </a:p>
        </p:txBody>
      </p:sp>
      <p:sp>
        <p:nvSpPr>
          <p:cNvPr id="116" name="object 21">
            <a:extLst>
              <a:ext uri="{FF2B5EF4-FFF2-40B4-BE49-F238E27FC236}">
                <a16:creationId xmlns:a16="http://schemas.microsoft.com/office/drawing/2014/main" id="{8BA2FF25-82C8-8BCF-8696-73BEB83E0EDD}"/>
              </a:ext>
            </a:extLst>
          </p:cNvPr>
          <p:cNvSpPr txBox="1"/>
          <p:nvPr/>
        </p:nvSpPr>
        <p:spPr>
          <a:xfrm>
            <a:off x="4354539" y="2866838"/>
            <a:ext cx="851535" cy="361950"/>
          </a:xfrm>
          <a:prstGeom prst="rect">
            <a:avLst/>
          </a:prstGeom>
        </p:spPr>
        <p:txBody>
          <a:bodyPr vert="horz" wrap="square" lIns="0" tIns="13335" rIns="0" bIns="0" rtlCol="0">
            <a:spAutoFit/>
          </a:bodyPr>
          <a:lstStyle/>
          <a:p>
            <a:pPr marL="170815" marR="5080" indent="-158750">
              <a:lnSpc>
                <a:spcPct val="100000"/>
              </a:lnSpc>
              <a:spcBef>
                <a:spcPts val="105"/>
              </a:spcBef>
            </a:pPr>
            <a:r>
              <a:rPr sz="1100" spc="-5">
                <a:solidFill>
                  <a:srgbClr val="FFFFFF"/>
                </a:solidFill>
                <a:latin typeface="Calibri"/>
                <a:cs typeface="Calibri"/>
              </a:rPr>
              <a:t>Asset/</a:t>
            </a:r>
            <a:r>
              <a:rPr sz="1100" spc="-185">
                <a:solidFill>
                  <a:srgbClr val="FFFFFF"/>
                </a:solidFill>
                <a:latin typeface="Calibri"/>
                <a:cs typeface="Calibri"/>
              </a:rPr>
              <a:t> </a:t>
            </a:r>
            <a:r>
              <a:rPr sz="1100">
                <a:solidFill>
                  <a:srgbClr val="FFFFFF"/>
                </a:solidFill>
                <a:latin typeface="Calibri"/>
                <a:cs typeface="Calibri"/>
              </a:rPr>
              <a:t>Product  </a:t>
            </a:r>
            <a:r>
              <a:rPr sz="1100" spc="-5">
                <a:solidFill>
                  <a:srgbClr val="FFFFFF"/>
                </a:solidFill>
                <a:latin typeface="Calibri"/>
                <a:cs typeface="Calibri"/>
              </a:rPr>
              <a:t>Identifier</a:t>
            </a:r>
            <a:endParaRPr sz="1100">
              <a:latin typeface="Calibri"/>
              <a:cs typeface="Calibri"/>
            </a:endParaRPr>
          </a:p>
        </p:txBody>
      </p:sp>
      <p:sp>
        <p:nvSpPr>
          <p:cNvPr id="117" name="object 22">
            <a:extLst>
              <a:ext uri="{FF2B5EF4-FFF2-40B4-BE49-F238E27FC236}">
                <a16:creationId xmlns:a16="http://schemas.microsoft.com/office/drawing/2014/main" id="{8E7EFA97-653E-2976-8F32-F362E06635AE}"/>
              </a:ext>
            </a:extLst>
          </p:cNvPr>
          <p:cNvSpPr/>
          <p:nvPr/>
        </p:nvSpPr>
        <p:spPr>
          <a:xfrm>
            <a:off x="10231233" y="2796052"/>
            <a:ext cx="1433830" cy="614045"/>
          </a:xfrm>
          <a:custGeom>
            <a:avLst/>
            <a:gdLst/>
            <a:ahLst/>
            <a:cxnLst/>
            <a:rect l="l" t="t" r="r" b="b"/>
            <a:pathLst>
              <a:path w="1433829" h="614044">
                <a:moveTo>
                  <a:pt x="716851" y="0"/>
                </a:moveTo>
                <a:lnTo>
                  <a:pt x="651598" y="1257"/>
                </a:lnTo>
                <a:lnTo>
                  <a:pt x="587997" y="4940"/>
                </a:lnTo>
                <a:lnTo>
                  <a:pt x="526288" y="10960"/>
                </a:lnTo>
                <a:lnTo>
                  <a:pt x="466712" y="19202"/>
                </a:lnTo>
                <a:lnTo>
                  <a:pt x="409549" y="29540"/>
                </a:lnTo>
                <a:lnTo>
                  <a:pt x="355041" y="41897"/>
                </a:lnTo>
                <a:lnTo>
                  <a:pt x="303441" y="56134"/>
                </a:lnTo>
                <a:lnTo>
                  <a:pt x="254990" y="72161"/>
                </a:lnTo>
                <a:lnTo>
                  <a:pt x="209956" y="89865"/>
                </a:lnTo>
                <a:lnTo>
                  <a:pt x="168592" y="109143"/>
                </a:lnTo>
                <a:lnTo>
                  <a:pt x="131140" y="129882"/>
                </a:lnTo>
                <a:lnTo>
                  <a:pt x="97866" y="151968"/>
                </a:lnTo>
                <a:lnTo>
                  <a:pt x="44843" y="199771"/>
                </a:lnTo>
                <a:lnTo>
                  <a:pt x="11544" y="251675"/>
                </a:lnTo>
                <a:lnTo>
                  <a:pt x="0" y="306832"/>
                </a:lnTo>
                <a:lnTo>
                  <a:pt x="2933" y="334759"/>
                </a:lnTo>
                <a:lnTo>
                  <a:pt x="25603" y="388404"/>
                </a:lnTo>
                <a:lnTo>
                  <a:pt x="69024" y="438365"/>
                </a:lnTo>
                <a:lnTo>
                  <a:pt x="131140" y="483781"/>
                </a:lnTo>
                <a:lnTo>
                  <a:pt x="168592" y="504520"/>
                </a:lnTo>
                <a:lnTo>
                  <a:pt x="209956" y="523798"/>
                </a:lnTo>
                <a:lnTo>
                  <a:pt x="254990" y="541502"/>
                </a:lnTo>
                <a:lnTo>
                  <a:pt x="303441" y="557530"/>
                </a:lnTo>
                <a:lnTo>
                  <a:pt x="355041" y="571766"/>
                </a:lnTo>
                <a:lnTo>
                  <a:pt x="409549" y="584123"/>
                </a:lnTo>
                <a:lnTo>
                  <a:pt x="466712" y="594461"/>
                </a:lnTo>
                <a:lnTo>
                  <a:pt x="526288" y="602703"/>
                </a:lnTo>
                <a:lnTo>
                  <a:pt x="587997" y="608723"/>
                </a:lnTo>
                <a:lnTo>
                  <a:pt x="651598" y="612406"/>
                </a:lnTo>
                <a:lnTo>
                  <a:pt x="716851" y="613664"/>
                </a:lnTo>
                <a:lnTo>
                  <a:pt x="782104" y="612406"/>
                </a:lnTo>
                <a:lnTo>
                  <a:pt x="845705" y="608723"/>
                </a:lnTo>
                <a:lnTo>
                  <a:pt x="907415" y="602703"/>
                </a:lnTo>
                <a:lnTo>
                  <a:pt x="966978" y="594461"/>
                </a:lnTo>
                <a:lnTo>
                  <a:pt x="1024153" y="584123"/>
                </a:lnTo>
                <a:lnTo>
                  <a:pt x="1078661" y="571766"/>
                </a:lnTo>
                <a:lnTo>
                  <a:pt x="1130261" y="557530"/>
                </a:lnTo>
                <a:lnTo>
                  <a:pt x="1178712" y="541502"/>
                </a:lnTo>
                <a:lnTo>
                  <a:pt x="1223746" y="523798"/>
                </a:lnTo>
                <a:lnTo>
                  <a:pt x="1265110" y="504520"/>
                </a:lnTo>
                <a:lnTo>
                  <a:pt x="1302550" y="483781"/>
                </a:lnTo>
                <a:lnTo>
                  <a:pt x="1335836" y="461695"/>
                </a:lnTo>
                <a:lnTo>
                  <a:pt x="1388859" y="413893"/>
                </a:lnTo>
                <a:lnTo>
                  <a:pt x="1422158" y="361988"/>
                </a:lnTo>
                <a:lnTo>
                  <a:pt x="1433703" y="306832"/>
                </a:lnTo>
                <a:lnTo>
                  <a:pt x="1430769" y="278904"/>
                </a:lnTo>
                <a:lnTo>
                  <a:pt x="1408099" y="225259"/>
                </a:lnTo>
                <a:lnTo>
                  <a:pt x="1364678" y="175298"/>
                </a:lnTo>
                <a:lnTo>
                  <a:pt x="1302550" y="129882"/>
                </a:lnTo>
                <a:lnTo>
                  <a:pt x="1265110" y="109143"/>
                </a:lnTo>
                <a:lnTo>
                  <a:pt x="1223746" y="89865"/>
                </a:lnTo>
                <a:lnTo>
                  <a:pt x="1178712" y="72161"/>
                </a:lnTo>
                <a:lnTo>
                  <a:pt x="1130261" y="56134"/>
                </a:lnTo>
                <a:lnTo>
                  <a:pt x="1078661" y="41897"/>
                </a:lnTo>
                <a:lnTo>
                  <a:pt x="1024153" y="29540"/>
                </a:lnTo>
                <a:lnTo>
                  <a:pt x="966978" y="19202"/>
                </a:lnTo>
                <a:lnTo>
                  <a:pt x="907415" y="10960"/>
                </a:lnTo>
                <a:lnTo>
                  <a:pt x="845705" y="4940"/>
                </a:lnTo>
                <a:lnTo>
                  <a:pt x="782104" y="1257"/>
                </a:lnTo>
                <a:lnTo>
                  <a:pt x="716851" y="0"/>
                </a:lnTo>
                <a:close/>
              </a:path>
            </a:pathLst>
          </a:custGeom>
          <a:solidFill>
            <a:srgbClr val="5B9BD3"/>
          </a:solidFill>
        </p:spPr>
        <p:txBody>
          <a:bodyPr wrap="square" lIns="0" tIns="0" rIns="0" bIns="0" rtlCol="0"/>
          <a:lstStyle/>
          <a:p>
            <a:endParaRPr/>
          </a:p>
        </p:txBody>
      </p:sp>
      <p:sp>
        <p:nvSpPr>
          <p:cNvPr id="118" name="object 23">
            <a:extLst>
              <a:ext uri="{FF2B5EF4-FFF2-40B4-BE49-F238E27FC236}">
                <a16:creationId xmlns:a16="http://schemas.microsoft.com/office/drawing/2014/main" id="{982664C1-968C-CB0E-9DC8-37B50B54B7FA}"/>
              </a:ext>
            </a:extLst>
          </p:cNvPr>
          <p:cNvSpPr/>
          <p:nvPr/>
        </p:nvSpPr>
        <p:spPr>
          <a:xfrm>
            <a:off x="10231233" y="2796052"/>
            <a:ext cx="1433830" cy="614045"/>
          </a:xfrm>
          <a:custGeom>
            <a:avLst/>
            <a:gdLst/>
            <a:ahLst/>
            <a:cxnLst/>
            <a:rect l="l" t="t" r="r" b="b"/>
            <a:pathLst>
              <a:path w="1433829" h="614044">
                <a:moveTo>
                  <a:pt x="0" y="306832"/>
                </a:moveTo>
                <a:lnTo>
                  <a:pt x="11544" y="251675"/>
                </a:lnTo>
                <a:lnTo>
                  <a:pt x="44843" y="199771"/>
                </a:lnTo>
                <a:lnTo>
                  <a:pt x="97866" y="151968"/>
                </a:lnTo>
                <a:lnTo>
                  <a:pt x="131140" y="129882"/>
                </a:lnTo>
                <a:lnTo>
                  <a:pt x="168592" y="109143"/>
                </a:lnTo>
                <a:lnTo>
                  <a:pt x="209956" y="89865"/>
                </a:lnTo>
                <a:lnTo>
                  <a:pt x="254990" y="72161"/>
                </a:lnTo>
                <a:lnTo>
                  <a:pt x="303441" y="56134"/>
                </a:lnTo>
                <a:lnTo>
                  <a:pt x="355041" y="41897"/>
                </a:lnTo>
                <a:lnTo>
                  <a:pt x="409549" y="29540"/>
                </a:lnTo>
                <a:lnTo>
                  <a:pt x="466712" y="19202"/>
                </a:lnTo>
                <a:lnTo>
                  <a:pt x="526288" y="10960"/>
                </a:lnTo>
                <a:lnTo>
                  <a:pt x="587997" y="4940"/>
                </a:lnTo>
                <a:lnTo>
                  <a:pt x="651598" y="1257"/>
                </a:lnTo>
                <a:lnTo>
                  <a:pt x="716851" y="0"/>
                </a:lnTo>
                <a:lnTo>
                  <a:pt x="782104" y="1257"/>
                </a:lnTo>
                <a:lnTo>
                  <a:pt x="845705" y="4940"/>
                </a:lnTo>
                <a:lnTo>
                  <a:pt x="907415" y="10960"/>
                </a:lnTo>
                <a:lnTo>
                  <a:pt x="966990" y="19202"/>
                </a:lnTo>
                <a:lnTo>
                  <a:pt x="1024153" y="29540"/>
                </a:lnTo>
                <a:lnTo>
                  <a:pt x="1078661" y="41897"/>
                </a:lnTo>
                <a:lnTo>
                  <a:pt x="1130261" y="56134"/>
                </a:lnTo>
                <a:lnTo>
                  <a:pt x="1178712" y="72161"/>
                </a:lnTo>
                <a:lnTo>
                  <a:pt x="1223746" y="89865"/>
                </a:lnTo>
                <a:lnTo>
                  <a:pt x="1265110" y="109143"/>
                </a:lnTo>
                <a:lnTo>
                  <a:pt x="1302550" y="129882"/>
                </a:lnTo>
                <a:lnTo>
                  <a:pt x="1335836" y="151968"/>
                </a:lnTo>
                <a:lnTo>
                  <a:pt x="1388859" y="199771"/>
                </a:lnTo>
                <a:lnTo>
                  <a:pt x="1422158" y="251675"/>
                </a:lnTo>
                <a:lnTo>
                  <a:pt x="1433703" y="306832"/>
                </a:lnTo>
                <a:lnTo>
                  <a:pt x="1430769" y="334759"/>
                </a:lnTo>
                <a:lnTo>
                  <a:pt x="1408099" y="388404"/>
                </a:lnTo>
                <a:lnTo>
                  <a:pt x="1364678" y="438365"/>
                </a:lnTo>
                <a:lnTo>
                  <a:pt x="1302550" y="483781"/>
                </a:lnTo>
                <a:lnTo>
                  <a:pt x="1265110" y="504520"/>
                </a:lnTo>
                <a:lnTo>
                  <a:pt x="1223746" y="523798"/>
                </a:lnTo>
                <a:lnTo>
                  <a:pt x="1178712" y="541502"/>
                </a:lnTo>
                <a:lnTo>
                  <a:pt x="1130261" y="557530"/>
                </a:lnTo>
                <a:lnTo>
                  <a:pt x="1078661" y="571766"/>
                </a:lnTo>
                <a:lnTo>
                  <a:pt x="1024153" y="584123"/>
                </a:lnTo>
                <a:lnTo>
                  <a:pt x="966990" y="594461"/>
                </a:lnTo>
                <a:lnTo>
                  <a:pt x="907415" y="602703"/>
                </a:lnTo>
                <a:lnTo>
                  <a:pt x="845705" y="608723"/>
                </a:lnTo>
                <a:lnTo>
                  <a:pt x="782104" y="612406"/>
                </a:lnTo>
                <a:lnTo>
                  <a:pt x="716851" y="613664"/>
                </a:lnTo>
                <a:lnTo>
                  <a:pt x="651598" y="612406"/>
                </a:lnTo>
                <a:lnTo>
                  <a:pt x="587997" y="608723"/>
                </a:lnTo>
                <a:lnTo>
                  <a:pt x="526288" y="602703"/>
                </a:lnTo>
                <a:lnTo>
                  <a:pt x="466712" y="594461"/>
                </a:lnTo>
                <a:lnTo>
                  <a:pt x="409549" y="584123"/>
                </a:lnTo>
                <a:lnTo>
                  <a:pt x="355041" y="571766"/>
                </a:lnTo>
                <a:lnTo>
                  <a:pt x="303441" y="557530"/>
                </a:lnTo>
                <a:lnTo>
                  <a:pt x="254990" y="541502"/>
                </a:lnTo>
                <a:lnTo>
                  <a:pt x="209956" y="523798"/>
                </a:lnTo>
                <a:lnTo>
                  <a:pt x="168592" y="504520"/>
                </a:lnTo>
                <a:lnTo>
                  <a:pt x="131140" y="483781"/>
                </a:lnTo>
                <a:lnTo>
                  <a:pt x="97866" y="461695"/>
                </a:lnTo>
                <a:lnTo>
                  <a:pt x="44843" y="413893"/>
                </a:lnTo>
                <a:lnTo>
                  <a:pt x="11544" y="361988"/>
                </a:lnTo>
                <a:lnTo>
                  <a:pt x="0" y="306832"/>
                </a:lnTo>
                <a:close/>
              </a:path>
            </a:pathLst>
          </a:custGeom>
          <a:ln w="12700">
            <a:solidFill>
              <a:srgbClr val="416F9C"/>
            </a:solidFill>
          </a:ln>
        </p:spPr>
        <p:txBody>
          <a:bodyPr wrap="square" lIns="0" tIns="0" rIns="0" bIns="0" rtlCol="0"/>
          <a:lstStyle/>
          <a:p>
            <a:endParaRPr/>
          </a:p>
        </p:txBody>
      </p:sp>
      <p:sp>
        <p:nvSpPr>
          <p:cNvPr id="119" name="object 24">
            <a:extLst>
              <a:ext uri="{FF2B5EF4-FFF2-40B4-BE49-F238E27FC236}">
                <a16:creationId xmlns:a16="http://schemas.microsoft.com/office/drawing/2014/main" id="{346ED96B-E2F7-5AB3-B029-F57F901B33F6}"/>
              </a:ext>
            </a:extLst>
          </p:cNvPr>
          <p:cNvSpPr txBox="1"/>
          <p:nvPr/>
        </p:nvSpPr>
        <p:spPr>
          <a:xfrm>
            <a:off x="10617890" y="2851986"/>
            <a:ext cx="668655" cy="529590"/>
          </a:xfrm>
          <a:prstGeom prst="rect">
            <a:avLst/>
          </a:prstGeom>
        </p:spPr>
        <p:txBody>
          <a:bodyPr vert="horz" wrap="square" lIns="0" tIns="13335" rIns="0" bIns="0" rtlCol="0">
            <a:spAutoFit/>
          </a:bodyPr>
          <a:lstStyle/>
          <a:p>
            <a:pPr marL="12700" marR="5080" indent="1905" algn="ctr">
              <a:lnSpc>
                <a:spcPct val="100000"/>
              </a:lnSpc>
              <a:spcBef>
                <a:spcPts val="105"/>
              </a:spcBef>
            </a:pPr>
            <a:r>
              <a:rPr sz="1100" spc="-5">
                <a:solidFill>
                  <a:srgbClr val="FFFFFF"/>
                </a:solidFill>
                <a:latin typeface="Calibri"/>
                <a:cs typeface="Calibri"/>
              </a:rPr>
              <a:t>Valuation  </a:t>
            </a:r>
            <a:r>
              <a:rPr sz="1100" spc="5">
                <a:solidFill>
                  <a:srgbClr val="FFFFFF"/>
                </a:solidFill>
                <a:latin typeface="Calibri"/>
                <a:cs typeface="Calibri"/>
              </a:rPr>
              <a:t>P</a:t>
            </a:r>
            <a:r>
              <a:rPr sz="1100">
                <a:solidFill>
                  <a:srgbClr val="FFFFFF"/>
                </a:solidFill>
                <a:latin typeface="Calibri"/>
                <a:cs typeface="Calibri"/>
              </a:rPr>
              <a:t>e</a:t>
            </a:r>
            <a:r>
              <a:rPr sz="1100" spc="-5">
                <a:solidFill>
                  <a:srgbClr val="FFFFFF"/>
                </a:solidFill>
                <a:latin typeface="Calibri"/>
                <a:cs typeface="Calibri"/>
              </a:rPr>
              <a:t>r</a:t>
            </a:r>
            <a:r>
              <a:rPr sz="1100">
                <a:solidFill>
                  <a:srgbClr val="FFFFFF"/>
                </a:solidFill>
                <a:latin typeface="Calibri"/>
                <a:cs typeface="Calibri"/>
              </a:rPr>
              <a:t>ce</a:t>
            </a:r>
            <a:r>
              <a:rPr sz="1100" spc="-5">
                <a:solidFill>
                  <a:srgbClr val="FFFFFF"/>
                </a:solidFill>
                <a:latin typeface="Calibri"/>
                <a:cs typeface="Calibri"/>
              </a:rPr>
              <a:t>n</a:t>
            </a:r>
            <a:r>
              <a:rPr sz="1100">
                <a:solidFill>
                  <a:srgbClr val="FFFFFF"/>
                </a:solidFill>
                <a:latin typeface="Calibri"/>
                <a:cs typeface="Calibri"/>
              </a:rPr>
              <a:t>t</a:t>
            </a:r>
            <a:r>
              <a:rPr sz="1100" spc="-15">
                <a:solidFill>
                  <a:srgbClr val="FFFFFF"/>
                </a:solidFill>
                <a:latin typeface="Calibri"/>
                <a:cs typeface="Calibri"/>
              </a:rPr>
              <a:t>a</a:t>
            </a:r>
            <a:r>
              <a:rPr sz="1100" spc="-5">
                <a:solidFill>
                  <a:srgbClr val="FFFFFF"/>
                </a:solidFill>
                <a:latin typeface="Calibri"/>
                <a:cs typeface="Calibri"/>
              </a:rPr>
              <a:t>g</a:t>
            </a:r>
            <a:r>
              <a:rPr sz="1100">
                <a:solidFill>
                  <a:srgbClr val="FFFFFF"/>
                </a:solidFill>
                <a:latin typeface="Calibri"/>
                <a:cs typeface="Calibri"/>
              </a:rPr>
              <a:t>e  </a:t>
            </a:r>
            <a:r>
              <a:rPr sz="1100" spc="-5">
                <a:solidFill>
                  <a:srgbClr val="FFFFFF"/>
                </a:solidFill>
                <a:latin typeface="Calibri"/>
                <a:cs typeface="Calibri"/>
              </a:rPr>
              <a:t>Haircut</a:t>
            </a:r>
            <a:endParaRPr sz="1100">
              <a:latin typeface="Calibri"/>
              <a:cs typeface="Calibri"/>
            </a:endParaRPr>
          </a:p>
        </p:txBody>
      </p:sp>
      <p:sp>
        <p:nvSpPr>
          <p:cNvPr id="120" name="object 25">
            <a:extLst>
              <a:ext uri="{FF2B5EF4-FFF2-40B4-BE49-F238E27FC236}">
                <a16:creationId xmlns:a16="http://schemas.microsoft.com/office/drawing/2014/main" id="{6F32B89D-7336-C81F-3207-314051CE1EB7}"/>
              </a:ext>
            </a:extLst>
          </p:cNvPr>
          <p:cNvSpPr/>
          <p:nvPr/>
        </p:nvSpPr>
        <p:spPr>
          <a:xfrm>
            <a:off x="8739236" y="2825008"/>
            <a:ext cx="1433830" cy="585470"/>
          </a:xfrm>
          <a:custGeom>
            <a:avLst/>
            <a:gdLst/>
            <a:ahLst/>
            <a:cxnLst/>
            <a:rect l="l" t="t" r="r" b="b"/>
            <a:pathLst>
              <a:path w="1433829" h="585469">
                <a:moveTo>
                  <a:pt x="716851" y="0"/>
                </a:moveTo>
                <a:lnTo>
                  <a:pt x="651598" y="1193"/>
                </a:lnTo>
                <a:lnTo>
                  <a:pt x="587997" y="4711"/>
                </a:lnTo>
                <a:lnTo>
                  <a:pt x="526288" y="10452"/>
                </a:lnTo>
                <a:lnTo>
                  <a:pt x="466712" y="18300"/>
                </a:lnTo>
                <a:lnTo>
                  <a:pt x="409549" y="28155"/>
                </a:lnTo>
                <a:lnTo>
                  <a:pt x="355041" y="39928"/>
                </a:lnTo>
                <a:lnTo>
                  <a:pt x="303441" y="53505"/>
                </a:lnTo>
                <a:lnTo>
                  <a:pt x="254990" y="68783"/>
                </a:lnTo>
                <a:lnTo>
                  <a:pt x="209956" y="85661"/>
                </a:lnTo>
                <a:lnTo>
                  <a:pt x="168592" y="104038"/>
                </a:lnTo>
                <a:lnTo>
                  <a:pt x="131140" y="123799"/>
                </a:lnTo>
                <a:lnTo>
                  <a:pt x="97866" y="144856"/>
                </a:lnTo>
                <a:lnTo>
                  <a:pt x="44843" y="190423"/>
                </a:lnTo>
                <a:lnTo>
                  <a:pt x="11544" y="239903"/>
                </a:lnTo>
                <a:lnTo>
                  <a:pt x="0" y="292481"/>
                </a:lnTo>
                <a:lnTo>
                  <a:pt x="2933" y="319100"/>
                </a:lnTo>
                <a:lnTo>
                  <a:pt x="25603" y="370230"/>
                </a:lnTo>
                <a:lnTo>
                  <a:pt x="69024" y="417868"/>
                </a:lnTo>
                <a:lnTo>
                  <a:pt x="131140" y="461162"/>
                </a:lnTo>
                <a:lnTo>
                  <a:pt x="168592" y="480923"/>
                </a:lnTo>
                <a:lnTo>
                  <a:pt x="209956" y="499300"/>
                </a:lnTo>
                <a:lnTo>
                  <a:pt x="254990" y="516178"/>
                </a:lnTo>
                <a:lnTo>
                  <a:pt x="303441" y="531456"/>
                </a:lnTo>
                <a:lnTo>
                  <a:pt x="355041" y="545033"/>
                </a:lnTo>
                <a:lnTo>
                  <a:pt x="409549" y="556806"/>
                </a:lnTo>
                <a:lnTo>
                  <a:pt x="466712" y="566661"/>
                </a:lnTo>
                <a:lnTo>
                  <a:pt x="526288" y="574509"/>
                </a:lnTo>
                <a:lnTo>
                  <a:pt x="587997" y="580250"/>
                </a:lnTo>
                <a:lnTo>
                  <a:pt x="651598" y="583768"/>
                </a:lnTo>
                <a:lnTo>
                  <a:pt x="716851" y="584962"/>
                </a:lnTo>
                <a:lnTo>
                  <a:pt x="782104" y="583768"/>
                </a:lnTo>
                <a:lnTo>
                  <a:pt x="845705" y="580250"/>
                </a:lnTo>
                <a:lnTo>
                  <a:pt x="907415" y="574509"/>
                </a:lnTo>
                <a:lnTo>
                  <a:pt x="966978" y="566661"/>
                </a:lnTo>
                <a:lnTo>
                  <a:pt x="1024153" y="556806"/>
                </a:lnTo>
                <a:lnTo>
                  <a:pt x="1078661" y="545033"/>
                </a:lnTo>
                <a:lnTo>
                  <a:pt x="1130261" y="531456"/>
                </a:lnTo>
                <a:lnTo>
                  <a:pt x="1178712" y="516178"/>
                </a:lnTo>
                <a:lnTo>
                  <a:pt x="1223746" y="499300"/>
                </a:lnTo>
                <a:lnTo>
                  <a:pt x="1265110" y="480923"/>
                </a:lnTo>
                <a:lnTo>
                  <a:pt x="1302550" y="461162"/>
                </a:lnTo>
                <a:lnTo>
                  <a:pt x="1335836" y="440105"/>
                </a:lnTo>
                <a:lnTo>
                  <a:pt x="1388859" y="394538"/>
                </a:lnTo>
                <a:lnTo>
                  <a:pt x="1422158" y="345059"/>
                </a:lnTo>
                <a:lnTo>
                  <a:pt x="1433703" y="292481"/>
                </a:lnTo>
                <a:lnTo>
                  <a:pt x="1430769" y="265861"/>
                </a:lnTo>
                <a:lnTo>
                  <a:pt x="1408099" y="214731"/>
                </a:lnTo>
                <a:lnTo>
                  <a:pt x="1364678" y="167093"/>
                </a:lnTo>
                <a:lnTo>
                  <a:pt x="1302550" y="123799"/>
                </a:lnTo>
                <a:lnTo>
                  <a:pt x="1265110" y="104038"/>
                </a:lnTo>
                <a:lnTo>
                  <a:pt x="1223746" y="85661"/>
                </a:lnTo>
                <a:lnTo>
                  <a:pt x="1178712" y="68783"/>
                </a:lnTo>
                <a:lnTo>
                  <a:pt x="1130261" y="53505"/>
                </a:lnTo>
                <a:lnTo>
                  <a:pt x="1078661" y="39928"/>
                </a:lnTo>
                <a:lnTo>
                  <a:pt x="1024153" y="28155"/>
                </a:lnTo>
                <a:lnTo>
                  <a:pt x="966978" y="18300"/>
                </a:lnTo>
                <a:lnTo>
                  <a:pt x="907415" y="10452"/>
                </a:lnTo>
                <a:lnTo>
                  <a:pt x="845705" y="4711"/>
                </a:lnTo>
                <a:lnTo>
                  <a:pt x="782104" y="1193"/>
                </a:lnTo>
                <a:lnTo>
                  <a:pt x="716851" y="0"/>
                </a:lnTo>
                <a:close/>
              </a:path>
            </a:pathLst>
          </a:custGeom>
          <a:solidFill>
            <a:srgbClr val="5B9BD3"/>
          </a:solidFill>
        </p:spPr>
        <p:txBody>
          <a:bodyPr wrap="square" lIns="0" tIns="0" rIns="0" bIns="0" rtlCol="0"/>
          <a:lstStyle/>
          <a:p>
            <a:endParaRPr/>
          </a:p>
        </p:txBody>
      </p:sp>
      <p:sp>
        <p:nvSpPr>
          <p:cNvPr id="121" name="object 26">
            <a:extLst>
              <a:ext uri="{FF2B5EF4-FFF2-40B4-BE49-F238E27FC236}">
                <a16:creationId xmlns:a16="http://schemas.microsoft.com/office/drawing/2014/main" id="{126B3F7B-DF48-C5AA-C83D-0380B78C6D9E}"/>
              </a:ext>
            </a:extLst>
          </p:cNvPr>
          <p:cNvSpPr/>
          <p:nvPr/>
        </p:nvSpPr>
        <p:spPr>
          <a:xfrm>
            <a:off x="8739236" y="2825008"/>
            <a:ext cx="1433830" cy="585470"/>
          </a:xfrm>
          <a:custGeom>
            <a:avLst/>
            <a:gdLst/>
            <a:ahLst/>
            <a:cxnLst/>
            <a:rect l="l" t="t" r="r" b="b"/>
            <a:pathLst>
              <a:path w="1433829" h="585469">
                <a:moveTo>
                  <a:pt x="0" y="292481"/>
                </a:moveTo>
                <a:lnTo>
                  <a:pt x="11544" y="239903"/>
                </a:lnTo>
                <a:lnTo>
                  <a:pt x="44843" y="190423"/>
                </a:lnTo>
                <a:lnTo>
                  <a:pt x="97866" y="144856"/>
                </a:lnTo>
                <a:lnTo>
                  <a:pt x="131140" y="123799"/>
                </a:lnTo>
                <a:lnTo>
                  <a:pt x="168592" y="104038"/>
                </a:lnTo>
                <a:lnTo>
                  <a:pt x="209956" y="85661"/>
                </a:lnTo>
                <a:lnTo>
                  <a:pt x="254990" y="68783"/>
                </a:lnTo>
                <a:lnTo>
                  <a:pt x="303441" y="53505"/>
                </a:lnTo>
                <a:lnTo>
                  <a:pt x="355041" y="39928"/>
                </a:lnTo>
                <a:lnTo>
                  <a:pt x="409549" y="28155"/>
                </a:lnTo>
                <a:lnTo>
                  <a:pt x="466712" y="18300"/>
                </a:lnTo>
                <a:lnTo>
                  <a:pt x="526288" y="10452"/>
                </a:lnTo>
                <a:lnTo>
                  <a:pt x="587997" y="4711"/>
                </a:lnTo>
                <a:lnTo>
                  <a:pt x="651598" y="1193"/>
                </a:lnTo>
                <a:lnTo>
                  <a:pt x="716851" y="0"/>
                </a:lnTo>
                <a:lnTo>
                  <a:pt x="782104" y="1193"/>
                </a:lnTo>
                <a:lnTo>
                  <a:pt x="845705" y="4711"/>
                </a:lnTo>
                <a:lnTo>
                  <a:pt x="907415" y="10452"/>
                </a:lnTo>
                <a:lnTo>
                  <a:pt x="966990" y="18300"/>
                </a:lnTo>
                <a:lnTo>
                  <a:pt x="1024153" y="28155"/>
                </a:lnTo>
                <a:lnTo>
                  <a:pt x="1078661" y="39928"/>
                </a:lnTo>
                <a:lnTo>
                  <a:pt x="1130261" y="53505"/>
                </a:lnTo>
                <a:lnTo>
                  <a:pt x="1178712" y="68783"/>
                </a:lnTo>
                <a:lnTo>
                  <a:pt x="1223746" y="85661"/>
                </a:lnTo>
                <a:lnTo>
                  <a:pt x="1265110" y="104038"/>
                </a:lnTo>
                <a:lnTo>
                  <a:pt x="1302550" y="123799"/>
                </a:lnTo>
                <a:lnTo>
                  <a:pt x="1335836" y="144856"/>
                </a:lnTo>
                <a:lnTo>
                  <a:pt x="1388859" y="190423"/>
                </a:lnTo>
                <a:lnTo>
                  <a:pt x="1422158" y="239903"/>
                </a:lnTo>
                <a:lnTo>
                  <a:pt x="1433703" y="292481"/>
                </a:lnTo>
                <a:lnTo>
                  <a:pt x="1430769" y="319100"/>
                </a:lnTo>
                <a:lnTo>
                  <a:pt x="1408099" y="370230"/>
                </a:lnTo>
                <a:lnTo>
                  <a:pt x="1364678" y="417868"/>
                </a:lnTo>
                <a:lnTo>
                  <a:pt x="1302550" y="461162"/>
                </a:lnTo>
                <a:lnTo>
                  <a:pt x="1265110" y="480923"/>
                </a:lnTo>
                <a:lnTo>
                  <a:pt x="1223746" y="499300"/>
                </a:lnTo>
                <a:lnTo>
                  <a:pt x="1178712" y="516178"/>
                </a:lnTo>
                <a:lnTo>
                  <a:pt x="1130261" y="531456"/>
                </a:lnTo>
                <a:lnTo>
                  <a:pt x="1078661" y="545033"/>
                </a:lnTo>
                <a:lnTo>
                  <a:pt x="1024153" y="556806"/>
                </a:lnTo>
                <a:lnTo>
                  <a:pt x="966990" y="566661"/>
                </a:lnTo>
                <a:lnTo>
                  <a:pt x="907415" y="574509"/>
                </a:lnTo>
                <a:lnTo>
                  <a:pt x="845705" y="580250"/>
                </a:lnTo>
                <a:lnTo>
                  <a:pt x="782104" y="583768"/>
                </a:lnTo>
                <a:lnTo>
                  <a:pt x="716851" y="584962"/>
                </a:lnTo>
                <a:lnTo>
                  <a:pt x="651598" y="583768"/>
                </a:lnTo>
                <a:lnTo>
                  <a:pt x="587997" y="580250"/>
                </a:lnTo>
                <a:lnTo>
                  <a:pt x="526288" y="574509"/>
                </a:lnTo>
                <a:lnTo>
                  <a:pt x="466712" y="566661"/>
                </a:lnTo>
                <a:lnTo>
                  <a:pt x="409549" y="556806"/>
                </a:lnTo>
                <a:lnTo>
                  <a:pt x="355041" y="545033"/>
                </a:lnTo>
                <a:lnTo>
                  <a:pt x="303441" y="531456"/>
                </a:lnTo>
                <a:lnTo>
                  <a:pt x="254990" y="516178"/>
                </a:lnTo>
                <a:lnTo>
                  <a:pt x="209956" y="499300"/>
                </a:lnTo>
                <a:lnTo>
                  <a:pt x="168592" y="480923"/>
                </a:lnTo>
                <a:lnTo>
                  <a:pt x="131140" y="461162"/>
                </a:lnTo>
                <a:lnTo>
                  <a:pt x="97866" y="440105"/>
                </a:lnTo>
                <a:lnTo>
                  <a:pt x="44843" y="394538"/>
                </a:lnTo>
                <a:lnTo>
                  <a:pt x="11544" y="345059"/>
                </a:lnTo>
                <a:lnTo>
                  <a:pt x="0" y="292481"/>
                </a:lnTo>
                <a:close/>
              </a:path>
            </a:pathLst>
          </a:custGeom>
          <a:ln w="12700">
            <a:solidFill>
              <a:srgbClr val="416F9C"/>
            </a:solidFill>
          </a:ln>
        </p:spPr>
        <p:txBody>
          <a:bodyPr wrap="square" lIns="0" tIns="0" rIns="0" bIns="0" rtlCol="0"/>
          <a:lstStyle/>
          <a:p>
            <a:endParaRPr/>
          </a:p>
        </p:txBody>
      </p:sp>
      <p:sp>
        <p:nvSpPr>
          <p:cNvPr id="122" name="object 27">
            <a:extLst>
              <a:ext uri="{FF2B5EF4-FFF2-40B4-BE49-F238E27FC236}">
                <a16:creationId xmlns:a16="http://schemas.microsoft.com/office/drawing/2014/main" id="{36654824-E345-B79C-B663-CCE5FDAA0926}"/>
              </a:ext>
            </a:extLst>
          </p:cNvPr>
          <p:cNvSpPr txBox="1"/>
          <p:nvPr/>
        </p:nvSpPr>
        <p:spPr>
          <a:xfrm>
            <a:off x="9039852" y="2950659"/>
            <a:ext cx="820419" cy="193675"/>
          </a:xfrm>
          <a:prstGeom prst="rect">
            <a:avLst/>
          </a:prstGeom>
        </p:spPr>
        <p:txBody>
          <a:bodyPr vert="horz" wrap="square" lIns="0" tIns="13335" rIns="0" bIns="0" rtlCol="0">
            <a:spAutoFit/>
          </a:bodyPr>
          <a:lstStyle/>
          <a:p>
            <a:pPr marL="12700">
              <a:lnSpc>
                <a:spcPct val="100000"/>
              </a:lnSpc>
              <a:spcBef>
                <a:spcPts val="105"/>
              </a:spcBef>
            </a:pPr>
            <a:r>
              <a:rPr sz="1100" spc="-5">
                <a:solidFill>
                  <a:srgbClr val="FFFFFF"/>
                </a:solidFill>
                <a:latin typeface="Calibri"/>
                <a:cs typeface="Calibri"/>
              </a:rPr>
              <a:t>Agency</a:t>
            </a:r>
            <a:r>
              <a:rPr sz="1100" spc="-120">
                <a:solidFill>
                  <a:srgbClr val="FFFFFF"/>
                </a:solidFill>
                <a:latin typeface="Calibri"/>
                <a:cs typeface="Calibri"/>
              </a:rPr>
              <a:t> </a:t>
            </a:r>
            <a:r>
              <a:rPr sz="1100" spc="-5">
                <a:solidFill>
                  <a:srgbClr val="FFFFFF"/>
                </a:solidFill>
                <a:latin typeface="Calibri"/>
                <a:cs typeface="Calibri"/>
              </a:rPr>
              <a:t>Rating</a:t>
            </a:r>
            <a:endParaRPr sz="1100">
              <a:latin typeface="Calibri"/>
              <a:cs typeface="Calibri"/>
            </a:endParaRPr>
          </a:p>
        </p:txBody>
      </p:sp>
      <p:sp>
        <p:nvSpPr>
          <p:cNvPr id="123" name="object 28">
            <a:extLst>
              <a:ext uri="{FF2B5EF4-FFF2-40B4-BE49-F238E27FC236}">
                <a16:creationId xmlns:a16="http://schemas.microsoft.com/office/drawing/2014/main" id="{54F07EF3-E30F-DF78-1E9C-92CC4B73B7FA}"/>
              </a:ext>
            </a:extLst>
          </p:cNvPr>
          <p:cNvSpPr txBox="1"/>
          <p:nvPr/>
        </p:nvSpPr>
        <p:spPr>
          <a:xfrm>
            <a:off x="739761" y="3619012"/>
            <a:ext cx="1762125" cy="1446530"/>
          </a:xfrm>
          <a:prstGeom prst="rect">
            <a:avLst/>
          </a:prstGeom>
          <a:ln w="3175">
            <a:solidFill>
              <a:srgbClr val="000000"/>
            </a:solidFill>
          </a:ln>
        </p:spPr>
        <p:txBody>
          <a:bodyPr vert="horz" wrap="square" lIns="0" tIns="27940" rIns="0" bIns="0" rtlCol="0">
            <a:spAutoFit/>
          </a:bodyPr>
          <a:lstStyle/>
          <a:p>
            <a:pPr marL="263525" indent="-173355">
              <a:lnSpc>
                <a:spcPct val="100000"/>
              </a:lnSpc>
              <a:spcBef>
                <a:spcPts val="220"/>
              </a:spcBef>
              <a:buFont typeface="Arial"/>
              <a:buChar char="•"/>
              <a:tabLst>
                <a:tab pos="264160" algn="l"/>
              </a:tabLst>
            </a:pPr>
            <a:r>
              <a:rPr sz="1100" spc="-5">
                <a:latin typeface="Calibri"/>
                <a:cs typeface="Calibri"/>
              </a:rPr>
              <a:t>Country </a:t>
            </a:r>
            <a:r>
              <a:rPr sz="1100">
                <a:latin typeface="Calibri"/>
                <a:cs typeface="Calibri"/>
              </a:rPr>
              <a:t>of</a:t>
            </a:r>
            <a:r>
              <a:rPr sz="1100" spc="-105">
                <a:latin typeface="Calibri"/>
                <a:cs typeface="Calibri"/>
              </a:rPr>
              <a:t> </a:t>
            </a:r>
            <a:r>
              <a:rPr sz="1100" spc="-5">
                <a:latin typeface="Calibri"/>
                <a:cs typeface="Calibri"/>
              </a:rPr>
              <a:t>Origin</a:t>
            </a:r>
            <a:endParaRPr sz="1100">
              <a:latin typeface="Calibri"/>
              <a:cs typeface="Calibri"/>
            </a:endParaRPr>
          </a:p>
          <a:p>
            <a:pPr marL="263525" indent="-173355">
              <a:lnSpc>
                <a:spcPct val="100000"/>
              </a:lnSpc>
              <a:buFont typeface="Arial"/>
              <a:buChar char="•"/>
              <a:tabLst>
                <a:tab pos="264160" algn="l"/>
              </a:tabLst>
            </a:pPr>
            <a:r>
              <a:rPr sz="1100" spc="-10">
                <a:latin typeface="Calibri"/>
                <a:cs typeface="Calibri"/>
              </a:rPr>
              <a:t>Sovereign/Central</a:t>
            </a:r>
            <a:r>
              <a:rPr sz="1100" spc="-90">
                <a:latin typeface="Calibri"/>
                <a:cs typeface="Calibri"/>
              </a:rPr>
              <a:t> </a:t>
            </a:r>
            <a:r>
              <a:rPr sz="1100" spc="-5">
                <a:latin typeface="Calibri"/>
                <a:cs typeface="Calibri"/>
              </a:rPr>
              <a:t>Bank</a:t>
            </a:r>
            <a:endParaRPr sz="1100">
              <a:latin typeface="Calibri"/>
              <a:cs typeface="Calibri"/>
            </a:endParaRPr>
          </a:p>
          <a:p>
            <a:pPr marL="263525" indent="-173355">
              <a:lnSpc>
                <a:spcPct val="100000"/>
              </a:lnSpc>
              <a:buFont typeface="Arial"/>
              <a:buChar char="•"/>
              <a:tabLst>
                <a:tab pos="264160" algn="l"/>
              </a:tabLst>
            </a:pPr>
            <a:r>
              <a:rPr sz="1100" spc="-5">
                <a:latin typeface="Calibri"/>
                <a:cs typeface="Calibri"/>
              </a:rPr>
              <a:t>Quasi</a:t>
            </a:r>
            <a:r>
              <a:rPr sz="1100" spc="-55">
                <a:latin typeface="Calibri"/>
                <a:cs typeface="Calibri"/>
              </a:rPr>
              <a:t> </a:t>
            </a:r>
            <a:r>
              <a:rPr sz="1100" spc="-5">
                <a:latin typeface="Calibri"/>
                <a:cs typeface="Calibri"/>
              </a:rPr>
              <a:t>Government</a:t>
            </a:r>
            <a:endParaRPr sz="1100">
              <a:latin typeface="Calibri"/>
              <a:cs typeface="Calibri"/>
            </a:endParaRPr>
          </a:p>
          <a:p>
            <a:pPr marL="262890" indent="-172720">
              <a:lnSpc>
                <a:spcPct val="100000"/>
              </a:lnSpc>
              <a:buFont typeface="Arial"/>
              <a:buChar char="•"/>
              <a:tabLst>
                <a:tab pos="263525" algn="l"/>
              </a:tabLst>
            </a:pPr>
            <a:r>
              <a:rPr sz="1100">
                <a:latin typeface="Calibri"/>
                <a:cs typeface="Calibri"/>
              </a:rPr>
              <a:t>Corporate</a:t>
            </a:r>
          </a:p>
          <a:p>
            <a:pPr marL="262890" indent="-172720">
              <a:lnSpc>
                <a:spcPct val="100000"/>
              </a:lnSpc>
              <a:buFont typeface="Arial"/>
              <a:buChar char="•"/>
              <a:tabLst>
                <a:tab pos="263525" algn="l"/>
              </a:tabLst>
            </a:pPr>
            <a:r>
              <a:rPr sz="1100" spc="-5">
                <a:latin typeface="Calibri"/>
                <a:cs typeface="Calibri"/>
              </a:rPr>
              <a:t>Regional</a:t>
            </a:r>
            <a:r>
              <a:rPr sz="1100" spc="-55">
                <a:latin typeface="Calibri"/>
                <a:cs typeface="Calibri"/>
              </a:rPr>
              <a:t> </a:t>
            </a:r>
            <a:r>
              <a:rPr sz="1100" spc="-5">
                <a:latin typeface="Calibri"/>
                <a:cs typeface="Calibri"/>
              </a:rPr>
              <a:t>Government</a:t>
            </a:r>
            <a:endParaRPr sz="1100">
              <a:latin typeface="Calibri"/>
              <a:cs typeface="Calibri"/>
            </a:endParaRPr>
          </a:p>
          <a:p>
            <a:pPr marL="262890" indent="-172720">
              <a:lnSpc>
                <a:spcPct val="100000"/>
              </a:lnSpc>
              <a:buFont typeface="Arial"/>
              <a:buChar char="•"/>
              <a:tabLst>
                <a:tab pos="263525" algn="l"/>
              </a:tabLst>
            </a:pPr>
            <a:r>
              <a:rPr sz="1100" spc="-5">
                <a:latin typeface="Calibri"/>
                <a:cs typeface="Calibri"/>
              </a:rPr>
              <a:t>Funds</a:t>
            </a:r>
            <a:endParaRPr sz="1100">
              <a:latin typeface="Calibri"/>
              <a:cs typeface="Calibri"/>
            </a:endParaRPr>
          </a:p>
          <a:p>
            <a:pPr marL="262890" indent="-172720">
              <a:lnSpc>
                <a:spcPct val="100000"/>
              </a:lnSpc>
              <a:spcBef>
                <a:spcPts val="5"/>
              </a:spcBef>
              <a:buFont typeface="Arial"/>
              <a:buChar char="•"/>
              <a:tabLst>
                <a:tab pos="263525" algn="l"/>
              </a:tabLst>
            </a:pPr>
            <a:r>
              <a:rPr sz="1100" spc="-5">
                <a:latin typeface="Calibri"/>
                <a:cs typeface="Calibri"/>
              </a:rPr>
              <a:t>Special </a:t>
            </a:r>
            <a:r>
              <a:rPr sz="1100">
                <a:latin typeface="Calibri"/>
                <a:cs typeface="Calibri"/>
              </a:rPr>
              <a:t>Purpose</a:t>
            </a:r>
            <a:r>
              <a:rPr sz="1100" spc="-165">
                <a:latin typeface="Calibri"/>
                <a:cs typeface="Calibri"/>
              </a:rPr>
              <a:t> </a:t>
            </a:r>
            <a:r>
              <a:rPr sz="1100" spc="-5">
                <a:latin typeface="Calibri"/>
                <a:cs typeface="Calibri"/>
              </a:rPr>
              <a:t>Vehicles</a:t>
            </a:r>
            <a:endParaRPr sz="1100">
              <a:latin typeface="Calibri"/>
              <a:cs typeface="Calibri"/>
            </a:endParaRPr>
          </a:p>
          <a:p>
            <a:pPr marL="262890" indent="-172720">
              <a:lnSpc>
                <a:spcPct val="100000"/>
              </a:lnSpc>
              <a:buFont typeface="Arial"/>
              <a:buChar char="•"/>
              <a:tabLst>
                <a:tab pos="263525" algn="l"/>
              </a:tabLst>
            </a:pPr>
            <a:r>
              <a:rPr sz="1100" spc="-10">
                <a:latin typeface="Calibri"/>
                <a:cs typeface="Calibri"/>
              </a:rPr>
              <a:t>Denominated</a:t>
            </a:r>
            <a:r>
              <a:rPr sz="1100" spc="-90">
                <a:latin typeface="Calibri"/>
                <a:cs typeface="Calibri"/>
              </a:rPr>
              <a:t> </a:t>
            </a:r>
            <a:r>
              <a:rPr sz="1100" spc="-5">
                <a:latin typeface="Calibri"/>
                <a:cs typeface="Calibri"/>
              </a:rPr>
              <a:t>Currency</a:t>
            </a:r>
            <a:endParaRPr sz="1100">
              <a:latin typeface="Calibri"/>
              <a:cs typeface="Calibri"/>
            </a:endParaRPr>
          </a:p>
        </p:txBody>
      </p:sp>
      <p:sp>
        <p:nvSpPr>
          <p:cNvPr id="124" name="object 29">
            <a:extLst>
              <a:ext uri="{FF2B5EF4-FFF2-40B4-BE49-F238E27FC236}">
                <a16:creationId xmlns:a16="http://schemas.microsoft.com/office/drawing/2014/main" id="{D0F5D5E8-F989-032F-54CB-D7948D06F5D3}"/>
              </a:ext>
            </a:extLst>
          </p:cNvPr>
          <p:cNvSpPr txBox="1"/>
          <p:nvPr/>
        </p:nvSpPr>
        <p:spPr>
          <a:xfrm>
            <a:off x="2690481" y="3625109"/>
            <a:ext cx="1054735" cy="769620"/>
          </a:xfrm>
          <a:prstGeom prst="rect">
            <a:avLst/>
          </a:prstGeom>
          <a:ln w="3175">
            <a:solidFill>
              <a:srgbClr val="000000"/>
            </a:solidFill>
          </a:ln>
        </p:spPr>
        <p:txBody>
          <a:bodyPr vert="horz" wrap="square" lIns="0" tIns="27940" rIns="0" bIns="0" rtlCol="0">
            <a:spAutoFit/>
          </a:bodyPr>
          <a:lstStyle/>
          <a:p>
            <a:pPr marL="263525" indent="-173355">
              <a:lnSpc>
                <a:spcPct val="100000"/>
              </a:lnSpc>
              <a:spcBef>
                <a:spcPts val="220"/>
              </a:spcBef>
              <a:buFont typeface="Arial"/>
              <a:buChar char="•"/>
              <a:tabLst>
                <a:tab pos="264160" algn="l"/>
              </a:tabLst>
            </a:pPr>
            <a:r>
              <a:rPr sz="1100" spc="-5">
                <a:latin typeface="Calibri"/>
                <a:cs typeface="Calibri"/>
              </a:rPr>
              <a:t>Security</a:t>
            </a:r>
            <a:endParaRPr sz="1100">
              <a:latin typeface="Calibri"/>
              <a:cs typeface="Calibri"/>
            </a:endParaRPr>
          </a:p>
          <a:p>
            <a:pPr marL="263525" indent="-173355">
              <a:lnSpc>
                <a:spcPct val="100000"/>
              </a:lnSpc>
              <a:buFont typeface="Arial"/>
              <a:buChar char="•"/>
              <a:tabLst>
                <a:tab pos="264160" algn="l"/>
              </a:tabLst>
            </a:pPr>
            <a:r>
              <a:rPr sz="1100" spc="-5">
                <a:latin typeface="Calibri"/>
                <a:cs typeface="Calibri"/>
              </a:rPr>
              <a:t>Cash</a:t>
            </a:r>
            <a:endParaRPr sz="1100">
              <a:latin typeface="Calibri"/>
              <a:cs typeface="Calibri"/>
            </a:endParaRPr>
          </a:p>
          <a:p>
            <a:pPr marL="263525" indent="-173355">
              <a:lnSpc>
                <a:spcPct val="100000"/>
              </a:lnSpc>
              <a:buFont typeface="Arial"/>
              <a:buChar char="•"/>
              <a:tabLst>
                <a:tab pos="264160" algn="l"/>
              </a:tabLst>
            </a:pPr>
            <a:r>
              <a:rPr sz="1100" spc="-10">
                <a:latin typeface="Calibri"/>
                <a:cs typeface="Calibri"/>
              </a:rPr>
              <a:t>Commodity</a:t>
            </a:r>
            <a:endParaRPr sz="1100">
              <a:latin typeface="Calibri"/>
              <a:cs typeface="Calibri"/>
            </a:endParaRPr>
          </a:p>
          <a:p>
            <a:pPr marL="263525" indent="-173355">
              <a:lnSpc>
                <a:spcPct val="100000"/>
              </a:lnSpc>
              <a:buFont typeface="Arial"/>
              <a:buChar char="•"/>
              <a:tabLst>
                <a:tab pos="264160" algn="l"/>
              </a:tabLst>
            </a:pPr>
            <a:r>
              <a:rPr sz="1100">
                <a:latin typeface="Calibri"/>
                <a:cs typeface="Calibri"/>
              </a:rPr>
              <a:t>Other</a:t>
            </a:r>
          </a:p>
        </p:txBody>
      </p:sp>
      <p:sp>
        <p:nvSpPr>
          <p:cNvPr id="125" name="object 30">
            <a:extLst>
              <a:ext uri="{FF2B5EF4-FFF2-40B4-BE49-F238E27FC236}">
                <a16:creationId xmlns:a16="http://schemas.microsoft.com/office/drawing/2014/main" id="{30FD94D1-7997-5559-E78C-7E41A8911B65}"/>
              </a:ext>
            </a:extLst>
          </p:cNvPr>
          <p:cNvSpPr txBox="1"/>
          <p:nvPr/>
        </p:nvSpPr>
        <p:spPr>
          <a:xfrm>
            <a:off x="4226672" y="3590057"/>
            <a:ext cx="1076325" cy="939165"/>
          </a:xfrm>
          <a:prstGeom prst="rect">
            <a:avLst/>
          </a:prstGeom>
          <a:ln w="3175">
            <a:solidFill>
              <a:srgbClr val="000000"/>
            </a:solidFill>
          </a:ln>
        </p:spPr>
        <p:txBody>
          <a:bodyPr vert="horz" wrap="square" lIns="0" tIns="27940" rIns="0" bIns="0" rtlCol="0">
            <a:spAutoFit/>
          </a:bodyPr>
          <a:lstStyle/>
          <a:p>
            <a:pPr marL="263525" indent="-173355">
              <a:lnSpc>
                <a:spcPct val="100000"/>
              </a:lnSpc>
              <a:spcBef>
                <a:spcPts val="220"/>
              </a:spcBef>
              <a:buFont typeface="Arial"/>
              <a:buChar char="•"/>
              <a:tabLst>
                <a:tab pos="264160" algn="l"/>
              </a:tabLst>
            </a:pPr>
            <a:r>
              <a:rPr sz="1100">
                <a:latin typeface="Calibri"/>
                <a:cs typeface="Calibri"/>
              </a:rPr>
              <a:t>Source</a:t>
            </a:r>
            <a:r>
              <a:rPr sz="1100" spc="-65">
                <a:latin typeface="Calibri"/>
                <a:cs typeface="Calibri"/>
              </a:rPr>
              <a:t> </a:t>
            </a:r>
            <a:r>
              <a:rPr sz="1100">
                <a:latin typeface="Calibri"/>
                <a:cs typeface="Calibri"/>
              </a:rPr>
              <a:t>ID-</a:t>
            </a:r>
          </a:p>
          <a:p>
            <a:pPr marL="91440">
              <a:lnSpc>
                <a:spcPct val="100000"/>
              </a:lnSpc>
            </a:pPr>
            <a:r>
              <a:rPr sz="1100" i="1" spc="-5">
                <a:latin typeface="Calibri"/>
                <a:cs typeface="Calibri"/>
              </a:rPr>
              <a:t>(ISIN/</a:t>
            </a:r>
            <a:r>
              <a:rPr sz="1100" i="1" spc="-65">
                <a:latin typeface="Calibri"/>
                <a:cs typeface="Calibri"/>
              </a:rPr>
              <a:t> </a:t>
            </a:r>
            <a:r>
              <a:rPr sz="1100" i="1">
                <a:latin typeface="Calibri"/>
                <a:cs typeface="Calibri"/>
              </a:rPr>
              <a:t>CUSIP</a:t>
            </a:r>
            <a:r>
              <a:rPr sz="1100">
                <a:latin typeface="Calibri"/>
                <a:cs typeface="Calibri"/>
              </a:rPr>
              <a:t>)</a:t>
            </a:r>
          </a:p>
          <a:p>
            <a:pPr>
              <a:lnSpc>
                <a:spcPct val="100000"/>
              </a:lnSpc>
              <a:spcBef>
                <a:spcPts val="40"/>
              </a:spcBef>
            </a:pPr>
            <a:endParaRPr sz="1000">
              <a:latin typeface="Calibri"/>
              <a:cs typeface="Calibri"/>
            </a:endParaRPr>
          </a:p>
          <a:p>
            <a:pPr marL="263525" indent="-173355">
              <a:lnSpc>
                <a:spcPct val="100000"/>
              </a:lnSpc>
              <a:buFont typeface="Arial"/>
              <a:buChar char="•"/>
              <a:tabLst>
                <a:tab pos="264160" algn="l"/>
              </a:tabLst>
            </a:pPr>
            <a:r>
              <a:rPr sz="1100">
                <a:latin typeface="Calibri"/>
                <a:cs typeface="Calibri"/>
              </a:rPr>
              <a:t>Taxonomy</a:t>
            </a:r>
          </a:p>
          <a:p>
            <a:pPr marL="90805">
              <a:lnSpc>
                <a:spcPct val="100000"/>
              </a:lnSpc>
            </a:pPr>
            <a:r>
              <a:rPr sz="1100" i="1" spc="-5">
                <a:latin typeface="Calibri"/>
                <a:cs typeface="Calibri"/>
              </a:rPr>
              <a:t>(ICAD </a:t>
            </a:r>
            <a:r>
              <a:rPr sz="1100" i="1">
                <a:latin typeface="Calibri"/>
                <a:cs typeface="Calibri"/>
              </a:rPr>
              <a:t>/</a:t>
            </a:r>
            <a:r>
              <a:rPr sz="1100" i="1" spc="-90">
                <a:latin typeface="Calibri"/>
                <a:cs typeface="Calibri"/>
              </a:rPr>
              <a:t> </a:t>
            </a:r>
            <a:r>
              <a:rPr sz="1100" i="1" spc="-5">
                <a:latin typeface="Calibri"/>
                <a:cs typeface="Calibri"/>
              </a:rPr>
              <a:t>ISO-CFI)</a:t>
            </a:r>
            <a:endParaRPr sz="1100">
              <a:latin typeface="Calibri"/>
              <a:cs typeface="Calibri"/>
            </a:endParaRPr>
          </a:p>
        </p:txBody>
      </p:sp>
      <p:sp>
        <p:nvSpPr>
          <p:cNvPr id="126" name="object 31">
            <a:extLst>
              <a:ext uri="{FF2B5EF4-FFF2-40B4-BE49-F238E27FC236}">
                <a16:creationId xmlns:a16="http://schemas.microsoft.com/office/drawing/2014/main" id="{7883A2A7-7B71-F780-530B-FE660979FFB1}"/>
              </a:ext>
            </a:extLst>
          </p:cNvPr>
          <p:cNvSpPr txBox="1"/>
          <p:nvPr/>
        </p:nvSpPr>
        <p:spPr>
          <a:xfrm>
            <a:off x="5640945" y="3609868"/>
            <a:ext cx="1539240" cy="1800225"/>
          </a:xfrm>
          <a:prstGeom prst="rect">
            <a:avLst/>
          </a:prstGeom>
          <a:ln w="3175">
            <a:solidFill>
              <a:srgbClr val="000000"/>
            </a:solidFill>
          </a:ln>
        </p:spPr>
        <p:txBody>
          <a:bodyPr vert="horz" wrap="square" lIns="0" tIns="27305" rIns="0" bIns="0" rtlCol="0">
            <a:spAutoFit/>
          </a:bodyPr>
          <a:lstStyle/>
          <a:p>
            <a:pPr marL="90805" marR="120650">
              <a:lnSpc>
                <a:spcPct val="100000"/>
              </a:lnSpc>
              <a:spcBef>
                <a:spcPts val="215"/>
              </a:spcBef>
            </a:pPr>
            <a:r>
              <a:rPr sz="1100">
                <a:latin typeface="Calibri"/>
                <a:cs typeface="Calibri"/>
              </a:rPr>
              <a:t>Options to </a:t>
            </a:r>
            <a:r>
              <a:rPr sz="1100" spc="-5">
                <a:latin typeface="Calibri"/>
                <a:cs typeface="Calibri"/>
              </a:rPr>
              <a:t>apply  </a:t>
            </a:r>
            <a:r>
              <a:rPr sz="1100" spc="-10">
                <a:latin typeface="Calibri"/>
                <a:cs typeface="Calibri"/>
              </a:rPr>
              <a:t>Concentration </a:t>
            </a:r>
            <a:r>
              <a:rPr sz="1100">
                <a:latin typeface="Calibri"/>
                <a:cs typeface="Calibri"/>
              </a:rPr>
              <a:t>Limits</a:t>
            </a:r>
            <a:r>
              <a:rPr sz="1100" spc="-210">
                <a:latin typeface="Calibri"/>
                <a:cs typeface="Calibri"/>
              </a:rPr>
              <a:t> </a:t>
            </a:r>
            <a:r>
              <a:rPr sz="1100" spc="-5">
                <a:latin typeface="Calibri"/>
                <a:cs typeface="Calibri"/>
              </a:rPr>
              <a:t>by</a:t>
            </a:r>
            <a:endParaRPr sz="1100">
              <a:latin typeface="Calibri"/>
              <a:cs typeface="Calibri"/>
            </a:endParaRPr>
          </a:p>
          <a:p>
            <a:pPr marL="263525" indent="-173355">
              <a:lnSpc>
                <a:spcPct val="100000"/>
              </a:lnSpc>
              <a:buFont typeface="Arial"/>
              <a:buChar char="•"/>
              <a:tabLst>
                <a:tab pos="264160" algn="l"/>
              </a:tabLst>
            </a:pPr>
            <a:r>
              <a:rPr sz="1100" spc="-5">
                <a:latin typeface="Calibri"/>
                <a:cs typeface="Calibri"/>
              </a:rPr>
              <a:t>Issuer</a:t>
            </a:r>
            <a:endParaRPr sz="1100">
              <a:latin typeface="Calibri"/>
              <a:cs typeface="Calibri"/>
            </a:endParaRPr>
          </a:p>
          <a:p>
            <a:pPr marL="263525" indent="-173355">
              <a:lnSpc>
                <a:spcPct val="100000"/>
              </a:lnSpc>
              <a:buFont typeface="Arial"/>
              <a:buChar char="•"/>
              <a:tabLst>
                <a:tab pos="264160" algn="l"/>
              </a:tabLst>
            </a:pPr>
            <a:r>
              <a:rPr sz="1100">
                <a:latin typeface="Calibri"/>
                <a:cs typeface="Calibri"/>
              </a:rPr>
              <a:t>Product</a:t>
            </a:r>
          </a:p>
          <a:p>
            <a:pPr marL="263525" indent="-173355">
              <a:lnSpc>
                <a:spcPct val="100000"/>
              </a:lnSpc>
              <a:buFont typeface="Arial"/>
              <a:buChar char="•"/>
              <a:tabLst>
                <a:tab pos="264160" algn="l"/>
              </a:tabLst>
            </a:pPr>
            <a:r>
              <a:rPr sz="1100" spc="-5">
                <a:latin typeface="Calibri"/>
                <a:cs typeface="Calibri"/>
              </a:rPr>
              <a:t>Country </a:t>
            </a:r>
            <a:r>
              <a:rPr sz="1100">
                <a:latin typeface="Calibri"/>
                <a:cs typeface="Calibri"/>
              </a:rPr>
              <a:t>of</a:t>
            </a:r>
            <a:r>
              <a:rPr sz="1100" spc="-110">
                <a:latin typeface="Calibri"/>
                <a:cs typeface="Calibri"/>
              </a:rPr>
              <a:t> </a:t>
            </a:r>
            <a:r>
              <a:rPr sz="1100" spc="-5">
                <a:latin typeface="Calibri"/>
                <a:cs typeface="Calibri"/>
              </a:rPr>
              <a:t>Origin</a:t>
            </a:r>
            <a:endParaRPr sz="1100">
              <a:latin typeface="Calibri"/>
              <a:cs typeface="Calibri"/>
            </a:endParaRPr>
          </a:p>
          <a:p>
            <a:pPr marL="263525" indent="-173355">
              <a:lnSpc>
                <a:spcPct val="100000"/>
              </a:lnSpc>
              <a:buFont typeface="Arial"/>
              <a:buChar char="•"/>
              <a:tabLst>
                <a:tab pos="264160" algn="l"/>
              </a:tabLst>
            </a:pPr>
            <a:r>
              <a:rPr sz="1100" spc="-5">
                <a:latin typeface="Calibri"/>
                <a:cs typeface="Calibri"/>
              </a:rPr>
              <a:t>Currency</a:t>
            </a:r>
            <a:endParaRPr sz="1100">
              <a:latin typeface="Calibri"/>
              <a:cs typeface="Calibri"/>
            </a:endParaRPr>
          </a:p>
          <a:p>
            <a:pPr marL="263525" indent="-173355">
              <a:lnSpc>
                <a:spcPct val="100000"/>
              </a:lnSpc>
              <a:spcBef>
                <a:spcPts val="5"/>
              </a:spcBef>
              <a:buFont typeface="Arial"/>
              <a:buChar char="•"/>
              <a:tabLst>
                <a:tab pos="264160" algn="l"/>
              </a:tabLst>
            </a:pPr>
            <a:r>
              <a:rPr sz="1100" spc="-5">
                <a:latin typeface="Calibri"/>
                <a:cs typeface="Calibri"/>
              </a:rPr>
              <a:t>Agency</a:t>
            </a:r>
            <a:r>
              <a:rPr sz="1100" spc="-165">
                <a:latin typeface="Calibri"/>
                <a:cs typeface="Calibri"/>
              </a:rPr>
              <a:t> </a:t>
            </a:r>
            <a:r>
              <a:rPr sz="1100" spc="-5">
                <a:latin typeface="Calibri"/>
                <a:cs typeface="Calibri"/>
              </a:rPr>
              <a:t>Ratings</a:t>
            </a:r>
            <a:endParaRPr sz="1100">
              <a:latin typeface="Calibri"/>
              <a:cs typeface="Calibri"/>
            </a:endParaRPr>
          </a:p>
          <a:p>
            <a:pPr>
              <a:lnSpc>
                <a:spcPct val="100000"/>
              </a:lnSpc>
              <a:spcBef>
                <a:spcPts val="35"/>
              </a:spcBef>
            </a:pPr>
            <a:endParaRPr sz="1000">
              <a:latin typeface="Calibri"/>
              <a:cs typeface="Calibri"/>
            </a:endParaRPr>
          </a:p>
          <a:p>
            <a:pPr marL="90805">
              <a:lnSpc>
                <a:spcPct val="100000"/>
              </a:lnSpc>
            </a:pPr>
            <a:r>
              <a:rPr sz="1100" spc="-5">
                <a:latin typeface="Calibri"/>
                <a:cs typeface="Calibri"/>
              </a:rPr>
              <a:t>By</a:t>
            </a:r>
            <a:r>
              <a:rPr sz="1100" spc="-50">
                <a:latin typeface="Calibri"/>
                <a:cs typeface="Calibri"/>
              </a:rPr>
              <a:t> </a:t>
            </a:r>
            <a:r>
              <a:rPr sz="1100">
                <a:latin typeface="Calibri"/>
                <a:cs typeface="Calibri"/>
              </a:rPr>
              <a:t>Percentage</a:t>
            </a:r>
            <a:r>
              <a:rPr sz="1100" spc="-55">
                <a:latin typeface="Calibri"/>
                <a:cs typeface="Calibri"/>
              </a:rPr>
              <a:t> </a:t>
            </a:r>
            <a:r>
              <a:rPr sz="1100">
                <a:latin typeface="Calibri"/>
                <a:cs typeface="Calibri"/>
              </a:rPr>
              <a:t>or</a:t>
            </a:r>
            <a:r>
              <a:rPr sz="1100" spc="-130">
                <a:latin typeface="Calibri"/>
                <a:cs typeface="Calibri"/>
              </a:rPr>
              <a:t> </a:t>
            </a:r>
            <a:r>
              <a:rPr sz="1100" spc="-5">
                <a:latin typeface="Calibri"/>
                <a:cs typeface="Calibri"/>
              </a:rPr>
              <a:t>Value</a:t>
            </a:r>
            <a:endParaRPr sz="1100">
              <a:latin typeface="Calibri"/>
              <a:cs typeface="Calibri"/>
            </a:endParaRPr>
          </a:p>
        </p:txBody>
      </p:sp>
      <p:sp>
        <p:nvSpPr>
          <p:cNvPr id="127" name="object 32">
            <a:extLst>
              <a:ext uri="{FF2B5EF4-FFF2-40B4-BE49-F238E27FC236}">
                <a16:creationId xmlns:a16="http://schemas.microsoft.com/office/drawing/2014/main" id="{60F54B11-10EA-536B-8F2C-1EE9292FCDAA}"/>
              </a:ext>
            </a:extLst>
          </p:cNvPr>
          <p:cNvSpPr txBox="1"/>
          <p:nvPr/>
        </p:nvSpPr>
        <p:spPr>
          <a:xfrm>
            <a:off x="7305151" y="3664733"/>
            <a:ext cx="1522643" cy="874598"/>
          </a:xfrm>
          <a:prstGeom prst="rect">
            <a:avLst/>
          </a:prstGeom>
          <a:ln w="3175">
            <a:solidFill>
              <a:srgbClr val="000000"/>
            </a:solidFill>
          </a:ln>
        </p:spPr>
        <p:txBody>
          <a:bodyPr vert="horz" wrap="square" lIns="0" tIns="27940" rIns="0" bIns="0" rtlCol="0">
            <a:spAutoFit/>
          </a:bodyPr>
          <a:lstStyle/>
          <a:p>
            <a:pPr marL="263525" indent="-174625">
              <a:lnSpc>
                <a:spcPct val="100000"/>
              </a:lnSpc>
              <a:spcBef>
                <a:spcPts val="220"/>
              </a:spcBef>
              <a:buFont typeface="Arial"/>
              <a:buChar char="•"/>
              <a:tabLst>
                <a:tab pos="264160" algn="l"/>
              </a:tabLst>
            </a:pPr>
            <a:r>
              <a:rPr sz="1100" spc="-5">
                <a:latin typeface="Calibri"/>
                <a:cs typeface="Calibri"/>
              </a:rPr>
              <a:t>Original</a:t>
            </a:r>
            <a:r>
              <a:rPr sz="1100" spc="-60">
                <a:latin typeface="Calibri"/>
                <a:cs typeface="Calibri"/>
              </a:rPr>
              <a:t> </a:t>
            </a:r>
            <a:r>
              <a:rPr sz="1100" spc="-10">
                <a:latin typeface="Calibri"/>
                <a:cs typeface="Calibri"/>
              </a:rPr>
              <a:t>Maturity</a:t>
            </a:r>
            <a:endParaRPr sz="1100">
              <a:latin typeface="Calibri"/>
              <a:cs typeface="Calibri"/>
            </a:endParaRPr>
          </a:p>
          <a:p>
            <a:pPr marL="263525" indent="-174625">
              <a:lnSpc>
                <a:spcPct val="100000"/>
              </a:lnSpc>
              <a:buFont typeface="Arial"/>
              <a:buChar char="•"/>
              <a:tabLst>
                <a:tab pos="264160" algn="l"/>
              </a:tabLst>
            </a:pPr>
            <a:r>
              <a:rPr sz="1100" spc="-5">
                <a:latin typeface="Calibri"/>
                <a:cs typeface="Calibri"/>
              </a:rPr>
              <a:t>Remaining</a:t>
            </a:r>
            <a:r>
              <a:rPr sz="1100" spc="-100">
                <a:latin typeface="Calibri"/>
                <a:cs typeface="Calibri"/>
              </a:rPr>
              <a:t> </a:t>
            </a:r>
            <a:r>
              <a:rPr sz="1100" spc="-5">
                <a:latin typeface="Calibri"/>
                <a:cs typeface="Calibri"/>
              </a:rPr>
              <a:t>Maturity</a:t>
            </a:r>
            <a:endParaRPr sz="1100">
              <a:latin typeface="Calibri"/>
              <a:cs typeface="Calibri"/>
            </a:endParaRPr>
          </a:p>
          <a:p>
            <a:pPr marL="263525" indent="-174625">
              <a:lnSpc>
                <a:spcPct val="100000"/>
              </a:lnSpc>
              <a:buFont typeface="Arial"/>
              <a:buChar char="•"/>
              <a:tabLst>
                <a:tab pos="264160" algn="l"/>
              </a:tabLst>
            </a:pPr>
            <a:r>
              <a:rPr sz="1100">
                <a:latin typeface="Calibri"/>
                <a:cs typeface="Calibri"/>
              </a:rPr>
              <a:t>From</a:t>
            </a:r>
            <a:r>
              <a:rPr sz="1100" spc="-50">
                <a:latin typeface="Calibri"/>
                <a:cs typeface="Calibri"/>
              </a:rPr>
              <a:t> </a:t>
            </a:r>
            <a:r>
              <a:rPr sz="1100" spc="-5">
                <a:latin typeface="Calibri"/>
                <a:cs typeface="Calibri"/>
              </a:rPr>
              <a:t>Issuance</a:t>
            </a:r>
            <a:endParaRPr sz="1000">
              <a:latin typeface="Calibri"/>
              <a:cs typeface="Calibri"/>
            </a:endParaRPr>
          </a:p>
          <a:p>
            <a:pPr marL="91440" marR="354965">
              <a:lnSpc>
                <a:spcPct val="100000"/>
              </a:lnSpc>
              <a:buFont typeface="Arial"/>
              <a:buChar char="•"/>
              <a:tabLst>
                <a:tab pos="141605" algn="l"/>
              </a:tabLst>
            </a:pPr>
            <a:r>
              <a:rPr lang="en-GB" sz="1100">
                <a:latin typeface="Calibri"/>
                <a:cs typeface="Calibri"/>
              </a:rPr>
              <a:t>    </a:t>
            </a:r>
            <a:r>
              <a:rPr sz="1100">
                <a:latin typeface="Calibri"/>
                <a:cs typeface="Calibri"/>
              </a:rPr>
              <a:t>Period </a:t>
            </a:r>
            <a:r>
              <a:rPr sz="1100" spc="-5">
                <a:latin typeface="Calibri"/>
                <a:cs typeface="Calibri"/>
              </a:rPr>
              <a:t>Range  </a:t>
            </a:r>
            <a:r>
              <a:rPr lang="en-GB" sz="1100" spc="-5">
                <a:latin typeface="Calibri"/>
                <a:cs typeface="Calibri"/>
              </a:rPr>
              <a:t>	</a:t>
            </a:r>
            <a:r>
              <a:rPr sz="1100">
                <a:latin typeface="Calibri"/>
                <a:cs typeface="Calibri"/>
              </a:rPr>
              <a:t>(Lower </a:t>
            </a:r>
            <a:r>
              <a:rPr lang="en-GB" sz="1100" spc="-5">
                <a:latin typeface="Calibri"/>
                <a:cs typeface="Calibri"/>
              </a:rPr>
              <a:t>&amp; </a:t>
            </a:r>
            <a:r>
              <a:rPr sz="1100" spc="-175">
                <a:latin typeface="Calibri"/>
                <a:cs typeface="Calibri"/>
              </a:rPr>
              <a:t> </a:t>
            </a:r>
            <a:r>
              <a:rPr lang="en-GB" sz="1100" spc="-5">
                <a:latin typeface="Calibri"/>
                <a:cs typeface="Calibri"/>
              </a:rPr>
              <a:t>U</a:t>
            </a:r>
            <a:r>
              <a:rPr sz="1100" spc="-5" err="1">
                <a:latin typeface="Calibri"/>
                <a:cs typeface="Calibri"/>
              </a:rPr>
              <a:t>pper</a:t>
            </a:r>
            <a:r>
              <a:rPr sz="1100" spc="-5">
                <a:latin typeface="Calibri"/>
                <a:cs typeface="Calibri"/>
              </a:rPr>
              <a:t>)</a:t>
            </a:r>
            <a:endParaRPr sz="1100">
              <a:latin typeface="Calibri"/>
              <a:cs typeface="Calibri"/>
            </a:endParaRPr>
          </a:p>
        </p:txBody>
      </p:sp>
      <p:sp>
        <p:nvSpPr>
          <p:cNvPr id="128" name="object 33">
            <a:extLst>
              <a:ext uri="{FF2B5EF4-FFF2-40B4-BE49-F238E27FC236}">
                <a16:creationId xmlns:a16="http://schemas.microsoft.com/office/drawing/2014/main" id="{42423031-05F3-0A24-3454-2373CA71D1D2}"/>
              </a:ext>
            </a:extLst>
          </p:cNvPr>
          <p:cNvSpPr txBox="1"/>
          <p:nvPr/>
        </p:nvSpPr>
        <p:spPr>
          <a:xfrm>
            <a:off x="8996793" y="3669304"/>
            <a:ext cx="1394460" cy="2292350"/>
          </a:xfrm>
          <a:prstGeom prst="rect">
            <a:avLst/>
          </a:prstGeom>
          <a:ln w="3175">
            <a:solidFill>
              <a:srgbClr val="000000"/>
            </a:solidFill>
          </a:ln>
        </p:spPr>
        <p:txBody>
          <a:bodyPr vert="horz" wrap="square" lIns="0" tIns="27940" rIns="0" bIns="0" rtlCol="0">
            <a:spAutoFit/>
          </a:bodyPr>
          <a:lstStyle/>
          <a:p>
            <a:pPr marL="89535" marR="281305">
              <a:lnSpc>
                <a:spcPct val="100000"/>
              </a:lnSpc>
              <a:spcBef>
                <a:spcPts val="220"/>
              </a:spcBef>
            </a:pPr>
            <a:r>
              <a:rPr sz="1100" spc="-5">
                <a:latin typeface="Calibri"/>
                <a:cs typeface="Calibri"/>
              </a:rPr>
              <a:t>Rating is flexible  </a:t>
            </a:r>
            <a:r>
              <a:rPr sz="1100">
                <a:latin typeface="Calibri"/>
                <a:cs typeface="Calibri"/>
              </a:rPr>
              <a:t>to</a:t>
            </a:r>
            <a:r>
              <a:rPr sz="1100" spc="-45">
                <a:latin typeface="Calibri"/>
                <a:cs typeface="Calibri"/>
              </a:rPr>
              <a:t> </a:t>
            </a:r>
            <a:r>
              <a:rPr sz="1100" spc="-5">
                <a:latin typeface="Calibri"/>
                <a:cs typeface="Calibri"/>
              </a:rPr>
              <a:t>be</a:t>
            </a:r>
            <a:r>
              <a:rPr sz="1100" spc="-50">
                <a:latin typeface="Calibri"/>
                <a:cs typeface="Calibri"/>
              </a:rPr>
              <a:t> </a:t>
            </a:r>
            <a:r>
              <a:rPr sz="1100">
                <a:latin typeface="Calibri"/>
                <a:cs typeface="Calibri"/>
              </a:rPr>
              <a:t>provided</a:t>
            </a:r>
            <a:r>
              <a:rPr sz="1100" spc="-140">
                <a:latin typeface="Calibri"/>
                <a:cs typeface="Calibri"/>
              </a:rPr>
              <a:t> </a:t>
            </a:r>
            <a:r>
              <a:rPr sz="1100">
                <a:latin typeface="Calibri"/>
                <a:cs typeface="Calibri"/>
              </a:rPr>
              <a:t>for</a:t>
            </a:r>
          </a:p>
          <a:p>
            <a:pPr marL="263525" indent="-174625">
              <a:lnSpc>
                <a:spcPct val="100000"/>
              </a:lnSpc>
              <a:buFont typeface="Arial"/>
              <a:buChar char="•"/>
              <a:tabLst>
                <a:tab pos="264160" algn="l"/>
              </a:tabLst>
            </a:pPr>
            <a:r>
              <a:rPr sz="1100" spc="-5">
                <a:latin typeface="Calibri"/>
                <a:cs typeface="Calibri"/>
              </a:rPr>
              <a:t>Asset/</a:t>
            </a:r>
            <a:r>
              <a:rPr sz="1100" spc="-70">
                <a:latin typeface="Calibri"/>
                <a:cs typeface="Calibri"/>
              </a:rPr>
              <a:t> </a:t>
            </a:r>
            <a:r>
              <a:rPr sz="1100">
                <a:latin typeface="Calibri"/>
                <a:cs typeface="Calibri"/>
              </a:rPr>
              <a:t>Product</a:t>
            </a:r>
          </a:p>
          <a:p>
            <a:pPr marL="263525" indent="-174625">
              <a:lnSpc>
                <a:spcPct val="100000"/>
              </a:lnSpc>
              <a:buFont typeface="Arial"/>
              <a:buChar char="•"/>
              <a:tabLst>
                <a:tab pos="264160" algn="l"/>
              </a:tabLst>
            </a:pPr>
            <a:r>
              <a:rPr sz="1100" spc="-5">
                <a:latin typeface="Calibri"/>
                <a:cs typeface="Calibri"/>
              </a:rPr>
              <a:t>ISSUER</a:t>
            </a:r>
            <a:endParaRPr sz="1100">
              <a:latin typeface="Calibri"/>
              <a:cs typeface="Calibri"/>
            </a:endParaRPr>
          </a:p>
          <a:p>
            <a:pPr marL="263525" indent="-174625">
              <a:lnSpc>
                <a:spcPct val="100000"/>
              </a:lnSpc>
              <a:buFont typeface="Arial"/>
              <a:buChar char="•"/>
              <a:tabLst>
                <a:tab pos="264160" algn="l"/>
              </a:tabLst>
            </a:pPr>
            <a:r>
              <a:rPr sz="1100" spc="-5">
                <a:latin typeface="Calibri"/>
                <a:cs typeface="Calibri"/>
              </a:rPr>
              <a:t>SOVEREIGN</a:t>
            </a:r>
            <a:endParaRPr sz="1100">
              <a:latin typeface="Calibri"/>
              <a:cs typeface="Calibri"/>
            </a:endParaRPr>
          </a:p>
          <a:p>
            <a:pPr>
              <a:lnSpc>
                <a:spcPct val="100000"/>
              </a:lnSpc>
              <a:spcBef>
                <a:spcPts val="40"/>
              </a:spcBef>
              <a:buFont typeface="Arial"/>
              <a:buChar char="•"/>
            </a:pPr>
            <a:endParaRPr sz="1000">
              <a:latin typeface="Calibri"/>
              <a:cs typeface="Calibri"/>
            </a:endParaRPr>
          </a:p>
          <a:p>
            <a:pPr marL="263525" indent="-174625">
              <a:lnSpc>
                <a:spcPct val="100000"/>
              </a:lnSpc>
              <a:buFont typeface="Arial"/>
              <a:buChar char="•"/>
              <a:tabLst>
                <a:tab pos="264160" algn="l"/>
              </a:tabLst>
            </a:pPr>
            <a:r>
              <a:rPr sz="1100">
                <a:latin typeface="Calibri"/>
                <a:cs typeface="Calibri"/>
              </a:rPr>
              <a:t>Reference</a:t>
            </a:r>
            <a:r>
              <a:rPr sz="1100" spc="-50">
                <a:latin typeface="Calibri"/>
                <a:cs typeface="Calibri"/>
              </a:rPr>
              <a:t> </a:t>
            </a:r>
            <a:r>
              <a:rPr sz="1100" spc="-5">
                <a:latin typeface="Calibri"/>
                <a:cs typeface="Calibri"/>
              </a:rPr>
              <a:t>Agency</a:t>
            </a:r>
            <a:endParaRPr sz="1100">
              <a:latin typeface="Calibri"/>
              <a:cs typeface="Calibri"/>
            </a:endParaRPr>
          </a:p>
          <a:p>
            <a:pPr marL="263525" indent="-174625">
              <a:lnSpc>
                <a:spcPct val="100000"/>
              </a:lnSpc>
              <a:buFont typeface="Arial"/>
              <a:buChar char="•"/>
              <a:tabLst>
                <a:tab pos="264160" algn="l"/>
              </a:tabLst>
            </a:pPr>
            <a:r>
              <a:rPr sz="1100" spc="-10">
                <a:latin typeface="Calibri"/>
                <a:cs typeface="Calibri"/>
              </a:rPr>
              <a:t>Multiple</a:t>
            </a:r>
            <a:r>
              <a:rPr sz="1100" spc="-85">
                <a:latin typeface="Calibri"/>
                <a:cs typeface="Calibri"/>
              </a:rPr>
              <a:t> </a:t>
            </a:r>
            <a:r>
              <a:rPr sz="1100" spc="-5">
                <a:latin typeface="Calibri"/>
                <a:cs typeface="Calibri"/>
              </a:rPr>
              <a:t>Agency</a:t>
            </a:r>
            <a:endParaRPr sz="1100">
              <a:latin typeface="Calibri"/>
              <a:cs typeface="Calibri"/>
            </a:endParaRPr>
          </a:p>
          <a:p>
            <a:pPr marL="263525" indent="-174625">
              <a:lnSpc>
                <a:spcPct val="100000"/>
              </a:lnSpc>
              <a:buFont typeface="Arial"/>
              <a:buChar char="•"/>
              <a:tabLst>
                <a:tab pos="264160" algn="l"/>
              </a:tabLst>
            </a:pPr>
            <a:r>
              <a:rPr sz="1100" spc="-5">
                <a:latin typeface="Calibri"/>
                <a:cs typeface="Calibri"/>
              </a:rPr>
              <a:t>Rating</a:t>
            </a:r>
            <a:endParaRPr sz="1100">
              <a:latin typeface="Calibri"/>
              <a:cs typeface="Calibri"/>
            </a:endParaRPr>
          </a:p>
          <a:p>
            <a:pPr>
              <a:lnSpc>
                <a:spcPct val="100000"/>
              </a:lnSpc>
              <a:spcBef>
                <a:spcPts val="40"/>
              </a:spcBef>
              <a:buFont typeface="Arial"/>
              <a:buChar char="•"/>
            </a:pPr>
            <a:endParaRPr sz="1000">
              <a:latin typeface="Calibri"/>
              <a:cs typeface="Calibri"/>
            </a:endParaRPr>
          </a:p>
          <a:p>
            <a:pPr marL="89535" marR="268605" indent="-635">
              <a:lnSpc>
                <a:spcPct val="100000"/>
              </a:lnSpc>
              <a:buFont typeface="Arial"/>
              <a:buChar char="•"/>
              <a:tabLst>
                <a:tab pos="139700" algn="l"/>
              </a:tabLst>
            </a:pPr>
            <a:r>
              <a:rPr sz="1100" spc="-5">
                <a:latin typeface="Calibri"/>
                <a:cs typeface="Calibri"/>
              </a:rPr>
              <a:t>Mismatch</a:t>
            </a:r>
            <a:r>
              <a:rPr sz="1100" spc="-195">
                <a:latin typeface="Calibri"/>
                <a:cs typeface="Calibri"/>
              </a:rPr>
              <a:t> </a:t>
            </a:r>
            <a:r>
              <a:rPr sz="1100" spc="-5">
                <a:latin typeface="Calibri"/>
                <a:cs typeface="Calibri"/>
              </a:rPr>
              <a:t>Specify  </a:t>
            </a:r>
            <a:r>
              <a:rPr sz="1100" spc="-10">
                <a:latin typeface="Calibri"/>
                <a:cs typeface="Calibri"/>
              </a:rPr>
              <a:t>(Lowest/Highest/  </a:t>
            </a:r>
            <a:r>
              <a:rPr sz="1100" spc="-5">
                <a:latin typeface="Calibri"/>
                <a:cs typeface="Calibri"/>
              </a:rPr>
              <a:t>Agency</a:t>
            </a:r>
            <a:r>
              <a:rPr sz="1100" spc="-75">
                <a:latin typeface="Calibri"/>
                <a:cs typeface="Calibri"/>
              </a:rPr>
              <a:t> </a:t>
            </a:r>
            <a:r>
              <a:rPr sz="1100">
                <a:latin typeface="Calibri"/>
                <a:cs typeface="Calibri"/>
              </a:rPr>
              <a:t>override)</a:t>
            </a:r>
          </a:p>
        </p:txBody>
      </p:sp>
      <p:sp>
        <p:nvSpPr>
          <p:cNvPr id="129" name="object 34">
            <a:extLst>
              <a:ext uri="{FF2B5EF4-FFF2-40B4-BE49-F238E27FC236}">
                <a16:creationId xmlns:a16="http://schemas.microsoft.com/office/drawing/2014/main" id="{24B077EF-BFD8-C3A6-5693-E77458ADC7FB}"/>
              </a:ext>
            </a:extLst>
          </p:cNvPr>
          <p:cNvSpPr txBox="1"/>
          <p:nvPr/>
        </p:nvSpPr>
        <p:spPr>
          <a:xfrm>
            <a:off x="10494885" y="3603772"/>
            <a:ext cx="1426845" cy="875240"/>
          </a:xfrm>
          <a:prstGeom prst="rect">
            <a:avLst/>
          </a:prstGeom>
          <a:ln w="3175">
            <a:solidFill>
              <a:srgbClr val="000000"/>
            </a:solidFill>
          </a:ln>
        </p:spPr>
        <p:txBody>
          <a:bodyPr vert="horz" wrap="square" lIns="0" tIns="28575" rIns="0" bIns="0" rtlCol="0">
            <a:spAutoFit/>
          </a:bodyPr>
          <a:lstStyle/>
          <a:p>
            <a:pPr marL="263525" indent="-174625">
              <a:lnSpc>
                <a:spcPct val="100000"/>
              </a:lnSpc>
              <a:spcBef>
                <a:spcPts val="225"/>
              </a:spcBef>
              <a:buFont typeface="Arial"/>
              <a:buChar char="•"/>
              <a:tabLst>
                <a:tab pos="264160" algn="l"/>
              </a:tabLst>
            </a:pPr>
            <a:r>
              <a:rPr sz="1100" spc="-5">
                <a:latin typeface="Calibri"/>
                <a:cs typeface="Calibri"/>
              </a:rPr>
              <a:t>Regulatory</a:t>
            </a:r>
            <a:r>
              <a:rPr sz="1100" spc="-100">
                <a:latin typeface="Calibri"/>
                <a:cs typeface="Calibri"/>
              </a:rPr>
              <a:t> </a:t>
            </a:r>
            <a:r>
              <a:rPr sz="1100" spc="-5">
                <a:latin typeface="Calibri"/>
                <a:cs typeface="Calibri"/>
              </a:rPr>
              <a:t>Haircut</a:t>
            </a:r>
            <a:endParaRPr sz="1000">
              <a:latin typeface="Calibri"/>
              <a:cs typeface="Calibri"/>
            </a:endParaRPr>
          </a:p>
          <a:p>
            <a:pPr marL="263525" indent="-174625">
              <a:lnSpc>
                <a:spcPct val="100000"/>
              </a:lnSpc>
              <a:buFont typeface="Arial"/>
              <a:buChar char="•"/>
              <a:tabLst>
                <a:tab pos="264160" algn="l"/>
              </a:tabLst>
            </a:pPr>
            <a:r>
              <a:rPr sz="1100" spc="-5">
                <a:latin typeface="Calibri"/>
                <a:cs typeface="Calibri"/>
              </a:rPr>
              <a:t>FX</a:t>
            </a:r>
            <a:r>
              <a:rPr sz="1100" spc="-35">
                <a:latin typeface="Calibri"/>
                <a:cs typeface="Calibri"/>
              </a:rPr>
              <a:t> </a:t>
            </a:r>
            <a:r>
              <a:rPr sz="1100" spc="-5">
                <a:latin typeface="Calibri"/>
                <a:cs typeface="Calibri"/>
              </a:rPr>
              <a:t>Haircut</a:t>
            </a:r>
            <a:endParaRPr lang="en-GB" sz="1100" spc="-5">
              <a:latin typeface="Calibri"/>
              <a:cs typeface="Calibri"/>
            </a:endParaRPr>
          </a:p>
          <a:p>
            <a:pPr marL="263525" indent="-174625">
              <a:lnSpc>
                <a:spcPct val="100000"/>
              </a:lnSpc>
              <a:buFont typeface="Arial"/>
              <a:buChar char="•"/>
              <a:tabLst>
                <a:tab pos="264160" algn="l"/>
              </a:tabLst>
            </a:pPr>
            <a:r>
              <a:rPr lang="en-GB" sz="1100" spc="-5">
                <a:latin typeface="Calibri"/>
                <a:cs typeface="Calibri"/>
              </a:rPr>
              <a:t>Margin Percentage</a:t>
            </a:r>
          </a:p>
          <a:p>
            <a:pPr marL="263525" indent="-174625">
              <a:lnSpc>
                <a:spcPct val="100000"/>
              </a:lnSpc>
              <a:buFont typeface="Arial"/>
              <a:buChar char="•"/>
              <a:tabLst>
                <a:tab pos="264160" algn="l"/>
              </a:tabLst>
            </a:pPr>
            <a:r>
              <a:rPr lang="en-GB" sz="1100" spc="-5">
                <a:latin typeface="Calibri"/>
                <a:cs typeface="Calibri"/>
              </a:rPr>
              <a:t>Additional H/C</a:t>
            </a:r>
          </a:p>
          <a:p>
            <a:pPr marL="263525" indent="-174625">
              <a:lnSpc>
                <a:spcPct val="100000"/>
              </a:lnSpc>
              <a:buFont typeface="Arial"/>
              <a:buChar char="•"/>
              <a:tabLst>
                <a:tab pos="264160" algn="l"/>
              </a:tabLst>
            </a:pPr>
            <a:endParaRPr sz="1100">
              <a:latin typeface="Calibri"/>
              <a:cs typeface="Calibri"/>
            </a:endParaRPr>
          </a:p>
        </p:txBody>
      </p:sp>
      <p:sp>
        <p:nvSpPr>
          <p:cNvPr id="130" name="object 35">
            <a:extLst>
              <a:ext uri="{FF2B5EF4-FFF2-40B4-BE49-F238E27FC236}">
                <a16:creationId xmlns:a16="http://schemas.microsoft.com/office/drawing/2014/main" id="{D59F51A9-8FE5-99B6-E5C1-A9B56EE815AF}"/>
              </a:ext>
            </a:extLst>
          </p:cNvPr>
          <p:cNvSpPr/>
          <p:nvPr/>
        </p:nvSpPr>
        <p:spPr>
          <a:xfrm>
            <a:off x="2211944" y="1959377"/>
            <a:ext cx="2628900" cy="751205"/>
          </a:xfrm>
          <a:custGeom>
            <a:avLst/>
            <a:gdLst/>
            <a:ahLst/>
            <a:cxnLst/>
            <a:rect l="l" t="t" r="r" b="b"/>
            <a:pathLst>
              <a:path w="2628900" h="751205">
                <a:moveTo>
                  <a:pt x="2628506" y="0"/>
                </a:moveTo>
                <a:lnTo>
                  <a:pt x="0" y="751179"/>
                </a:lnTo>
              </a:path>
            </a:pathLst>
          </a:custGeom>
          <a:ln w="12700">
            <a:solidFill>
              <a:srgbClr val="5B9BD3"/>
            </a:solidFill>
          </a:ln>
        </p:spPr>
        <p:txBody>
          <a:bodyPr wrap="square" lIns="0" tIns="0" rIns="0" bIns="0" rtlCol="0"/>
          <a:lstStyle/>
          <a:p>
            <a:endParaRPr/>
          </a:p>
        </p:txBody>
      </p:sp>
      <p:sp>
        <p:nvSpPr>
          <p:cNvPr id="131" name="object 36">
            <a:extLst>
              <a:ext uri="{FF2B5EF4-FFF2-40B4-BE49-F238E27FC236}">
                <a16:creationId xmlns:a16="http://schemas.microsoft.com/office/drawing/2014/main" id="{60D4A531-E40D-3025-52CD-F5C5B71B0A81}"/>
              </a:ext>
            </a:extLst>
          </p:cNvPr>
          <p:cNvSpPr/>
          <p:nvPr/>
        </p:nvSpPr>
        <p:spPr>
          <a:xfrm>
            <a:off x="2150985" y="2669561"/>
            <a:ext cx="83820" cy="74295"/>
          </a:xfrm>
          <a:custGeom>
            <a:avLst/>
            <a:gdLst/>
            <a:ahLst/>
            <a:cxnLst/>
            <a:rect l="l" t="t" r="r" b="b"/>
            <a:pathLst>
              <a:path w="83819" h="74294">
                <a:moveTo>
                  <a:pt x="62801" y="0"/>
                </a:moveTo>
                <a:lnTo>
                  <a:pt x="0" y="58369"/>
                </a:lnTo>
                <a:lnTo>
                  <a:pt x="83731" y="74282"/>
                </a:lnTo>
                <a:lnTo>
                  <a:pt x="62801" y="0"/>
                </a:lnTo>
                <a:close/>
              </a:path>
            </a:pathLst>
          </a:custGeom>
          <a:solidFill>
            <a:srgbClr val="5B9BD3"/>
          </a:solidFill>
        </p:spPr>
        <p:txBody>
          <a:bodyPr wrap="square" lIns="0" tIns="0" rIns="0" bIns="0" rtlCol="0"/>
          <a:lstStyle/>
          <a:p>
            <a:endParaRPr/>
          </a:p>
        </p:txBody>
      </p:sp>
      <p:sp>
        <p:nvSpPr>
          <p:cNvPr id="132" name="object 37">
            <a:extLst>
              <a:ext uri="{FF2B5EF4-FFF2-40B4-BE49-F238E27FC236}">
                <a16:creationId xmlns:a16="http://schemas.microsoft.com/office/drawing/2014/main" id="{F681B50E-797D-CCE7-A9D1-1EC92E6E838C}"/>
              </a:ext>
            </a:extLst>
          </p:cNvPr>
          <p:cNvSpPr/>
          <p:nvPr/>
        </p:nvSpPr>
        <p:spPr>
          <a:xfrm>
            <a:off x="3921872" y="2197121"/>
            <a:ext cx="1289685" cy="559435"/>
          </a:xfrm>
          <a:custGeom>
            <a:avLst/>
            <a:gdLst/>
            <a:ahLst/>
            <a:cxnLst/>
            <a:rect l="l" t="t" r="r" b="b"/>
            <a:pathLst>
              <a:path w="1289685" h="559435">
                <a:moveTo>
                  <a:pt x="1289075" y="0"/>
                </a:moveTo>
                <a:lnTo>
                  <a:pt x="0" y="558812"/>
                </a:lnTo>
              </a:path>
            </a:pathLst>
          </a:custGeom>
          <a:ln w="12700">
            <a:solidFill>
              <a:srgbClr val="5B9BD3"/>
            </a:solidFill>
          </a:ln>
        </p:spPr>
        <p:txBody>
          <a:bodyPr wrap="square" lIns="0" tIns="0" rIns="0" bIns="0" rtlCol="0"/>
          <a:lstStyle/>
          <a:p>
            <a:endParaRPr/>
          </a:p>
        </p:txBody>
      </p:sp>
      <p:sp>
        <p:nvSpPr>
          <p:cNvPr id="133" name="object 38">
            <a:extLst>
              <a:ext uri="{FF2B5EF4-FFF2-40B4-BE49-F238E27FC236}">
                <a16:creationId xmlns:a16="http://schemas.microsoft.com/office/drawing/2014/main" id="{8354AF96-7230-34A8-F537-D367BB8F85EB}"/>
              </a:ext>
            </a:extLst>
          </p:cNvPr>
          <p:cNvSpPr/>
          <p:nvPr/>
        </p:nvSpPr>
        <p:spPr>
          <a:xfrm>
            <a:off x="3863958" y="2716805"/>
            <a:ext cx="85725" cy="69850"/>
          </a:xfrm>
          <a:custGeom>
            <a:avLst/>
            <a:gdLst/>
            <a:ahLst/>
            <a:cxnLst/>
            <a:rect l="l" t="t" r="r" b="b"/>
            <a:pathLst>
              <a:path w="85725" h="69850">
                <a:moveTo>
                  <a:pt x="54914" y="0"/>
                </a:moveTo>
                <a:lnTo>
                  <a:pt x="0" y="64922"/>
                </a:lnTo>
                <a:lnTo>
                  <a:pt x="85331" y="69532"/>
                </a:lnTo>
                <a:lnTo>
                  <a:pt x="54914" y="0"/>
                </a:lnTo>
                <a:close/>
              </a:path>
            </a:pathLst>
          </a:custGeom>
          <a:solidFill>
            <a:srgbClr val="5B9BD3"/>
          </a:solidFill>
        </p:spPr>
        <p:txBody>
          <a:bodyPr wrap="square" lIns="0" tIns="0" rIns="0" bIns="0" rtlCol="0"/>
          <a:lstStyle/>
          <a:p>
            <a:endParaRPr/>
          </a:p>
        </p:txBody>
      </p:sp>
      <p:sp>
        <p:nvSpPr>
          <p:cNvPr id="134" name="object 39">
            <a:extLst>
              <a:ext uri="{FF2B5EF4-FFF2-40B4-BE49-F238E27FC236}">
                <a16:creationId xmlns:a16="http://schemas.microsoft.com/office/drawing/2014/main" id="{90671875-180E-61B4-BAE0-3BA77B66284E}"/>
              </a:ext>
            </a:extLst>
          </p:cNvPr>
          <p:cNvSpPr/>
          <p:nvPr/>
        </p:nvSpPr>
        <p:spPr>
          <a:xfrm>
            <a:off x="5314810" y="2340377"/>
            <a:ext cx="153670" cy="382905"/>
          </a:xfrm>
          <a:custGeom>
            <a:avLst/>
            <a:gdLst/>
            <a:ahLst/>
            <a:cxnLst/>
            <a:rect l="l" t="t" r="r" b="b"/>
            <a:pathLst>
              <a:path w="153670" h="382905">
                <a:moveTo>
                  <a:pt x="153644" y="0"/>
                </a:moveTo>
                <a:lnTo>
                  <a:pt x="0" y="382371"/>
                </a:lnTo>
              </a:path>
            </a:pathLst>
          </a:custGeom>
          <a:ln w="12700">
            <a:solidFill>
              <a:srgbClr val="5B9BD3"/>
            </a:solidFill>
          </a:ln>
        </p:spPr>
        <p:txBody>
          <a:bodyPr wrap="square" lIns="0" tIns="0" rIns="0" bIns="0" rtlCol="0"/>
          <a:lstStyle/>
          <a:p>
            <a:endParaRPr/>
          </a:p>
        </p:txBody>
      </p:sp>
      <p:sp>
        <p:nvSpPr>
          <p:cNvPr id="135" name="object 40">
            <a:extLst>
              <a:ext uri="{FF2B5EF4-FFF2-40B4-BE49-F238E27FC236}">
                <a16:creationId xmlns:a16="http://schemas.microsoft.com/office/drawing/2014/main" id="{98B34EB9-1FA4-DAC2-1A3C-6F6F5B531A7B}"/>
              </a:ext>
            </a:extLst>
          </p:cNvPr>
          <p:cNvSpPr/>
          <p:nvPr/>
        </p:nvSpPr>
        <p:spPr>
          <a:xfrm>
            <a:off x="5284328" y="2696992"/>
            <a:ext cx="69850" cy="83820"/>
          </a:xfrm>
          <a:custGeom>
            <a:avLst/>
            <a:gdLst/>
            <a:ahLst/>
            <a:cxnLst/>
            <a:rect l="l" t="t" r="r" b="b"/>
            <a:pathLst>
              <a:path w="69850" h="83819">
                <a:moveTo>
                  <a:pt x="0" y="0"/>
                </a:moveTo>
                <a:lnTo>
                  <a:pt x="6756" y="83642"/>
                </a:lnTo>
                <a:lnTo>
                  <a:pt x="69659" y="28067"/>
                </a:lnTo>
                <a:lnTo>
                  <a:pt x="0" y="0"/>
                </a:lnTo>
                <a:close/>
              </a:path>
            </a:pathLst>
          </a:custGeom>
          <a:solidFill>
            <a:srgbClr val="5B9BD3"/>
          </a:solidFill>
        </p:spPr>
        <p:txBody>
          <a:bodyPr wrap="square" lIns="0" tIns="0" rIns="0" bIns="0" rtlCol="0"/>
          <a:lstStyle/>
          <a:p>
            <a:endParaRPr/>
          </a:p>
        </p:txBody>
      </p:sp>
      <p:sp>
        <p:nvSpPr>
          <p:cNvPr id="136" name="object 41">
            <a:extLst>
              <a:ext uri="{FF2B5EF4-FFF2-40B4-BE49-F238E27FC236}">
                <a16:creationId xmlns:a16="http://schemas.microsoft.com/office/drawing/2014/main" id="{BD821E91-7726-890C-8B8E-C343CF2AFFFF}"/>
              </a:ext>
            </a:extLst>
          </p:cNvPr>
          <p:cNvSpPr/>
          <p:nvPr/>
        </p:nvSpPr>
        <p:spPr>
          <a:xfrm>
            <a:off x="6060045" y="2323612"/>
            <a:ext cx="220979" cy="401955"/>
          </a:xfrm>
          <a:custGeom>
            <a:avLst/>
            <a:gdLst/>
            <a:ahLst/>
            <a:cxnLst/>
            <a:rect l="l" t="t" r="r" b="b"/>
            <a:pathLst>
              <a:path w="220979" h="401955">
                <a:moveTo>
                  <a:pt x="0" y="0"/>
                </a:moveTo>
                <a:lnTo>
                  <a:pt x="220662" y="401866"/>
                </a:lnTo>
              </a:path>
            </a:pathLst>
          </a:custGeom>
          <a:ln w="12700">
            <a:solidFill>
              <a:srgbClr val="5B9BD3"/>
            </a:solidFill>
          </a:ln>
        </p:spPr>
        <p:txBody>
          <a:bodyPr wrap="square" lIns="0" tIns="0" rIns="0" bIns="0" rtlCol="0"/>
          <a:lstStyle/>
          <a:p>
            <a:endParaRPr/>
          </a:p>
        </p:txBody>
      </p:sp>
      <p:sp>
        <p:nvSpPr>
          <p:cNvPr id="137" name="object 42">
            <a:extLst>
              <a:ext uri="{FF2B5EF4-FFF2-40B4-BE49-F238E27FC236}">
                <a16:creationId xmlns:a16="http://schemas.microsoft.com/office/drawing/2014/main" id="{7BD2B023-211A-E427-5BE3-1C77922B1EB6}"/>
              </a:ext>
            </a:extLst>
          </p:cNvPr>
          <p:cNvSpPr/>
          <p:nvPr/>
        </p:nvSpPr>
        <p:spPr>
          <a:xfrm>
            <a:off x="6239880" y="2695468"/>
            <a:ext cx="71755" cy="85090"/>
          </a:xfrm>
          <a:custGeom>
            <a:avLst/>
            <a:gdLst/>
            <a:ahLst/>
            <a:cxnLst/>
            <a:rect l="l" t="t" r="r" b="b"/>
            <a:pathLst>
              <a:path w="71754" h="85089">
                <a:moveTo>
                  <a:pt x="67906" y="0"/>
                </a:moveTo>
                <a:lnTo>
                  <a:pt x="0" y="36449"/>
                </a:lnTo>
                <a:lnTo>
                  <a:pt x="71158" y="84747"/>
                </a:lnTo>
                <a:lnTo>
                  <a:pt x="67906" y="0"/>
                </a:lnTo>
                <a:close/>
              </a:path>
            </a:pathLst>
          </a:custGeom>
          <a:solidFill>
            <a:srgbClr val="5B9BD3"/>
          </a:solidFill>
        </p:spPr>
        <p:txBody>
          <a:bodyPr wrap="square" lIns="0" tIns="0" rIns="0" bIns="0" rtlCol="0"/>
          <a:lstStyle/>
          <a:p>
            <a:endParaRPr/>
          </a:p>
        </p:txBody>
      </p:sp>
      <p:sp>
        <p:nvSpPr>
          <p:cNvPr id="138" name="object 43">
            <a:extLst>
              <a:ext uri="{FF2B5EF4-FFF2-40B4-BE49-F238E27FC236}">
                <a16:creationId xmlns:a16="http://schemas.microsoft.com/office/drawing/2014/main" id="{45CEA5E6-1DA8-029B-D404-758A95689057}"/>
              </a:ext>
            </a:extLst>
          </p:cNvPr>
          <p:cNvSpPr/>
          <p:nvPr/>
        </p:nvSpPr>
        <p:spPr>
          <a:xfrm>
            <a:off x="6553821" y="2285512"/>
            <a:ext cx="1193165" cy="421640"/>
          </a:xfrm>
          <a:custGeom>
            <a:avLst/>
            <a:gdLst/>
            <a:ahLst/>
            <a:cxnLst/>
            <a:rect l="l" t="t" r="r" b="b"/>
            <a:pathLst>
              <a:path w="1193165" h="421639">
                <a:moveTo>
                  <a:pt x="0" y="0"/>
                </a:moveTo>
                <a:lnTo>
                  <a:pt x="1192847" y="421640"/>
                </a:lnTo>
              </a:path>
            </a:pathLst>
          </a:custGeom>
          <a:ln w="12700">
            <a:solidFill>
              <a:srgbClr val="5B9BD3"/>
            </a:solidFill>
          </a:ln>
        </p:spPr>
        <p:txBody>
          <a:bodyPr wrap="square" lIns="0" tIns="0" rIns="0" bIns="0" rtlCol="0"/>
          <a:lstStyle/>
          <a:p>
            <a:endParaRPr/>
          </a:p>
        </p:txBody>
      </p:sp>
      <p:sp>
        <p:nvSpPr>
          <p:cNvPr id="139" name="object 44">
            <a:extLst>
              <a:ext uri="{FF2B5EF4-FFF2-40B4-BE49-F238E27FC236}">
                <a16:creationId xmlns:a16="http://schemas.microsoft.com/office/drawing/2014/main" id="{1BF84854-BFAC-BA19-8363-4E3F8DB09E3D}"/>
              </a:ext>
            </a:extLst>
          </p:cNvPr>
          <p:cNvSpPr/>
          <p:nvPr/>
        </p:nvSpPr>
        <p:spPr>
          <a:xfrm>
            <a:off x="7721203" y="2666512"/>
            <a:ext cx="85090" cy="71120"/>
          </a:xfrm>
          <a:custGeom>
            <a:avLst/>
            <a:gdLst/>
            <a:ahLst/>
            <a:cxnLst/>
            <a:rect l="l" t="t" r="r" b="b"/>
            <a:pathLst>
              <a:path w="85090" h="71119">
                <a:moveTo>
                  <a:pt x="25450" y="0"/>
                </a:moveTo>
                <a:lnTo>
                  <a:pt x="0" y="71094"/>
                </a:lnTo>
                <a:lnTo>
                  <a:pt x="84797" y="60655"/>
                </a:lnTo>
                <a:lnTo>
                  <a:pt x="25450" y="0"/>
                </a:lnTo>
                <a:close/>
              </a:path>
            </a:pathLst>
          </a:custGeom>
          <a:solidFill>
            <a:srgbClr val="5B9BD3"/>
          </a:solidFill>
        </p:spPr>
        <p:txBody>
          <a:bodyPr wrap="square" lIns="0" tIns="0" rIns="0" bIns="0" rtlCol="0"/>
          <a:lstStyle/>
          <a:p>
            <a:endParaRPr/>
          </a:p>
        </p:txBody>
      </p:sp>
      <p:sp>
        <p:nvSpPr>
          <p:cNvPr id="140" name="object 45">
            <a:extLst>
              <a:ext uri="{FF2B5EF4-FFF2-40B4-BE49-F238E27FC236}">
                <a16:creationId xmlns:a16="http://schemas.microsoft.com/office/drawing/2014/main" id="{5C58EB1A-6B33-D79E-B4EF-FF17471A716C}"/>
              </a:ext>
            </a:extLst>
          </p:cNvPr>
          <p:cNvSpPr/>
          <p:nvPr/>
        </p:nvSpPr>
        <p:spPr>
          <a:xfrm>
            <a:off x="6750416" y="2082821"/>
            <a:ext cx="2348230" cy="707390"/>
          </a:xfrm>
          <a:custGeom>
            <a:avLst/>
            <a:gdLst/>
            <a:ahLst/>
            <a:cxnLst/>
            <a:rect l="l" t="t" r="r" b="b"/>
            <a:pathLst>
              <a:path w="2348229" h="707389">
                <a:moveTo>
                  <a:pt x="0" y="0"/>
                </a:moveTo>
                <a:lnTo>
                  <a:pt x="2347899" y="706869"/>
                </a:lnTo>
              </a:path>
            </a:pathLst>
          </a:custGeom>
          <a:ln w="12700">
            <a:solidFill>
              <a:srgbClr val="5B9BD3"/>
            </a:solidFill>
          </a:ln>
        </p:spPr>
        <p:txBody>
          <a:bodyPr wrap="square" lIns="0" tIns="0" rIns="0" bIns="0" rtlCol="0"/>
          <a:lstStyle/>
          <a:p>
            <a:endParaRPr/>
          </a:p>
        </p:txBody>
      </p:sp>
      <p:sp>
        <p:nvSpPr>
          <p:cNvPr id="141" name="object 46">
            <a:extLst>
              <a:ext uri="{FF2B5EF4-FFF2-40B4-BE49-F238E27FC236}">
                <a16:creationId xmlns:a16="http://schemas.microsoft.com/office/drawing/2014/main" id="{92982623-DDB6-F8B9-AFFA-06AA0673A0E2}"/>
              </a:ext>
            </a:extLst>
          </p:cNvPr>
          <p:cNvSpPr/>
          <p:nvPr/>
        </p:nvSpPr>
        <p:spPr>
          <a:xfrm>
            <a:off x="9074519" y="2748808"/>
            <a:ext cx="85090" cy="73660"/>
          </a:xfrm>
          <a:custGeom>
            <a:avLst/>
            <a:gdLst/>
            <a:ahLst/>
            <a:cxnLst/>
            <a:rect l="l" t="t" r="r" b="b"/>
            <a:pathLst>
              <a:path w="85090" h="73660">
                <a:moveTo>
                  <a:pt x="22186" y="0"/>
                </a:moveTo>
                <a:lnTo>
                  <a:pt x="0" y="73088"/>
                </a:lnTo>
                <a:lnTo>
                  <a:pt x="84823" y="58547"/>
                </a:lnTo>
                <a:lnTo>
                  <a:pt x="22186" y="0"/>
                </a:lnTo>
                <a:close/>
              </a:path>
            </a:pathLst>
          </a:custGeom>
          <a:solidFill>
            <a:srgbClr val="5B9BD3"/>
          </a:solidFill>
        </p:spPr>
        <p:txBody>
          <a:bodyPr wrap="square" lIns="0" tIns="0" rIns="0" bIns="0" rtlCol="0"/>
          <a:lstStyle/>
          <a:p>
            <a:endParaRPr/>
          </a:p>
        </p:txBody>
      </p:sp>
      <p:sp>
        <p:nvSpPr>
          <p:cNvPr id="142" name="object 47">
            <a:extLst>
              <a:ext uri="{FF2B5EF4-FFF2-40B4-BE49-F238E27FC236}">
                <a16:creationId xmlns:a16="http://schemas.microsoft.com/office/drawing/2014/main" id="{5C3C1715-69E7-36CD-3060-1CA9D55F21CF}"/>
              </a:ext>
            </a:extLst>
          </p:cNvPr>
          <p:cNvSpPr/>
          <p:nvPr/>
        </p:nvSpPr>
        <p:spPr>
          <a:xfrm>
            <a:off x="6898245" y="1866412"/>
            <a:ext cx="3672840" cy="899160"/>
          </a:xfrm>
          <a:custGeom>
            <a:avLst/>
            <a:gdLst/>
            <a:ahLst/>
            <a:cxnLst/>
            <a:rect l="l" t="t" r="r" b="b"/>
            <a:pathLst>
              <a:path w="3672840" h="899160">
                <a:moveTo>
                  <a:pt x="0" y="0"/>
                </a:moveTo>
                <a:lnTo>
                  <a:pt x="3672789" y="898791"/>
                </a:lnTo>
              </a:path>
            </a:pathLst>
          </a:custGeom>
          <a:ln w="12700">
            <a:solidFill>
              <a:srgbClr val="5B9BD3"/>
            </a:solidFill>
          </a:ln>
        </p:spPr>
        <p:txBody>
          <a:bodyPr wrap="square" lIns="0" tIns="0" rIns="0" bIns="0" rtlCol="0"/>
          <a:lstStyle/>
          <a:p>
            <a:endParaRPr/>
          </a:p>
        </p:txBody>
      </p:sp>
      <p:sp>
        <p:nvSpPr>
          <p:cNvPr id="143" name="object 48">
            <a:extLst>
              <a:ext uri="{FF2B5EF4-FFF2-40B4-BE49-F238E27FC236}">
                <a16:creationId xmlns:a16="http://schemas.microsoft.com/office/drawing/2014/main" id="{10A150F6-9379-24E9-9921-619F7C1EB21F}"/>
              </a:ext>
            </a:extLst>
          </p:cNvPr>
          <p:cNvSpPr/>
          <p:nvPr/>
        </p:nvSpPr>
        <p:spPr>
          <a:xfrm>
            <a:off x="10549746" y="2725949"/>
            <a:ext cx="83820" cy="74930"/>
          </a:xfrm>
          <a:custGeom>
            <a:avLst/>
            <a:gdLst/>
            <a:ahLst/>
            <a:cxnLst/>
            <a:rect l="l" t="t" r="r" b="b"/>
            <a:pathLst>
              <a:path w="83820" h="74930">
                <a:moveTo>
                  <a:pt x="18262" y="0"/>
                </a:moveTo>
                <a:lnTo>
                  <a:pt x="0" y="74396"/>
                </a:lnTo>
                <a:lnTo>
                  <a:pt x="83705" y="55410"/>
                </a:lnTo>
                <a:lnTo>
                  <a:pt x="18262" y="0"/>
                </a:lnTo>
                <a:close/>
              </a:path>
            </a:pathLst>
          </a:custGeom>
          <a:solidFill>
            <a:srgbClr val="5B9BD3"/>
          </a:solidFill>
        </p:spPr>
        <p:txBody>
          <a:bodyPr wrap="square" lIns="0" tIns="0" rIns="0" bIns="0" rtlCol="0"/>
          <a:lstStyle/>
          <a:p>
            <a:endParaRPr/>
          </a:p>
        </p:txBody>
      </p:sp>
      <p:sp>
        <p:nvSpPr>
          <p:cNvPr id="144" name="object 29">
            <a:extLst>
              <a:ext uri="{FF2B5EF4-FFF2-40B4-BE49-F238E27FC236}">
                <a16:creationId xmlns:a16="http://schemas.microsoft.com/office/drawing/2014/main" id="{DA7A7CA1-FA71-9DEE-79C6-B6616D1A54A9}"/>
              </a:ext>
            </a:extLst>
          </p:cNvPr>
          <p:cNvSpPr txBox="1"/>
          <p:nvPr/>
        </p:nvSpPr>
        <p:spPr>
          <a:xfrm>
            <a:off x="2874017" y="4609360"/>
            <a:ext cx="1165100" cy="1213153"/>
          </a:xfrm>
          <a:prstGeom prst="rect">
            <a:avLst/>
          </a:prstGeom>
          <a:ln w="3175">
            <a:solidFill>
              <a:schemeClr val="tx2">
                <a:lumMod val="60000"/>
                <a:lumOff val="40000"/>
              </a:schemeClr>
            </a:solidFill>
          </a:ln>
        </p:spPr>
        <p:txBody>
          <a:bodyPr vert="horz" wrap="square" lIns="0" tIns="27940" rIns="0" bIns="0" rtlCol="0">
            <a:spAutoFit/>
          </a:bodyPr>
          <a:lstStyle/>
          <a:p>
            <a:pPr marL="263525" indent="-173355">
              <a:lnSpc>
                <a:spcPct val="100000"/>
              </a:lnSpc>
              <a:spcBef>
                <a:spcPts val="220"/>
              </a:spcBef>
              <a:buFont typeface="Arial"/>
              <a:buChar char="•"/>
              <a:tabLst>
                <a:tab pos="264160" algn="l"/>
              </a:tabLst>
            </a:pPr>
            <a:r>
              <a:rPr lang="en-GB" sz="1100" spc="-5">
                <a:solidFill>
                  <a:schemeClr val="tx2"/>
                </a:solidFill>
                <a:latin typeface="Calibri"/>
                <a:cs typeface="Calibri"/>
              </a:rPr>
              <a:t>Debt</a:t>
            </a:r>
            <a:endParaRPr sz="1100">
              <a:solidFill>
                <a:schemeClr val="tx2"/>
              </a:solidFill>
              <a:latin typeface="Calibri"/>
              <a:cs typeface="Calibri"/>
            </a:endParaRPr>
          </a:p>
          <a:p>
            <a:pPr marL="263525" indent="-173355">
              <a:lnSpc>
                <a:spcPct val="100000"/>
              </a:lnSpc>
              <a:buFont typeface="Arial"/>
              <a:buChar char="•"/>
              <a:tabLst>
                <a:tab pos="264160" algn="l"/>
              </a:tabLst>
            </a:pPr>
            <a:r>
              <a:rPr lang="en-GB" sz="1100" spc="-5">
                <a:solidFill>
                  <a:schemeClr val="tx2"/>
                </a:solidFill>
                <a:latin typeface="Calibri"/>
                <a:cs typeface="Calibri"/>
              </a:rPr>
              <a:t>Equity</a:t>
            </a:r>
            <a:endParaRPr sz="1100">
              <a:solidFill>
                <a:schemeClr val="tx2"/>
              </a:solidFill>
              <a:latin typeface="Calibri"/>
              <a:cs typeface="Calibri"/>
            </a:endParaRPr>
          </a:p>
          <a:p>
            <a:pPr marL="263525" indent="-173355">
              <a:lnSpc>
                <a:spcPct val="100000"/>
              </a:lnSpc>
              <a:buFont typeface="Arial"/>
              <a:buChar char="•"/>
              <a:tabLst>
                <a:tab pos="264160" algn="l"/>
              </a:tabLst>
            </a:pPr>
            <a:r>
              <a:rPr lang="en-GB" sz="1100" spc="-10">
                <a:solidFill>
                  <a:schemeClr val="tx2"/>
                </a:solidFill>
                <a:latin typeface="Calibri"/>
                <a:cs typeface="Calibri"/>
              </a:rPr>
              <a:t>Fund</a:t>
            </a:r>
          </a:p>
          <a:p>
            <a:pPr marL="263525" indent="-173355">
              <a:lnSpc>
                <a:spcPct val="100000"/>
              </a:lnSpc>
              <a:buFont typeface="Arial"/>
              <a:buChar char="•"/>
              <a:tabLst>
                <a:tab pos="264160" algn="l"/>
              </a:tabLst>
            </a:pPr>
            <a:r>
              <a:rPr lang="en-GB" sz="1100" spc="-10">
                <a:solidFill>
                  <a:schemeClr val="tx2"/>
                </a:solidFill>
                <a:latin typeface="Calibri"/>
                <a:cs typeface="Calibri"/>
              </a:rPr>
              <a:t>Warrant</a:t>
            </a:r>
          </a:p>
          <a:p>
            <a:pPr marL="263525" indent="-173355">
              <a:lnSpc>
                <a:spcPct val="100000"/>
              </a:lnSpc>
              <a:buFont typeface="Arial"/>
              <a:buChar char="•"/>
              <a:tabLst>
                <a:tab pos="264160" algn="l"/>
              </a:tabLst>
            </a:pPr>
            <a:r>
              <a:rPr lang="en-GB" sz="1100" spc="-10">
                <a:solidFill>
                  <a:schemeClr val="tx2"/>
                </a:solidFill>
                <a:latin typeface="Calibri"/>
                <a:cs typeface="Calibri"/>
              </a:rPr>
              <a:t>Certificate</a:t>
            </a:r>
          </a:p>
          <a:p>
            <a:pPr marL="263525" indent="-173355">
              <a:lnSpc>
                <a:spcPct val="100000"/>
              </a:lnSpc>
              <a:buFont typeface="Arial"/>
              <a:buChar char="•"/>
              <a:tabLst>
                <a:tab pos="264160" algn="l"/>
              </a:tabLst>
            </a:pPr>
            <a:r>
              <a:rPr lang="en-GB" sz="1100" spc="-10">
                <a:solidFill>
                  <a:schemeClr val="tx2"/>
                </a:solidFill>
                <a:latin typeface="Calibri"/>
                <a:cs typeface="Calibri"/>
              </a:rPr>
              <a:t>Letter of Credit</a:t>
            </a:r>
            <a:endParaRPr sz="1100">
              <a:solidFill>
                <a:schemeClr val="tx2"/>
              </a:solidFill>
              <a:latin typeface="Calibri"/>
              <a:cs typeface="Calibri"/>
            </a:endParaRPr>
          </a:p>
          <a:p>
            <a:pPr marL="263525" indent="-173355">
              <a:lnSpc>
                <a:spcPct val="100000"/>
              </a:lnSpc>
              <a:buFont typeface="Arial"/>
              <a:buChar char="•"/>
              <a:tabLst>
                <a:tab pos="264160" algn="l"/>
              </a:tabLst>
            </a:pPr>
            <a:r>
              <a:rPr sz="1100">
                <a:solidFill>
                  <a:schemeClr val="tx2"/>
                </a:solidFill>
                <a:latin typeface="Calibri"/>
                <a:cs typeface="Calibri"/>
              </a:rPr>
              <a:t>Other</a:t>
            </a:r>
          </a:p>
        </p:txBody>
      </p:sp>
      <p:sp>
        <p:nvSpPr>
          <p:cNvPr id="145" name="Rectangle 144">
            <a:extLst>
              <a:ext uri="{FF2B5EF4-FFF2-40B4-BE49-F238E27FC236}">
                <a16:creationId xmlns:a16="http://schemas.microsoft.com/office/drawing/2014/main" id="{50F72415-7659-3EE0-9518-4873CA647085}"/>
              </a:ext>
            </a:extLst>
          </p:cNvPr>
          <p:cNvSpPr/>
          <p:nvPr/>
        </p:nvSpPr>
        <p:spPr>
          <a:xfrm>
            <a:off x="2864461" y="3694934"/>
            <a:ext cx="661141" cy="109154"/>
          </a:xfrm>
          <a:prstGeom prst="rect">
            <a:avLst/>
          </a:prstGeom>
          <a:noFill/>
          <a:ln w="1905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6" name="Straight Connector 145">
            <a:extLst>
              <a:ext uri="{FF2B5EF4-FFF2-40B4-BE49-F238E27FC236}">
                <a16:creationId xmlns:a16="http://schemas.microsoft.com/office/drawing/2014/main" id="{154D0D6D-1FBE-CB7B-9ABB-D78377BF833F}"/>
              </a:ext>
            </a:extLst>
          </p:cNvPr>
          <p:cNvCxnSpPr>
            <a:stCxn id="145" idx="3"/>
          </p:cNvCxnSpPr>
          <p:nvPr/>
        </p:nvCxnSpPr>
        <p:spPr>
          <a:xfrm>
            <a:off x="3525602" y="3749511"/>
            <a:ext cx="219614" cy="85984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128658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0" y="98455"/>
            <a:ext cx="8535681"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Collateral- Structure to define Asset Types and Identify Issuers</a:t>
            </a:r>
            <a:endPar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endParaRP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46782"/>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object 33">
            <a:extLst>
              <a:ext uri="{FF2B5EF4-FFF2-40B4-BE49-F238E27FC236}">
                <a16:creationId xmlns:a16="http://schemas.microsoft.com/office/drawing/2014/main" id="{74A95AB8-1594-D85E-A9D2-E77B1850FB1F}"/>
              </a:ext>
            </a:extLst>
          </p:cNvPr>
          <p:cNvSpPr txBox="1"/>
          <p:nvPr/>
        </p:nvSpPr>
        <p:spPr>
          <a:xfrm>
            <a:off x="617971" y="1181229"/>
            <a:ext cx="10325100" cy="574040"/>
          </a:xfrm>
          <a:prstGeom prst="rect">
            <a:avLst/>
          </a:prstGeom>
        </p:spPr>
        <p:txBody>
          <a:bodyPr vert="horz" wrap="square" lIns="0" tIns="12700" rIns="0" bIns="0" rtlCol="0">
            <a:spAutoFit/>
          </a:bodyPr>
          <a:lstStyle/>
          <a:p>
            <a:pPr marL="12700" marR="5080">
              <a:lnSpc>
                <a:spcPct val="100000"/>
              </a:lnSpc>
              <a:spcBef>
                <a:spcPts val="100"/>
              </a:spcBef>
            </a:pPr>
            <a:r>
              <a:rPr sz="1800" b="1" spc="-20">
                <a:solidFill>
                  <a:srgbClr val="32007D"/>
                </a:solidFill>
                <a:latin typeface="Calibri"/>
                <a:cs typeface="Calibri"/>
              </a:rPr>
              <a:t>ISDA </a:t>
            </a:r>
            <a:r>
              <a:rPr sz="1800" b="1">
                <a:solidFill>
                  <a:srgbClr val="32007D"/>
                </a:solidFill>
                <a:latin typeface="Calibri"/>
                <a:cs typeface="Calibri"/>
              </a:rPr>
              <a:t>CDM will </a:t>
            </a:r>
            <a:r>
              <a:rPr sz="1800" b="1" spc="-20">
                <a:solidFill>
                  <a:srgbClr val="32007D"/>
                </a:solidFill>
                <a:latin typeface="Calibri"/>
                <a:cs typeface="Calibri"/>
              </a:rPr>
              <a:t>offer </a:t>
            </a:r>
            <a:r>
              <a:rPr sz="1800" b="1">
                <a:solidFill>
                  <a:srgbClr val="32007D"/>
                </a:solidFill>
                <a:latin typeface="Calibri"/>
                <a:cs typeface="Calibri"/>
              </a:rPr>
              <a:t>the </a:t>
            </a:r>
            <a:r>
              <a:rPr sz="1800" b="1" spc="-10">
                <a:solidFill>
                  <a:srgbClr val="32007D"/>
                </a:solidFill>
                <a:latin typeface="Calibri"/>
                <a:cs typeface="Calibri"/>
              </a:rPr>
              <a:t>flexibility </a:t>
            </a:r>
            <a:r>
              <a:rPr sz="1800" b="1" spc="-15">
                <a:solidFill>
                  <a:srgbClr val="32007D"/>
                </a:solidFill>
                <a:latin typeface="Calibri"/>
                <a:cs typeface="Calibri"/>
              </a:rPr>
              <a:t>to </a:t>
            </a:r>
            <a:r>
              <a:rPr sz="1800" b="1" spc="-10">
                <a:solidFill>
                  <a:srgbClr val="32007D"/>
                </a:solidFill>
                <a:latin typeface="Calibri"/>
                <a:cs typeface="Calibri"/>
              </a:rPr>
              <a:t>identify </a:t>
            </a:r>
            <a:r>
              <a:rPr sz="1800" b="1" spc="-25">
                <a:solidFill>
                  <a:srgbClr val="32007D"/>
                </a:solidFill>
                <a:latin typeface="Calibri"/>
                <a:cs typeface="Calibri"/>
              </a:rPr>
              <a:t>collateral </a:t>
            </a:r>
            <a:r>
              <a:rPr sz="1800" b="1" spc="-15">
                <a:solidFill>
                  <a:srgbClr val="32007D"/>
                </a:solidFill>
                <a:latin typeface="Calibri"/>
                <a:cs typeface="Calibri"/>
              </a:rPr>
              <a:t>asset </a:t>
            </a:r>
            <a:r>
              <a:rPr sz="1800" b="1">
                <a:solidFill>
                  <a:srgbClr val="32007D"/>
                </a:solidFill>
                <a:latin typeface="Calibri"/>
                <a:cs typeface="Calibri"/>
              </a:rPr>
              <a:t>types, with </a:t>
            </a:r>
            <a:r>
              <a:rPr sz="1800" b="1" spc="-10">
                <a:solidFill>
                  <a:srgbClr val="32007D"/>
                </a:solidFill>
                <a:latin typeface="Calibri"/>
                <a:cs typeface="Calibri"/>
              </a:rPr>
              <a:t>particular </a:t>
            </a:r>
            <a:r>
              <a:rPr sz="1800" b="1" spc="-5">
                <a:solidFill>
                  <a:srgbClr val="32007D"/>
                </a:solidFill>
                <a:latin typeface="Calibri"/>
                <a:cs typeface="Calibri"/>
              </a:rPr>
              <a:t>focus </a:t>
            </a:r>
            <a:r>
              <a:rPr sz="1800" b="1">
                <a:solidFill>
                  <a:srgbClr val="32007D"/>
                </a:solidFill>
                <a:latin typeface="Calibri"/>
                <a:cs typeface="Calibri"/>
              </a:rPr>
              <a:t>on </a:t>
            </a:r>
            <a:r>
              <a:rPr sz="1800" b="1" spc="-10">
                <a:solidFill>
                  <a:srgbClr val="32007D"/>
                </a:solidFill>
                <a:latin typeface="Calibri"/>
                <a:cs typeface="Calibri"/>
              </a:rPr>
              <a:t>securities, </a:t>
            </a:r>
            <a:r>
              <a:rPr sz="1800" b="1" spc="-5">
                <a:solidFill>
                  <a:srgbClr val="32007D"/>
                </a:solidFill>
                <a:latin typeface="Calibri"/>
                <a:cs typeface="Calibri"/>
              </a:rPr>
              <a:t>as </a:t>
            </a:r>
            <a:r>
              <a:rPr sz="1800" b="1" spc="-15">
                <a:solidFill>
                  <a:srgbClr val="32007D"/>
                </a:solidFill>
                <a:latin typeface="Calibri"/>
                <a:cs typeface="Calibri"/>
              </a:rPr>
              <a:t>most  </a:t>
            </a:r>
            <a:r>
              <a:rPr sz="1800" b="1" spc="-5">
                <a:solidFill>
                  <a:srgbClr val="32007D"/>
                </a:solidFill>
                <a:latin typeface="Calibri"/>
                <a:cs typeface="Calibri"/>
              </a:rPr>
              <a:t>common</a:t>
            </a:r>
            <a:r>
              <a:rPr sz="1800" b="1" spc="-40">
                <a:solidFill>
                  <a:srgbClr val="32007D"/>
                </a:solidFill>
                <a:latin typeface="Calibri"/>
                <a:cs typeface="Calibri"/>
              </a:rPr>
              <a:t> </a:t>
            </a:r>
            <a:r>
              <a:rPr sz="1800" b="1" spc="-20">
                <a:solidFill>
                  <a:srgbClr val="32007D"/>
                </a:solidFill>
                <a:latin typeface="Calibri"/>
                <a:cs typeface="Calibri"/>
              </a:rPr>
              <a:t>form</a:t>
            </a:r>
            <a:r>
              <a:rPr sz="1800" b="1" spc="-10">
                <a:solidFill>
                  <a:srgbClr val="32007D"/>
                </a:solidFill>
                <a:latin typeface="Calibri"/>
                <a:cs typeface="Calibri"/>
              </a:rPr>
              <a:t> found</a:t>
            </a:r>
            <a:r>
              <a:rPr sz="1800" b="1" spc="-45">
                <a:solidFill>
                  <a:srgbClr val="32007D"/>
                </a:solidFill>
                <a:latin typeface="Calibri"/>
                <a:cs typeface="Calibri"/>
              </a:rPr>
              <a:t> </a:t>
            </a:r>
            <a:r>
              <a:rPr sz="1800" b="1">
                <a:solidFill>
                  <a:srgbClr val="32007D"/>
                </a:solidFill>
                <a:latin typeface="Calibri"/>
                <a:cs typeface="Calibri"/>
              </a:rPr>
              <a:t>in</a:t>
            </a:r>
            <a:r>
              <a:rPr sz="1800" b="1" spc="-5">
                <a:solidFill>
                  <a:srgbClr val="32007D"/>
                </a:solidFill>
                <a:latin typeface="Calibri"/>
                <a:cs typeface="Calibri"/>
              </a:rPr>
              <a:t> </a:t>
            </a:r>
            <a:r>
              <a:rPr sz="1800" b="1" spc="-25">
                <a:solidFill>
                  <a:srgbClr val="32007D"/>
                </a:solidFill>
                <a:latin typeface="Calibri"/>
                <a:cs typeface="Calibri"/>
              </a:rPr>
              <a:t>collateral</a:t>
            </a:r>
            <a:r>
              <a:rPr sz="1800" b="1" spc="-60">
                <a:solidFill>
                  <a:srgbClr val="32007D"/>
                </a:solidFill>
                <a:latin typeface="Calibri"/>
                <a:cs typeface="Calibri"/>
              </a:rPr>
              <a:t> </a:t>
            </a:r>
            <a:r>
              <a:rPr sz="1800" b="1" spc="-10">
                <a:solidFill>
                  <a:srgbClr val="32007D"/>
                </a:solidFill>
                <a:latin typeface="Calibri"/>
                <a:cs typeface="Calibri"/>
              </a:rPr>
              <a:t>schedules.</a:t>
            </a:r>
            <a:r>
              <a:rPr sz="1800" b="1" spc="-50">
                <a:solidFill>
                  <a:srgbClr val="32007D"/>
                </a:solidFill>
                <a:latin typeface="Calibri"/>
                <a:cs typeface="Calibri"/>
              </a:rPr>
              <a:t> </a:t>
            </a:r>
            <a:r>
              <a:rPr sz="1800" b="1" spc="-45">
                <a:solidFill>
                  <a:srgbClr val="32007D"/>
                </a:solidFill>
                <a:latin typeface="Calibri"/>
                <a:cs typeface="Calibri"/>
              </a:rPr>
              <a:t>However,</a:t>
            </a:r>
            <a:r>
              <a:rPr sz="1800" b="1" spc="-95">
                <a:solidFill>
                  <a:srgbClr val="32007D"/>
                </a:solidFill>
                <a:latin typeface="Calibri"/>
                <a:cs typeface="Calibri"/>
              </a:rPr>
              <a:t> </a:t>
            </a:r>
            <a:r>
              <a:rPr sz="1800" b="1">
                <a:solidFill>
                  <a:srgbClr val="32007D"/>
                </a:solidFill>
                <a:latin typeface="Calibri"/>
                <a:cs typeface="Calibri"/>
              </a:rPr>
              <a:t>this</a:t>
            </a:r>
            <a:r>
              <a:rPr sz="1800" b="1" spc="-15">
                <a:solidFill>
                  <a:srgbClr val="32007D"/>
                </a:solidFill>
                <a:latin typeface="Calibri"/>
                <a:cs typeface="Calibri"/>
              </a:rPr>
              <a:t> </a:t>
            </a:r>
            <a:r>
              <a:rPr sz="1800" b="1" spc="-5">
                <a:solidFill>
                  <a:srgbClr val="32007D"/>
                </a:solidFill>
                <a:latin typeface="Calibri"/>
                <a:cs typeface="Calibri"/>
              </a:rPr>
              <a:t>can</a:t>
            </a:r>
            <a:r>
              <a:rPr sz="1800" b="1" spc="-30">
                <a:solidFill>
                  <a:srgbClr val="32007D"/>
                </a:solidFill>
                <a:latin typeface="Calibri"/>
                <a:cs typeface="Calibri"/>
              </a:rPr>
              <a:t> </a:t>
            </a:r>
            <a:r>
              <a:rPr sz="1800" b="1">
                <a:solidFill>
                  <a:srgbClr val="32007D"/>
                </a:solidFill>
                <a:latin typeface="Calibri"/>
                <a:cs typeface="Calibri"/>
              </a:rPr>
              <a:t>be</a:t>
            </a:r>
            <a:r>
              <a:rPr sz="1800" b="1" spc="-5">
                <a:solidFill>
                  <a:srgbClr val="32007D"/>
                </a:solidFill>
                <a:latin typeface="Calibri"/>
                <a:cs typeface="Calibri"/>
              </a:rPr>
              <a:t> </a:t>
            </a:r>
            <a:r>
              <a:rPr sz="1800" b="1" spc="-20">
                <a:solidFill>
                  <a:srgbClr val="32007D"/>
                </a:solidFill>
                <a:latin typeface="Calibri"/>
                <a:cs typeface="Calibri"/>
              </a:rPr>
              <a:t>extended</a:t>
            </a:r>
            <a:r>
              <a:rPr sz="1800" b="1" spc="-55">
                <a:solidFill>
                  <a:srgbClr val="32007D"/>
                </a:solidFill>
                <a:latin typeface="Calibri"/>
                <a:cs typeface="Calibri"/>
              </a:rPr>
              <a:t> </a:t>
            </a:r>
            <a:r>
              <a:rPr sz="1800" b="1" spc="-15">
                <a:solidFill>
                  <a:srgbClr val="32007D"/>
                </a:solidFill>
                <a:latin typeface="Calibri"/>
                <a:cs typeface="Calibri"/>
              </a:rPr>
              <a:t>to</a:t>
            </a:r>
            <a:r>
              <a:rPr sz="1800" b="1" spc="-20">
                <a:solidFill>
                  <a:srgbClr val="32007D"/>
                </a:solidFill>
                <a:latin typeface="Calibri"/>
                <a:cs typeface="Calibri"/>
              </a:rPr>
              <a:t> </a:t>
            </a:r>
            <a:r>
              <a:rPr sz="1800" b="1" spc="-10">
                <a:solidFill>
                  <a:srgbClr val="32007D"/>
                </a:solidFill>
                <a:latin typeface="Calibri"/>
                <a:cs typeface="Calibri"/>
              </a:rPr>
              <a:t>cover</a:t>
            </a:r>
            <a:r>
              <a:rPr sz="1800" b="1" spc="-40">
                <a:solidFill>
                  <a:srgbClr val="32007D"/>
                </a:solidFill>
                <a:latin typeface="Calibri"/>
                <a:cs typeface="Calibri"/>
              </a:rPr>
              <a:t> </a:t>
            </a:r>
            <a:r>
              <a:rPr sz="1800" b="1" spc="-20">
                <a:solidFill>
                  <a:srgbClr val="32007D"/>
                </a:solidFill>
                <a:latin typeface="Calibri"/>
                <a:cs typeface="Calibri"/>
              </a:rPr>
              <a:t>many</a:t>
            </a:r>
            <a:r>
              <a:rPr sz="1800" b="1" spc="-25">
                <a:solidFill>
                  <a:srgbClr val="32007D"/>
                </a:solidFill>
                <a:latin typeface="Calibri"/>
                <a:cs typeface="Calibri"/>
              </a:rPr>
              <a:t> </a:t>
            </a:r>
            <a:r>
              <a:rPr sz="1800" b="1" spc="15">
                <a:solidFill>
                  <a:srgbClr val="32007D"/>
                </a:solidFill>
                <a:latin typeface="Calibri"/>
                <a:cs typeface="Calibri"/>
              </a:rPr>
              <a:t>otherassets.</a:t>
            </a:r>
            <a:endParaRPr sz="1800">
              <a:solidFill>
                <a:srgbClr val="32007D"/>
              </a:solidFill>
              <a:latin typeface="Calibri"/>
              <a:cs typeface="Calibri"/>
            </a:endParaRPr>
          </a:p>
        </p:txBody>
      </p:sp>
      <p:sp>
        <p:nvSpPr>
          <p:cNvPr id="3" name="object 3">
            <a:extLst>
              <a:ext uri="{FF2B5EF4-FFF2-40B4-BE49-F238E27FC236}">
                <a16:creationId xmlns:a16="http://schemas.microsoft.com/office/drawing/2014/main" id="{B6503DD4-D64D-BDAB-2679-395A511297D0}"/>
              </a:ext>
            </a:extLst>
          </p:cNvPr>
          <p:cNvSpPr/>
          <p:nvPr/>
        </p:nvSpPr>
        <p:spPr>
          <a:xfrm>
            <a:off x="4360164" y="2741535"/>
            <a:ext cx="0" cy="178435"/>
          </a:xfrm>
          <a:custGeom>
            <a:avLst/>
            <a:gdLst/>
            <a:ahLst/>
            <a:cxnLst/>
            <a:rect l="l" t="t" r="r" b="b"/>
            <a:pathLst>
              <a:path h="178435">
                <a:moveTo>
                  <a:pt x="0" y="0"/>
                </a:moveTo>
                <a:lnTo>
                  <a:pt x="0" y="178181"/>
                </a:lnTo>
              </a:path>
            </a:pathLst>
          </a:custGeom>
          <a:ln w="6350">
            <a:solidFill>
              <a:srgbClr val="5B9BD3"/>
            </a:solidFill>
          </a:ln>
        </p:spPr>
        <p:txBody>
          <a:bodyPr wrap="square" lIns="0" tIns="0" rIns="0" bIns="0" rtlCol="0"/>
          <a:lstStyle/>
          <a:p>
            <a:endParaRPr/>
          </a:p>
        </p:txBody>
      </p:sp>
      <p:sp>
        <p:nvSpPr>
          <p:cNvPr id="4" name="object 4">
            <a:extLst>
              <a:ext uri="{FF2B5EF4-FFF2-40B4-BE49-F238E27FC236}">
                <a16:creationId xmlns:a16="http://schemas.microsoft.com/office/drawing/2014/main" id="{C1A6F60A-A17E-340E-ADF4-1C37EEEA808A}"/>
              </a:ext>
            </a:extLst>
          </p:cNvPr>
          <p:cNvSpPr/>
          <p:nvPr/>
        </p:nvSpPr>
        <p:spPr>
          <a:xfrm>
            <a:off x="2417064" y="3754995"/>
            <a:ext cx="0" cy="377825"/>
          </a:xfrm>
          <a:custGeom>
            <a:avLst/>
            <a:gdLst/>
            <a:ahLst/>
            <a:cxnLst/>
            <a:rect l="l" t="t" r="r" b="b"/>
            <a:pathLst>
              <a:path h="377825">
                <a:moveTo>
                  <a:pt x="0" y="0"/>
                </a:moveTo>
                <a:lnTo>
                  <a:pt x="0" y="377444"/>
                </a:lnTo>
              </a:path>
            </a:pathLst>
          </a:custGeom>
          <a:ln w="6350">
            <a:solidFill>
              <a:srgbClr val="5B9BD3"/>
            </a:solidFill>
          </a:ln>
        </p:spPr>
        <p:txBody>
          <a:bodyPr wrap="square" lIns="0" tIns="0" rIns="0" bIns="0" rtlCol="0"/>
          <a:lstStyle/>
          <a:p>
            <a:endParaRPr/>
          </a:p>
        </p:txBody>
      </p:sp>
      <p:sp>
        <p:nvSpPr>
          <p:cNvPr id="6" name="object 5">
            <a:extLst>
              <a:ext uri="{FF2B5EF4-FFF2-40B4-BE49-F238E27FC236}">
                <a16:creationId xmlns:a16="http://schemas.microsoft.com/office/drawing/2014/main" id="{E0EE7DCD-F4D9-0E6D-AD06-D8FCEB854752}"/>
              </a:ext>
            </a:extLst>
          </p:cNvPr>
          <p:cNvSpPr/>
          <p:nvPr/>
        </p:nvSpPr>
        <p:spPr>
          <a:xfrm>
            <a:off x="1918716" y="2252331"/>
            <a:ext cx="1455420" cy="362585"/>
          </a:xfrm>
          <a:custGeom>
            <a:avLst/>
            <a:gdLst/>
            <a:ahLst/>
            <a:cxnLst/>
            <a:rect l="l" t="t" r="r" b="b"/>
            <a:pathLst>
              <a:path w="1455420" h="362585">
                <a:moveTo>
                  <a:pt x="0" y="0"/>
                </a:moveTo>
                <a:lnTo>
                  <a:pt x="1455420" y="0"/>
                </a:lnTo>
                <a:lnTo>
                  <a:pt x="1455420" y="362203"/>
                </a:lnTo>
                <a:lnTo>
                  <a:pt x="0" y="362203"/>
                </a:lnTo>
                <a:lnTo>
                  <a:pt x="0" y="0"/>
                </a:lnTo>
                <a:close/>
              </a:path>
            </a:pathLst>
          </a:custGeom>
          <a:ln w="12700">
            <a:solidFill>
              <a:srgbClr val="000000"/>
            </a:solidFill>
          </a:ln>
        </p:spPr>
        <p:txBody>
          <a:bodyPr wrap="square" lIns="0" tIns="0" rIns="0" bIns="0" rtlCol="0"/>
          <a:lstStyle/>
          <a:p>
            <a:endParaRPr/>
          </a:p>
        </p:txBody>
      </p:sp>
      <p:sp>
        <p:nvSpPr>
          <p:cNvPr id="8" name="object 6">
            <a:extLst>
              <a:ext uri="{FF2B5EF4-FFF2-40B4-BE49-F238E27FC236}">
                <a16:creationId xmlns:a16="http://schemas.microsoft.com/office/drawing/2014/main" id="{DD92A3FF-C7DF-ED74-FB23-8196D38EFD43}"/>
              </a:ext>
            </a:extLst>
          </p:cNvPr>
          <p:cNvSpPr txBox="1"/>
          <p:nvPr/>
        </p:nvSpPr>
        <p:spPr>
          <a:xfrm>
            <a:off x="2294783" y="2311849"/>
            <a:ext cx="684530" cy="208279"/>
          </a:xfrm>
          <a:prstGeom prst="rect">
            <a:avLst/>
          </a:prstGeom>
        </p:spPr>
        <p:txBody>
          <a:bodyPr vert="horz" wrap="square" lIns="0" tIns="12700" rIns="0" bIns="0" rtlCol="0">
            <a:spAutoFit/>
          </a:bodyPr>
          <a:lstStyle/>
          <a:p>
            <a:pPr marL="12700">
              <a:lnSpc>
                <a:spcPct val="100000"/>
              </a:lnSpc>
              <a:spcBef>
                <a:spcPts val="100"/>
              </a:spcBef>
            </a:pPr>
            <a:r>
              <a:rPr sz="1200" b="1" spc="-5">
                <a:latin typeface="Calibri"/>
                <a:cs typeface="Calibri"/>
              </a:rPr>
              <a:t>Asset</a:t>
            </a:r>
            <a:r>
              <a:rPr sz="1200" b="1" spc="-175">
                <a:latin typeface="Calibri"/>
                <a:cs typeface="Calibri"/>
              </a:rPr>
              <a:t> </a:t>
            </a:r>
            <a:r>
              <a:rPr sz="1200" b="1" spc="-20">
                <a:latin typeface="Calibri"/>
                <a:cs typeface="Calibri"/>
              </a:rPr>
              <a:t>Type</a:t>
            </a:r>
            <a:endParaRPr sz="1200">
              <a:latin typeface="Calibri"/>
              <a:cs typeface="Calibri"/>
            </a:endParaRPr>
          </a:p>
        </p:txBody>
      </p:sp>
      <p:sp>
        <p:nvSpPr>
          <p:cNvPr id="9" name="object 7">
            <a:extLst>
              <a:ext uri="{FF2B5EF4-FFF2-40B4-BE49-F238E27FC236}">
                <a16:creationId xmlns:a16="http://schemas.microsoft.com/office/drawing/2014/main" id="{ADE8E952-91AB-A1B3-CF77-A0C182123666}"/>
              </a:ext>
            </a:extLst>
          </p:cNvPr>
          <p:cNvSpPr/>
          <p:nvPr/>
        </p:nvSpPr>
        <p:spPr>
          <a:xfrm>
            <a:off x="858011" y="2933559"/>
            <a:ext cx="713105" cy="254635"/>
          </a:xfrm>
          <a:custGeom>
            <a:avLst/>
            <a:gdLst/>
            <a:ahLst/>
            <a:cxnLst/>
            <a:rect l="l" t="t" r="r" b="b"/>
            <a:pathLst>
              <a:path w="713105" h="254635">
                <a:moveTo>
                  <a:pt x="0" y="0"/>
                </a:moveTo>
                <a:lnTo>
                  <a:pt x="712724" y="0"/>
                </a:lnTo>
                <a:lnTo>
                  <a:pt x="712724" y="254381"/>
                </a:lnTo>
                <a:lnTo>
                  <a:pt x="0" y="254381"/>
                </a:lnTo>
                <a:lnTo>
                  <a:pt x="0" y="0"/>
                </a:lnTo>
                <a:close/>
              </a:path>
            </a:pathLst>
          </a:custGeom>
          <a:ln w="12700">
            <a:solidFill>
              <a:srgbClr val="000000"/>
            </a:solidFill>
          </a:ln>
        </p:spPr>
        <p:txBody>
          <a:bodyPr wrap="square" lIns="0" tIns="0" rIns="0" bIns="0" rtlCol="0"/>
          <a:lstStyle/>
          <a:p>
            <a:endParaRPr/>
          </a:p>
        </p:txBody>
      </p:sp>
      <p:sp>
        <p:nvSpPr>
          <p:cNvPr id="10" name="object 8">
            <a:extLst>
              <a:ext uri="{FF2B5EF4-FFF2-40B4-BE49-F238E27FC236}">
                <a16:creationId xmlns:a16="http://schemas.microsoft.com/office/drawing/2014/main" id="{6D7D02CA-2A32-158A-6FF0-99A5A9307DCE}"/>
              </a:ext>
            </a:extLst>
          </p:cNvPr>
          <p:cNvSpPr txBox="1"/>
          <p:nvPr/>
        </p:nvSpPr>
        <p:spPr>
          <a:xfrm>
            <a:off x="1051713" y="2939431"/>
            <a:ext cx="322580" cy="208279"/>
          </a:xfrm>
          <a:prstGeom prst="rect">
            <a:avLst/>
          </a:prstGeom>
        </p:spPr>
        <p:txBody>
          <a:bodyPr vert="horz" wrap="square" lIns="0" tIns="12700" rIns="0" bIns="0" rtlCol="0">
            <a:spAutoFit/>
          </a:bodyPr>
          <a:lstStyle/>
          <a:p>
            <a:pPr marL="12700">
              <a:lnSpc>
                <a:spcPct val="100000"/>
              </a:lnSpc>
              <a:spcBef>
                <a:spcPts val="100"/>
              </a:spcBef>
            </a:pPr>
            <a:r>
              <a:rPr sz="1200" b="1">
                <a:latin typeface="Calibri"/>
                <a:cs typeface="Calibri"/>
              </a:rPr>
              <a:t>C</a:t>
            </a:r>
            <a:r>
              <a:rPr sz="1200" b="1" spc="-20">
                <a:latin typeface="Calibri"/>
                <a:cs typeface="Calibri"/>
              </a:rPr>
              <a:t>a</a:t>
            </a:r>
            <a:r>
              <a:rPr sz="1200" b="1">
                <a:latin typeface="Calibri"/>
                <a:cs typeface="Calibri"/>
              </a:rPr>
              <a:t>sh</a:t>
            </a:r>
            <a:endParaRPr sz="1200">
              <a:latin typeface="Calibri"/>
              <a:cs typeface="Calibri"/>
            </a:endParaRPr>
          </a:p>
        </p:txBody>
      </p:sp>
      <p:sp>
        <p:nvSpPr>
          <p:cNvPr id="12" name="object 9">
            <a:extLst>
              <a:ext uri="{FF2B5EF4-FFF2-40B4-BE49-F238E27FC236}">
                <a16:creationId xmlns:a16="http://schemas.microsoft.com/office/drawing/2014/main" id="{9CBAEE7B-4499-7F2A-BF51-C2B21638E4E9}"/>
              </a:ext>
            </a:extLst>
          </p:cNvPr>
          <p:cNvSpPr/>
          <p:nvPr/>
        </p:nvSpPr>
        <p:spPr>
          <a:xfrm>
            <a:off x="1959864" y="2941178"/>
            <a:ext cx="827405" cy="254635"/>
          </a:xfrm>
          <a:custGeom>
            <a:avLst/>
            <a:gdLst/>
            <a:ahLst/>
            <a:cxnLst/>
            <a:rect l="l" t="t" r="r" b="b"/>
            <a:pathLst>
              <a:path w="827405" h="254635">
                <a:moveTo>
                  <a:pt x="0" y="0"/>
                </a:moveTo>
                <a:lnTo>
                  <a:pt x="827024" y="0"/>
                </a:lnTo>
                <a:lnTo>
                  <a:pt x="827024" y="254381"/>
                </a:lnTo>
                <a:lnTo>
                  <a:pt x="0" y="254381"/>
                </a:lnTo>
                <a:lnTo>
                  <a:pt x="0" y="0"/>
                </a:lnTo>
                <a:close/>
              </a:path>
            </a:pathLst>
          </a:custGeom>
          <a:ln w="12699">
            <a:solidFill>
              <a:srgbClr val="000000"/>
            </a:solidFill>
          </a:ln>
        </p:spPr>
        <p:txBody>
          <a:bodyPr wrap="square" lIns="0" tIns="0" rIns="0" bIns="0" rtlCol="0"/>
          <a:lstStyle/>
          <a:p>
            <a:endParaRPr/>
          </a:p>
        </p:txBody>
      </p:sp>
      <p:sp>
        <p:nvSpPr>
          <p:cNvPr id="13" name="object 10">
            <a:extLst>
              <a:ext uri="{FF2B5EF4-FFF2-40B4-BE49-F238E27FC236}">
                <a16:creationId xmlns:a16="http://schemas.microsoft.com/office/drawing/2014/main" id="{33E73542-D3DD-7BB3-3B2E-EB0D1FE174DA}"/>
              </a:ext>
            </a:extLst>
          </p:cNvPr>
          <p:cNvSpPr txBox="1"/>
          <p:nvPr/>
        </p:nvSpPr>
        <p:spPr>
          <a:xfrm>
            <a:off x="2104584" y="2946873"/>
            <a:ext cx="539115" cy="208279"/>
          </a:xfrm>
          <a:prstGeom prst="rect">
            <a:avLst/>
          </a:prstGeom>
        </p:spPr>
        <p:txBody>
          <a:bodyPr vert="horz" wrap="square" lIns="0" tIns="12700" rIns="0" bIns="0" rtlCol="0">
            <a:spAutoFit/>
          </a:bodyPr>
          <a:lstStyle/>
          <a:p>
            <a:pPr marL="12700">
              <a:lnSpc>
                <a:spcPct val="100000"/>
              </a:lnSpc>
              <a:spcBef>
                <a:spcPts val="100"/>
              </a:spcBef>
            </a:pPr>
            <a:r>
              <a:rPr sz="1200" b="1" spc="-5">
                <a:latin typeface="Calibri"/>
                <a:cs typeface="Calibri"/>
              </a:rPr>
              <a:t>Se</a:t>
            </a:r>
            <a:r>
              <a:rPr sz="1200" b="1">
                <a:latin typeface="Calibri"/>
                <a:cs typeface="Calibri"/>
              </a:rPr>
              <a:t>cu</a:t>
            </a:r>
            <a:r>
              <a:rPr sz="1200" b="1" spc="5">
                <a:latin typeface="Calibri"/>
                <a:cs typeface="Calibri"/>
              </a:rPr>
              <a:t>ri</a:t>
            </a:r>
            <a:r>
              <a:rPr sz="1200" b="1">
                <a:latin typeface="Calibri"/>
                <a:cs typeface="Calibri"/>
              </a:rPr>
              <a:t>ty</a:t>
            </a:r>
            <a:endParaRPr sz="1200">
              <a:latin typeface="Calibri"/>
              <a:cs typeface="Calibri"/>
            </a:endParaRPr>
          </a:p>
        </p:txBody>
      </p:sp>
      <p:sp>
        <p:nvSpPr>
          <p:cNvPr id="14" name="object 11">
            <a:extLst>
              <a:ext uri="{FF2B5EF4-FFF2-40B4-BE49-F238E27FC236}">
                <a16:creationId xmlns:a16="http://schemas.microsoft.com/office/drawing/2014/main" id="{E74A9A9F-4043-9460-6149-985D830865B6}"/>
              </a:ext>
            </a:extLst>
          </p:cNvPr>
          <p:cNvSpPr/>
          <p:nvPr/>
        </p:nvSpPr>
        <p:spPr>
          <a:xfrm>
            <a:off x="2955035" y="2933559"/>
            <a:ext cx="1068070" cy="254635"/>
          </a:xfrm>
          <a:custGeom>
            <a:avLst/>
            <a:gdLst/>
            <a:ahLst/>
            <a:cxnLst/>
            <a:rect l="l" t="t" r="r" b="b"/>
            <a:pathLst>
              <a:path w="1068070" h="254635">
                <a:moveTo>
                  <a:pt x="0" y="0"/>
                </a:moveTo>
                <a:lnTo>
                  <a:pt x="1067942" y="0"/>
                </a:lnTo>
                <a:lnTo>
                  <a:pt x="1067942" y="254381"/>
                </a:lnTo>
                <a:lnTo>
                  <a:pt x="0" y="254381"/>
                </a:lnTo>
                <a:lnTo>
                  <a:pt x="0" y="0"/>
                </a:lnTo>
                <a:close/>
              </a:path>
            </a:pathLst>
          </a:custGeom>
          <a:ln w="12700">
            <a:solidFill>
              <a:srgbClr val="000000"/>
            </a:solidFill>
          </a:ln>
        </p:spPr>
        <p:txBody>
          <a:bodyPr wrap="square" lIns="0" tIns="0" rIns="0" bIns="0" rtlCol="0"/>
          <a:lstStyle/>
          <a:p>
            <a:endParaRPr/>
          </a:p>
        </p:txBody>
      </p:sp>
      <p:sp>
        <p:nvSpPr>
          <p:cNvPr id="15" name="object 12">
            <a:extLst>
              <a:ext uri="{FF2B5EF4-FFF2-40B4-BE49-F238E27FC236}">
                <a16:creationId xmlns:a16="http://schemas.microsoft.com/office/drawing/2014/main" id="{7B66A325-0C30-7605-7DCF-73F09CA41AC5}"/>
              </a:ext>
            </a:extLst>
          </p:cNvPr>
          <p:cNvSpPr txBox="1"/>
          <p:nvPr/>
        </p:nvSpPr>
        <p:spPr>
          <a:xfrm>
            <a:off x="3107024" y="2939303"/>
            <a:ext cx="763905" cy="208279"/>
          </a:xfrm>
          <a:prstGeom prst="rect">
            <a:avLst/>
          </a:prstGeom>
        </p:spPr>
        <p:txBody>
          <a:bodyPr vert="horz" wrap="square" lIns="0" tIns="12700" rIns="0" bIns="0" rtlCol="0">
            <a:spAutoFit/>
          </a:bodyPr>
          <a:lstStyle/>
          <a:p>
            <a:pPr marL="12700">
              <a:lnSpc>
                <a:spcPct val="100000"/>
              </a:lnSpc>
              <a:spcBef>
                <a:spcPts val="100"/>
              </a:spcBef>
            </a:pPr>
            <a:r>
              <a:rPr sz="1200" b="1" spc="-5">
                <a:latin typeface="Calibri"/>
                <a:cs typeface="Calibri"/>
              </a:rPr>
              <a:t>Commodity</a:t>
            </a:r>
            <a:endParaRPr sz="1200">
              <a:latin typeface="Calibri"/>
              <a:cs typeface="Calibri"/>
            </a:endParaRPr>
          </a:p>
        </p:txBody>
      </p:sp>
      <p:sp>
        <p:nvSpPr>
          <p:cNvPr id="16" name="object 13">
            <a:extLst>
              <a:ext uri="{FF2B5EF4-FFF2-40B4-BE49-F238E27FC236}">
                <a16:creationId xmlns:a16="http://schemas.microsoft.com/office/drawing/2014/main" id="{E96667D0-DA2C-9A71-6F6D-FB9F5BBBDC8A}"/>
              </a:ext>
            </a:extLst>
          </p:cNvPr>
          <p:cNvSpPr/>
          <p:nvPr/>
        </p:nvSpPr>
        <p:spPr>
          <a:xfrm>
            <a:off x="1214627" y="2735438"/>
            <a:ext cx="0" cy="186055"/>
          </a:xfrm>
          <a:custGeom>
            <a:avLst/>
            <a:gdLst/>
            <a:ahLst/>
            <a:cxnLst/>
            <a:rect l="l" t="t" r="r" b="b"/>
            <a:pathLst>
              <a:path h="186055">
                <a:moveTo>
                  <a:pt x="0" y="0"/>
                </a:moveTo>
                <a:lnTo>
                  <a:pt x="0" y="185851"/>
                </a:lnTo>
              </a:path>
            </a:pathLst>
          </a:custGeom>
          <a:ln w="6350">
            <a:solidFill>
              <a:srgbClr val="5B9BD3"/>
            </a:solidFill>
          </a:ln>
        </p:spPr>
        <p:txBody>
          <a:bodyPr wrap="square" lIns="0" tIns="0" rIns="0" bIns="0" rtlCol="0"/>
          <a:lstStyle/>
          <a:p>
            <a:endParaRPr/>
          </a:p>
        </p:txBody>
      </p:sp>
      <p:sp>
        <p:nvSpPr>
          <p:cNvPr id="17" name="object 14">
            <a:extLst>
              <a:ext uri="{FF2B5EF4-FFF2-40B4-BE49-F238E27FC236}">
                <a16:creationId xmlns:a16="http://schemas.microsoft.com/office/drawing/2014/main" id="{81124BA2-6152-2CDA-9DF7-185DF6687CFD}"/>
              </a:ext>
            </a:extLst>
          </p:cNvPr>
          <p:cNvSpPr/>
          <p:nvPr/>
        </p:nvSpPr>
        <p:spPr>
          <a:xfrm>
            <a:off x="981455" y="3754995"/>
            <a:ext cx="4058285" cy="0"/>
          </a:xfrm>
          <a:custGeom>
            <a:avLst/>
            <a:gdLst/>
            <a:ahLst/>
            <a:cxnLst/>
            <a:rect l="l" t="t" r="r" b="b"/>
            <a:pathLst>
              <a:path w="4058285">
                <a:moveTo>
                  <a:pt x="0" y="0"/>
                </a:moveTo>
                <a:lnTo>
                  <a:pt x="4057980" y="0"/>
                </a:lnTo>
              </a:path>
            </a:pathLst>
          </a:custGeom>
          <a:ln w="6350">
            <a:solidFill>
              <a:srgbClr val="5B9BD3"/>
            </a:solidFill>
          </a:ln>
        </p:spPr>
        <p:txBody>
          <a:bodyPr wrap="square" lIns="0" tIns="0" rIns="0" bIns="0" rtlCol="0"/>
          <a:lstStyle/>
          <a:p>
            <a:endParaRPr/>
          </a:p>
        </p:txBody>
      </p:sp>
      <p:sp>
        <p:nvSpPr>
          <p:cNvPr id="18" name="object 15">
            <a:extLst>
              <a:ext uri="{FF2B5EF4-FFF2-40B4-BE49-F238E27FC236}">
                <a16:creationId xmlns:a16="http://schemas.microsoft.com/office/drawing/2014/main" id="{D9BEA41A-F3E5-A5CA-13CC-5CFF6B9FF155}"/>
              </a:ext>
            </a:extLst>
          </p:cNvPr>
          <p:cNvSpPr/>
          <p:nvPr/>
        </p:nvSpPr>
        <p:spPr>
          <a:xfrm>
            <a:off x="2417064" y="3195687"/>
            <a:ext cx="0" cy="559435"/>
          </a:xfrm>
          <a:custGeom>
            <a:avLst/>
            <a:gdLst/>
            <a:ahLst/>
            <a:cxnLst/>
            <a:rect l="l" t="t" r="r" b="b"/>
            <a:pathLst>
              <a:path h="559435">
                <a:moveTo>
                  <a:pt x="0" y="0"/>
                </a:moveTo>
                <a:lnTo>
                  <a:pt x="0" y="558965"/>
                </a:lnTo>
              </a:path>
            </a:pathLst>
          </a:custGeom>
          <a:ln w="6350">
            <a:solidFill>
              <a:srgbClr val="5B9BD3"/>
            </a:solidFill>
          </a:ln>
        </p:spPr>
        <p:txBody>
          <a:bodyPr wrap="square" lIns="0" tIns="0" rIns="0" bIns="0" rtlCol="0"/>
          <a:lstStyle/>
          <a:p>
            <a:endParaRPr/>
          </a:p>
        </p:txBody>
      </p:sp>
      <p:sp>
        <p:nvSpPr>
          <p:cNvPr id="19" name="object 16">
            <a:extLst>
              <a:ext uri="{FF2B5EF4-FFF2-40B4-BE49-F238E27FC236}">
                <a16:creationId xmlns:a16="http://schemas.microsoft.com/office/drawing/2014/main" id="{27587B22-4C37-FD02-8E20-C931A08D1FD9}"/>
              </a:ext>
            </a:extLst>
          </p:cNvPr>
          <p:cNvSpPr/>
          <p:nvPr/>
        </p:nvSpPr>
        <p:spPr>
          <a:xfrm>
            <a:off x="981455" y="3754995"/>
            <a:ext cx="0" cy="431165"/>
          </a:xfrm>
          <a:custGeom>
            <a:avLst/>
            <a:gdLst/>
            <a:ahLst/>
            <a:cxnLst/>
            <a:rect l="l" t="t" r="r" b="b"/>
            <a:pathLst>
              <a:path h="431164">
                <a:moveTo>
                  <a:pt x="0" y="0"/>
                </a:moveTo>
                <a:lnTo>
                  <a:pt x="0" y="430771"/>
                </a:lnTo>
              </a:path>
            </a:pathLst>
          </a:custGeom>
          <a:ln w="6350">
            <a:solidFill>
              <a:srgbClr val="5B9BD3"/>
            </a:solidFill>
          </a:ln>
        </p:spPr>
        <p:txBody>
          <a:bodyPr wrap="square" lIns="0" tIns="0" rIns="0" bIns="0" rtlCol="0"/>
          <a:lstStyle/>
          <a:p>
            <a:endParaRPr/>
          </a:p>
        </p:txBody>
      </p:sp>
      <p:sp>
        <p:nvSpPr>
          <p:cNvPr id="20" name="object 17">
            <a:extLst>
              <a:ext uri="{FF2B5EF4-FFF2-40B4-BE49-F238E27FC236}">
                <a16:creationId xmlns:a16="http://schemas.microsoft.com/office/drawing/2014/main" id="{59169C16-269F-957A-361D-BEDBA68744EE}"/>
              </a:ext>
            </a:extLst>
          </p:cNvPr>
          <p:cNvSpPr/>
          <p:nvPr/>
        </p:nvSpPr>
        <p:spPr>
          <a:xfrm>
            <a:off x="2631948" y="2615043"/>
            <a:ext cx="0" cy="111125"/>
          </a:xfrm>
          <a:custGeom>
            <a:avLst/>
            <a:gdLst/>
            <a:ahLst/>
            <a:cxnLst/>
            <a:rect l="l" t="t" r="r" b="b"/>
            <a:pathLst>
              <a:path h="111125">
                <a:moveTo>
                  <a:pt x="0" y="0"/>
                </a:moveTo>
                <a:lnTo>
                  <a:pt x="0" y="110896"/>
                </a:lnTo>
              </a:path>
            </a:pathLst>
          </a:custGeom>
          <a:ln w="6350">
            <a:solidFill>
              <a:srgbClr val="5B9BD3"/>
            </a:solidFill>
          </a:ln>
        </p:spPr>
        <p:txBody>
          <a:bodyPr wrap="square" lIns="0" tIns="0" rIns="0" bIns="0" rtlCol="0"/>
          <a:lstStyle/>
          <a:p>
            <a:endParaRPr/>
          </a:p>
        </p:txBody>
      </p:sp>
      <p:sp>
        <p:nvSpPr>
          <p:cNvPr id="21" name="object 18">
            <a:extLst>
              <a:ext uri="{FF2B5EF4-FFF2-40B4-BE49-F238E27FC236}">
                <a16:creationId xmlns:a16="http://schemas.microsoft.com/office/drawing/2014/main" id="{158AC1D4-6502-2DB9-B932-9B2D1C2B236A}"/>
              </a:ext>
            </a:extLst>
          </p:cNvPr>
          <p:cNvSpPr/>
          <p:nvPr/>
        </p:nvSpPr>
        <p:spPr>
          <a:xfrm>
            <a:off x="547116" y="4184763"/>
            <a:ext cx="1024255" cy="324485"/>
          </a:xfrm>
          <a:custGeom>
            <a:avLst/>
            <a:gdLst/>
            <a:ahLst/>
            <a:cxnLst/>
            <a:rect l="l" t="t" r="r" b="b"/>
            <a:pathLst>
              <a:path w="1024255" h="324485">
                <a:moveTo>
                  <a:pt x="0" y="0"/>
                </a:moveTo>
                <a:lnTo>
                  <a:pt x="1024001" y="0"/>
                </a:lnTo>
                <a:lnTo>
                  <a:pt x="1024001" y="324103"/>
                </a:lnTo>
                <a:lnTo>
                  <a:pt x="0" y="324103"/>
                </a:lnTo>
                <a:lnTo>
                  <a:pt x="0" y="0"/>
                </a:lnTo>
                <a:close/>
              </a:path>
            </a:pathLst>
          </a:custGeom>
          <a:ln w="12700">
            <a:solidFill>
              <a:srgbClr val="000000"/>
            </a:solidFill>
          </a:ln>
        </p:spPr>
        <p:txBody>
          <a:bodyPr wrap="square" lIns="0" tIns="0" rIns="0" bIns="0" rtlCol="0"/>
          <a:lstStyle/>
          <a:p>
            <a:endParaRPr/>
          </a:p>
        </p:txBody>
      </p:sp>
      <p:sp>
        <p:nvSpPr>
          <p:cNvPr id="22" name="object 19">
            <a:extLst>
              <a:ext uri="{FF2B5EF4-FFF2-40B4-BE49-F238E27FC236}">
                <a16:creationId xmlns:a16="http://schemas.microsoft.com/office/drawing/2014/main" id="{E453DF6A-FCCE-00B7-BDA4-F0FD94FBAB7F}"/>
              </a:ext>
            </a:extLst>
          </p:cNvPr>
          <p:cNvSpPr txBox="1"/>
          <p:nvPr/>
        </p:nvSpPr>
        <p:spPr>
          <a:xfrm>
            <a:off x="789787" y="4102966"/>
            <a:ext cx="539115" cy="421640"/>
          </a:xfrm>
          <a:prstGeom prst="rect">
            <a:avLst/>
          </a:prstGeom>
        </p:spPr>
        <p:txBody>
          <a:bodyPr vert="horz" wrap="square" lIns="0" tIns="12700" rIns="0" bIns="0" rtlCol="0">
            <a:spAutoFit/>
          </a:bodyPr>
          <a:lstStyle/>
          <a:p>
            <a:pPr marL="12700" marR="5080" indent="101600">
              <a:lnSpc>
                <a:spcPct val="108300"/>
              </a:lnSpc>
              <a:spcBef>
                <a:spcPts val="100"/>
              </a:spcBef>
            </a:pPr>
            <a:r>
              <a:rPr sz="1200" b="1" spc="-5">
                <a:latin typeface="Calibri"/>
                <a:cs typeface="Calibri"/>
              </a:rPr>
              <a:t>Debt  Se</a:t>
            </a:r>
            <a:r>
              <a:rPr sz="1200" b="1">
                <a:latin typeface="Calibri"/>
                <a:cs typeface="Calibri"/>
              </a:rPr>
              <a:t>cu</a:t>
            </a:r>
            <a:r>
              <a:rPr sz="1200" b="1" spc="5">
                <a:latin typeface="Calibri"/>
                <a:cs typeface="Calibri"/>
              </a:rPr>
              <a:t>ri</a:t>
            </a:r>
            <a:r>
              <a:rPr sz="1200" b="1">
                <a:latin typeface="Calibri"/>
                <a:cs typeface="Calibri"/>
              </a:rPr>
              <a:t>ty</a:t>
            </a:r>
            <a:endParaRPr sz="1200">
              <a:latin typeface="Calibri"/>
              <a:cs typeface="Calibri"/>
            </a:endParaRPr>
          </a:p>
        </p:txBody>
      </p:sp>
      <p:sp>
        <p:nvSpPr>
          <p:cNvPr id="23" name="object 20">
            <a:extLst>
              <a:ext uri="{FF2B5EF4-FFF2-40B4-BE49-F238E27FC236}">
                <a16:creationId xmlns:a16="http://schemas.microsoft.com/office/drawing/2014/main" id="{22EAEE9F-1EAE-9A98-96D4-E503635788A7}"/>
              </a:ext>
            </a:extLst>
          </p:cNvPr>
          <p:cNvSpPr/>
          <p:nvPr/>
        </p:nvSpPr>
        <p:spPr>
          <a:xfrm>
            <a:off x="3505200" y="4158854"/>
            <a:ext cx="554990" cy="393065"/>
          </a:xfrm>
          <a:custGeom>
            <a:avLst/>
            <a:gdLst/>
            <a:ahLst/>
            <a:cxnLst/>
            <a:rect l="l" t="t" r="r" b="b"/>
            <a:pathLst>
              <a:path w="554989" h="393064">
                <a:moveTo>
                  <a:pt x="0" y="0"/>
                </a:moveTo>
                <a:lnTo>
                  <a:pt x="554481" y="0"/>
                </a:lnTo>
                <a:lnTo>
                  <a:pt x="554481" y="392684"/>
                </a:lnTo>
                <a:lnTo>
                  <a:pt x="0" y="392684"/>
                </a:lnTo>
                <a:lnTo>
                  <a:pt x="0" y="0"/>
                </a:lnTo>
                <a:close/>
              </a:path>
            </a:pathLst>
          </a:custGeom>
          <a:ln w="12700">
            <a:solidFill>
              <a:srgbClr val="000000"/>
            </a:solidFill>
          </a:ln>
        </p:spPr>
        <p:txBody>
          <a:bodyPr wrap="square" lIns="0" tIns="0" rIns="0" bIns="0" rtlCol="0"/>
          <a:lstStyle/>
          <a:p>
            <a:endParaRPr/>
          </a:p>
        </p:txBody>
      </p:sp>
      <p:sp>
        <p:nvSpPr>
          <p:cNvPr id="24" name="object 21">
            <a:extLst>
              <a:ext uri="{FF2B5EF4-FFF2-40B4-BE49-F238E27FC236}">
                <a16:creationId xmlns:a16="http://schemas.microsoft.com/office/drawing/2014/main" id="{ABAFDDA6-DD2F-F60E-92EF-B43CD21F3F51}"/>
              </a:ext>
            </a:extLst>
          </p:cNvPr>
          <p:cNvSpPr txBox="1"/>
          <p:nvPr/>
        </p:nvSpPr>
        <p:spPr>
          <a:xfrm>
            <a:off x="3611119" y="4112164"/>
            <a:ext cx="342900" cy="421640"/>
          </a:xfrm>
          <a:prstGeom prst="rect">
            <a:avLst/>
          </a:prstGeom>
        </p:spPr>
        <p:txBody>
          <a:bodyPr vert="horz" wrap="square" lIns="0" tIns="12700" rIns="0" bIns="0" rtlCol="0">
            <a:spAutoFit/>
          </a:bodyPr>
          <a:lstStyle/>
          <a:p>
            <a:pPr marL="33655" marR="5080" indent="-21590">
              <a:lnSpc>
                <a:spcPct val="108300"/>
              </a:lnSpc>
              <a:spcBef>
                <a:spcPts val="100"/>
              </a:spcBef>
            </a:pPr>
            <a:r>
              <a:rPr sz="1200" b="1">
                <a:latin typeface="Calibri"/>
                <a:cs typeface="Calibri"/>
              </a:rPr>
              <a:t>Fund  Unit</a:t>
            </a:r>
            <a:endParaRPr sz="1200">
              <a:latin typeface="Calibri"/>
              <a:cs typeface="Calibri"/>
            </a:endParaRPr>
          </a:p>
        </p:txBody>
      </p:sp>
      <p:sp>
        <p:nvSpPr>
          <p:cNvPr id="25" name="object 22">
            <a:extLst>
              <a:ext uri="{FF2B5EF4-FFF2-40B4-BE49-F238E27FC236}">
                <a16:creationId xmlns:a16="http://schemas.microsoft.com/office/drawing/2014/main" id="{1A76921B-94E9-7C54-5875-86D6D3200C45}"/>
              </a:ext>
            </a:extLst>
          </p:cNvPr>
          <p:cNvSpPr/>
          <p:nvPr/>
        </p:nvSpPr>
        <p:spPr>
          <a:xfrm>
            <a:off x="1674876" y="4132946"/>
            <a:ext cx="1726564" cy="426720"/>
          </a:xfrm>
          <a:custGeom>
            <a:avLst/>
            <a:gdLst/>
            <a:ahLst/>
            <a:cxnLst/>
            <a:rect l="l" t="t" r="r" b="b"/>
            <a:pathLst>
              <a:path w="1726564" h="426720">
                <a:moveTo>
                  <a:pt x="0" y="0"/>
                </a:moveTo>
                <a:lnTo>
                  <a:pt x="1726183" y="0"/>
                </a:lnTo>
                <a:lnTo>
                  <a:pt x="1726183" y="426720"/>
                </a:lnTo>
                <a:lnTo>
                  <a:pt x="0" y="426720"/>
                </a:lnTo>
                <a:lnTo>
                  <a:pt x="0" y="0"/>
                </a:lnTo>
                <a:close/>
              </a:path>
            </a:pathLst>
          </a:custGeom>
          <a:ln w="12700">
            <a:solidFill>
              <a:srgbClr val="000000"/>
            </a:solidFill>
          </a:ln>
        </p:spPr>
        <p:txBody>
          <a:bodyPr wrap="square" lIns="0" tIns="0" rIns="0" bIns="0" rtlCol="0"/>
          <a:lstStyle/>
          <a:p>
            <a:endParaRPr/>
          </a:p>
        </p:txBody>
      </p:sp>
      <p:sp>
        <p:nvSpPr>
          <p:cNvPr id="26" name="object 23">
            <a:extLst>
              <a:ext uri="{FF2B5EF4-FFF2-40B4-BE49-F238E27FC236}">
                <a16:creationId xmlns:a16="http://schemas.microsoft.com/office/drawing/2014/main" id="{B62EC9CE-C9C5-5925-1AA7-CAC91EF31C99}"/>
              </a:ext>
            </a:extLst>
          </p:cNvPr>
          <p:cNvSpPr txBox="1"/>
          <p:nvPr/>
        </p:nvSpPr>
        <p:spPr>
          <a:xfrm>
            <a:off x="1753400" y="4102966"/>
            <a:ext cx="1555115" cy="421640"/>
          </a:xfrm>
          <a:prstGeom prst="rect">
            <a:avLst/>
          </a:prstGeom>
        </p:spPr>
        <p:txBody>
          <a:bodyPr vert="horz" wrap="square" lIns="0" tIns="12700" rIns="0" bIns="0" rtlCol="0">
            <a:spAutoFit/>
          </a:bodyPr>
          <a:lstStyle/>
          <a:p>
            <a:pPr marL="527685" marR="5080" indent="-515620">
              <a:lnSpc>
                <a:spcPct val="108300"/>
              </a:lnSpc>
              <a:spcBef>
                <a:spcPts val="100"/>
              </a:spcBef>
            </a:pPr>
            <a:r>
              <a:rPr sz="1200" b="1" spc="-5">
                <a:latin typeface="Calibri"/>
                <a:cs typeface="Calibri"/>
              </a:rPr>
              <a:t>Equity and</a:t>
            </a:r>
            <a:r>
              <a:rPr sz="1200" b="1" spc="-85">
                <a:latin typeface="Calibri"/>
                <a:cs typeface="Calibri"/>
              </a:rPr>
              <a:t> </a:t>
            </a:r>
            <a:r>
              <a:rPr sz="1200" b="1" spc="-10">
                <a:latin typeface="Calibri"/>
                <a:cs typeface="Calibri"/>
              </a:rPr>
              <a:t>Equity-linked  </a:t>
            </a:r>
            <a:r>
              <a:rPr sz="1200" b="1">
                <a:latin typeface="Calibri"/>
                <a:cs typeface="Calibri"/>
              </a:rPr>
              <a:t>Security</a:t>
            </a:r>
            <a:endParaRPr sz="1200">
              <a:latin typeface="Calibri"/>
              <a:cs typeface="Calibri"/>
            </a:endParaRPr>
          </a:p>
        </p:txBody>
      </p:sp>
      <p:sp>
        <p:nvSpPr>
          <p:cNvPr id="27" name="object 24">
            <a:extLst>
              <a:ext uri="{FF2B5EF4-FFF2-40B4-BE49-F238E27FC236}">
                <a16:creationId xmlns:a16="http://schemas.microsoft.com/office/drawing/2014/main" id="{998FBB19-9758-DFF2-FF6F-287D5ED187C2}"/>
              </a:ext>
            </a:extLst>
          </p:cNvPr>
          <p:cNvSpPr/>
          <p:nvPr/>
        </p:nvSpPr>
        <p:spPr>
          <a:xfrm>
            <a:off x="4155947" y="2919843"/>
            <a:ext cx="883919" cy="254635"/>
          </a:xfrm>
          <a:custGeom>
            <a:avLst/>
            <a:gdLst/>
            <a:ahLst/>
            <a:cxnLst/>
            <a:rect l="l" t="t" r="r" b="b"/>
            <a:pathLst>
              <a:path w="883920" h="254635">
                <a:moveTo>
                  <a:pt x="0" y="0"/>
                </a:moveTo>
                <a:lnTo>
                  <a:pt x="883920" y="0"/>
                </a:lnTo>
                <a:lnTo>
                  <a:pt x="883920" y="254380"/>
                </a:lnTo>
                <a:lnTo>
                  <a:pt x="0" y="254380"/>
                </a:lnTo>
                <a:lnTo>
                  <a:pt x="0" y="0"/>
                </a:lnTo>
                <a:close/>
              </a:path>
            </a:pathLst>
          </a:custGeom>
          <a:ln w="12700">
            <a:solidFill>
              <a:srgbClr val="000000"/>
            </a:solidFill>
          </a:ln>
        </p:spPr>
        <p:txBody>
          <a:bodyPr wrap="square" lIns="0" tIns="0" rIns="0" bIns="0" rtlCol="0"/>
          <a:lstStyle/>
          <a:p>
            <a:endParaRPr/>
          </a:p>
        </p:txBody>
      </p:sp>
      <p:sp>
        <p:nvSpPr>
          <p:cNvPr id="28" name="object 25">
            <a:extLst>
              <a:ext uri="{FF2B5EF4-FFF2-40B4-BE49-F238E27FC236}">
                <a16:creationId xmlns:a16="http://schemas.microsoft.com/office/drawing/2014/main" id="{ED2CFDE9-0AE5-B7B4-B2EB-617550F2B166}"/>
              </a:ext>
            </a:extLst>
          </p:cNvPr>
          <p:cNvSpPr txBox="1"/>
          <p:nvPr/>
        </p:nvSpPr>
        <p:spPr>
          <a:xfrm>
            <a:off x="4398496" y="2925334"/>
            <a:ext cx="395605" cy="208279"/>
          </a:xfrm>
          <a:prstGeom prst="rect">
            <a:avLst/>
          </a:prstGeom>
        </p:spPr>
        <p:txBody>
          <a:bodyPr vert="horz" wrap="square" lIns="0" tIns="12700" rIns="0" bIns="0" rtlCol="0">
            <a:spAutoFit/>
          </a:bodyPr>
          <a:lstStyle/>
          <a:p>
            <a:pPr marL="12700">
              <a:lnSpc>
                <a:spcPct val="100000"/>
              </a:lnSpc>
              <a:spcBef>
                <a:spcPts val="100"/>
              </a:spcBef>
            </a:pPr>
            <a:r>
              <a:rPr sz="1200" b="1">
                <a:latin typeface="Calibri"/>
                <a:cs typeface="Calibri"/>
              </a:rPr>
              <a:t>Oth</a:t>
            </a:r>
            <a:r>
              <a:rPr sz="1200" b="1" spc="-5">
                <a:latin typeface="Calibri"/>
                <a:cs typeface="Calibri"/>
              </a:rPr>
              <a:t>e</a:t>
            </a:r>
            <a:r>
              <a:rPr sz="1200" b="1">
                <a:latin typeface="Calibri"/>
                <a:cs typeface="Calibri"/>
              </a:rPr>
              <a:t>r</a:t>
            </a:r>
            <a:endParaRPr sz="1200">
              <a:latin typeface="Calibri"/>
              <a:cs typeface="Calibri"/>
            </a:endParaRPr>
          </a:p>
        </p:txBody>
      </p:sp>
      <p:sp>
        <p:nvSpPr>
          <p:cNvPr id="29" name="object 26">
            <a:extLst>
              <a:ext uri="{FF2B5EF4-FFF2-40B4-BE49-F238E27FC236}">
                <a16:creationId xmlns:a16="http://schemas.microsoft.com/office/drawing/2014/main" id="{54B746A7-6DDD-E950-EC14-354A8F5168AB}"/>
              </a:ext>
            </a:extLst>
          </p:cNvPr>
          <p:cNvSpPr/>
          <p:nvPr/>
        </p:nvSpPr>
        <p:spPr>
          <a:xfrm>
            <a:off x="4605528" y="4160378"/>
            <a:ext cx="687070" cy="399415"/>
          </a:xfrm>
          <a:custGeom>
            <a:avLst/>
            <a:gdLst/>
            <a:ahLst/>
            <a:cxnLst/>
            <a:rect l="l" t="t" r="r" b="b"/>
            <a:pathLst>
              <a:path w="687070" h="399414">
                <a:moveTo>
                  <a:pt x="0" y="0"/>
                </a:moveTo>
                <a:lnTo>
                  <a:pt x="686943" y="0"/>
                </a:lnTo>
                <a:lnTo>
                  <a:pt x="686943" y="399161"/>
                </a:lnTo>
                <a:lnTo>
                  <a:pt x="0" y="399161"/>
                </a:lnTo>
                <a:lnTo>
                  <a:pt x="0" y="0"/>
                </a:lnTo>
                <a:close/>
              </a:path>
            </a:pathLst>
          </a:custGeom>
          <a:ln w="12700">
            <a:solidFill>
              <a:srgbClr val="000000"/>
            </a:solidFill>
          </a:ln>
        </p:spPr>
        <p:txBody>
          <a:bodyPr wrap="square" lIns="0" tIns="0" rIns="0" bIns="0" rtlCol="0"/>
          <a:lstStyle/>
          <a:p>
            <a:endParaRPr/>
          </a:p>
        </p:txBody>
      </p:sp>
      <p:sp>
        <p:nvSpPr>
          <p:cNvPr id="30" name="object 27">
            <a:extLst>
              <a:ext uri="{FF2B5EF4-FFF2-40B4-BE49-F238E27FC236}">
                <a16:creationId xmlns:a16="http://schemas.microsoft.com/office/drawing/2014/main" id="{6B51F3A2-C2B8-A451-604D-8AF4D40DE029}"/>
              </a:ext>
            </a:extLst>
          </p:cNvPr>
          <p:cNvSpPr txBox="1"/>
          <p:nvPr/>
        </p:nvSpPr>
        <p:spPr>
          <a:xfrm>
            <a:off x="4750575" y="4238560"/>
            <a:ext cx="395605" cy="208279"/>
          </a:xfrm>
          <a:prstGeom prst="rect">
            <a:avLst/>
          </a:prstGeom>
        </p:spPr>
        <p:txBody>
          <a:bodyPr vert="horz" wrap="square" lIns="0" tIns="12700" rIns="0" bIns="0" rtlCol="0">
            <a:spAutoFit/>
          </a:bodyPr>
          <a:lstStyle/>
          <a:p>
            <a:pPr marL="12700">
              <a:lnSpc>
                <a:spcPct val="100000"/>
              </a:lnSpc>
              <a:spcBef>
                <a:spcPts val="100"/>
              </a:spcBef>
            </a:pPr>
            <a:r>
              <a:rPr sz="1200" b="1">
                <a:latin typeface="Calibri"/>
                <a:cs typeface="Calibri"/>
              </a:rPr>
              <a:t>Oth</a:t>
            </a:r>
            <a:r>
              <a:rPr sz="1200" b="1" spc="-5">
                <a:latin typeface="Calibri"/>
                <a:cs typeface="Calibri"/>
              </a:rPr>
              <a:t>e</a:t>
            </a:r>
            <a:r>
              <a:rPr sz="1200" b="1">
                <a:latin typeface="Calibri"/>
                <a:cs typeface="Calibri"/>
              </a:rPr>
              <a:t>r</a:t>
            </a:r>
            <a:endParaRPr sz="1200">
              <a:latin typeface="Calibri"/>
              <a:cs typeface="Calibri"/>
            </a:endParaRPr>
          </a:p>
        </p:txBody>
      </p:sp>
      <p:sp>
        <p:nvSpPr>
          <p:cNvPr id="31" name="object 28">
            <a:extLst>
              <a:ext uri="{FF2B5EF4-FFF2-40B4-BE49-F238E27FC236}">
                <a16:creationId xmlns:a16="http://schemas.microsoft.com/office/drawing/2014/main" id="{D600E9B2-7E2E-5410-4D06-B73FD2A23346}"/>
              </a:ext>
            </a:extLst>
          </p:cNvPr>
          <p:cNvSpPr/>
          <p:nvPr/>
        </p:nvSpPr>
        <p:spPr>
          <a:xfrm>
            <a:off x="1214627" y="2736963"/>
            <a:ext cx="3145790" cy="0"/>
          </a:xfrm>
          <a:custGeom>
            <a:avLst/>
            <a:gdLst/>
            <a:ahLst/>
            <a:cxnLst/>
            <a:rect l="l" t="t" r="r" b="b"/>
            <a:pathLst>
              <a:path w="3145790">
                <a:moveTo>
                  <a:pt x="0" y="0"/>
                </a:moveTo>
                <a:lnTo>
                  <a:pt x="3145421" y="0"/>
                </a:lnTo>
              </a:path>
            </a:pathLst>
          </a:custGeom>
          <a:ln w="6350">
            <a:solidFill>
              <a:srgbClr val="5B9BD3"/>
            </a:solidFill>
          </a:ln>
        </p:spPr>
        <p:txBody>
          <a:bodyPr wrap="square" lIns="0" tIns="0" rIns="0" bIns="0" rtlCol="0"/>
          <a:lstStyle/>
          <a:p>
            <a:endParaRPr/>
          </a:p>
        </p:txBody>
      </p:sp>
      <p:sp>
        <p:nvSpPr>
          <p:cNvPr id="32" name="object 29">
            <a:extLst>
              <a:ext uri="{FF2B5EF4-FFF2-40B4-BE49-F238E27FC236}">
                <a16:creationId xmlns:a16="http://schemas.microsoft.com/office/drawing/2014/main" id="{609EE439-5E0D-0701-194B-EA4C1E8B96D4}"/>
              </a:ext>
            </a:extLst>
          </p:cNvPr>
          <p:cNvSpPr/>
          <p:nvPr/>
        </p:nvSpPr>
        <p:spPr>
          <a:xfrm>
            <a:off x="2371344" y="2735438"/>
            <a:ext cx="2540" cy="205740"/>
          </a:xfrm>
          <a:custGeom>
            <a:avLst/>
            <a:gdLst/>
            <a:ahLst/>
            <a:cxnLst/>
            <a:rect l="l" t="t" r="r" b="b"/>
            <a:pathLst>
              <a:path w="2539" h="205739">
                <a:moveTo>
                  <a:pt x="0" y="0"/>
                </a:moveTo>
                <a:lnTo>
                  <a:pt x="2413" y="205371"/>
                </a:lnTo>
              </a:path>
            </a:pathLst>
          </a:custGeom>
          <a:ln w="6350">
            <a:solidFill>
              <a:srgbClr val="5B9BD3"/>
            </a:solidFill>
          </a:ln>
        </p:spPr>
        <p:txBody>
          <a:bodyPr wrap="square" lIns="0" tIns="0" rIns="0" bIns="0" rtlCol="0"/>
          <a:lstStyle/>
          <a:p>
            <a:endParaRPr/>
          </a:p>
        </p:txBody>
      </p:sp>
      <p:sp>
        <p:nvSpPr>
          <p:cNvPr id="33" name="object 30">
            <a:extLst>
              <a:ext uri="{FF2B5EF4-FFF2-40B4-BE49-F238E27FC236}">
                <a16:creationId xmlns:a16="http://schemas.microsoft.com/office/drawing/2014/main" id="{47501083-D7B0-AB86-E316-32B38A01C017}"/>
              </a:ext>
            </a:extLst>
          </p:cNvPr>
          <p:cNvSpPr/>
          <p:nvPr/>
        </p:nvSpPr>
        <p:spPr>
          <a:xfrm>
            <a:off x="3374135" y="2735438"/>
            <a:ext cx="0" cy="205740"/>
          </a:xfrm>
          <a:custGeom>
            <a:avLst/>
            <a:gdLst/>
            <a:ahLst/>
            <a:cxnLst/>
            <a:rect l="l" t="t" r="r" b="b"/>
            <a:pathLst>
              <a:path h="205739">
                <a:moveTo>
                  <a:pt x="0" y="0"/>
                </a:moveTo>
                <a:lnTo>
                  <a:pt x="0" y="205371"/>
                </a:lnTo>
              </a:path>
            </a:pathLst>
          </a:custGeom>
          <a:ln w="6350">
            <a:solidFill>
              <a:srgbClr val="5B9BD3"/>
            </a:solidFill>
          </a:ln>
        </p:spPr>
        <p:txBody>
          <a:bodyPr wrap="square" lIns="0" tIns="0" rIns="0" bIns="0" rtlCol="0"/>
          <a:lstStyle/>
          <a:p>
            <a:endParaRPr/>
          </a:p>
        </p:txBody>
      </p:sp>
      <p:sp>
        <p:nvSpPr>
          <p:cNvPr id="34" name="object 31">
            <a:extLst>
              <a:ext uri="{FF2B5EF4-FFF2-40B4-BE49-F238E27FC236}">
                <a16:creationId xmlns:a16="http://schemas.microsoft.com/office/drawing/2014/main" id="{09D87D20-EC04-F566-3833-E431953F3D64}"/>
              </a:ext>
            </a:extLst>
          </p:cNvPr>
          <p:cNvSpPr/>
          <p:nvPr/>
        </p:nvSpPr>
        <p:spPr>
          <a:xfrm>
            <a:off x="3777996" y="3754995"/>
            <a:ext cx="5080" cy="405130"/>
          </a:xfrm>
          <a:custGeom>
            <a:avLst/>
            <a:gdLst/>
            <a:ahLst/>
            <a:cxnLst/>
            <a:rect l="l" t="t" r="r" b="b"/>
            <a:pathLst>
              <a:path w="5079" h="405129">
                <a:moveTo>
                  <a:pt x="0" y="0"/>
                </a:moveTo>
                <a:lnTo>
                  <a:pt x="4508" y="404914"/>
                </a:lnTo>
              </a:path>
            </a:pathLst>
          </a:custGeom>
          <a:ln w="6350">
            <a:solidFill>
              <a:srgbClr val="5B9BD3"/>
            </a:solidFill>
          </a:ln>
        </p:spPr>
        <p:txBody>
          <a:bodyPr wrap="square" lIns="0" tIns="0" rIns="0" bIns="0" rtlCol="0"/>
          <a:lstStyle/>
          <a:p>
            <a:endParaRPr/>
          </a:p>
        </p:txBody>
      </p:sp>
      <p:sp>
        <p:nvSpPr>
          <p:cNvPr id="35" name="object 32">
            <a:extLst>
              <a:ext uri="{FF2B5EF4-FFF2-40B4-BE49-F238E27FC236}">
                <a16:creationId xmlns:a16="http://schemas.microsoft.com/office/drawing/2014/main" id="{520ABBC4-6606-D582-DC52-7F19D5690C73}"/>
              </a:ext>
            </a:extLst>
          </p:cNvPr>
          <p:cNvSpPr/>
          <p:nvPr/>
        </p:nvSpPr>
        <p:spPr>
          <a:xfrm>
            <a:off x="5039867" y="3754995"/>
            <a:ext cx="0" cy="391795"/>
          </a:xfrm>
          <a:custGeom>
            <a:avLst/>
            <a:gdLst/>
            <a:ahLst/>
            <a:cxnLst/>
            <a:rect l="l" t="t" r="r" b="b"/>
            <a:pathLst>
              <a:path h="391795">
                <a:moveTo>
                  <a:pt x="0" y="0"/>
                </a:moveTo>
                <a:lnTo>
                  <a:pt x="0" y="391414"/>
                </a:lnTo>
              </a:path>
            </a:pathLst>
          </a:custGeom>
          <a:ln w="6350">
            <a:solidFill>
              <a:srgbClr val="5B9BD3"/>
            </a:solidFill>
          </a:ln>
        </p:spPr>
        <p:txBody>
          <a:bodyPr wrap="square" lIns="0" tIns="0" rIns="0" bIns="0" rtlCol="0"/>
          <a:lstStyle/>
          <a:p>
            <a:endParaRPr/>
          </a:p>
        </p:txBody>
      </p:sp>
      <p:sp>
        <p:nvSpPr>
          <p:cNvPr id="36" name="object 34">
            <a:extLst>
              <a:ext uri="{FF2B5EF4-FFF2-40B4-BE49-F238E27FC236}">
                <a16:creationId xmlns:a16="http://schemas.microsoft.com/office/drawing/2014/main" id="{A041D610-1234-1D09-9B6F-085AE1C4C158}"/>
              </a:ext>
            </a:extLst>
          </p:cNvPr>
          <p:cNvSpPr txBox="1"/>
          <p:nvPr/>
        </p:nvSpPr>
        <p:spPr>
          <a:xfrm>
            <a:off x="7225283" y="2131935"/>
            <a:ext cx="2418715" cy="603885"/>
          </a:xfrm>
          <a:prstGeom prst="rect">
            <a:avLst/>
          </a:prstGeom>
          <a:ln w="12700">
            <a:solidFill>
              <a:srgbClr val="000000"/>
            </a:solidFill>
          </a:ln>
        </p:spPr>
        <p:txBody>
          <a:bodyPr vert="horz" wrap="square" lIns="0" tIns="70485" rIns="0" bIns="0" rtlCol="0">
            <a:spAutoFit/>
          </a:bodyPr>
          <a:lstStyle/>
          <a:p>
            <a:pPr marL="479425" marR="287020" indent="-177165">
              <a:lnSpc>
                <a:spcPct val="108300"/>
              </a:lnSpc>
              <a:spcBef>
                <a:spcPts val="555"/>
              </a:spcBef>
            </a:pPr>
            <a:r>
              <a:rPr sz="1200" b="1" spc="-5">
                <a:latin typeface="Calibri"/>
                <a:cs typeface="Calibri"/>
              </a:rPr>
              <a:t>Regional </a:t>
            </a:r>
            <a:r>
              <a:rPr sz="1200" b="1" spc="-10">
                <a:latin typeface="Calibri"/>
                <a:cs typeface="Calibri"/>
              </a:rPr>
              <a:t>Governments,</a:t>
            </a:r>
            <a:r>
              <a:rPr sz="1200" b="1" spc="-120">
                <a:latin typeface="Calibri"/>
                <a:cs typeface="Calibri"/>
              </a:rPr>
              <a:t> </a:t>
            </a:r>
            <a:r>
              <a:rPr sz="1200" b="1" spc="-5">
                <a:latin typeface="Calibri"/>
                <a:cs typeface="Calibri"/>
              </a:rPr>
              <a:t>Local  </a:t>
            </a:r>
            <a:r>
              <a:rPr sz="1200" b="1">
                <a:latin typeface="Calibri"/>
                <a:cs typeface="Calibri"/>
              </a:rPr>
              <a:t>Authorities,</a:t>
            </a:r>
            <a:r>
              <a:rPr sz="1200" b="1" spc="-70">
                <a:latin typeface="Calibri"/>
                <a:cs typeface="Calibri"/>
              </a:rPr>
              <a:t> </a:t>
            </a:r>
            <a:r>
              <a:rPr sz="1200" b="1">
                <a:latin typeface="Calibri"/>
                <a:cs typeface="Calibri"/>
              </a:rPr>
              <a:t>Municipals</a:t>
            </a:r>
            <a:endParaRPr sz="1200">
              <a:latin typeface="Calibri"/>
              <a:cs typeface="Calibri"/>
            </a:endParaRPr>
          </a:p>
        </p:txBody>
      </p:sp>
      <p:sp>
        <p:nvSpPr>
          <p:cNvPr id="37" name="object 35">
            <a:extLst>
              <a:ext uri="{FF2B5EF4-FFF2-40B4-BE49-F238E27FC236}">
                <a16:creationId xmlns:a16="http://schemas.microsoft.com/office/drawing/2014/main" id="{A3B03094-B064-08F7-DDCF-FA42800FA3B9}"/>
              </a:ext>
            </a:extLst>
          </p:cNvPr>
          <p:cNvSpPr txBox="1"/>
          <p:nvPr/>
        </p:nvSpPr>
        <p:spPr>
          <a:xfrm>
            <a:off x="6283452" y="3122535"/>
            <a:ext cx="1254760" cy="603885"/>
          </a:xfrm>
          <a:prstGeom prst="rect">
            <a:avLst/>
          </a:prstGeom>
          <a:ln w="12700">
            <a:solidFill>
              <a:srgbClr val="000000"/>
            </a:solidFill>
          </a:ln>
        </p:spPr>
        <p:txBody>
          <a:bodyPr vert="horz" wrap="square" lIns="0" tIns="71120" rIns="0" bIns="0" rtlCol="0">
            <a:spAutoFit/>
          </a:bodyPr>
          <a:lstStyle/>
          <a:p>
            <a:pPr marL="316865" marR="110489" indent="-220979">
              <a:lnSpc>
                <a:spcPct val="108300"/>
              </a:lnSpc>
              <a:spcBef>
                <a:spcPts val="560"/>
              </a:spcBef>
            </a:pPr>
            <a:r>
              <a:rPr sz="1200" b="1">
                <a:latin typeface="Calibri"/>
                <a:cs typeface="Calibri"/>
              </a:rPr>
              <a:t>With </a:t>
            </a:r>
            <a:r>
              <a:rPr sz="1200" b="1" spc="-10">
                <a:latin typeface="Calibri"/>
                <a:cs typeface="Calibri"/>
              </a:rPr>
              <a:t>recourse</a:t>
            </a:r>
            <a:r>
              <a:rPr sz="1200" b="1" spc="-220">
                <a:latin typeface="Calibri"/>
                <a:cs typeface="Calibri"/>
              </a:rPr>
              <a:t> </a:t>
            </a:r>
            <a:r>
              <a:rPr sz="1200" b="1" spc="-10">
                <a:latin typeface="Calibri"/>
                <a:cs typeface="Calibri"/>
              </a:rPr>
              <a:t>to  </a:t>
            </a:r>
            <a:r>
              <a:rPr sz="1200" b="1" spc="-20">
                <a:latin typeface="Calibri"/>
                <a:cs typeface="Calibri"/>
              </a:rPr>
              <a:t>Sovereign</a:t>
            </a:r>
            <a:endParaRPr sz="1200">
              <a:latin typeface="Calibri"/>
              <a:cs typeface="Calibri"/>
            </a:endParaRPr>
          </a:p>
        </p:txBody>
      </p:sp>
      <p:sp>
        <p:nvSpPr>
          <p:cNvPr id="38" name="object 36">
            <a:extLst>
              <a:ext uri="{FF2B5EF4-FFF2-40B4-BE49-F238E27FC236}">
                <a16:creationId xmlns:a16="http://schemas.microsoft.com/office/drawing/2014/main" id="{69713A83-290C-F753-629E-D273AE4A4309}"/>
              </a:ext>
            </a:extLst>
          </p:cNvPr>
          <p:cNvSpPr txBox="1"/>
          <p:nvPr/>
        </p:nvSpPr>
        <p:spPr>
          <a:xfrm>
            <a:off x="7898892" y="3122535"/>
            <a:ext cx="1254760" cy="603885"/>
          </a:xfrm>
          <a:prstGeom prst="rect">
            <a:avLst/>
          </a:prstGeom>
          <a:ln w="12700">
            <a:solidFill>
              <a:srgbClr val="000000"/>
            </a:solidFill>
          </a:ln>
        </p:spPr>
        <p:txBody>
          <a:bodyPr vert="horz" wrap="square" lIns="0" tIns="1270" rIns="0" bIns="0" rtlCol="0">
            <a:spAutoFit/>
          </a:bodyPr>
          <a:lstStyle/>
          <a:p>
            <a:pPr marL="271145" marR="281305" indent="91440">
              <a:lnSpc>
                <a:spcPts val="1460"/>
              </a:lnSpc>
              <a:spcBef>
                <a:spcPts val="10"/>
              </a:spcBef>
            </a:pPr>
            <a:r>
              <a:rPr sz="1200" b="1">
                <a:latin typeface="Calibri"/>
                <a:cs typeface="Calibri"/>
              </a:rPr>
              <a:t>Without  </a:t>
            </a:r>
            <a:r>
              <a:rPr sz="1200" b="1" spc="-10">
                <a:latin typeface="Calibri"/>
                <a:cs typeface="Calibri"/>
              </a:rPr>
              <a:t>recourse</a:t>
            </a:r>
            <a:r>
              <a:rPr sz="1200" b="1" spc="-204">
                <a:latin typeface="Calibri"/>
                <a:cs typeface="Calibri"/>
              </a:rPr>
              <a:t> </a:t>
            </a:r>
            <a:r>
              <a:rPr sz="1200" b="1" spc="-10">
                <a:latin typeface="Calibri"/>
                <a:cs typeface="Calibri"/>
              </a:rPr>
              <a:t>to</a:t>
            </a:r>
            <a:endParaRPr sz="1200">
              <a:latin typeface="Calibri"/>
              <a:cs typeface="Calibri"/>
            </a:endParaRPr>
          </a:p>
          <a:p>
            <a:pPr marL="316865">
              <a:lnSpc>
                <a:spcPct val="100000"/>
              </a:lnSpc>
              <a:spcBef>
                <a:spcPts val="60"/>
              </a:spcBef>
            </a:pPr>
            <a:r>
              <a:rPr sz="1200" b="1" spc="-20">
                <a:latin typeface="Calibri"/>
                <a:cs typeface="Calibri"/>
              </a:rPr>
              <a:t>Sovereign</a:t>
            </a:r>
            <a:endParaRPr sz="1200">
              <a:latin typeface="Calibri"/>
              <a:cs typeface="Calibri"/>
            </a:endParaRPr>
          </a:p>
        </p:txBody>
      </p:sp>
      <p:sp>
        <p:nvSpPr>
          <p:cNvPr id="39" name="object 37">
            <a:extLst>
              <a:ext uri="{FF2B5EF4-FFF2-40B4-BE49-F238E27FC236}">
                <a16:creationId xmlns:a16="http://schemas.microsoft.com/office/drawing/2014/main" id="{D2D5BDA7-15F9-5DFE-EA85-21ABBA76AD5B}"/>
              </a:ext>
            </a:extLst>
          </p:cNvPr>
          <p:cNvSpPr txBox="1"/>
          <p:nvPr/>
        </p:nvSpPr>
        <p:spPr>
          <a:xfrm>
            <a:off x="9643871" y="3122535"/>
            <a:ext cx="1228725" cy="603885"/>
          </a:xfrm>
          <a:prstGeom prst="rect">
            <a:avLst/>
          </a:prstGeom>
          <a:ln w="12700">
            <a:solidFill>
              <a:srgbClr val="000000"/>
            </a:solidFill>
          </a:ln>
        </p:spPr>
        <p:txBody>
          <a:bodyPr vert="horz" wrap="square" lIns="0" tIns="4445" rIns="0" bIns="0" rtlCol="0">
            <a:spAutoFit/>
          </a:bodyPr>
          <a:lstStyle/>
          <a:p>
            <a:pPr>
              <a:lnSpc>
                <a:spcPct val="100000"/>
              </a:lnSpc>
              <a:spcBef>
                <a:spcPts val="35"/>
              </a:spcBef>
            </a:pPr>
            <a:endParaRPr sz="1350">
              <a:latin typeface="Times New Roman"/>
              <a:cs typeface="Times New Roman"/>
            </a:endParaRPr>
          </a:p>
          <a:p>
            <a:pPr marR="12700" algn="ctr">
              <a:lnSpc>
                <a:spcPct val="100000"/>
              </a:lnSpc>
            </a:pPr>
            <a:r>
              <a:rPr sz="1200" b="1">
                <a:latin typeface="Calibri"/>
                <a:cs typeface="Calibri"/>
              </a:rPr>
              <a:t>Either</a:t>
            </a:r>
            <a:endParaRPr sz="1200">
              <a:latin typeface="Calibri"/>
              <a:cs typeface="Calibri"/>
            </a:endParaRPr>
          </a:p>
        </p:txBody>
      </p:sp>
      <p:sp>
        <p:nvSpPr>
          <p:cNvPr id="40" name="object 38">
            <a:extLst>
              <a:ext uri="{FF2B5EF4-FFF2-40B4-BE49-F238E27FC236}">
                <a16:creationId xmlns:a16="http://schemas.microsoft.com/office/drawing/2014/main" id="{8BB85C45-307A-C1D9-E56B-7A4E47075766}"/>
              </a:ext>
            </a:extLst>
          </p:cNvPr>
          <p:cNvSpPr txBox="1"/>
          <p:nvPr/>
        </p:nvSpPr>
        <p:spPr>
          <a:xfrm>
            <a:off x="6816852" y="4257914"/>
            <a:ext cx="1422400" cy="605155"/>
          </a:xfrm>
          <a:prstGeom prst="rect">
            <a:avLst/>
          </a:prstGeom>
          <a:ln w="12700">
            <a:solidFill>
              <a:srgbClr val="000000"/>
            </a:solidFill>
          </a:ln>
        </p:spPr>
        <p:txBody>
          <a:bodyPr vert="horz" wrap="square" lIns="0" tIns="71120" rIns="0" bIns="0" rtlCol="0">
            <a:spAutoFit/>
          </a:bodyPr>
          <a:lstStyle/>
          <a:p>
            <a:pPr marL="385445" marR="256540" indent="-94615">
              <a:lnSpc>
                <a:spcPct val="108300"/>
              </a:lnSpc>
              <a:spcBef>
                <a:spcPts val="560"/>
              </a:spcBef>
            </a:pPr>
            <a:r>
              <a:rPr sz="1200" b="1" i="1" spc="-5">
                <a:latin typeface="Calibri"/>
                <a:cs typeface="Calibri"/>
              </a:rPr>
              <a:t>List </a:t>
            </a:r>
            <a:r>
              <a:rPr sz="1200" b="1" i="1">
                <a:latin typeface="Calibri"/>
                <a:cs typeface="Calibri"/>
              </a:rPr>
              <a:t>of</a:t>
            </a:r>
            <a:r>
              <a:rPr sz="1200" b="1" i="1" spc="-140">
                <a:latin typeface="Calibri"/>
                <a:cs typeface="Calibri"/>
              </a:rPr>
              <a:t> </a:t>
            </a:r>
            <a:r>
              <a:rPr sz="1200" b="1" i="1">
                <a:latin typeface="Calibri"/>
                <a:cs typeface="Calibri"/>
              </a:rPr>
              <a:t>Eligible  </a:t>
            </a:r>
            <a:r>
              <a:rPr sz="1200" b="1" i="1" spc="-5">
                <a:latin typeface="Calibri"/>
                <a:cs typeface="Calibri"/>
              </a:rPr>
              <a:t>Sovereigns</a:t>
            </a:r>
            <a:endParaRPr sz="1200">
              <a:latin typeface="Calibri"/>
              <a:cs typeface="Calibri"/>
            </a:endParaRPr>
          </a:p>
        </p:txBody>
      </p:sp>
      <p:sp>
        <p:nvSpPr>
          <p:cNvPr id="41" name="object 39">
            <a:extLst>
              <a:ext uri="{FF2B5EF4-FFF2-40B4-BE49-F238E27FC236}">
                <a16:creationId xmlns:a16="http://schemas.microsoft.com/office/drawing/2014/main" id="{18EA95D9-BE00-4A1C-7AE3-12761D7B51C0}"/>
              </a:ext>
            </a:extLst>
          </p:cNvPr>
          <p:cNvSpPr txBox="1"/>
          <p:nvPr/>
        </p:nvSpPr>
        <p:spPr>
          <a:xfrm>
            <a:off x="8537447" y="4257914"/>
            <a:ext cx="1409700" cy="605155"/>
          </a:xfrm>
          <a:prstGeom prst="rect">
            <a:avLst/>
          </a:prstGeom>
          <a:ln w="12700">
            <a:solidFill>
              <a:srgbClr val="000000"/>
            </a:solidFill>
          </a:ln>
        </p:spPr>
        <p:txBody>
          <a:bodyPr vert="horz" wrap="square" lIns="0" tIns="71120" rIns="0" bIns="0" rtlCol="0">
            <a:spAutoFit/>
          </a:bodyPr>
          <a:lstStyle/>
          <a:p>
            <a:pPr marL="502920" marR="256540" indent="-224154">
              <a:lnSpc>
                <a:spcPct val="108300"/>
              </a:lnSpc>
              <a:spcBef>
                <a:spcPts val="560"/>
              </a:spcBef>
            </a:pPr>
            <a:r>
              <a:rPr sz="1200" b="1" i="1" spc="-5">
                <a:latin typeface="Calibri"/>
                <a:cs typeface="Calibri"/>
              </a:rPr>
              <a:t>List </a:t>
            </a:r>
            <a:r>
              <a:rPr sz="1200" b="1" i="1">
                <a:latin typeface="Calibri"/>
                <a:cs typeface="Calibri"/>
              </a:rPr>
              <a:t>of</a:t>
            </a:r>
            <a:r>
              <a:rPr sz="1200" b="1" i="1" spc="-140">
                <a:latin typeface="Calibri"/>
                <a:cs typeface="Calibri"/>
              </a:rPr>
              <a:t> </a:t>
            </a:r>
            <a:r>
              <a:rPr sz="1200" b="1" i="1">
                <a:latin typeface="Calibri"/>
                <a:cs typeface="Calibri"/>
              </a:rPr>
              <a:t>Eligible  </a:t>
            </a:r>
            <a:r>
              <a:rPr sz="1200" b="1" i="1" spc="-5">
                <a:latin typeface="Calibri"/>
                <a:cs typeface="Calibri"/>
              </a:rPr>
              <a:t>Issuers</a:t>
            </a:r>
            <a:endParaRPr sz="1200">
              <a:latin typeface="Calibri"/>
              <a:cs typeface="Calibri"/>
            </a:endParaRPr>
          </a:p>
        </p:txBody>
      </p:sp>
      <p:sp>
        <p:nvSpPr>
          <p:cNvPr id="42" name="object 40">
            <a:extLst>
              <a:ext uri="{FF2B5EF4-FFF2-40B4-BE49-F238E27FC236}">
                <a16:creationId xmlns:a16="http://schemas.microsoft.com/office/drawing/2014/main" id="{DCDD68A6-0068-6725-1E89-C79385153E49}"/>
              </a:ext>
            </a:extLst>
          </p:cNvPr>
          <p:cNvSpPr/>
          <p:nvPr/>
        </p:nvSpPr>
        <p:spPr>
          <a:xfrm>
            <a:off x="8534400" y="2735438"/>
            <a:ext cx="0" cy="225425"/>
          </a:xfrm>
          <a:custGeom>
            <a:avLst/>
            <a:gdLst/>
            <a:ahLst/>
            <a:cxnLst/>
            <a:rect l="l" t="t" r="r" b="b"/>
            <a:pathLst>
              <a:path h="225425">
                <a:moveTo>
                  <a:pt x="0" y="0"/>
                </a:moveTo>
                <a:lnTo>
                  <a:pt x="0" y="225031"/>
                </a:lnTo>
              </a:path>
            </a:pathLst>
          </a:custGeom>
          <a:ln w="6350">
            <a:solidFill>
              <a:srgbClr val="5B9BD3"/>
            </a:solidFill>
          </a:ln>
        </p:spPr>
        <p:txBody>
          <a:bodyPr wrap="square" lIns="0" tIns="0" rIns="0" bIns="0" rtlCol="0"/>
          <a:lstStyle/>
          <a:p>
            <a:endParaRPr/>
          </a:p>
        </p:txBody>
      </p:sp>
      <p:sp>
        <p:nvSpPr>
          <p:cNvPr id="43" name="object 41">
            <a:extLst>
              <a:ext uri="{FF2B5EF4-FFF2-40B4-BE49-F238E27FC236}">
                <a16:creationId xmlns:a16="http://schemas.microsoft.com/office/drawing/2014/main" id="{94190335-4DC6-390F-7399-2A5810C24817}"/>
              </a:ext>
            </a:extLst>
          </p:cNvPr>
          <p:cNvSpPr/>
          <p:nvPr/>
        </p:nvSpPr>
        <p:spPr>
          <a:xfrm>
            <a:off x="6804659" y="2960991"/>
            <a:ext cx="3461385" cy="0"/>
          </a:xfrm>
          <a:custGeom>
            <a:avLst/>
            <a:gdLst/>
            <a:ahLst/>
            <a:cxnLst/>
            <a:rect l="l" t="t" r="r" b="b"/>
            <a:pathLst>
              <a:path w="3461384">
                <a:moveTo>
                  <a:pt x="0" y="0"/>
                </a:moveTo>
                <a:lnTo>
                  <a:pt x="3460762" y="0"/>
                </a:lnTo>
              </a:path>
            </a:pathLst>
          </a:custGeom>
          <a:ln w="6350">
            <a:solidFill>
              <a:srgbClr val="5B9BD3"/>
            </a:solidFill>
          </a:ln>
        </p:spPr>
        <p:txBody>
          <a:bodyPr wrap="square" lIns="0" tIns="0" rIns="0" bIns="0" rtlCol="0"/>
          <a:lstStyle/>
          <a:p>
            <a:endParaRPr/>
          </a:p>
        </p:txBody>
      </p:sp>
      <p:sp>
        <p:nvSpPr>
          <p:cNvPr id="44" name="object 42">
            <a:extLst>
              <a:ext uri="{FF2B5EF4-FFF2-40B4-BE49-F238E27FC236}">
                <a16:creationId xmlns:a16="http://schemas.microsoft.com/office/drawing/2014/main" id="{DEF8DDD5-C349-8149-2296-AC8981B2841B}"/>
              </a:ext>
            </a:extLst>
          </p:cNvPr>
          <p:cNvSpPr/>
          <p:nvPr/>
        </p:nvSpPr>
        <p:spPr>
          <a:xfrm>
            <a:off x="6804659" y="2960991"/>
            <a:ext cx="0" cy="161925"/>
          </a:xfrm>
          <a:custGeom>
            <a:avLst/>
            <a:gdLst/>
            <a:ahLst/>
            <a:cxnLst/>
            <a:rect l="l" t="t" r="r" b="b"/>
            <a:pathLst>
              <a:path h="161925">
                <a:moveTo>
                  <a:pt x="0" y="0"/>
                </a:moveTo>
                <a:lnTo>
                  <a:pt x="0" y="161353"/>
                </a:lnTo>
              </a:path>
            </a:pathLst>
          </a:custGeom>
          <a:ln w="6350">
            <a:solidFill>
              <a:srgbClr val="5B9BD3"/>
            </a:solidFill>
          </a:ln>
        </p:spPr>
        <p:txBody>
          <a:bodyPr wrap="square" lIns="0" tIns="0" rIns="0" bIns="0" rtlCol="0"/>
          <a:lstStyle/>
          <a:p>
            <a:endParaRPr/>
          </a:p>
        </p:txBody>
      </p:sp>
      <p:sp>
        <p:nvSpPr>
          <p:cNvPr id="45" name="object 43">
            <a:extLst>
              <a:ext uri="{FF2B5EF4-FFF2-40B4-BE49-F238E27FC236}">
                <a16:creationId xmlns:a16="http://schemas.microsoft.com/office/drawing/2014/main" id="{83CEF605-19C9-4220-FC5B-C56780ECB2DF}"/>
              </a:ext>
            </a:extLst>
          </p:cNvPr>
          <p:cNvSpPr/>
          <p:nvPr/>
        </p:nvSpPr>
        <p:spPr>
          <a:xfrm>
            <a:off x="10265664" y="2960991"/>
            <a:ext cx="0" cy="161925"/>
          </a:xfrm>
          <a:custGeom>
            <a:avLst/>
            <a:gdLst/>
            <a:ahLst/>
            <a:cxnLst/>
            <a:rect l="l" t="t" r="r" b="b"/>
            <a:pathLst>
              <a:path h="161925">
                <a:moveTo>
                  <a:pt x="0" y="0"/>
                </a:moveTo>
                <a:lnTo>
                  <a:pt x="0" y="161353"/>
                </a:lnTo>
              </a:path>
            </a:pathLst>
          </a:custGeom>
          <a:ln w="6350">
            <a:solidFill>
              <a:srgbClr val="5B9BD3"/>
            </a:solidFill>
          </a:ln>
        </p:spPr>
        <p:txBody>
          <a:bodyPr wrap="square" lIns="0" tIns="0" rIns="0" bIns="0" rtlCol="0"/>
          <a:lstStyle/>
          <a:p>
            <a:endParaRPr/>
          </a:p>
        </p:txBody>
      </p:sp>
      <p:sp>
        <p:nvSpPr>
          <p:cNvPr id="46" name="object 44">
            <a:extLst>
              <a:ext uri="{FF2B5EF4-FFF2-40B4-BE49-F238E27FC236}">
                <a16:creationId xmlns:a16="http://schemas.microsoft.com/office/drawing/2014/main" id="{BB019ECA-BDA1-B762-9A71-3ADB5EBBA4D4}"/>
              </a:ext>
            </a:extLst>
          </p:cNvPr>
          <p:cNvSpPr/>
          <p:nvPr/>
        </p:nvSpPr>
        <p:spPr>
          <a:xfrm>
            <a:off x="8534400" y="2960991"/>
            <a:ext cx="0" cy="161925"/>
          </a:xfrm>
          <a:custGeom>
            <a:avLst/>
            <a:gdLst/>
            <a:ahLst/>
            <a:cxnLst/>
            <a:rect l="l" t="t" r="r" b="b"/>
            <a:pathLst>
              <a:path h="161925">
                <a:moveTo>
                  <a:pt x="0" y="0"/>
                </a:moveTo>
                <a:lnTo>
                  <a:pt x="0" y="161353"/>
                </a:lnTo>
              </a:path>
            </a:pathLst>
          </a:custGeom>
          <a:ln w="6350">
            <a:solidFill>
              <a:srgbClr val="5B9BD3"/>
            </a:solidFill>
          </a:ln>
        </p:spPr>
        <p:txBody>
          <a:bodyPr wrap="square" lIns="0" tIns="0" rIns="0" bIns="0" rtlCol="0"/>
          <a:lstStyle/>
          <a:p>
            <a:endParaRPr/>
          </a:p>
        </p:txBody>
      </p:sp>
      <p:sp>
        <p:nvSpPr>
          <p:cNvPr id="47" name="object 45">
            <a:extLst>
              <a:ext uri="{FF2B5EF4-FFF2-40B4-BE49-F238E27FC236}">
                <a16:creationId xmlns:a16="http://schemas.microsoft.com/office/drawing/2014/main" id="{7B0647B8-2984-614A-22C2-180BC057EFDE}"/>
              </a:ext>
            </a:extLst>
          </p:cNvPr>
          <p:cNvSpPr/>
          <p:nvPr/>
        </p:nvSpPr>
        <p:spPr>
          <a:xfrm>
            <a:off x="6897623" y="3726039"/>
            <a:ext cx="0" cy="379095"/>
          </a:xfrm>
          <a:custGeom>
            <a:avLst/>
            <a:gdLst/>
            <a:ahLst/>
            <a:cxnLst/>
            <a:rect l="l" t="t" r="r" b="b"/>
            <a:pathLst>
              <a:path h="379095">
                <a:moveTo>
                  <a:pt x="0" y="0"/>
                </a:moveTo>
                <a:lnTo>
                  <a:pt x="0" y="378968"/>
                </a:lnTo>
              </a:path>
            </a:pathLst>
          </a:custGeom>
          <a:ln w="6350">
            <a:solidFill>
              <a:srgbClr val="5B9BD3"/>
            </a:solidFill>
          </a:ln>
        </p:spPr>
        <p:txBody>
          <a:bodyPr wrap="square" lIns="0" tIns="0" rIns="0" bIns="0" rtlCol="0"/>
          <a:lstStyle/>
          <a:p>
            <a:endParaRPr/>
          </a:p>
        </p:txBody>
      </p:sp>
      <p:sp>
        <p:nvSpPr>
          <p:cNvPr id="48" name="object 46">
            <a:extLst>
              <a:ext uri="{FF2B5EF4-FFF2-40B4-BE49-F238E27FC236}">
                <a16:creationId xmlns:a16="http://schemas.microsoft.com/office/drawing/2014/main" id="{39D0B9A7-838F-D082-EF41-ED10F92698A4}"/>
              </a:ext>
            </a:extLst>
          </p:cNvPr>
          <p:cNvSpPr/>
          <p:nvPr/>
        </p:nvSpPr>
        <p:spPr>
          <a:xfrm>
            <a:off x="8534400" y="3726039"/>
            <a:ext cx="0" cy="379095"/>
          </a:xfrm>
          <a:custGeom>
            <a:avLst/>
            <a:gdLst/>
            <a:ahLst/>
            <a:cxnLst/>
            <a:rect l="l" t="t" r="r" b="b"/>
            <a:pathLst>
              <a:path h="379095">
                <a:moveTo>
                  <a:pt x="0" y="0"/>
                </a:moveTo>
                <a:lnTo>
                  <a:pt x="0" y="378968"/>
                </a:lnTo>
              </a:path>
            </a:pathLst>
          </a:custGeom>
          <a:ln w="6350">
            <a:solidFill>
              <a:srgbClr val="5B9BD3"/>
            </a:solidFill>
          </a:ln>
        </p:spPr>
        <p:txBody>
          <a:bodyPr wrap="square" lIns="0" tIns="0" rIns="0" bIns="0" rtlCol="0"/>
          <a:lstStyle/>
          <a:p>
            <a:endParaRPr/>
          </a:p>
        </p:txBody>
      </p:sp>
      <p:sp>
        <p:nvSpPr>
          <p:cNvPr id="49" name="object 47">
            <a:extLst>
              <a:ext uri="{FF2B5EF4-FFF2-40B4-BE49-F238E27FC236}">
                <a16:creationId xmlns:a16="http://schemas.microsoft.com/office/drawing/2014/main" id="{9E4B007D-BD6F-4FAE-AAB7-5761B6B690C4}"/>
              </a:ext>
            </a:extLst>
          </p:cNvPr>
          <p:cNvSpPr/>
          <p:nvPr/>
        </p:nvSpPr>
        <p:spPr>
          <a:xfrm>
            <a:off x="10297668" y="3726039"/>
            <a:ext cx="0" cy="377825"/>
          </a:xfrm>
          <a:custGeom>
            <a:avLst/>
            <a:gdLst/>
            <a:ahLst/>
            <a:cxnLst/>
            <a:rect l="l" t="t" r="r" b="b"/>
            <a:pathLst>
              <a:path h="377825">
                <a:moveTo>
                  <a:pt x="0" y="377545"/>
                </a:moveTo>
                <a:lnTo>
                  <a:pt x="0" y="0"/>
                </a:lnTo>
              </a:path>
            </a:pathLst>
          </a:custGeom>
          <a:ln w="6350">
            <a:solidFill>
              <a:srgbClr val="5B9BD3"/>
            </a:solidFill>
          </a:ln>
        </p:spPr>
        <p:txBody>
          <a:bodyPr wrap="square" lIns="0" tIns="0" rIns="0" bIns="0" rtlCol="0"/>
          <a:lstStyle/>
          <a:p>
            <a:endParaRPr/>
          </a:p>
        </p:txBody>
      </p:sp>
      <p:sp>
        <p:nvSpPr>
          <p:cNvPr id="50" name="object 48">
            <a:extLst>
              <a:ext uri="{FF2B5EF4-FFF2-40B4-BE49-F238E27FC236}">
                <a16:creationId xmlns:a16="http://schemas.microsoft.com/office/drawing/2014/main" id="{1F026FAE-0FDD-5DAD-8A82-9CEF12597AE7}"/>
              </a:ext>
            </a:extLst>
          </p:cNvPr>
          <p:cNvSpPr/>
          <p:nvPr/>
        </p:nvSpPr>
        <p:spPr>
          <a:xfrm>
            <a:off x="6897623" y="4105514"/>
            <a:ext cx="3401695" cy="0"/>
          </a:xfrm>
          <a:custGeom>
            <a:avLst/>
            <a:gdLst/>
            <a:ahLst/>
            <a:cxnLst/>
            <a:rect l="l" t="t" r="r" b="b"/>
            <a:pathLst>
              <a:path w="3401695">
                <a:moveTo>
                  <a:pt x="0" y="0"/>
                </a:moveTo>
                <a:lnTo>
                  <a:pt x="3401415" y="0"/>
                </a:lnTo>
              </a:path>
            </a:pathLst>
          </a:custGeom>
          <a:ln w="6350">
            <a:solidFill>
              <a:srgbClr val="5B9BD3"/>
            </a:solidFill>
          </a:ln>
        </p:spPr>
        <p:txBody>
          <a:bodyPr wrap="square" lIns="0" tIns="0" rIns="0" bIns="0" rtlCol="0"/>
          <a:lstStyle/>
          <a:p>
            <a:endParaRPr/>
          </a:p>
        </p:txBody>
      </p:sp>
      <p:sp>
        <p:nvSpPr>
          <p:cNvPr id="51" name="object 49">
            <a:extLst>
              <a:ext uri="{FF2B5EF4-FFF2-40B4-BE49-F238E27FC236}">
                <a16:creationId xmlns:a16="http://schemas.microsoft.com/office/drawing/2014/main" id="{41C08EF1-231D-A5E2-EEBF-6FB380566A68}"/>
              </a:ext>
            </a:extLst>
          </p:cNvPr>
          <p:cNvSpPr/>
          <p:nvPr/>
        </p:nvSpPr>
        <p:spPr>
          <a:xfrm>
            <a:off x="7444740" y="4105514"/>
            <a:ext cx="0" cy="153670"/>
          </a:xfrm>
          <a:custGeom>
            <a:avLst/>
            <a:gdLst/>
            <a:ahLst/>
            <a:cxnLst/>
            <a:rect l="l" t="t" r="r" b="b"/>
            <a:pathLst>
              <a:path h="153670">
                <a:moveTo>
                  <a:pt x="0" y="0"/>
                </a:moveTo>
                <a:lnTo>
                  <a:pt x="0" y="153301"/>
                </a:lnTo>
              </a:path>
            </a:pathLst>
          </a:custGeom>
          <a:ln w="6350">
            <a:solidFill>
              <a:srgbClr val="5B9BD3"/>
            </a:solidFill>
          </a:ln>
        </p:spPr>
        <p:txBody>
          <a:bodyPr wrap="square" lIns="0" tIns="0" rIns="0" bIns="0" rtlCol="0"/>
          <a:lstStyle/>
          <a:p>
            <a:endParaRPr/>
          </a:p>
        </p:txBody>
      </p:sp>
      <p:sp>
        <p:nvSpPr>
          <p:cNvPr id="52" name="object 50">
            <a:extLst>
              <a:ext uri="{FF2B5EF4-FFF2-40B4-BE49-F238E27FC236}">
                <a16:creationId xmlns:a16="http://schemas.microsoft.com/office/drawing/2014/main" id="{835B401E-7F12-2F9C-D0DF-A352EC3A7671}"/>
              </a:ext>
            </a:extLst>
          </p:cNvPr>
          <p:cNvSpPr/>
          <p:nvPr/>
        </p:nvSpPr>
        <p:spPr>
          <a:xfrm>
            <a:off x="9252204" y="4105514"/>
            <a:ext cx="0" cy="153670"/>
          </a:xfrm>
          <a:custGeom>
            <a:avLst/>
            <a:gdLst/>
            <a:ahLst/>
            <a:cxnLst/>
            <a:rect l="l" t="t" r="r" b="b"/>
            <a:pathLst>
              <a:path h="153670">
                <a:moveTo>
                  <a:pt x="0" y="0"/>
                </a:moveTo>
                <a:lnTo>
                  <a:pt x="0" y="153301"/>
                </a:lnTo>
              </a:path>
            </a:pathLst>
          </a:custGeom>
          <a:ln w="6350">
            <a:solidFill>
              <a:srgbClr val="5B9BD3"/>
            </a:solidFill>
          </a:ln>
        </p:spPr>
        <p:txBody>
          <a:bodyPr wrap="square" lIns="0" tIns="0" rIns="0" bIns="0" rtlCol="0"/>
          <a:lstStyle/>
          <a:p>
            <a:endParaRPr/>
          </a:p>
        </p:txBody>
      </p:sp>
      <p:sp>
        <p:nvSpPr>
          <p:cNvPr id="53" name="object 51">
            <a:extLst>
              <a:ext uri="{FF2B5EF4-FFF2-40B4-BE49-F238E27FC236}">
                <a16:creationId xmlns:a16="http://schemas.microsoft.com/office/drawing/2014/main" id="{7B442A00-1BE3-09DF-0045-257AC3B8274D}"/>
              </a:ext>
            </a:extLst>
          </p:cNvPr>
          <p:cNvSpPr txBox="1"/>
          <p:nvPr/>
        </p:nvSpPr>
        <p:spPr>
          <a:xfrm>
            <a:off x="6927875" y="5255941"/>
            <a:ext cx="2218055" cy="258404"/>
          </a:xfrm>
          <a:prstGeom prst="rect">
            <a:avLst/>
          </a:prstGeom>
        </p:spPr>
        <p:txBody>
          <a:bodyPr vert="horz" wrap="square" lIns="0" tIns="12065" rIns="0" bIns="0" rtlCol="0">
            <a:spAutoFit/>
          </a:bodyPr>
          <a:lstStyle/>
          <a:p>
            <a:pPr marL="12700">
              <a:lnSpc>
                <a:spcPct val="100000"/>
              </a:lnSpc>
              <a:spcBef>
                <a:spcPts val="95"/>
              </a:spcBef>
            </a:pPr>
            <a:r>
              <a:rPr sz="1600" spc="-5">
                <a:solidFill>
                  <a:srgbClr val="32007D"/>
                </a:solidFill>
                <a:latin typeface="Calibri"/>
                <a:cs typeface="Calibri"/>
              </a:rPr>
              <a:t>Other issuer types</a:t>
            </a:r>
            <a:r>
              <a:rPr sz="1600" spc="-85">
                <a:solidFill>
                  <a:srgbClr val="32007D"/>
                </a:solidFill>
                <a:latin typeface="Calibri"/>
                <a:cs typeface="Calibri"/>
              </a:rPr>
              <a:t> </a:t>
            </a:r>
            <a:r>
              <a:rPr sz="1600" spc="-10">
                <a:solidFill>
                  <a:srgbClr val="32007D"/>
                </a:solidFill>
                <a:latin typeface="Calibri"/>
                <a:cs typeface="Calibri"/>
              </a:rPr>
              <a:t>include:</a:t>
            </a:r>
            <a:endParaRPr sz="1600">
              <a:solidFill>
                <a:srgbClr val="32007D"/>
              </a:solidFill>
              <a:latin typeface="Calibri"/>
              <a:cs typeface="Calibri"/>
            </a:endParaRPr>
          </a:p>
        </p:txBody>
      </p:sp>
      <p:sp>
        <p:nvSpPr>
          <p:cNvPr id="54" name="object 52">
            <a:extLst>
              <a:ext uri="{FF2B5EF4-FFF2-40B4-BE49-F238E27FC236}">
                <a16:creationId xmlns:a16="http://schemas.microsoft.com/office/drawing/2014/main" id="{93AF6D44-1F35-422C-974A-255741567B71}"/>
              </a:ext>
            </a:extLst>
          </p:cNvPr>
          <p:cNvSpPr txBox="1"/>
          <p:nvPr/>
        </p:nvSpPr>
        <p:spPr>
          <a:xfrm>
            <a:off x="7339340" y="5499780"/>
            <a:ext cx="2314575" cy="1000760"/>
          </a:xfrm>
          <a:prstGeom prst="rect">
            <a:avLst/>
          </a:prstGeom>
        </p:spPr>
        <p:txBody>
          <a:bodyPr vert="horz" wrap="square" lIns="0" tIns="12065" rIns="0" bIns="0" rtlCol="0">
            <a:spAutoFit/>
          </a:bodyPr>
          <a:lstStyle/>
          <a:p>
            <a:pPr marL="355600" indent="-343535">
              <a:lnSpc>
                <a:spcPct val="100000"/>
              </a:lnSpc>
              <a:spcBef>
                <a:spcPts val="95"/>
              </a:spcBef>
              <a:buFont typeface="Arial"/>
              <a:buChar char="•"/>
              <a:tabLst>
                <a:tab pos="354965" algn="l"/>
                <a:tab pos="356235" algn="l"/>
              </a:tabLst>
            </a:pPr>
            <a:r>
              <a:rPr sz="1600" spc="-25">
                <a:solidFill>
                  <a:srgbClr val="32007D"/>
                </a:solidFill>
                <a:latin typeface="Calibri"/>
                <a:cs typeface="Calibri"/>
              </a:rPr>
              <a:t>Sovereign Central</a:t>
            </a:r>
            <a:r>
              <a:rPr sz="1600" spc="10">
                <a:solidFill>
                  <a:srgbClr val="32007D"/>
                </a:solidFill>
                <a:latin typeface="Calibri"/>
                <a:cs typeface="Calibri"/>
              </a:rPr>
              <a:t> </a:t>
            </a:r>
            <a:r>
              <a:rPr sz="1600" spc="-20">
                <a:solidFill>
                  <a:srgbClr val="32007D"/>
                </a:solidFill>
                <a:latin typeface="Calibri"/>
                <a:cs typeface="Calibri"/>
              </a:rPr>
              <a:t>Banks</a:t>
            </a:r>
            <a:endParaRPr sz="1600">
              <a:solidFill>
                <a:srgbClr val="32007D"/>
              </a:solidFill>
              <a:latin typeface="Calibri"/>
              <a:cs typeface="Calibri"/>
            </a:endParaRPr>
          </a:p>
          <a:p>
            <a:pPr marL="355600" indent="-343535">
              <a:lnSpc>
                <a:spcPct val="100000"/>
              </a:lnSpc>
              <a:buFont typeface="Arial"/>
              <a:buChar char="•"/>
              <a:tabLst>
                <a:tab pos="354965" algn="l"/>
                <a:tab pos="356235" algn="l"/>
              </a:tabLst>
            </a:pPr>
            <a:r>
              <a:rPr sz="1600" spc="-25">
                <a:solidFill>
                  <a:srgbClr val="32007D"/>
                </a:solidFill>
                <a:latin typeface="Calibri"/>
                <a:cs typeface="Calibri"/>
              </a:rPr>
              <a:t>Corporate</a:t>
            </a:r>
            <a:endParaRPr sz="1600">
              <a:solidFill>
                <a:srgbClr val="32007D"/>
              </a:solidFill>
              <a:latin typeface="Calibri"/>
              <a:cs typeface="Calibri"/>
            </a:endParaRPr>
          </a:p>
          <a:p>
            <a:pPr marL="355600" indent="-343535">
              <a:lnSpc>
                <a:spcPct val="100000"/>
              </a:lnSpc>
              <a:buFont typeface="Arial"/>
              <a:buChar char="•"/>
              <a:tabLst>
                <a:tab pos="354965" algn="l"/>
                <a:tab pos="356235" algn="l"/>
              </a:tabLst>
            </a:pPr>
            <a:r>
              <a:rPr sz="1600" spc="-20">
                <a:solidFill>
                  <a:srgbClr val="32007D"/>
                </a:solidFill>
                <a:latin typeface="Calibri"/>
                <a:cs typeface="Calibri"/>
              </a:rPr>
              <a:t>Supranational</a:t>
            </a:r>
            <a:r>
              <a:rPr sz="1600" spc="-45">
                <a:solidFill>
                  <a:srgbClr val="32007D"/>
                </a:solidFill>
                <a:latin typeface="Calibri"/>
                <a:cs typeface="Calibri"/>
              </a:rPr>
              <a:t> </a:t>
            </a:r>
            <a:r>
              <a:rPr sz="1600" spc="-25">
                <a:solidFill>
                  <a:srgbClr val="32007D"/>
                </a:solidFill>
                <a:latin typeface="Calibri"/>
                <a:cs typeface="Calibri"/>
              </a:rPr>
              <a:t>Debt</a:t>
            </a:r>
            <a:endParaRPr sz="1600">
              <a:solidFill>
                <a:srgbClr val="32007D"/>
              </a:solidFill>
              <a:latin typeface="Calibri"/>
              <a:cs typeface="Calibri"/>
            </a:endParaRPr>
          </a:p>
          <a:p>
            <a:pPr marL="355600" indent="-343535">
              <a:lnSpc>
                <a:spcPct val="100000"/>
              </a:lnSpc>
              <a:buFont typeface="Arial"/>
              <a:buChar char="•"/>
              <a:tabLst>
                <a:tab pos="354965" algn="l"/>
                <a:tab pos="356235" algn="l"/>
              </a:tabLst>
            </a:pPr>
            <a:r>
              <a:rPr sz="1600" spc="-20">
                <a:solidFill>
                  <a:srgbClr val="32007D"/>
                </a:solidFill>
                <a:latin typeface="Calibri"/>
                <a:cs typeface="Calibri"/>
              </a:rPr>
              <a:t>SPV </a:t>
            </a:r>
            <a:r>
              <a:rPr sz="1600" spc="-5">
                <a:solidFill>
                  <a:srgbClr val="32007D"/>
                </a:solidFill>
                <a:latin typeface="Calibri"/>
                <a:cs typeface="Calibri"/>
              </a:rPr>
              <a:t>and</a:t>
            </a:r>
            <a:r>
              <a:rPr sz="1600" spc="-15">
                <a:solidFill>
                  <a:srgbClr val="32007D"/>
                </a:solidFill>
                <a:latin typeface="Calibri"/>
                <a:cs typeface="Calibri"/>
              </a:rPr>
              <a:t> </a:t>
            </a:r>
            <a:r>
              <a:rPr sz="1600" spc="-5">
                <a:solidFill>
                  <a:srgbClr val="32007D"/>
                </a:solidFill>
                <a:latin typeface="Calibri"/>
                <a:cs typeface="Calibri"/>
              </a:rPr>
              <a:t>Funds</a:t>
            </a:r>
            <a:endParaRPr sz="1600">
              <a:solidFill>
                <a:srgbClr val="32007D"/>
              </a:solidFill>
              <a:latin typeface="Calibri"/>
              <a:cs typeface="Calibri"/>
            </a:endParaRPr>
          </a:p>
        </p:txBody>
      </p:sp>
      <p:sp>
        <p:nvSpPr>
          <p:cNvPr id="55" name="object 53">
            <a:extLst>
              <a:ext uri="{FF2B5EF4-FFF2-40B4-BE49-F238E27FC236}">
                <a16:creationId xmlns:a16="http://schemas.microsoft.com/office/drawing/2014/main" id="{85FC8608-350D-993C-CD7B-1D023BF5B7F3}"/>
              </a:ext>
            </a:extLst>
          </p:cNvPr>
          <p:cNvSpPr txBox="1"/>
          <p:nvPr/>
        </p:nvSpPr>
        <p:spPr>
          <a:xfrm>
            <a:off x="1494716" y="4973997"/>
            <a:ext cx="2808605" cy="1000760"/>
          </a:xfrm>
          <a:prstGeom prst="rect">
            <a:avLst/>
          </a:prstGeom>
        </p:spPr>
        <p:txBody>
          <a:bodyPr vert="horz" wrap="square" lIns="0" tIns="12065" rIns="0" bIns="0" rtlCol="0">
            <a:spAutoFit/>
          </a:bodyPr>
          <a:lstStyle/>
          <a:p>
            <a:pPr marL="12700" marR="5080">
              <a:lnSpc>
                <a:spcPct val="100000"/>
              </a:lnSpc>
              <a:spcBef>
                <a:spcPts val="95"/>
              </a:spcBef>
            </a:pPr>
            <a:r>
              <a:rPr sz="1600" spc="-5">
                <a:solidFill>
                  <a:srgbClr val="32007D"/>
                </a:solidFill>
                <a:latin typeface="Calibri"/>
                <a:cs typeface="Calibri"/>
              </a:rPr>
              <a:t>With the functional </a:t>
            </a:r>
            <a:r>
              <a:rPr sz="1600" spc="-10">
                <a:solidFill>
                  <a:srgbClr val="32007D"/>
                </a:solidFill>
                <a:latin typeface="Calibri"/>
                <a:cs typeface="Calibri"/>
              </a:rPr>
              <a:t>flexibility </a:t>
            </a:r>
            <a:r>
              <a:rPr sz="1600" spc="-25">
                <a:solidFill>
                  <a:srgbClr val="32007D"/>
                </a:solidFill>
                <a:latin typeface="Calibri"/>
                <a:cs typeface="Calibri"/>
              </a:rPr>
              <a:t>to  capture </a:t>
            </a:r>
            <a:r>
              <a:rPr sz="1600" spc="-20">
                <a:solidFill>
                  <a:srgbClr val="32007D"/>
                </a:solidFill>
                <a:latin typeface="Calibri"/>
                <a:cs typeface="Calibri"/>
              </a:rPr>
              <a:t>detail </a:t>
            </a:r>
            <a:r>
              <a:rPr sz="1600" spc="-5">
                <a:solidFill>
                  <a:srgbClr val="32007D"/>
                </a:solidFill>
                <a:latin typeface="Calibri"/>
                <a:cs typeface="Calibri"/>
              </a:rPr>
              <a:t>of </a:t>
            </a:r>
            <a:r>
              <a:rPr sz="1600">
                <a:solidFill>
                  <a:srgbClr val="32007D"/>
                </a:solidFill>
                <a:latin typeface="Calibri"/>
                <a:cs typeface="Calibri"/>
              </a:rPr>
              <a:t>its </a:t>
            </a:r>
            <a:r>
              <a:rPr sz="1600" spc="-5">
                <a:solidFill>
                  <a:srgbClr val="32007D"/>
                </a:solidFill>
                <a:latin typeface="Calibri"/>
                <a:cs typeface="Calibri"/>
              </a:rPr>
              <a:t>identity  </a:t>
            </a:r>
            <a:r>
              <a:rPr sz="1600" spc="-10">
                <a:solidFill>
                  <a:srgbClr val="32007D"/>
                </a:solidFill>
                <a:latin typeface="Calibri"/>
                <a:cs typeface="Calibri"/>
              </a:rPr>
              <a:t>including specific </a:t>
            </a:r>
            <a:r>
              <a:rPr sz="1600" spc="-5">
                <a:solidFill>
                  <a:srgbClr val="32007D"/>
                </a:solidFill>
                <a:latin typeface="Calibri"/>
                <a:cs typeface="Calibri"/>
              </a:rPr>
              <a:t>issuer name</a:t>
            </a:r>
            <a:r>
              <a:rPr sz="1600" spc="-125">
                <a:solidFill>
                  <a:srgbClr val="32007D"/>
                </a:solidFill>
                <a:latin typeface="Calibri"/>
                <a:cs typeface="Calibri"/>
              </a:rPr>
              <a:t> </a:t>
            </a:r>
            <a:r>
              <a:rPr sz="1600" spc="-5">
                <a:solidFill>
                  <a:srgbClr val="32007D"/>
                </a:solidFill>
                <a:latin typeface="Calibri"/>
                <a:cs typeface="Calibri"/>
              </a:rPr>
              <a:t>and  use of </a:t>
            </a:r>
            <a:r>
              <a:rPr sz="1600" spc="-20">
                <a:solidFill>
                  <a:srgbClr val="32007D"/>
                </a:solidFill>
                <a:latin typeface="Calibri"/>
                <a:cs typeface="Calibri"/>
              </a:rPr>
              <a:t>common</a:t>
            </a:r>
            <a:r>
              <a:rPr sz="1600" spc="35">
                <a:solidFill>
                  <a:srgbClr val="32007D"/>
                </a:solidFill>
                <a:latin typeface="Calibri"/>
                <a:cs typeface="Calibri"/>
              </a:rPr>
              <a:t> </a:t>
            </a:r>
            <a:r>
              <a:rPr sz="1600" spc="-10">
                <a:solidFill>
                  <a:srgbClr val="32007D"/>
                </a:solidFill>
                <a:latin typeface="Calibri"/>
                <a:cs typeface="Calibri"/>
              </a:rPr>
              <a:t>identifiers</a:t>
            </a:r>
            <a:endParaRPr sz="1600">
              <a:solidFill>
                <a:srgbClr val="32007D"/>
              </a:solidFill>
              <a:latin typeface="Calibri"/>
              <a:cs typeface="Calibri"/>
            </a:endParaRPr>
          </a:p>
        </p:txBody>
      </p:sp>
    </p:spTree>
    <p:extLst>
      <p:ext uri="{BB962C8B-B14F-4D97-AF65-F5344CB8AC3E}">
        <p14:creationId xmlns:p14="http://schemas.microsoft.com/office/powerpoint/2010/main" val="14710158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Collateral- CDM Eligibility Schedules Representation</a:t>
            </a:r>
            <a:endPar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endParaRP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46782"/>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56" name="object 2">
            <a:extLst>
              <a:ext uri="{FF2B5EF4-FFF2-40B4-BE49-F238E27FC236}">
                <a16:creationId xmlns:a16="http://schemas.microsoft.com/office/drawing/2014/main" id="{44C842CD-43FA-D226-7626-4AC85290F150}"/>
              </a:ext>
            </a:extLst>
          </p:cNvPr>
          <p:cNvSpPr txBox="1"/>
          <p:nvPr/>
        </p:nvSpPr>
        <p:spPr>
          <a:xfrm>
            <a:off x="732938" y="1181229"/>
            <a:ext cx="9311640" cy="711200"/>
          </a:xfrm>
          <a:prstGeom prst="rect">
            <a:avLst/>
          </a:prstGeom>
        </p:spPr>
        <p:txBody>
          <a:bodyPr vert="horz" wrap="square" lIns="0" tIns="12700" rIns="0" bIns="0" rtlCol="0">
            <a:spAutoFit/>
          </a:bodyPr>
          <a:lstStyle/>
          <a:p>
            <a:pPr marL="12700" marR="5080" algn="just">
              <a:lnSpc>
                <a:spcPct val="100000"/>
              </a:lnSpc>
              <a:spcBef>
                <a:spcPts val="100"/>
              </a:spcBef>
            </a:pPr>
            <a:r>
              <a:rPr sz="1500" b="1" spc="-5">
                <a:solidFill>
                  <a:srgbClr val="32007D"/>
                </a:solidFill>
                <a:latin typeface="Calibri"/>
                <a:cs typeface="Calibri"/>
              </a:rPr>
              <a:t>CDM </a:t>
            </a:r>
            <a:r>
              <a:rPr sz="1500" b="1" spc="-20">
                <a:solidFill>
                  <a:srgbClr val="32007D"/>
                </a:solidFill>
                <a:latin typeface="Calibri"/>
                <a:cs typeface="Calibri"/>
              </a:rPr>
              <a:t>offers standard data references </a:t>
            </a:r>
            <a:r>
              <a:rPr sz="1500" b="1" spc="-10">
                <a:solidFill>
                  <a:srgbClr val="32007D"/>
                </a:solidFill>
                <a:latin typeface="Calibri"/>
                <a:cs typeface="Calibri"/>
              </a:rPr>
              <a:t>points </a:t>
            </a:r>
            <a:r>
              <a:rPr sz="1500" b="1" spc="-20">
                <a:solidFill>
                  <a:srgbClr val="32007D"/>
                </a:solidFill>
                <a:latin typeface="Calibri"/>
                <a:cs typeface="Calibri"/>
              </a:rPr>
              <a:t>required for </a:t>
            </a:r>
            <a:r>
              <a:rPr sz="1500" b="1" spc="-15">
                <a:solidFill>
                  <a:srgbClr val="32007D"/>
                </a:solidFill>
                <a:latin typeface="Calibri"/>
                <a:cs typeface="Calibri"/>
              </a:rPr>
              <a:t>many </a:t>
            </a:r>
            <a:r>
              <a:rPr sz="1500" b="1" spc="-10">
                <a:solidFill>
                  <a:srgbClr val="32007D"/>
                </a:solidFill>
                <a:latin typeface="Calibri"/>
                <a:cs typeface="Calibri"/>
              </a:rPr>
              <a:t>industry </a:t>
            </a:r>
            <a:r>
              <a:rPr sz="1500" b="1" spc="-15">
                <a:solidFill>
                  <a:srgbClr val="32007D"/>
                </a:solidFill>
                <a:latin typeface="Calibri"/>
                <a:cs typeface="Calibri"/>
              </a:rPr>
              <a:t>forms </a:t>
            </a:r>
            <a:r>
              <a:rPr sz="1500" b="1" spc="-5">
                <a:solidFill>
                  <a:srgbClr val="32007D"/>
                </a:solidFill>
                <a:latin typeface="Calibri"/>
                <a:cs typeface="Calibri"/>
              </a:rPr>
              <a:t>of </a:t>
            </a:r>
            <a:r>
              <a:rPr sz="1500" b="1" spc="-15">
                <a:solidFill>
                  <a:srgbClr val="32007D"/>
                </a:solidFill>
                <a:latin typeface="Calibri"/>
                <a:cs typeface="Calibri"/>
              </a:rPr>
              <a:t>ECS. </a:t>
            </a:r>
            <a:r>
              <a:rPr sz="1500" b="1" spc="-5">
                <a:solidFill>
                  <a:srgbClr val="32007D"/>
                </a:solidFill>
                <a:latin typeface="Calibri"/>
                <a:cs typeface="Calibri"/>
              </a:rPr>
              <a:t>The </a:t>
            </a:r>
            <a:r>
              <a:rPr sz="1500" b="1" spc="-15">
                <a:solidFill>
                  <a:srgbClr val="32007D"/>
                </a:solidFill>
                <a:latin typeface="Calibri"/>
                <a:cs typeface="Calibri"/>
              </a:rPr>
              <a:t>structure </a:t>
            </a:r>
            <a:r>
              <a:rPr sz="1500" b="1" spc="-10">
                <a:solidFill>
                  <a:srgbClr val="32007D"/>
                </a:solidFill>
                <a:latin typeface="Calibri"/>
                <a:cs typeface="Calibri"/>
              </a:rPr>
              <a:t>enables </a:t>
            </a:r>
            <a:r>
              <a:rPr sz="1500" b="1" spc="-20">
                <a:solidFill>
                  <a:srgbClr val="32007D"/>
                </a:solidFill>
                <a:latin typeface="Calibri"/>
                <a:cs typeface="Calibri"/>
              </a:rPr>
              <a:t>consistent  expression </a:t>
            </a:r>
            <a:r>
              <a:rPr sz="1500" b="1" spc="-5">
                <a:solidFill>
                  <a:srgbClr val="32007D"/>
                </a:solidFill>
                <a:latin typeface="Calibri"/>
                <a:cs typeface="Calibri"/>
              </a:rPr>
              <a:t>of </a:t>
            </a:r>
            <a:r>
              <a:rPr sz="1500" b="1" spc="-20">
                <a:solidFill>
                  <a:srgbClr val="32007D"/>
                </a:solidFill>
                <a:latin typeface="Calibri"/>
                <a:cs typeface="Calibri"/>
              </a:rPr>
              <a:t>data </a:t>
            </a:r>
            <a:r>
              <a:rPr sz="1500" b="1" spc="-5">
                <a:solidFill>
                  <a:srgbClr val="32007D"/>
                </a:solidFill>
                <a:latin typeface="Calibri"/>
                <a:cs typeface="Calibri"/>
              </a:rPr>
              <a:t>with </a:t>
            </a:r>
            <a:r>
              <a:rPr sz="1500" b="1" spc="-10">
                <a:solidFill>
                  <a:srgbClr val="32007D"/>
                </a:solidFill>
                <a:latin typeface="Calibri"/>
                <a:cs typeface="Calibri"/>
              </a:rPr>
              <a:t>the ability </a:t>
            </a:r>
            <a:r>
              <a:rPr sz="1500" b="1" spc="-15">
                <a:solidFill>
                  <a:srgbClr val="32007D"/>
                </a:solidFill>
                <a:latin typeface="Calibri"/>
                <a:cs typeface="Calibri"/>
              </a:rPr>
              <a:t>to </a:t>
            </a:r>
            <a:r>
              <a:rPr sz="1500" b="1" spc="-10">
                <a:solidFill>
                  <a:srgbClr val="32007D"/>
                </a:solidFill>
                <a:latin typeface="Calibri"/>
                <a:cs typeface="Calibri"/>
              </a:rPr>
              <a:t>apply </a:t>
            </a:r>
            <a:r>
              <a:rPr sz="1500" b="1" spc="-20">
                <a:solidFill>
                  <a:srgbClr val="32007D"/>
                </a:solidFill>
                <a:latin typeface="Calibri"/>
                <a:cs typeface="Calibri"/>
              </a:rPr>
              <a:t>various include/exclude </a:t>
            </a:r>
            <a:r>
              <a:rPr sz="1500" b="1" spc="-10">
                <a:solidFill>
                  <a:srgbClr val="32007D"/>
                </a:solidFill>
                <a:latin typeface="Calibri"/>
                <a:cs typeface="Calibri"/>
              </a:rPr>
              <a:t>rules and </a:t>
            </a:r>
            <a:r>
              <a:rPr sz="1500" b="1" spc="-20">
                <a:solidFill>
                  <a:srgbClr val="32007D"/>
                </a:solidFill>
                <a:latin typeface="Calibri"/>
                <a:cs typeface="Calibri"/>
              </a:rPr>
              <a:t>complex concentration </a:t>
            </a:r>
            <a:r>
              <a:rPr sz="1500" b="1" spc="-5">
                <a:solidFill>
                  <a:srgbClr val="32007D"/>
                </a:solidFill>
                <a:latin typeface="Calibri"/>
                <a:cs typeface="Calibri"/>
              </a:rPr>
              <a:t>limits. </a:t>
            </a:r>
            <a:r>
              <a:rPr sz="1500" b="1" spc="-25">
                <a:solidFill>
                  <a:srgbClr val="32007D"/>
                </a:solidFill>
                <a:latin typeface="Calibri"/>
                <a:cs typeface="Calibri"/>
              </a:rPr>
              <a:t>ISDA </a:t>
            </a:r>
            <a:r>
              <a:rPr sz="1500" b="1" spc="-5">
                <a:solidFill>
                  <a:srgbClr val="32007D"/>
                </a:solidFill>
                <a:latin typeface="Calibri"/>
                <a:cs typeface="Calibri"/>
              </a:rPr>
              <a:t>has  </a:t>
            </a:r>
            <a:r>
              <a:rPr sz="1500" b="1" spc="-25">
                <a:solidFill>
                  <a:srgbClr val="32007D"/>
                </a:solidFill>
                <a:latin typeface="Calibri"/>
                <a:cs typeface="Calibri"/>
              </a:rPr>
              <a:t>demonstrated </a:t>
            </a:r>
            <a:r>
              <a:rPr sz="1500" b="1" spc="-20">
                <a:solidFill>
                  <a:srgbClr val="32007D"/>
                </a:solidFill>
                <a:latin typeface="Calibri"/>
                <a:cs typeface="Calibri"/>
              </a:rPr>
              <a:t>translation </a:t>
            </a:r>
            <a:r>
              <a:rPr sz="1500" b="1" spc="-5">
                <a:solidFill>
                  <a:srgbClr val="32007D"/>
                </a:solidFill>
                <a:latin typeface="Calibri"/>
                <a:cs typeface="Calibri"/>
              </a:rPr>
              <a:t>of </a:t>
            </a:r>
            <a:r>
              <a:rPr sz="1500" b="1" spc="-25">
                <a:solidFill>
                  <a:srgbClr val="32007D"/>
                </a:solidFill>
                <a:latin typeface="Calibri"/>
                <a:cs typeface="Calibri"/>
              </a:rPr>
              <a:t>several </a:t>
            </a:r>
            <a:r>
              <a:rPr sz="1500" b="1" spc="-20">
                <a:solidFill>
                  <a:srgbClr val="32007D"/>
                </a:solidFill>
                <a:latin typeface="Calibri"/>
                <a:cs typeface="Calibri"/>
              </a:rPr>
              <a:t>ECS </a:t>
            </a:r>
            <a:r>
              <a:rPr sz="1500" b="1" spc="-15">
                <a:solidFill>
                  <a:srgbClr val="32007D"/>
                </a:solidFill>
                <a:latin typeface="Calibri"/>
                <a:cs typeface="Calibri"/>
              </a:rPr>
              <a:t>provided by </a:t>
            </a:r>
            <a:r>
              <a:rPr sz="1500" b="1" spc="-5">
                <a:solidFill>
                  <a:srgbClr val="32007D"/>
                </a:solidFill>
                <a:latin typeface="Calibri"/>
                <a:cs typeface="Calibri"/>
              </a:rPr>
              <a:t>members </a:t>
            </a:r>
            <a:r>
              <a:rPr sz="1500" b="1" spc="-20">
                <a:solidFill>
                  <a:srgbClr val="32007D"/>
                </a:solidFill>
                <a:latin typeface="Calibri"/>
                <a:cs typeface="Calibri"/>
              </a:rPr>
              <a:t>into </a:t>
            </a:r>
            <a:r>
              <a:rPr sz="1500" b="1" spc="-10">
                <a:solidFill>
                  <a:srgbClr val="32007D"/>
                </a:solidFill>
                <a:latin typeface="Calibri"/>
                <a:cs typeface="Calibri"/>
              </a:rPr>
              <a:t>digital</a:t>
            </a:r>
            <a:r>
              <a:rPr sz="1500" b="1" spc="-20">
                <a:solidFill>
                  <a:srgbClr val="32007D"/>
                </a:solidFill>
                <a:latin typeface="Calibri"/>
                <a:cs typeface="Calibri"/>
              </a:rPr>
              <a:t> </a:t>
            </a:r>
            <a:r>
              <a:rPr sz="1500" b="1" spc="-5">
                <a:solidFill>
                  <a:srgbClr val="32007D"/>
                </a:solidFill>
                <a:latin typeface="Calibri"/>
                <a:cs typeface="Calibri"/>
              </a:rPr>
              <a:t>output</a:t>
            </a:r>
            <a:endParaRPr sz="1500">
              <a:solidFill>
                <a:srgbClr val="32007D"/>
              </a:solidFill>
              <a:latin typeface="Calibri"/>
              <a:cs typeface="Calibri"/>
            </a:endParaRPr>
          </a:p>
        </p:txBody>
      </p:sp>
      <p:pic>
        <p:nvPicPr>
          <p:cNvPr id="67" name="Picture 66">
            <a:extLst>
              <a:ext uri="{FF2B5EF4-FFF2-40B4-BE49-F238E27FC236}">
                <a16:creationId xmlns:a16="http://schemas.microsoft.com/office/drawing/2014/main" id="{A8AB81E8-0313-3BBB-9B65-FDF09CFC5356}"/>
              </a:ext>
            </a:extLst>
          </p:cNvPr>
          <p:cNvPicPr>
            <a:picLocks noChangeAspect="1"/>
          </p:cNvPicPr>
          <p:nvPr/>
        </p:nvPicPr>
        <p:blipFill>
          <a:blip r:embed="rId4"/>
          <a:stretch>
            <a:fillRect/>
          </a:stretch>
        </p:blipFill>
        <p:spPr>
          <a:xfrm>
            <a:off x="732938" y="1941598"/>
            <a:ext cx="10198965" cy="4734820"/>
          </a:xfrm>
          <a:prstGeom prst="rect">
            <a:avLst/>
          </a:prstGeom>
        </p:spPr>
      </p:pic>
    </p:spTree>
    <p:extLst>
      <p:ext uri="{BB962C8B-B14F-4D97-AF65-F5344CB8AC3E}">
        <p14:creationId xmlns:p14="http://schemas.microsoft.com/office/powerpoint/2010/main" val="410733949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Collateral- Eligible Collateral Schedules</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10" name="object 3">
            <a:extLst>
              <a:ext uri="{FF2B5EF4-FFF2-40B4-BE49-F238E27FC236}">
                <a16:creationId xmlns:a16="http://schemas.microsoft.com/office/drawing/2014/main" id="{B769B1CC-C454-6E5A-815A-612EA2289DDA}"/>
              </a:ext>
            </a:extLst>
          </p:cNvPr>
          <p:cNvSpPr/>
          <p:nvPr/>
        </p:nvSpPr>
        <p:spPr>
          <a:xfrm>
            <a:off x="527353" y="1342965"/>
            <a:ext cx="10814050" cy="824230"/>
          </a:xfrm>
          <a:custGeom>
            <a:avLst/>
            <a:gdLst/>
            <a:ahLst/>
            <a:cxnLst/>
            <a:rect l="l" t="t" r="r" b="b"/>
            <a:pathLst>
              <a:path w="10814050" h="824230">
                <a:moveTo>
                  <a:pt x="10676509" y="0"/>
                </a:moveTo>
                <a:lnTo>
                  <a:pt x="137401" y="0"/>
                </a:lnTo>
                <a:lnTo>
                  <a:pt x="93967" y="6997"/>
                </a:lnTo>
                <a:lnTo>
                  <a:pt x="56248" y="26504"/>
                </a:lnTo>
                <a:lnTo>
                  <a:pt x="26504" y="56235"/>
                </a:lnTo>
                <a:lnTo>
                  <a:pt x="6997" y="93941"/>
                </a:lnTo>
                <a:lnTo>
                  <a:pt x="0" y="137350"/>
                </a:lnTo>
                <a:lnTo>
                  <a:pt x="0" y="686752"/>
                </a:lnTo>
                <a:lnTo>
                  <a:pt x="6997" y="730161"/>
                </a:lnTo>
                <a:lnTo>
                  <a:pt x="26504" y="767867"/>
                </a:lnTo>
                <a:lnTo>
                  <a:pt x="56248" y="797598"/>
                </a:lnTo>
                <a:lnTo>
                  <a:pt x="93967" y="817105"/>
                </a:lnTo>
                <a:lnTo>
                  <a:pt x="137401" y="824103"/>
                </a:lnTo>
                <a:lnTo>
                  <a:pt x="10676509" y="824103"/>
                </a:lnTo>
                <a:lnTo>
                  <a:pt x="10719942" y="817105"/>
                </a:lnTo>
                <a:lnTo>
                  <a:pt x="10757662" y="797598"/>
                </a:lnTo>
                <a:lnTo>
                  <a:pt x="10787405" y="767867"/>
                </a:lnTo>
                <a:lnTo>
                  <a:pt x="10806912" y="730161"/>
                </a:lnTo>
                <a:lnTo>
                  <a:pt x="10813923" y="686752"/>
                </a:lnTo>
                <a:lnTo>
                  <a:pt x="10813923" y="137350"/>
                </a:lnTo>
                <a:lnTo>
                  <a:pt x="10806912" y="93941"/>
                </a:lnTo>
                <a:lnTo>
                  <a:pt x="10787405" y="56235"/>
                </a:lnTo>
                <a:lnTo>
                  <a:pt x="10757662" y="26504"/>
                </a:lnTo>
                <a:lnTo>
                  <a:pt x="10719942" y="6997"/>
                </a:lnTo>
                <a:lnTo>
                  <a:pt x="10676509" y="0"/>
                </a:lnTo>
                <a:close/>
              </a:path>
            </a:pathLst>
          </a:custGeom>
          <a:solidFill>
            <a:srgbClr val="2D5395"/>
          </a:solidFill>
        </p:spPr>
        <p:txBody>
          <a:bodyPr wrap="square" lIns="0" tIns="0" rIns="0" bIns="0" rtlCol="0"/>
          <a:lstStyle/>
          <a:p>
            <a:r>
              <a:rPr lang="en-US">
                <a:solidFill>
                  <a:srgbClr val="FFFFFF"/>
                </a:solidFill>
                <a:cs typeface="Calibri"/>
              </a:rPr>
              <a:t> An </a:t>
            </a:r>
            <a:r>
              <a:rPr lang="en-US" spc="-5">
                <a:solidFill>
                  <a:srgbClr val="FFFFFF"/>
                </a:solidFill>
                <a:cs typeface="Calibri"/>
              </a:rPr>
              <a:t>Eligible </a:t>
            </a:r>
            <a:r>
              <a:rPr lang="en-US" spc="-25">
                <a:solidFill>
                  <a:srgbClr val="FFFFFF"/>
                </a:solidFill>
                <a:cs typeface="Calibri"/>
              </a:rPr>
              <a:t>Collateral </a:t>
            </a:r>
            <a:r>
              <a:rPr lang="en-US" spc="-5">
                <a:solidFill>
                  <a:srgbClr val="FFFFFF"/>
                </a:solidFill>
                <a:cs typeface="Calibri"/>
              </a:rPr>
              <a:t>Schedule is </a:t>
            </a:r>
            <a:r>
              <a:rPr lang="en-US" spc="-20">
                <a:solidFill>
                  <a:srgbClr val="FFFFFF"/>
                </a:solidFill>
                <a:cs typeface="Calibri"/>
              </a:rPr>
              <a:t>represented </a:t>
            </a:r>
            <a:r>
              <a:rPr lang="en-US" spc="-5">
                <a:solidFill>
                  <a:srgbClr val="FFFFFF"/>
                </a:solidFill>
                <a:cs typeface="Calibri"/>
              </a:rPr>
              <a:t>in the CDM </a:t>
            </a:r>
            <a:r>
              <a:rPr lang="en-US" spc="-15">
                <a:solidFill>
                  <a:srgbClr val="FFFFFF"/>
                </a:solidFill>
                <a:cs typeface="Calibri"/>
              </a:rPr>
              <a:t>through </a:t>
            </a:r>
            <a:r>
              <a:rPr lang="en-US" spc="-5">
                <a:solidFill>
                  <a:srgbClr val="FFFFFF"/>
                </a:solidFill>
                <a:cs typeface="Calibri"/>
              </a:rPr>
              <a:t>the </a:t>
            </a:r>
            <a:r>
              <a:rPr lang="en-US" spc="-20">
                <a:solidFill>
                  <a:srgbClr val="FFFFFF"/>
                </a:solidFill>
                <a:cs typeface="Calibri"/>
              </a:rPr>
              <a:t>specification </a:t>
            </a:r>
            <a:r>
              <a:rPr lang="en-US" spc="-5">
                <a:solidFill>
                  <a:srgbClr val="FFFFFF"/>
                </a:solidFill>
                <a:cs typeface="Calibri"/>
              </a:rPr>
              <a:t>of </a:t>
            </a:r>
            <a:r>
              <a:rPr lang="en-US" spc="-20">
                <a:solidFill>
                  <a:srgbClr val="FFFFFF"/>
                </a:solidFill>
                <a:cs typeface="Calibri"/>
              </a:rPr>
              <a:t>criteria </a:t>
            </a:r>
            <a:r>
              <a:rPr lang="en-US" spc="-5">
                <a:solidFill>
                  <a:srgbClr val="FFFFFF"/>
                </a:solidFill>
                <a:cs typeface="Calibri"/>
              </a:rPr>
              <a:t>that </a:t>
            </a:r>
            <a:r>
              <a:rPr lang="en-US" spc="-15">
                <a:solidFill>
                  <a:srgbClr val="FFFFFF"/>
                </a:solidFill>
                <a:cs typeface="Calibri"/>
              </a:rPr>
              <a:t>can </a:t>
            </a:r>
            <a:r>
              <a:rPr lang="en-US">
                <a:solidFill>
                  <a:srgbClr val="FFFFFF"/>
                </a:solidFill>
                <a:cs typeface="Calibri"/>
              </a:rPr>
              <a:t>be used </a:t>
            </a:r>
            <a:r>
              <a:rPr lang="en-US" spc="-15">
                <a:solidFill>
                  <a:srgbClr val="FFFFFF"/>
                </a:solidFill>
                <a:cs typeface="Calibri"/>
              </a:rPr>
              <a:t>to            </a:t>
            </a:r>
            <a:r>
              <a:rPr lang="en-US">
                <a:solidFill>
                  <a:srgbClr val="FFFFFF"/>
                </a:solidFill>
                <a:cs typeface="Calibri"/>
              </a:rPr>
              <a:t>“filter” </a:t>
            </a:r>
            <a:r>
              <a:rPr lang="en-US" spc="-5">
                <a:solidFill>
                  <a:srgbClr val="FFFFFF"/>
                </a:solidFill>
                <a:cs typeface="Calibri"/>
              </a:rPr>
              <a:t>whether </a:t>
            </a:r>
            <a:r>
              <a:rPr lang="en-US">
                <a:solidFill>
                  <a:srgbClr val="FFFFFF"/>
                </a:solidFill>
                <a:cs typeface="Calibri"/>
              </a:rPr>
              <a:t>a </a:t>
            </a:r>
            <a:r>
              <a:rPr lang="en-US" spc="-5">
                <a:solidFill>
                  <a:srgbClr val="FFFFFF"/>
                </a:solidFill>
                <a:cs typeface="Calibri"/>
              </a:rPr>
              <a:t>piece of </a:t>
            </a:r>
            <a:r>
              <a:rPr lang="en-US" spc="-25">
                <a:solidFill>
                  <a:srgbClr val="FFFFFF"/>
                </a:solidFill>
                <a:cs typeface="Calibri"/>
              </a:rPr>
              <a:t>collateral </a:t>
            </a:r>
            <a:r>
              <a:rPr lang="en-US" spc="-5">
                <a:solidFill>
                  <a:srgbClr val="FFFFFF"/>
                </a:solidFill>
                <a:cs typeface="Calibri"/>
              </a:rPr>
              <a:t>is eligible or</a:t>
            </a:r>
            <a:r>
              <a:rPr lang="en-US" spc="-30">
                <a:solidFill>
                  <a:srgbClr val="FFFFFF"/>
                </a:solidFill>
                <a:cs typeface="Calibri"/>
              </a:rPr>
              <a:t> </a:t>
            </a:r>
            <a:r>
              <a:rPr lang="en-US" spc="-5">
                <a:solidFill>
                  <a:srgbClr val="FFFFFF"/>
                </a:solidFill>
                <a:cs typeface="Calibri"/>
              </a:rPr>
              <a:t>not.</a:t>
            </a:r>
            <a:endParaRPr lang="en-US">
              <a:cs typeface="Calibri"/>
            </a:endParaRPr>
          </a:p>
          <a:p>
            <a:endParaRPr/>
          </a:p>
        </p:txBody>
      </p:sp>
      <p:sp>
        <p:nvSpPr>
          <p:cNvPr id="12" name="object 4">
            <a:extLst>
              <a:ext uri="{FF2B5EF4-FFF2-40B4-BE49-F238E27FC236}">
                <a16:creationId xmlns:a16="http://schemas.microsoft.com/office/drawing/2014/main" id="{9D47DEFD-5452-E982-3C01-DBDC345B5D2A}"/>
              </a:ext>
            </a:extLst>
          </p:cNvPr>
          <p:cNvSpPr/>
          <p:nvPr/>
        </p:nvSpPr>
        <p:spPr>
          <a:xfrm>
            <a:off x="527353" y="2086980"/>
            <a:ext cx="10814050" cy="822960"/>
          </a:xfrm>
          <a:custGeom>
            <a:avLst/>
            <a:gdLst/>
            <a:ahLst/>
            <a:cxnLst/>
            <a:rect l="l" t="t" r="r" b="b"/>
            <a:pathLst>
              <a:path w="10814050" h="822960">
                <a:moveTo>
                  <a:pt x="10676763" y="0"/>
                </a:moveTo>
                <a:lnTo>
                  <a:pt x="137147" y="0"/>
                </a:lnTo>
                <a:lnTo>
                  <a:pt x="93802" y="6997"/>
                </a:lnTo>
                <a:lnTo>
                  <a:pt x="56146" y="26466"/>
                </a:lnTo>
                <a:lnTo>
                  <a:pt x="26454" y="56159"/>
                </a:lnTo>
                <a:lnTo>
                  <a:pt x="6985" y="93802"/>
                </a:lnTo>
                <a:lnTo>
                  <a:pt x="0" y="137160"/>
                </a:lnTo>
                <a:lnTo>
                  <a:pt x="0" y="685787"/>
                </a:lnTo>
                <a:lnTo>
                  <a:pt x="6985" y="729145"/>
                </a:lnTo>
                <a:lnTo>
                  <a:pt x="26454" y="766800"/>
                </a:lnTo>
                <a:lnTo>
                  <a:pt x="56146" y="796493"/>
                </a:lnTo>
                <a:lnTo>
                  <a:pt x="93802" y="815962"/>
                </a:lnTo>
                <a:lnTo>
                  <a:pt x="137147" y="822960"/>
                </a:lnTo>
                <a:lnTo>
                  <a:pt x="10676763" y="822960"/>
                </a:lnTo>
                <a:lnTo>
                  <a:pt x="10720120" y="815962"/>
                </a:lnTo>
                <a:lnTo>
                  <a:pt x="10757763" y="796493"/>
                </a:lnTo>
                <a:lnTo>
                  <a:pt x="10787456" y="766800"/>
                </a:lnTo>
                <a:lnTo>
                  <a:pt x="10806925" y="729145"/>
                </a:lnTo>
                <a:lnTo>
                  <a:pt x="10813923" y="685787"/>
                </a:lnTo>
                <a:lnTo>
                  <a:pt x="10813923" y="137160"/>
                </a:lnTo>
                <a:lnTo>
                  <a:pt x="10806925" y="93802"/>
                </a:lnTo>
                <a:lnTo>
                  <a:pt x="10787456" y="56159"/>
                </a:lnTo>
                <a:lnTo>
                  <a:pt x="10757763" y="26466"/>
                </a:lnTo>
                <a:lnTo>
                  <a:pt x="10720120" y="6997"/>
                </a:lnTo>
                <a:lnTo>
                  <a:pt x="10676763" y="0"/>
                </a:lnTo>
                <a:close/>
              </a:path>
            </a:pathLst>
          </a:custGeom>
          <a:solidFill>
            <a:srgbClr val="9DC3E6"/>
          </a:solidFill>
        </p:spPr>
        <p:txBody>
          <a:bodyPr wrap="square" lIns="0" tIns="0" rIns="0" bIns="0" rtlCol="0"/>
          <a:lstStyle/>
          <a:p>
            <a:endParaRPr/>
          </a:p>
        </p:txBody>
      </p:sp>
      <p:sp>
        <p:nvSpPr>
          <p:cNvPr id="13" name="object 5">
            <a:extLst>
              <a:ext uri="{FF2B5EF4-FFF2-40B4-BE49-F238E27FC236}">
                <a16:creationId xmlns:a16="http://schemas.microsoft.com/office/drawing/2014/main" id="{84E1677C-F2FE-171A-77E1-E384DDF6830B}"/>
              </a:ext>
            </a:extLst>
          </p:cNvPr>
          <p:cNvSpPr/>
          <p:nvPr/>
        </p:nvSpPr>
        <p:spPr>
          <a:xfrm>
            <a:off x="534280" y="2856413"/>
            <a:ext cx="10814050" cy="824230"/>
          </a:xfrm>
          <a:custGeom>
            <a:avLst/>
            <a:gdLst/>
            <a:ahLst/>
            <a:cxnLst/>
            <a:rect l="l" t="t" r="r" b="b"/>
            <a:pathLst>
              <a:path w="10814050" h="824229">
                <a:moveTo>
                  <a:pt x="10676509" y="0"/>
                </a:moveTo>
                <a:lnTo>
                  <a:pt x="137401" y="0"/>
                </a:lnTo>
                <a:lnTo>
                  <a:pt x="93967" y="6997"/>
                </a:lnTo>
                <a:lnTo>
                  <a:pt x="56248" y="26504"/>
                </a:lnTo>
                <a:lnTo>
                  <a:pt x="26504" y="56235"/>
                </a:lnTo>
                <a:lnTo>
                  <a:pt x="6997" y="93941"/>
                </a:lnTo>
                <a:lnTo>
                  <a:pt x="0" y="137350"/>
                </a:lnTo>
                <a:lnTo>
                  <a:pt x="0" y="686752"/>
                </a:lnTo>
                <a:lnTo>
                  <a:pt x="6997" y="730161"/>
                </a:lnTo>
                <a:lnTo>
                  <a:pt x="26504" y="767867"/>
                </a:lnTo>
                <a:lnTo>
                  <a:pt x="56248" y="797598"/>
                </a:lnTo>
                <a:lnTo>
                  <a:pt x="93967" y="817105"/>
                </a:lnTo>
                <a:lnTo>
                  <a:pt x="137401" y="824103"/>
                </a:lnTo>
                <a:lnTo>
                  <a:pt x="10676509" y="824103"/>
                </a:lnTo>
                <a:lnTo>
                  <a:pt x="10719942" y="817105"/>
                </a:lnTo>
                <a:lnTo>
                  <a:pt x="10757662" y="797598"/>
                </a:lnTo>
                <a:lnTo>
                  <a:pt x="10787405" y="767867"/>
                </a:lnTo>
                <a:lnTo>
                  <a:pt x="10806912" y="730161"/>
                </a:lnTo>
                <a:lnTo>
                  <a:pt x="10813923" y="686752"/>
                </a:lnTo>
                <a:lnTo>
                  <a:pt x="10813923" y="137350"/>
                </a:lnTo>
                <a:lnTo>
                  <a:pt x="10806912" y="93941"/>
                </a:lnTo>
                <a:lnTo>
                  <a:pt x="10787405" y="56235"/>
                </a:lnTo>
                <a:lnTo>
                  <a:pt x="10757662" y="26504"/>
                </a:lnTo>
                <a:lnTo>
                  <a:pt x="10719942" y="6997"/>
                </a:lnTo>
                <a:lnTo>
                  <a:pt x="10676509" y="0"/>
                </a:lnTo>
                <a:close/>
              </a:path>
            </a:pathLst>
          </a:custGeom>
          <a:solidFill>
            <a:srgbClr val="ADABAB"/>
          </a:solidFill>
        </p:spPr>
        <p:txBody>
          <a:bodyPr wrap="square" lIns="0" tIns="0" rIns="0" bIns="0" rtlCol="0"/>
          <a:lstStyle/>
          <a:p>
            <a:endParaRPr/>
          </a:p>
        </p:txBody>
      </p:sp>
      <p:sp>
        <p:nvSpPr>
          <p:cNvPr id="14" name="object 6">
            <a:extLst>
              <a:ext uri="{FF2B5EF4-FFF2-40B4-BE49-F238E27FC236}">
                <a16:creationId xmlns:a16="http://schemas.microsoft.com/office/drawing/2014/main" id="{BAC00389-440E-2921-5214-8EBD38A2BEC9}"/>
              </a:ext>
            </a:extLst>
          </p:cNvPr>
          <p:cNvSpPr/>
          <p:nvPr/>
        </p:nvSpPr>
        <p:spPr>
          <a:xfrm>
            <a:off x="541207" y="3522361"/>
            <a:ext cx="10814050" cy="822960"/>
          </a:xfrm>
          <a:custGeom>
            <a:avLst/>
            <a:gdLst/>
            <a:ahLst/>
            <a:cxnLst/>
            <a:rect l="l" t="t" r="r" b="b"/>
            <a:pathLst>
              <a:path w="10814050" h="822960">
                <a:moveTo>
                  <a:pt x="10676763" y="0"/>
                </a:moveTo>
                <a:lnTo>
                  <a:pt x="137147" y="0"/>
                </a:lnTo>
                <a:lnTo>
                  <a:pt x="93802" y="6997"/>
                </a:lnTo>
                <a:lnTo>
                  <a:pt x="56146" y="26466"/>
                </a:lnTo>
                <a:lnTo>
                  <a:pt x="26454" y="56146"/>
                </a:lnTo>
                <a:lnTo>
                  <a:pt x="6985" y="93802"/>
                </a:lnTo>
                <a:lnTo>
                  <a:pt x="0" y="137160"/>
                </a:lnTo>
                <a:lnTo>
                  <a:pt x="0" y="685787"/>
                </a:lnTo>
                <a:lnTo>
                  <a:pt x="6985" y="729145"/>
                </a:lnTo>
                <a:lnTo>
                  <a:pt x="26454" y="766800"/>
                </a:lnTo>
                <a:lnTo>
                  <a:pt x="56146" y="796493"/>
                </a:lnTo>
                <a:lnTo>
                  <a:pt x="93802" y="815962"/>
                </a:lnTo>
                <a:lnTo>
                  <a:pt x="137147" y="822960"/>
                </a:lnTo>
                <a:lnTo>
                  <a:pt x="10676763" y="822960"/>
                </a:lnTo>
                <a:lnTo>
                  <a:pt x="10720120" y="815962"/>
                </a:lnTo>
                <a:lnTo>
                  <a:pt x="10757763" y="796493"/>
                </a:lnTo>
                <a:lnTo>
                  <a:pt x="10787456" y="766800"/>
                </a:lnTo>
                <a:lnTo>
                  <a:pt x="10806925" y="729145"/>
                </a:lnTo>
                <a:lnTo>
                  <a:pt x="10813923" y="685787"/>
                </a:lnTo>
                <a:lnTo>
                  <a:pt x="10813923" y="137160"/>
                </a:lnTo>
                <a:lnTo>
                  <a:pt x="10806925" y="93802"/>
                </a:lnTo>
                <a:lnTo>
                  <a:pt x="10787456" y="56146"/>
                </a:lnTo>
                <a:lnTo>
                  <a:pt x="10757763" y="26466"/>
                </a:lnTo>
                <a:lnTo>
                  <a:pt x="10720120" y="6997"/>
                </a:lnTo>
                <a:lnTo>
                  <a:pt x="10676763" y="0"/>
                </a:lnTo>
                <a:close/>
              </a:path>
            </a:pathLst>
          </a:custGeom>
          <a:solidFill>
            <a:srgbClr val="4470C4"/>
          </a:solidFill>
        </p:spPr>
        <p:txBody>
          <a:bodyPr wrap="square" lIns="0" tIns="0" rIns="0" bIns="0" rtlCol="0"/>
          <a:lstStyle/>
          <a:p>
            <a:endParaRPr/>
          </a:p>
        </p:txBody>
      </p:sp>
      <p:sp>
        <p:nvSpPr>
          <p:cNvPr id="15" name="object 7">
            <a:extLst>
              <a:ext uri="{FF2B5EF4-FFF2-40B4-BE49-F238E27FC236}">
                <a16:creationId xmlns:a16="http://schemas.microsoft.com/office/drawing/2014/main" id="{3B77668A-39D2-A9DB-62E4-1990457D0808}"/>
              </a:ext>
            </a:extLst>
          </p:cNvPr>
          <p:cNvSpPr/>
          <p:nvPr/>
        </p:nvSpPr>
        <p:spPr>
          <a:xfrm>
            <a:off x="537707" y="4229297"/>
            <a:ext cx="10814050" cy="1092709"/>
          </a:xfrm>
          <a:custGeom>
            <a:avLst/>
            <a:gdLst/>
            <a:ahLst/>
            <a:cxnLst/>
            <a:rect l="l" t="t" r="r" b="b"/>
            <a:pathLst>
              <a:path w="10814050" h="824229">
                <a:moveTo>
                  <a:pt x="10676509" y="0"/>
                </a:moveTo>
                <a:lnTo>
                  <a:pt x="137401" y="0"/>
                </a:lnTo>
                <a:lnTo>
                  <a:pt x="93967" y="6997"/>
                </a:lnTo>
                <a:lnTo>
                  <a:pt x="56248" y="26504"/>
                </a:lnTo>
                <a:lnTo>
                  <a:pt x="26504" y="56235"/>
                </a:lnTo>
                <a:lnTo>
                  <a:pt x="6997" y="93941"/>
                </a:lnTo>
                <a:lnTo>
                  <a:pt x="0" y="137350"/>
                </a:lnTo>
                <a:lnTo>
                  <a:pt x="0" y="686752"/>
                </a:lnTo>
                <a:lnTo>
                  <a:pt x="6997" y="730161"/>
                </a:lnTo>
                <a:lnTo>
                  <a:pt x="26504" y="767867"/>
                </a:lnTo>
                <a:lnTo>
                  <a:pt x="56248" y="797598"/>
                </a:lnTo>
                <a:lnTo>
                  <a:pt x="93967" y="817105"/>
                </a:lnTo>
                <a:lnTo>
                  <a:pt x="137401" y="824102"/>
                </a:lnTo>
                <a:lnTo>
                  <a:pt x="10676509" y="824102"/>
                </a:lnTo>
                <a:lnTo>
                  <a:pt x="10719942" y="817105"/>
                </a:lnTo>
                <a:lnTo>
                  <a:pt x="10757662" y="797598"/>
                </a:lnTo>
                <a:lnTo>
                  <a:pt x="10787405" y="767867"/>
                </a:lnTo>
                <a:lnTo>
                  <a:pt x="10806912" y="730161"/>
                </a:lnTo>
                <a:lnTo>
                  <a:pt x="10813923" y="686752"/>
                </a:lnTo>
                <a:lnTo>
                  <a:pt x="10813923" y="137350"/>
                </a:lnTo>
                <a:lnTo>
                  <a:pt x="10806912" y="93941"/>
                </a:lnTo>
                <a:lnTo>
                  <a:pt x="10787405" y="56235"/>
                </a:lnTo>
                <a:lnTo>
                  <a:pt x="10757662" y="26504"/>
                </a:lnTo>
                <a:lnTo>
                  <a:pt x="10719942" y="6997"/>
                </a:lnTo>
                <a:lnTo>
                  <a:pt x="10676509" y="0"/>
                </a:lnTo>
                <a:close/>
              </a:path>
            </a:pathLst>
          </a:custGeom>
          <a:solidFill>
            <a:srgbClr val="1F4E79"/>
          </a:solidFill>
        </p:spPr>
        <p:txBody>
          <a:bodyPr wrap="square" lIns="0" tIns="0" rIns="0" bIns="0" rtlCol="0"/>
          <a:lstStyle/>
          <a:p>
            <a:endParaRPr/>
          </a:p>
        </p:txBody>
      </p:sp>
      <p:sp>
        <p:nvSpPr>
          <p:cNvPr id="16" name="object 8">
            <a:extLst>
              <a:ext uri="{FF2B5EF4-FFF2-40B4-BE49-F238E27FC236}">
                <a16:creationId xmlns:a16="http://schemas.microsoft.com/office/drawing/2014/main" id="{B31714C3-3C0C-E835-9451-685A4D790DDF}"/>
              </a:ext>
            </a:extLst>
          </p:cNvPr>
          <p:cNvSpPr txBox="1"/>
          <p:nvPr/>
        </p:nvSpPr>
        <p:spPr>
          <a:xfrm>
            <a:off x="601244" y="1646924"/>
            <a:ext cx="10414635" cy="3262432"/>
          </a:xfrm>
          <a:prstGeom prst="rect">
            <a:avLst/>
          </a:prstGeom>
        </p:spPr>
        <p:txBody>
          <a:bodyPr vert="horz" wrap="square" lIns="0" tIns="38100" rIns="0" bIns="0" rtlCol="0">
            <a:spAutoFit/>
          </a:bodyPr>
          <a:lstStyle/>
          <a:p>
            <a:pPr>
              <a:lnSpc>
                <a:spcPct val="100000"/>
              </a:lnSpc>
            </a:pPr>
            <a:r>
              <a:rPr lang="en-GB" sz="1800">
                <a:latin typeface="Calibri"/>
                <a:cs typeface="Calibri"/>
              </a:rPr>
              <a:t> </a:t>
            </a:r>
          </a:p>
          <a:p>
            <a:pPr marL="12700" marR="95250">
              <a:lnSpc>
                <a:spcPts val="2000"/>
              </a:lnSpc>
              <a:spcBef>
                <a:spcPts val="1155"/>
              </a:spcBef>
            </a:pPr>
            <a:r>
              <a:rPr sz="1800" spc="-5">
                <a:solidFill>
                  <a:srgbClr val="FFFFFF"/>
                </a:solidFill>
                <a:latin typeface="Calibri"/>
                <a:cs typeface="Calibri"/>
              </a:rPr>
              <a:t>Asset </a:t>
            </a:r>
            <a:r>
              <a:rPr sz="1800" spc="-40">
                <a:solidFill>
                  <a:srgbClr val="FFFFFF"/>
                </a:solidFill>
                <a:latin typeface="Calibri"/>
                <a:cs typeface="Calibri"/>
              </a:rPr>
              <a:t>Type </a:t>
            </a:r>
            <a:r>
              <a:rPr sz="1800">
                <a:solidFill>
                  <a:srgbClr val="FFFFFF"/>
                </a:solidFill>
                <a:latin typeface="Calibri"/>
                <a:cs typeface="Calibri"/>
              </a:rPr>
              <a:t>– </a:t>
            </a:r>
            <a:r>
              <a:rPr sz="1800" spc="-5">
                <a:solidFill>
                  <a:srgbClr val="FFFFFF"/>
                </a:solidFill>
                <a:latin typeface="Calibri"/>
                <a:cs typeface="Calibri"/>
              </a:rPr>
              <a:t>is </a:t>
            </a:r>
            <a:r>
              <a:rPr sz="1800">
                <a:solidFill>
                  <a:srgbClr val="FFFFFF"/>
                </a:solidFill>
                <a:latin typeface="Calibri"/>
                <a:cs typeface="Calibri"/>
              </a:rPr>
              <a:t>used </a:t>
            </a:r>
            <a:r>
              <a:rPr sz="1800" spc="-15">
                <a:solidFill>
                  <a:srgbClr val="FFFFFF"/>
                </a:solidFill>
                <a:latin typeface="Calibri"/>
                <a:cs typeface="Calibri"/>
              </a:rPr>
              <a:t>to </a:t>
            </a:r>
            <a:r>
              <a:rPr sz="1800" spc="-5">
                <a:solidFill>
                  <a:srgbClr val="FFFFFF"/>
                </a:solidFill>
                <a:latin typeface="Calibri"/>
                <a:cs typeface="Calibri"/>
              </a:rPr>
              <a:t>specify </a:t>
            </a:r>
            <a:r>
              <a:rPr sz="1800" spc="-20">
                <a:solidFill>
                  <a:srgbClr val="FFFFFF"/>
                </a:solidFill>
                <a:latin typeface="Calibri"/>
                <a:cs typeface="Calibri"/>
              </a:rPr>
              <a:t>criteria </a:t>
            </a:r>
            <a:r>
              <a:rPr sz="1800" spc="-25">
                <a:solidFill>
                  <a:srgbClr val="FFFFFF"/>
                </a:solidFill>
                <a:latin typeface="Calibri"/>
                <a:cs typeface="Calibri"/>
              </a:rPr>
              <a:t>related </a:t>
            </a:r>
            <a:r>
              <a:rPr sz="1800" spc="-15">
                <a:solidFill>
                  <a:srgbClr val="FFFFFF"/>
                </a:solidFill>
                <a:latin typeface="Calibri"/>
                <a:cs typeface="Calibri"/>
              </a:rPr>
              <a:t>to </a:t>
            </a:r>
            <a:r>
              <a:rPr sz="1800" spc="-5">
                <a:solidFill>
                  <a:srgbClr val="FFFFFF"/>
                </a:solidFill>
                <a:latin typeface="Calibri"/>
                <a:cs typeface="Calibri"/>
              </a:rPr>
              <a:t>the </a:t>
            </a:r>
            <a:r>
              <a:rPr sz="1800" spc="-20">
                <a:solidFill>
                  <a:srgbClr val="FFFFFF"/>
                </a:solidFill>
                <a:latin typeface="Calibri"/>
                <a:cs typeface="Calibri"/>
              </a:rPr>
              <a:t>nature </a:t>
            </a:r>
            <a:r>
              <a:rPr sz="1800" spc="-5">
                <a:solidFill>
                  <a:srgbClr val="FFFFFF"/>
                </a:solidFill>
                <a:latin typeface="Calibri"/>
                <a:cs typeface="Calibri"/>
              </a:rPr>
              <a:t>of the asset, such </a:t>
            </a:r>
            <a:r>
              <a:rPr sz="1800">
                <a:solidFill>
                  <a:srgbClr val="FFFFFF"/>
                </a:solidFill>
                <a:latin typeface="Calibri"/>
                <a:cs typeface="Calibri"/>
              </a:rPr>
              <a:t>as </a:t>
            </a:r>
            <a:r>
              <a:rPr sz="1800" spc="-5">
                <a:solidFill>
                  <a:srgbClr val="FFFFFF"/>
                </a:solidFill>
                <a:latin typeface="Calibri"/>
                <a:cs typeface="Calibri"/>
              </a:rPr>
              <a:t>its type (cash, </a:t>
            </a:r>
            <a:r>
              <a:rPr sz="1800" spc="-45">
                <a:solidFill>
                  <a:srgbClr val="FFFFFF"/>
                </a:solidFill>
                <a:latin typeface="Calibri"/>
                <a:cs typeface="Calibri"/>
              </a:rPr>
              <a:t>equity, </a:t>
            </a:r>
            <a:r>
              <a:rPr sz="1800" spc="-5">
                <a:solidFill>
                  <a:srgbClr val="FFFFFF"/>
                </a:solidFill>
                <a:latin typeface="Calibri"/>
                <a:cs typeface="Calibri"/>
              </a:rPr>
              <a:t>debt, </a:t>
            </a:r>
            <a:r>
              <a:rPr sz="1800" spc="-20">
                <a:solidFill>
                  <a:srgbClr val="FFFFFF"/>
                </a:solidFill>
                <a:latin typeface="Calibri"/>
                <a:cs typeface="Calibri"/>
              </a:rPr>
              <a:t>etc),  </a:t>
            </a:r>
            <a:r>
              <a:rPr sz="1800" spc="-5">
                <a:solidFill>
                  <a:srgbClr val="FFFFFF"/>
                </a:solidFill>
                <a:latin typeface="Calibri"/>
                <a:cs typeface="Calibri"/>
              </a:rPr>
              <a:t>country of origin or denominated</a:t>
            </a:r>
            <a:r>
              <a:rPr sz="1800" spc="-65">
                <a:solidFill>
                  <a:srgbClr val="FFFFFF"/>
                </a:solidFill>
                <a:latin typeface="Calibri"/>
                <a:cs typeface="Calibri"/>
              </a:rPr>
              <a:t> </a:t>
            </a:r>
            <a:r>
              <a:rPr sz="1800" spc="-20">
                <a:solidFill>
                  <a:srgbClr val="FFFFFF"/>
                </a:solidFill>
                <a:latin typeface="Calibri"/>
                <a:cs typeface="Calibri"/>
              </a:rPr>
              <a:t>currency</a:t>
            </a:r>
            <a:endParaRPr sz="1800">
              <a:latin typeface="Calibri"/>
              <a:cs typeface="Calibri"/>
            </a:endParaRPr>
          </a:p>
          <a:p>
            <a:pPr marL="12700" marR="356235">
              <a:lnSpc>
                <a:spcPts val="2000"/>
              </a:lnSpc>
            </a:pPr>
            <a:endParaRPr lang="en-GB" sz="2500">
              <a:latin typeface="Calibri"/>
              <a:cs typeface="Calibri"/>
            </a:endParaRPr>
          </a:p>
          <a:p>
            <a:pPr marL="12700" marR="356235">
              <a:lnSpc>
                <a:spcPts val="2000"/>
              </a:lnSpc>
            </a:pPr>
            <a:r>
              <a:rPr sz="1800">
                <a:solidFill>
                  <a:srgbClr val="FFFFFF"/>
                </a:solidFill>
                <a:latin typeface="Calibri"/>
                <a:cs typeface="Calibri"/>
              </a:rPr>
              <a:t>Issuer </a:t>
            </a:r>
            <a:r>
              <a:rPr sz="1800" spc="-40">
                <a:solidFill>
                  <a:srgbClr val="FFFFFF"/>
                </a:solidFill>
                <a:latin typeface="Calibri"/>
                <a:cs typeface="Calibri"/>
              </a:rPr>
              <a:t>Type </a:t>
            </a:r>
            <a:r>
              <a:rPr sz="1800">
                <a:solidFill>
                  <a:srgbClr val="FFFFFF"/>
                </a:solidFill>
                <a:latin typeface="Calibri"/>
                <a:cs typeface="Calibri"/>
              </a:rPr>
              <a:t>– </a:t>
            </a:r>
            <a:r>
              <a:rPr sz="1800" spc="-5">
                <a:solidFill>
                  <a:srgbClr val="FFFFFF"/>
                </a:solidFill>
                <a:latin typeface="Calibri"/>
                <a:cs typeface="Calibri"/>
              </a:rPr>
              <a:t>is </a:t>
            </a:r>
            <a:r>
              <a:rPr sz="1800">
                <a:solidFill>
                  <a:srgbClr val="FFFFFF"/>
                </a:solidFill>
                <a:latin typeface="Calibri"/>
                <a:cs typeface="Calibri"/>
              </a:rPr>
              <a:t>used </a:t>
            </a:r>
            <a:r>
              <a:rPr sz="1800" spc="-15">
                <a:solidFill>
                  <a:srgbClr val="FFFFFF"/>
                </a:solidFill>
                <a:latin typeface="Calibri"/>
                <a:cs typeface="Calibri"/>
              </a:rPr>
              <a:t>to </a:t>
            </a:r>
            <a:r>
              <a:rPr sz="1800" spc="-5">
                <a:solidFill>
                  <a:srgbClr val="FFFFFF"/>
                </a:solidFill>
                <a:latin typeface="Calibri"/>
                <a:cs typeface="Calibri"/>
              </a:rPr>
              <a:t>specify </a:t>
            </a:r>
            <a:r>
              <a:rPr sz="1800" spc="-20">
                <a:solidFill>
                  <a:srgbClr val="FFFFFF"/>
                </a:solidFill>
                <a:latin typeface="Calibri"/>
                <a:cs typeface="Calibri"/>
              </a:rPr>
              <a:t>criteria </a:t>
            </a:r>
            <a:r>
              <a:rPr sz="1800" spc="-25">
                <a:solidFill>
                  <a:srgbClr val="FFFFFF"/>
                </a:solidFill>
                <a:latin typeface="Calibri"/>
                <a:cs typeface="Calibri"/>
              </a:rPr>
              <a:t>related </a:t>
            </a:r>
            <a:r>
              <a:rPr sz="1800" spc="-15">
                <a:solidFill>
                  <a:srgbClr val="FFFFFF"/>
                </a:solidFill>
                <a:latin typeface="Calibri"/>
                <a:cs typeface="Calibri"/>
              </a:rPr>
              <a:t>to </a:t>
            </a:r>
            <a:r>
              <a:rPr sz="1800" spc="-5">
                <a:solidFill>
                  <a:srgbClr val="FFFFFF"/>
                </a:solidFill>
                <a:latin typeface="Calibri"/>
                <a:cs typeface="Calibri"/>
              </a:rPr>
              <a:t>the issuer of the asset, such the type of issuer </a:t>
            </a:r>
            <a:r>
              <a:rPr sz="1800" spc="-10">
                <a:solidFill>
                  <a:srgbClr val="FFFFFF"/>
                </a:solidFill>
                <a:latin typeface="Calibri"/>
                <a:cs typeface="Calibri"/>
              </a:rPr>
              <a:t>(government,  </a:t>
            </a:r>
            <a:r>
              <a:rPr sz="1800" spc="-25">
                <a:solidFill>
                  <a:srgbClr val="FFFFFF"/>
                </a:solidFill>
                <a:latin typeface="Calibri"/>
                <a:cs typeface="Calibri"/>
              </a:rPr>
              <a:t>corporate, </a:t>
            </a:r>
            <a:r>
              <a:rPr sz="1800" spc="-20">
                <a:solidFill>
                  <a:srgbClr val="FFFFFF"/>
                </a:solidFill>
                <a:latin typeface="Calibri"/>
                <a:cs typeface="Calibri"/>
              </a:rPr>
              <a:t>etc), </a:t>
            </a:r>
            <a:r>
              <a:rPr sz="1800" spc="-5">
                <a:solidFill>
                  <a:srgbClr val="FFFFFF"/>
                </a:solidFill>
                <a:latin typeface="Calibri"/>
                <a:cs typeface="Calibri"/>
              </a:rPr>
              <a:t>specific issuer </a:t>
            </a:r>
            <a:r>
              <a:rPr sz="1800">
                <a:solidFill>
                  <a:srgbClr val="FFFFFF"/>
                </a:solidFill>
                <a:latin typeface="Calibri"/>
                <a:cs typeface="Calibri"/>
              </a:rPr>
              <a:t>name, </a:t>
            </a:r>
            <a:r>
              <a:rPr sz="1800" spc="-5">
                <a:solidFill>
                  <a:srgbClr val="FFFFFF"/>
                </a:solidFill>
                <a:latin typeface="Calibri"/>
                <a:cs typeface="Calibri"/>
              </a:rPr>
              <a:t>or agency</a:t>
            </a:r>
            <a:r>
              <a:rPr sz="1800" spc="-70">
                <a:solidFill>
                  <a:srgbClr val="FFFFFF"/>
                </a:solidFill>
                <a:latin typeface="Calibri"/>
                <a:cs typeface="Calibri"/>
              </a:rPr>
              <a:t> </a:t>
            </a:r>
            <a:r>
              <a:rPr sz="1800" spc="-25">
                <a:solidFill>
                  <a:srgbClr val="FFFFFF"/>
                </a:solidFill>
                <a:latin typeface="Calibri"/>
                <a:cs typeface="Calibri"/>
              </a:rPr>
              <a:t>rating</a:t>
            </a:r>
            <a:endParaRPr sz="1800">
              <a:latin typeface="Calibri"/>
              <a:cs typeface="Calibri"/>
            </a:endParaRPr>
          </a:p>
          <a:p>
            <a:pPr marL="12700" marR="10795">
              <a:lnSpc>
                <a:spcPts val="1989"/>
              </a:lnSpc>
              <a:spcBef>
                <a:spcPts val="1275"/>
              </a:spcBef>
            </a:pPr>
            <a:r>
              <a:rPr sz="1800" spc="-40">
                <a:solidFill>
                  <a:srgbClr val="FFFFFF"/>
                </a:solidFill>
                <a:latin typeface="Calibri"/>
                <a:cs typeface="Calibri"/>
              </a:rPr>
              <a:t>Treatment </a:t>
            </a:r>
            <a:r>
              <a:rPr sz="1800">
                <a:solidFill>
                  <a:srgbClr val="FFFFFF"/>
                </a:solidFill>
                <a:latin typeface="Calibri"/>
                <a:cs typeface="Calibri"/>
              </a:rPr>
              <a:t>– </a:t>
            </a:r>
            <a:r>
              <a:rPr sz="1800" spc="-5">
                <a:solidFill>
                  <a:srgbClr val="FFFFFF"/>
                </a:solidFill>
                <a:latin typeface="Calibri"/>
                <a:cs typeface="Calibri"/>
              </a:rPr>
              <a:t>is </a:t>
            </a:r>
            <a:r>
              <a:rPr sz="1800">
                <a:solidFill>
                  <a:srgbClr val="FFFFFF"/>
                </a:solidFill>
                <a:latin typeface="Calibri"/>
                <a:cs typeface="Calibri"/>
              </a:rPr>
              <a:t>used </a:t>
            </a:r>
            <a:r>
              <a:rPr sz="1800" spc="-15">
                <a:solidFill>
                  <a:srgbClr val="FFFFFF"/>
                </a:solidFill>
                <a:latin typeface="Calibri"/>
                <a:cs typeface="Calibri"/>
              </a:rPr>
              <a:t>to </a:t>
            </a:r>
            <a:r>
              <a:rPr sz="1800" spc="-5">
                <a:solidFill>
                  <a:srgbClr val="FFFFFF"/>
                </a:solidFill>
                <a:latin typeface="Calibri"/>
                <a:cs typeface="Calibri"/>
              </a:rPr>
              <a:t>specify the </a:t>
            </a:r>
            <a:r>
              <a:rPr sz="1800" spc="-20">
                <a:solidFill>
                  <a:srgbClr val="FFFFFF"/>
                </a:solidFill>
                <a:latin typeface="Calibri"/>
                <a:cs typeface="Calibri"/>
              </a:rPr>
              <a:t>valuation percentage, any concentration </a:t>
            </a:r>
            <a:r>
              <a:rPr sz="1800" spc="-5">
                <a:solidFill>
                  <a:srgbClr val="FFFFFF"/>
                </a:solidFill>
                <a:latin typeface="Calibri"/>
                <a:cs typeface="Calibri"/>
              </a:rPr>
              <a:t>limits </a:t>
            </a:r>
            <a:r>
              <a:rPr sz="1800">
                <a:solidFill>
                  <a:srgbClr val="FFFFFF"/>
                </a:solidFill>
                <a:latin typeface="Calibri"/>
                <a:cs typeface="Calibri"/>
              </a:rPr>
              <a:t>and </a:t>
            </a:r>
            <a:r>
              <a:rPr sz="1800" spc="-5">
                <a:solidFill>
                  <a:srgbClr val="FFFFFF"/>
                </a:solidFill>
                <a:latin typeface="Calibri"/>
                <a:cs typeface="Calibri"/>
              </a:rPr>
              <a:t>whether the </a:t>
            </a:r>
            <a:r>
              <a:rPr sz="1800" spc="-20">
                <a:solidFill>
                  <a:srgbClr val="FFFFFF"/>
                </a:solidFill>
                <a:latin typeface="Calibri"/>
                <a:cs typeface="Calibri"/>
              </a:rPr>
              <a:t>criteria </a:t>
            </a:r>
            <a:r>
              <a:rPr sz="1800" spc="-5">
                <a:solidFill>
                  <a:srgbClr val="FFFFFF"/>
                </a:solidFill>
                <a:latin typeface="Calibri"/>
                <a:cs typeface="Calibri"/>
              </a:rPr>
              <a:t>specify  inclusion or </a:t>
            </a:r>
            <a:r>
              <a:rPr sz="1800" spc="-20">
                <a:solidFill>
                  <a:srgbClr val="FFFFFF"/>
                </a:solidFill>
                <a:latin typeface="Calibri"/>
                <a:cs typeface="Calibri"/>
              </a:rPr>
              <a:t>exclusion</a:t>
            </a:r>
            <a:r>
              <a:rPr sz="1800" spc="-10">
                <a:solidFill>
                  <a:srgbClr val="FFFFFF"/>
                </a:solidFill>
                <a:latin typeface="Calibri"/>
                <a:cs typeface="Calibri"/>
              </a:rPr>
              <a:t> </a:t>
            </a:r>
            <a:r>
              <a:rPr sz="1800" spc="-5">
                <a:solidFill>
                  <a:srgbClr val="FFFFFF"/>
                </a:solidFill>
                <a:latin typeface="Calibri"/>
                <a:cs typeface="Calibri"/>
              </a:rPr>
              <a:t>conditions</a:t>
            </a:r>
            <a:endParaRPr sz="1800">
              <a:latin typeface="Calibri"/>
              <a:cs typeface="Calibri"/>
            </a:endParaRPr>
          </a:p>
          <a:p>
            <a:pPr>
              <a:lnSpc>
                <a:spcPct val="100000"/>
              </a:lnSpc>
            </a:pPr>
            <a:endParaRPr sz="1800">
              <a:latin typeface="Calibri"/>
              <a:cs typeface="Calibri"/>
            </a:endParaRPr>
          </a:p>
          <a:p>
            <a:pPr marL="12700">
              <a:lnSpc>
                <a:spcPct val="100000"/>
              </a:lnSpc>
            </a:pPr>
            <a:r>
              <a:rPr lang="en-GB" spc="-5">
                <a:solidFill>
                  <a:srgbClr val="FFFFFF"/>
                </a:solidFill>
                <a:latin typeface="Calibri"/>
                <a:cs typeface="Calibri"/>
              </a:rPr>
              <a:t> </a:t>
            </a:r>
            <a:r>
              <a:rPr sz="1800" spc="-5">
                <a:solidFill>
                  <a:srgbClr val="FFFFFF"/>
                </a:solidFill>
                <a:latin typeface="Calibri"/>
                <a:cs typeface="Calibri"/>
              </a:rPr>
              <a:t>The </a:t>
            </a:r>
            <a:r>
              <a:rPr sz="1800" spc="-20">
                <a:solidFill>
                  <a:srgbClr val="FFFFFF"/>
                </a:solidFill>
                <a:latin typeface="Calibri"/>
                <a:cs typeface="Calibri"/>
              </a:rPr>
              <a:t>combination </a:t>
            </a:r>
            <a:r>
              <a:rPr sz="1800" spc="-5">
                <a:solidFill>
                  <a:srgbClr val="FFFFFF"/>
                </a:solidFill>
                <a:latin typeface="Calibri"/>
                <a:cs typeface="Calibri"/>
              </a:rPr>
              <a:t>of these </a:t>
            </a:r>
            <a:r>
              <a:rPr sz="1800" spc="-20">
                <a:solidFill>
                  <a:srgbClr val="FFFFFF"/>
                </a:solidFill>
                <a:latin typeface="Calibri"/>
                <a:cs typeface="Calibri"/>
              </a:rPr>
              <a:t>terms allows </a:t>
            </a:r>
            <a:r>
              <a:rPr sz="1800">
                <a:solidFill>
                  <a:srgbClr val="FFFFFF"/>
                </a:solidFill>
                <a:latin typeface="Calibri"/>
                <a:cs typeface="Calibri"/>
              </a:rPr>
              <a:t>a </a:t>
            </a:r>
            <a:r>
              <a:rPr sz="1800" spc="-5">
                <a:solidFill>
                  <a:srgbClr val="FFFFFF"/>
                </a:solidFill>
                <a:latin typeface="Calibri"/>
                <a:cs typeface="Calibri"/>
              </a:rPr>
              <a:t>wide </a:t>
            </a:r>
            <a:r>
              <a:rPr sz="1800" spc="-20">
                <a:solidFill>
                  <a:srgbClr val="FFFFFF"/>
                </a:solidFill>
                <a:latin typeface="Calibri"/>
                <a:cs typeface="Calibri"/>
              </a:rPr>
              <a:t>variety </a:t>
            </a:r>
            <a:r>
              <a:rPr sz="1800" spc="-5">
                <a:solidFill>
                  <a:srgbClr val="FFFFFF"/>
                </a:solidFill>
                <a:latin typeface="Calibri"/>
                <a:cs typeface="Calibri"/>
              </a:rPr>
              <a:t>of eligible </a:t>
            </a:r>
            <a:r>
              <a:rPr sz="1800" spc="-25">
                <a:solidFill>
                  <a:srgbClr val="FFFFFF"/>
                </a:solidFill>
                <a:latin typeface="Calibri"/>
                <a:cs typeface="Calibri"/>
              </a:rPr>
              <a:t>collateral </a:t>
            </a:r>
            <a:r>
              <a:rPr sz="1800" spc="-5">
                <a:solidFill>
                  <a:srgbClr val="FFFFFF"/>
                </a:solidFill>
                <a:latin typeface="Calibri"/>
                <a:cs typeface="Calibri"/>
              </a:rPr>
              <a:t>types </a:t>
            </a:r>
            <a:r>
              <a:rPr sz="1800" spc="-15">
                <a:solidFill>
                  <a:srgbClr val="FFFFFF"/>
                </a:solidFill>
                <a:latin typeface="Calibri"/>
                <a:cs typeface="Calibri"/>
              </a:rPr>
              <a:t>to </a:t>
            </a:r>
            <a:r>
              <a:rPr sz="1800">
                <a:solidFill>
                  <a:srgbClr val="FFFFFF"/>
                </a:solidFill>
                <a:latin typeface="Calibri"/>
                <a:cs typeface="Calibri"/>
              </a:rPr>
              <a:t>be</a:t>
            </a:r>
            <a:r>
              <a:rPr sz="1800" spc="165">
                <a:solidFill>
                  <a:srgbClr val="FFFFFF"/>
                </a:solidFill>
                <a:latin typeface="Calibri"/>
                <a:cs typeface="Calibri"/>
              </a:rPr>
              <a:t> </a:t>
            </a:r>
            <a:r>
              <a:rPr sz="1800" spc="-20">
                <a:solidFill>
                  <a:srgbClr val="FFFFFF"/>
                </a:solidFill>
                <a:latin typeface="Calibri"/>
                <a:cs typeface="Calibri"/>
              </a:rPr>
              <a:t>represented</a:t>
            </a:r>
            <a:r>
              <a:rPr lang="en-GB" sz="1800" spc="-20">
                <a:solidFill>
                  <a:srgbClr val="FFFFFF"/>
                </a:solidFill>
                <a:latin typeface="Calibri"/>
                <a:cs typeface="Calibri"/>
              </a:rPr>
              <a:t> and can be </a:t>
            </a:r>
            <a:r>
              <a:rPr lang="en-GB" spc="-20">
                <a:solidFill>
                  <a:srgbClr val="FFFFFF"/>
                </a:solidFill>
                <a:latin typeface="Calibri"/>
                <a:cs typeface="Calibri"/>
              </a:rPr>
              <a:t>applied </a:t>
            </a:r>
            <a:r>
              <a:rPr lang="en-GB" sz="1800" spc="-20">
                <a:solidFill>
                  <a:srgbClr val="FFFFFF"/>
                </a:solidFill>
                <a:latin typeface="Calibri"/>
                <a:cs typeface="Calibri"/>
              </a:rPr>
              <a:t>across industry use cases </a:t>
            </a:r>
            <a:r>
              <a:rPr lang="en-US" sz="1800" spc="-20">
                <a:solidFill>
                  <a:srgbClr val="FFFFFF"/>
                </a:solidFill>
                <a:latin typeface="Calibri"/>
                <a:cs typeface="Calibri"/>
              </a:rPr>
              <a:t>for OTC, Securities Lending, Repo, Cleared and ETD</a:t>
            </a:r>
            <a:r>
              <a:rPr lang="en-GB" spc="-20">
                <a:solidFill>
                  <a:srgbClr val="FFFFFF"/>
                </a:solidFill>
                <a:latin typeface="Calibri"/>
                <a:cs typeface="Calibri"/>
              </a:rPr>
              <a:t>. </a:t>
            </a:r>
            <a:r>
              <a:rPr lang="en-GB" spc="-20">
                <a:solidFill>
                  <a:schemeClr val="bg1"/>
                </a:solidFill>
                <a:latin typeface="Calibri"/>
                <a:cs typeface="Calibri"/>
              </a:rPr>
              <a:t>s</a:t>
            </a:r>
            <a:endParaRPr lang="en-GB" spc="-20">
              <a:solidFill>
                <a:srgbClr val="FFFFFF"/>
              </a:solidFill>
              <a:latin typeface="Calibri"/>
              <a:cs typeface="Calibri"/>
            </a:endParaRPr>
          </a:p>
        </p:txBody>
      </p:sp>
      <p:sp>
        <p:nvSpPr>
          <p:cNvPr id="17" name="object 5">
            <a:extLst>
              <a:ext uri="{FF2B5EF4-FFF2-40B4-BE49-F238E27FC236}">
                <a16:creationId xmlns:a16="http://schemas.microsoft.com/office/drawing/2014/main" id="{C337C8A7-2B05-B355-43E6-4F01712EE874}"/>
              </a:ext>
            </a:extLst>
          </p:cNvPr>
          <p:cNvSpPr/>
          <p:nvPr/>
        </p:nvSpPr>
        <p:spPr>
          <a:xfrm>
            <a:off x="534280" y="5181337"/>
            <a:ext cx="10814050" cy="824230"/>
          </a:xfrm>
          <a:custGeom>
            <a:avLst/>
            <a:gdLst/>
            <a:ahLst/>
            <a:cxnLst/>
            <a:rect l="l" t="t" r="r" b="b"/>
            <a:pathLst>
              <a:path w="10814050" h="824229">
                <a:moveTo>
                  <a:pt x="10676509" y="0"/>
                </a:moveTo>
                <a:lnTo>
                  <a:pt x="137401" y="0"/>
                </a:lnTo>
                <a:lnTo>
                  <a:pt x="93967" y="6997"/>
                </a:lnTo>
                <a:lnTo>
                  <a:pt x="56248" y="26504"/>
                </a:lnTo>
                <a:lnTo>
                  <a:pt x="26504" y="56235"/>
                </a:lnTo>
                <a:lnTo>
                  <a:pt x="6997" y="93941"/>
                </a:lnTo>
                <a:lnTo>
                  <a:pt x="0" y="137350"/>
                </a:lnTo>
                <a:lnTo>
                  <a:pt x="0" y="686752"/>
                </a:lnTo>
                <a:lnTo>
                  <a:pt x="6997" y="730161"/>
                </a:lnTo>
                <a:lnTo>
                  <a:pt x="26504" y="767867"/>
                </a:lnTo>
                <a:lnTo>
                  <a:pt x="56248" y="797598"/>
                </a:lnTo>
                <a:lnTo>
                  <a:pt x="93967" y="817105"/>
                </a:lnTo>
                <a:lnTo>
                  <a:pt x="137401" y="824103"/>
                </a:lnTo>
                <a:lnTo>
                  <a:pt x="10676509" y="824103"/>
                </a:lnTo>
                <a:lnTo>
                  <a:pt x="10719942" y="817105"/>
                </a:lnTo>
                <a:lnTo>
                  <a:pt x="10757662" y="797598"/>
                </a:lnTo>
                <a:lnTo>
                  <a:pt x="10787405" y="767867"/>
                </a:lnTo>
                <a:lnTo>
                  <a:pt x="10806912" y="730161"/>
                </a:lnTo>
                <a:lnTo>
                  <a:pt x="10813923" y="686752"/>
                </a:lnTo>
                <a:lnTo>
                  <a:pt x="10813923" y="137350"/>
                </a:lnTo>
                <a:lnTo>
                  <a:pt x="10806912" y="93941"/>
                </a:lnTo>
                <a:lnTo>
                  <a:pt x="10787405" y="56235"/>
                </a:lnTo>
                <a:lnTo>
                  <a:pt x="10757662" y="26504"/>
                </a:lnTo>
                <a:lnTo>
                  <a:pt x="10719942" y="6997"/>
                </a:lnTo>
                <a:lnTo>
                  <a:pt x="10676509" y="0"/>
                </a:lnTo>
                <a:close/>
              </a:path>
            </a:pathLst>
          </a:custGeom>
          <a:solidFill>
            <a:srgbClr val="ADABAB"/>
          </a:solidFill>
        </p:spPr>
        <p:txBody>
          <a:bodyPr wrap="square" lIns="0" tIns="0" rIns="0" bIns="0" rtlCol="0"/>
          <a:lstStyle/>
          <a:p>
            <a:r>
              <a:rPr lang="en-US">
                <a:solidFill>
                  <a:srgbClr val="FFFFFF"/>
                </a:solidFill>
                <a:cs typeface="Calibri"/>
              </a:rPr>
              <a:t>  Solving problems for Global Banks, Custodians, Data Providers, Vendors and connecting solutions. </a:t>
            </a:r>
          </a:p>
          <a:p>
            <a:endParaRPr lang="en-US">
              <a:solidFill>
                <a:srgbClr val="FFFFFF"/>
              </a:solidFill>
              <a:cs typeface="Calibri"/>
            </a:endParaRPr>
          </a:p>
        </p:txBody>
      </p:sp>
      <p:sp>
        <p:nvSpPr>
          <p:cNvPr id="18" name="object 4">
            <a:extLst>
              <a:ext uri="{FF2B5EF4-FFF2-40B4-BE49-F238E27FC236}">
                <a16:creationId xmlns:a16="http://schemas.microsoft.com/office/drawing/2014/main" id="{9B6AB3BB-EC2D-DF31-2DA1-B4186926063B}"/>
              </a:ext>
            </a:extLst>
          </p:cNvPr>
          <p:cNvSpPr/>
          <p:nvPr/>
        </p:nvSpPr>
        <p:spPr>
          <a:xfrm>
            <a:off x="527353" y="5656060"/>
            <a:ext cx="10814050" cy="822960"/>
          </a:xfrm>
          <a:custGeom>
            <a:avLst/>
            <a:gdLst/>
            <a:ahLst/>
            <a:cxnLst/>
            <a:rect l="l" t="t" r="r" b="b"/>
            <a:pathLst>
              <a:path w="10814050" h="822960">
                <a:moveTo>
                  <a:pt x="10676763" y="0"/>
                </a:moveTo>
                <a:lnTo>
                  <a:pt x="137147" y="0"/>
                </a:lnTo>
                <a:lnTo>
                  <a:pt x="93802" y="6997"/>
                </a:lnTo>
                <a:lnTo>
                  <a:pt x="56146" y="26466"/>
                </a:lnTo>
                <a:lnTo>
                  <a:pt x="26454" y="56159"/>
                </a:lnTo>
                <a:lnTo>
                  <a:pt x="6985" y="93802"/>
                </a:lnTo>
                <a:lnTo>
                  <a:pt x="0" y="137160"/>
                </a:lnTo>
                <a:lnTo>
                  <a:pt x="0" y="685787"/>
                </a:lnTo>
                <a:lnTo>
                  <a:pt x="6985" y="729145"/>
                </a:lnTo>
                <a:lnTo>
                  <a:pt x="26454" y="766800"/>
                </a:lnTo>
                <a:lnTo>
                  <a:pt x="56146" y="796493"/>
                </a:lnTo>
                <a:lnTo>
                  <a:pt x="93802" y="815962"/>
                </a:lnTo>
                <a:lnTo>
                  <a:pt x="137147" y="822960"/>
                </a:lnTo>
                <a:lnTo>
                  <a:pt x="10676763" y="822960"/>
                </a:lnTo>
                <a:lnTo>
                  <a:pt x="10720120" y="815962"/>
                </a:lnTo>
                <a:lnTo>
                  <a:pt x="10757763" y="796493"/>
                </a:lnTo>
                <a:lnTo>
                  <a:pt x="10787456" y="766800"/>
                </a:lnTo>
                <a:lnTo>
                  <a:pt x="10806925" y="729145"/>
                </a:lnTo>
                <a:lnTo>
                  <a:pt x="10813923" y="685787"/>
                </a:lnTo>
                <a:lnTo>
                  <a:pt x="10813923" y="137160"/>
                </a:lnTo>
                <a:lnTo>
                  <a:pt x="10806925" y="93802"/>
                </a:lnTo>
                <a:lnTo>
                  <a:pt x="10787456" y="56159"/>
                </a:lnTo>
                <a:lnTo>
                  <a:pt x="10757763" y="26466"/>
                </a:lnTo>
                <a:lnTo>
                  <a:pt x="10720120" y="6997"/>
                </a:lnTo>
                <a:lnTo>
                  <a:pt x="10676763" y="0"/>
                </a:lnTo>
                <a:close/>
              </a:path>
            </a:pathLst>
          </a:custGeom>
          <a:solidFill>
            <a:srgbClr val="9DC3E6"/>
          </a:solidFill>
        </p:spPr>
        <p:txBody>
          <a:bodyPr wrap="square" lIns="0" tIns="0" rIns="0" bIns="0" rtlCol="0"/>
          <a:lstStyle/>
          <a:p>
            <a:r>
              <a:rPr lang="en-US">
                <a:solidFill>
                  <a:srgbClr val="FFFFFF"/>
                </a:solidFill>
                <a:cs typeface="Calibri"/>
              </a:rPr>
              <a:t> Standard data for Eligible Collateral information facilitates DLT, Smart Contract and technology to be built to add further efficiencies to processes </a:t>
            </a:r>
          </a:p>
        </p:txBody>
      </p:sp>
    </p:spTree>
    <p:extLst>
      <p:ext uri="{BB962C8B-B14F-4D97-AF65-F5344CB8AC3E}">
        <p14:creationId xmlns:p14="http://schemas.microsoft.com/office/powerpoint/2010/main" val="303959716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Collateral- CDM Object Builder</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object 7">
            <a:extLst>
              <a:ext uri="{FF2B5EF4-FFF2-40B4-BE49-F238E27FC236}">
                <a16:creationId xmlns:a16="http://schemas.microsoft.com/office/drawing/2014/main" id="{E46B77B6-660B-7A45-D001-DFEF53652836}"/>
              </a:ext>
            </a:extLst>
          </p:cNvPr>
          <p:cNvSpPr txBox="1"/>
          <p:nvPr/>
        </p:nvSpPr>
        <p:spPr>
          <a:xfrm>
            <a:off x="2176947" y="1699972"/>
            <a:ext cx="368935" cy="14795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800" b="0" i="0" u="none" strike="noStrike" kern="1200" cap="none" spc="-5" normalizeH="0" baseline="0" noProof="0">
                <a:ln>
                  <a:noFill/>
                </a:ln>
                <a:solidFill>
                  <a:srgbClr val="FFFFFF"/>
                </a:solidFill>
                <a:effectLst/>
                <a:uLnTx/>
                <a:uFillTx/>
                <a:latin typeface="Calibri"/>
                <a:ea typeface="+mn-ea"/>
                <a:cs typeface="Calibri"/>
              </a:rPr>
              <a:t>Vendor</a:t>
            </a:r>
            <a:r>
              <a:rPr kumimoji="0" sz="800" b="0" i="0" u="none" strike="noStrike" kern="1200" cap="none" spc="0" normalizeH="0" baseline="0" noProof="0">
                <a:ln>
                  <a:noFill/>
                </a:ln>
                <a:solidFill>
                  <a:srgbClr val="FFFFFF"/>
                </a:solidFill>
                <a:effectLst/>
                <a:uLnTx/>
                <a:uFillTx/>
                <a:latin typeface="Calibri"/>
                <a:ea typeface="+mn-ea"/>
                <a:cs typeface="Calibri"/>
              </a:rPr>
              <a:t>s</a:t>
            </a:r>
            <a:endParaRPr kumimoji="0" sz="800" b="0" i="0" u="none" strike="noStrike" kern="1200" cap="none" spc="0" normalizeH="0" baseline="0" noProof="0">
              <a:ln>
                <a:noFill/>
              </a:ln>
              <a:solidFill>
                <a:prstClr val="black"/>
              </a:solidFill>
              <a:effectLst/>
              <a:uLnTx/>
              <a:uFillTx/>
              <a:latin typeface="Calibri"/>
              <a:ea typeface="+mn-ea"/>
              <a:cs typeface="Calibri"/>
            </a:endParaRPr>
          </a:p>
        </p:txBody>
      </p:sp>
      <p:sp>
        <p:nvSpPr>
          <p:cNvPr id="3" name="object 10">
            <a:extLst>
              <a:ext uri="{FF2B5EF4-FFF2-40B4-BE49-F238E27FC236}">
                <a16:creationId xmlns:a16="http://schemas.microsoft.com/office/drawing/2014/main" id="{4D60F2DB-22E9-66DD-DE73-64A6DCDC471F}"/>
              </a:ext>
            </a:extLst>
          </p:cNvPr>
          <p:cNvSpPr/>
          <p:nvPr/>
        </p:nvSpPr>
        <p:spPr>
          <a:xfrm>
            <a:off x="3185160" y="2145790"/>
            <a:ext cx="758825" cy="492125"/>
          </a:xfrm>
          <a:custGeom>
            <a:avLst/>
            <a:gdLst/>
            <a:ahLst/>
            <a:cxnLst/>
            <a:rect l="l" t="t" r="r" b="b"/>
            <a:pathLst>
              <a:path w="758825" h="492125">
                <a:moveTo>
                  <a:pt x="0" y="81953"/>
                </a:moveTo>
                <a:lnTo>
                  <a:pt x="6438" y="50050"/>
                </a:lnTo>
                <a:lnTo>
                  <a:pt x="24015" y="24002"/>
                </a:lnTo>
                <a:lnTo>
                  <a:pt x="50076" y="6438"/>
                </a:lnTo>
                <a:lnTo>
                  <a:pt x="81991" y="0"/>
                </a:lnTo>
                <a:lnTo>
                  <a:pt x="676452" y="0"/>
                </a:lnTo>
                <a:lnTo>
                  <a:pt x="708367" y="6438"/>
                </a:lnTo>
                <a:lnTo>
                  <a:pt x="734428" y="24002"/>
                </a:lnTo>
                <a:lnTo>
                  <a:pt x="752005" y="50050"/>
                </a:lnTo>
                <a:lnTo>
                  <a:pt x="758444" y="81953"/>
                </a:lnTo>
                <a:lnTo>
                  <a:pt x="758444" y="409778"/>
                </a:lnTo>
                <a:lnTo>
                  <a:pt x="752005" y="441680"/>
                </a:lnTo>
                <a:lnTo>
                  <a:pt x="734428" y="467740"/>
                </a:lnTo>
                <a:lnTo>
                  <a:pt x="708367" y="485305"/>
                </a:lnTo>
                <a:lnTo>
                  <a:pt x="676452" y="491743"/>
                </a:lnTo>
                <a:lnTo>
                  <a:pt x="81991" y="491743"/>
                </a:lnTo>
                <a:lnTo>
                  <a:pt x="50076" y="485305"/>
                </a:lnTo>
                <a:lnTo>
                  <a:pt x="24015" y="467740"/>
                </a:lnTo>
                <a:lnTo>
                  <a:pt x="6438" y="441680"/>
                </a:lnTo>
                <a:lnTo>
                  <a:pt x="0" y="409778"/>
                </a:lnTo>
                <a:lnTo>
                  <a:pt x="0" y="81953"/>
                </a:lnTo>
                <a:close/>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11">
            <a:extLst>
              <a:ext uri="{FF2B5EF4-FFF2-40B4-BE49-F238E27FC236}">
                <a16:creationId xmlns:a16="http://schemas.microsoft.com/office/drawing/2014/main" id="{FD4BD547-75C4-D91D-BFDD-26838175F9D4}"/>
              </a:ext>
            </a:extLst>
          </p:cNvPr>
          <p:cNvSpPr txBox="1"/>
          <p:nvPr/>
        </p:nvSpPr>
        <p:spPr>
          <a:xfrm>
            <a:off x="3241870" y="2298250"/>
            <a:ext cx="642620" cy="14795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800" b="0" i="0" u="none" strike="noStrike" kern="1200" cap="none" spc="-5" normalizeH="0" baseline="0" noProof="0">
                <a:ln>
                  <a:noFill/>
                </a:ln>
                <a:solidFill>
                  <a:srgbClr val="FFFFFF"/>
                </a:solidFill>
                <a:effectLst/>
                <a:uLnTx/>
                <a:uFillTx/>
                <a:latin typeface="Calibri"/>
                <a:ea typeface="+mn-ea"/>
                <a:cs typeface="Calibri"/>
              </a:rPr>
              <a:t>Counterparties</a:t>
            </a:r>
            <a:endParaRPr kumimoji="0" sz="800" b="0" i="0" u="none" strike="noStrike" kern="1200" cap="none" spc="0" normalizeH="0" baseline="0" noProof="0">
              <a:ln>
                <a:noFill/>
              </a:ln>
              <a:solidFill>
                <a:prstClr val="black"/>
              </a:solidFill>
              <a:effectLst/>
              <a:uLnTx/>
              <a:uFillTx/>
              <a:latin typeface="Calibri"/>
              <a:ea typeface="+mn-ea"/>
              <a:cs typeface="Calibri"/>
            </a:endParaRPr>
          </a:p>
        </p:txBody>
      </p:sp>
      <p:sp>
        <p:nvSpPr>
          <p:cNvPr id="6" name="object 14">
            <a:extLst>
              <a:ext uri="{FF2B5EF4-FFF2-40B4-BE49-F238E27FC236}">
                <a16:creationId xmlns:a16="http://schemas.microsoft.com/office/drawing/2014/main" id="{B16ADB24-D2F5-621B-3EC0-F82C414AFDBE}"/>
              </a:ext>
            </a:extLst>
          </p:cNvPr>
          <p:cNvSpPr txBox="1"/>
          <p:nvPr/>
        </p:nvSpPr>
        <p:spPr>
          <a:xfrm>
            <a:off x="3293770" y="3384813"/>
            <a:ext cx="621665" cy="14795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800" b="0" i="0" u="none" strike="noStrike" kern="1200" cap="none" spc="-5" normalizeH="0" baseline="0" noProof="0">
                <a:ln>
                  <a:noFill/>
                </a:ln>
                <a:solidFill>
                  <a:srgbClr val="FFFFFF"/>
                </a:solidFill>
                <a:effectLst/>
                <a:uLnTx/>
                <a:uFillTx/>
                <a:latin typeface="Calibri"/>
                <a:ea typeface="+mn-ea"/>
                <a:cs typeface="Calibri"/>
              </a:rPr>
              <a:t>Data</a:t>
            </a:r>
            <a:r>
              <a:rPr kumimoji="0" sz="800" b="0" i="0" u="none" strike="noStrike" kern="1200" cap="none" spc="-110" normalizeH="0" baseline="0" noProof="0">
                <a:ln>
                  <a:noFill/>
                </a:ln>
                <a:solidFill>
                  <a:srgbClr val="FFFFFF"/>
                </a:solidFill>
                <a:effectLst/>
                <a:uLnTx/>
                <a:uFillTx/>
                <a:latin typeface="Calibri"/>
                <a:ea typeface="+mn-ea"/>
                <a:cs typeface="Calibri"/>
              </a:rPr>
              <a:t> </a:t>
            </a:r>
            <a:r>
              <a:rPr kumimoji="0" sz="800" b="0" i="0" u="none" strike="noStrike" kern="1200" cap="none" spc="-5" normalizeH="0" baseline="0" noProof="0">
                <a:ln>
                  <a:noFill/>
                </a:ln>
                <a:solidFill>
                  <a:srgbClr val="FFFFFF"/>
                </a:solidFill>
                <a:effectLst/>
                <a:uLnTx/>
                <a:uFillTx/>
                <a:latin typeface="Calibri"/>
                <a:ea typeface="+mn-ea"/>
                <a:cs typeface="Calibri"/>
              </a:rPr>
              <a:t>Providers</a:t>
            </a:r>
            <a:endParaRPr kumimoji="0" sz="800" b="0" i="0" u="none" strike="noStrike" kern="1200" cap="none" spc="0" normalizeH="0" baseline="0" noProof="0">
              <a:ln>
                <a:noFill/>
              </a:ln>
              <a:solidFill>
                <a:prstClr val="black"/>
              </a:solidFill>
              <a:effectLst/>
              <a:uLnTx/>
              <a:uFillTx/>
              <a:latin typeface="Calibri"/>
              <a:ea typeface="+mn-ea"/>
              <a:cs typeface="Calibri"/>
            </a:endParaRPr>
          </a:p>
        </p:txBody>
      </p:sp>
      <p:sp>
        <p:nvSpPr>
          <p:cNvPr id="8" name="object 17">
            <a:extLst>
              <a:ext uri="{FF2B5EF4-FFF2-40B4-BE49-F238E27FC236}">
                <a16:creationId xmlns:a16="http://schemas.microsoft.com/office/drawing/2014/main" id="{94E6035D-A793-A728-9F73-6DCAF862169E}"/>
              </a:ext>
            </a:extLst>
          </p:cNvPr>
          <p:cNvSpPr txBox="1"/>
          <p:nvPr/>
        </p:nvSpPr>
        <p:spPr>
          <a:xfrm>
            <a:off x="2111456" y="4025587"/>
            <a:ext cx="636905" cy="14795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800" b="0" i="0" u="none" strike="noStrike" kern="1200" cap="none" spc="-5" normalizeH="0" baseline="0" noProof="0">
                <a:ln>
                  <a:noFill/>
                </a:ln>
                <a:solidFill>
                  <a:srgbClr val="FFFFFF"/>
                </a:solidFill>
                <a:effectLst/>
                <a:uLnTx/>
                <a:uFillTx/>
                <a:latin typeface="Calibri"/>
                <a:ea typeface="+mn-ea"/>
                <a:cs typeface="Calibri"/>
              </a:rPr>
              <a:t>Administrators</a:t>
            </a:r>
            <a:endParaRPr kumimoji="0" sz="800" b="0" i="0" u="none" strike="noStrike" kern="1200" cap="none" spc="0" normalizeH="0" baseline="0" noProof="0">
              <a:ln>
                <a:noFill/>
              </a:ln>
              <a:solidFill>
                <a:prstClr val="black"/>
              </a:solidFill>
              <a:effectLst/>
              <a:uLnTx/>
              <a:uFillTx/>
              <a:latin typeface="Calibri"/>
              <a:ea typeface="+mn-ea"/>
              <a:cs typeface="Calibri"/>
            </a:endParaRPr>
          </a:p>
        </p:txBody>
      </p:sp>
      <p:sp>
        <p:nvSpPr>
          <p:cNvPr id="9" name="object 20">
            <a:extLst>
              <a:ext uri="{FF2B5EF4-FFF2-40B4-BE49-F238E27FC236}">
                <a16:creationId xmlns:a16="http://schemas.microsoft.com/office/drawing/2014/main" id="{A83DFD1E-542E-3AFA-F72D-033E73D25582}"/>
              </a:ext>
            </a:extLst>
          </p:cNvPr>
          <p:cNvSpPr/>
          <p:nvPr/>
        </p:nvSpPr>
        <p:spPr>
          <a:xfrm>
            <a:off x="775716" y="3226300"/>
            <a:ext cx="758825" cy="494030"/>
          </a:xfrm>
          <a:custGeom>
            <a:avLst/>
            <a:gdLst/>
            <a:ahLst/>
            <a:cxnLst/>
            <a:rect l="l" t="t" r="r" b="b"/>
            <a:pathLst>
              <a:path w="758825" h="494029">
                <a:moveTo>
                  <a:pt x="0" y="82257"/>
                </a:moveTo>
                <a:lnTo>
                  <a:pt x="6464" y="50241"/>
                </a:lnTo>
                <a:lnTo>
                  <a:pt x="24091" y="24091"/>
                </a:lnTo>
                <a:lnTo>
                  <a:pt x="50228" y="6464"/>
                </a:lnTo>
                <a:lnTo>
                  <a:pt x="82245" y="0"/>
                </a:lnTo>
                <a:lnTo>
                  <a:pt x="676198" y="0"/>
                </a:lnTo>
                <a:lnTo>
                  <a:pt x="708215" y="6464"/>
                </a:lnTo>
                <a:lnTo>
                  <a:pt x="734352" y="24091"/>
                </a:lnTo>
                <a:lnTo>
                  <a:pt x="751979" y="50241"/>
                </a:lnTo>
                <a:lnTo>
                  <a:pt x="758444" y="82257"/>
                </a:lnTo>
                <a:lnTo>
                  <a:pt x="758444" y="411276"/>
                </a:lnTo>
                <a:lnTo>
                  <a:pt x="751979" y="443293"/>
                </a:lnTo>
                <a:lnTo>
                  <a:pt x="734352" y="469430"/>
                </a:lnTo>
                <a:lnTo>
                  <a:pt x="708215" y="487057"/>
                </a:lnTo>
                <a:lnTo>
                  <a:pt x="676198" y="493521"/>
                </a:lnTo>
                <a:lnTo>
                  <a:pt x="82245" y="493521"/>
                </a:lnTo>
                <a:lnTo>
                  <a:pt x="50228" y="487057"/>
                </a:lnTo>
                <a:lnTo>
                  <a:pt x="24091" y="469430"/>
                </a:lnTo>
                <a:lnTo>
                  <a:pt x="6464" y="443293"/>
                </a:lnTo>
                <a:lnTo>
                  <a:pt x="0" y="411276"/>
                </a:lnTo>
                <a:lnTo>
                  <a:pt x="0" y="82257"/>
                </a:lnTo>
                <a:close/>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21">
            <a:extLst>
              <a:ext uri="{FF2B5EF4-FFF2-40B4-BE49-F238E27FC236}">
                <a16:creationId xmlns:a16="http://schemas.microsoft.com/office/drawing/2014/main" id="{4B100A92-9FA6-6D68-C035-FD7B436CCFBE}"/>
              </a:ext>
            </a:extLst>
          </p:cNvPr>
          <p:cNvSpPr txBox="1"/>
          <p:nvPr/>
        </p:nvSpPr>
        <p:spPr>
          <a:xfrm>
            <a:off x="898277" y="3255815"/>
            <a:ext cx="509270" cy="336550"/>
          </a:xfrm>
          <a:prstGeom prst="rect">
            <a:avLst/>
          </a:prstGeom>
        </p:spPr>
        <p:txBody>
          <a:bodyPr vert="horz" wrap="square" lIns="0" tIns="12065" rIns="0" bIns="0" rtlCol="0">
            <a:spAutoFit/>
          </a:bodyPr>
          <a:lstStyle/>
          <a:p>
            <a:pPr marL="56515" marR="5080" lvl="0" indent="-44450" algn="l" defTabSz="914400" rtl="0" eaLnBrk="1" fontAlgn="auto" latinLnBrk="0" hangingPunct="1">
              <a:lnSpc>
                <a:spcPct val="127499"/>
              </a:lnSpc>
              <a:spcBef>
                <a:spcPts val="95"/>
              </a:spcBef>
              <a:spcAft>
                <a:spcPts val="0"/>
              </a:spcAft>
              <a:buClrTx/>
              <a:buSzTx/>
              <a:buFontTx/>
              <a:buNone/>
              <a:tabLst/>
              <a:defRPr/>
            </a:pPr>
            <a:r>
              <a:rPr kumimoji="0" sz="800" b="0" i="0" u="none" strike="noStrike" kern="1200" cap="none" spc="-5" normalizeH="0" baseline="0" noProof="0">
                <a:ln>
                  <a:noFill/>
                </a:ln>
                <a:solidFill>
                  <a:srgbClr val="FFFFFF"/>
                </a:solidFill>
                <a:effectLst/>
                <a:uLnTx/>
                <a:uFillTx/>
                <a:latin typeface="Calibri"/>
                <a:ea typeface="+mn-ea"/>
                <a:cs typeface="Calibri"/>
              </a:rPr>
              <a:t>Ne</a:t>
            </a:r>
            <a:r>
              <a:rPr kumimoji="0" sz="800" b="0" i="0" u="none" strike="noStrike" kern="1200" cap="none" spc="5" normalizeH="0" baseline="0" noProof="0">
                <a:ln>
                  <a:noFill/>
                </a:ln>
                <a:solidFill>
                  <a:srgbClr val="FFFFFF"/>
                </a:solidFill>
                <a:effectLst/>
                <a:uLnTx/>
                <a:uFillTx/>
                <a:latin typeface="Calibri"/>
                <a:ea typeface="+mn-ea"/>
                <a:cs typeface="Calibri"/>
              </a:rPr>
              <a:t>g</a:t>
            </a:r>
            <a:r>
              <a:rPr kumimoji="0" sz="800" b="0" i="0" u="none" strike="noStrike" kern="1200" cap="none" spc="-5" normalizeH="0" baseline="0" noProof="0">
                <a:ln>
                  <a:noFill/>
                </a:ln>
                <a:solidFill>
                  <a:srgbClr val="FFFFFF"/>
                </a:solidFill>
                <a:effectLst/>
                <a:uLnTx/>
                <a:uFillTx/>
                <a:latin typeface="Calibri"/>
                <a:ea typeface="+mn-ea"/>
                <a:cs typeface="Calibri"/>
              </a:rPr>
              <a:t>o</a:t>
            </a:r>
            <a:r>
              <a:rPr kumimoji="0" sz="800" b="0" i="0" u="none" strike="noStrike" kern="1200" cap="none" spc="-20" normalizeH="0" baseline="0" noProof="0">
                <a:ln>
                  <a:noFill/>
                </a:ln>
                <a:solidFill>
                  <a:srgbClr val="FFFFFF"/>
                </a:solidFill>
                <a:effectLst/>
                <a:uLnTx/>
                <a:uFillTx/>
                <a:latin typeface="Calibri"/>
                <a:ea typeface="+mn-ea"/>
                <a:cs typeface="Calibri"/>
              </a:rPr>
              <a:t>t</a:t>
            </a:r>
            <a:r>
              <a:rPr kumimoji="0" sz="800" b="0" i="0" u="none" strike="noStrike" kern="1200" cap="none" spc="-5" normalizeH="0" baseline="0" noProof="0">
                <a:ln>
                  <a:noFill/>
                </a:ln>
                <a:solidFill>
                  <a:srgbClr val="FFFFFF"/>
                </a:solidFill>
                <a:effectLst/>
                <a:uLnTx/>
                <a:uFillTx/>
                <a:latin typeface="Calibri"/>
                <a:ea typeface="+mn-ea"/>
                <a:cs typeface="Calibri"/>
              </a:rPr>
              <a:t>ia</a:t>
            </a:r>
            <a:r>
              <a:rPr kumimoji="0" sz="800" b="0" i="0" u="none" strike="noStrike" kern="1200" cap="none" spc="-20" normalizeH="0" baseline="0" noProof="0">
                <a:ln>
                  <a:noFill/>
                </a:ln>
                <a:solidFill>
                  <a:srgbClr val="FFFFFF"/>
                </a:solidFill>
                <a:effectLst/>
                <a:uLnTx/>
                <a:uFillTx/>
                <a:latin typeface="Calibri"/>
                <a:ea typeface="+mn-ea"/>
                <a:cs typeface="Calibri"/>
              </a:rPr>
              <a:t>t</a:t>
            </a:r>
            <a:r>
              <a:rPr kumimoji="0" sz="800" b="0" i="0" u="none" strike="noStrike" kern="1200" cap="none" spc="-5" normalizeH="0" baseline="0" noProof="0">
                <a:ln>
                  <a:noFill/>
                </a:ln>
                <a:solidFill>
                  <a:srgbClr val="FFFFFF"/>
                </a:solidFill>
                <a:effectLst/>
                <a:uLnTx/>
                <a:uFillTx/>
                <a:latin typeface="Calibri"/>
                <a:ea typeface="+mn-ea"/>
                <a:cs typeface="Calibri"/>
              </a:rPr>
              <a:t>io</a:t>
            </a:r>
            <a:r>
              <a:rPr kumimoji="0" sz="800" b="0" i="0" u="none" strike="noStrike" kern="1200" cap="none" spc="0" normalizeH="0" baseline="0" noProof="0">
                <a:ln>
                  <a:noFill/>
                </a:ln>
                <a:solidFill>
                  <a:srgbClr val="FFFFFF"/>
                </a:solidFill>
                <a:effectLst/>
                <a:uLnTx/>
                <a:uFillTx/>
                <a:latin typeface="Calibri"/>
                <a:ea typeface="+mn-ea"/>
                <a:cs typeface="Calibri"/>
              </a:rPr>
              <a:t>n  </a:t>
            </a:r>
            <a:r>
              <a:rPr kumimoji="0" sz="800" b="0" i="0" u="none" strike="noStrike" kern="1200" cap="none" spc="-5" normalizeH="0" baseline="0" noProof="0">
                <a:ln>
                  <a:noFill/>
                </a:ln>
                <a:solidFill>
                  <a:srgbClr val="FFFFFF"/>
                </a:solidFill>
                <a:effectLst/>
                <a:uLnTx/>
                <a:uFillTx/>
                <a:latin typeface="Calibri"/>
                <a:ea typeface="+mn-ea"/>
                <a:cs typeface="Calibri"/>
              </a:rPr>
              <a:t>Platforms</a:t>
            </a:r>
            <a:endParaRPr kumimoji="0" sz="800" b="0" i="0" u="none" strike="noStrike" kern="1200" cap="none" spc="0" normalizeH="0" baseline="0" noProof="0">
              <a:ln>
                <a:noFill/>
              </a:ln>
              <a:solidFill>
                <a:prstClr val="black"/>
              </a:solidFill>
              <a:effectLst/>
              <a:uLnTx/>
              <a:uFillTx/>
              <a:latin typeface="Calibri"/>
              <a:ea typeface="+mn-ea"/>
              <a:cs typeface="Calibri"/>
            </a:endParaRPr>
          </a:p>
        </p:txBody>
      </p:sp>
      <p:sp>
        <p:nvSpPr>
          <p:cNvPr id="12" name="object 24">
            <a:extLst>
              <a:ext uri="{FF2B5EF4-FFF2-40B4-BE49-F238E27FC236}">
                <a16:creationId xmlns:a16="http://schemas.microsoft.com/office/drawing/2014/main" id="{3961C2B5-EE01-9935-5688-4EFD35F9749B}"/>
              </a:ext>
            </a:extLst>
          </p:cNvPr>
          <p:cNvSpPr/>
          <p:nvPr/>
        </p:nvSpPr>
        <p:spPr>
          <a:xfrm>
            <a:off x="815339" y="2168642"/>
            <a:ext cx="758825" cy="494030"/>
          </a:xfrm>
          <a:custGeom>
            <a:avLst/>
            <a:gdLst/>
            <a:ahLst/>
            <a:cxnLst/>
            <a:rect l="l" t="t" r="r" b="b"/>
            <a:pathLst>
              <a:path w="758825" h="494030">
                <a:moveTo>
                  <a:pt x="0" y="82257"/>
                </a:moveTo>
                <a:lnTo>
                  <a:pt x="6464" y="50241"/>
                </a:lnTo>
                <a:lnTo>
                  <a:pt x="24091" y="24091"/>
                </a:lnTo>
                <a:lnTo>
                  <a:pt x="50228" y="6464"/>
                </a:lnTo>
                <a:lnTo>
                  <a:pt x="82245" y="0"/>
                </a:lnTo>
                <a:lnTo>
                  <a:pt x="676198" y="0"/>
                </a:lnTo>
                <a:lnTo>
                  <a:pt x="708215" y="6464"/>
                </a:lnTo>
                <a:lnTo>
                  <a:pt x="734352" y="24091"/>
                </a:lnTo>
                <a:lnTo>
                  <a:pt x="751979" y="50241"/>
                </a:lnTo>
                <a:lnTo>
                  <a:pt x="758444" y="82257"/>
                </a:lnTo>
                <a:lnTo>
                  <a:pt x="758444" y="411276"/>
                </a:lnTo>
                <a:lnTo>
                  <a:pt x="751979" y="443293"/>
                </a:lnTo>
                <a:lnTo>
                  <a:pt x="734352" y="469430"/>
                </a:lnTo>
                <a:lnTo>
                  <a:pt x="708215" y="487057"/>
                </a:lnTo>
                <a:lnTo>
                  <a:pt x="676198" y="493521"/>
                </a:lnTo>
                <a:lnTo>
                  <a:pt x="82245" y="493521"/>
                </a:lnTo>
                <a:lnTo>
                  <a:pt x="50228" y="487057"/>
                </a:lnTo>
                <a:lnTo>
                  <a:pt x="24091" y="469430"/>
                </a:lnTo>
                <a:lnTo>
                  <a:pt x="6464" y="443293"/>
                </a:lnTo>
                <a:lnTo>
                  <a:pt x="0" y="411276"/>
                </a:lnTo>
                <a:lnTo>
                  <a:pt x="0" y="82257"/>
                </a:lnTo>
                <a:close/>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object 25">
            <a:extLst>
              <a:ext uri="{FF2B5EF4-FFF2-40B4-BE49-F238E27FC236}">
                <a16:creationId xmlns:a16="http://schemas.microsoft.com/office/drawing/2014/main" id="{2375C056-0128-1D02-C9AF-0C63239F1545}"/>
              </a:ext>
            </a:extLst>
          </p:cNvPr>
          <p:cNvSpPr txBox="1"/>
          <p:nvPr/>
        </p:nvSpPr>
        <p:spPr>
          <a:xfrm>
            <a:off x="954176" y="2322244"/>
            <a:ext cx="478155" cy="14795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800" b="0" i="0" u="none" strike="noStrike" kern="1200" cap="none" spc="-5" normalizeH="0" baseline="0" noProof="0">
                <a:ln>
                  <a:noFill/>
                </a:ln>
                <a:solidFill>
                  <a:srgbClr val="FFFFFF"/>
                </a:solidFill>
                <a:effectLst/>
                <a:uLnTx/>
                <a:uFillTx/>
                <a:latin typeface="Calibri"/>
                <a:ea typeface="+mn-ea"/>
                <a:cs typeface="Calibri"/>
              </a:rPr>
              <a:t>Custodians</a:t>
            </a:r>
            <a:endParaRPr kumimoji="0" sz="800" b="0" i="0" u="none" strike="noStrike" kern="1200" cap="none" spc="0" normalizeH="0" baseline="0" noProof="0">
              <a:ln>
                <a:noFill/>
              </a:ln>
              <a:solidFill>
                <a:prstClr val="black"/>
              </a:solidFill>
              <a:effectLst/>
              <a:uLnTx/>
              <a:uFillTx/>
              <a:latin typeface="Calibri"/>
              <a:ea typeface="+mn-ea"/>
              <a:cs typeface="Calibri"/>
            </a:endParaRPr>
          </a:p>
        </p:txBody>
      </p:sp>
      <p:sp>
        <p:nvSpPr>
          <p:cNvPr id="14" name="object 28">
            <a:extLst>
              <a:ext uri="{FF2B5EF4-FFF2-40B4-BE49-F238E27FC236}">
                <a16:creationId xmlns:a16="http://schemas.microsoft.com/office/drawing/2014/main" id="{A5EEB264-0421-3988-65C4-E141F3385DFE}"/>
              </a:ext>
            </a:extLst>
          </p:cNvPr>
          <p:cNvSpPr txBox="1"/>
          <p:nvPr/>
        </p:nvSpPr>
        <p:spPr>
          <a:xfrm>
            <a:off x="403067" y="1151192"/>
            <a:ext cx="11260295" cy="702821"/>
          </a:xfrm>
          <a:prstGeom prst="rect">
            <a:avLst/>
          </a:prstGeom>
        </p:spPr>
        <p:txBody>
          <a:bodyPr vert="horz" wrap="square" lIns="0" tIns="10795" rIns="0" bIns="0" rtlCol="0">
            <a:spAutoFit/>
          </a:bodyPr>
          <a:lstStyle/>
          <a:p>
            <a:pPr marL="12065" marR="5080" lvl="0" indent="0" algn="l" defTabSz="914400" rtl="0" eaLnBrk="1" fontAlgn="auto" latinLnBrk="0" hangingPunct="1">
              <a:lnSpc>
                <a:spcPct val="100699"/>
              </a:lnSpc>
              <a:spcBef>
                <a:spcPts val="85"/>
              </a:spcBef>
              <a:spcAft>
                <a:spcPts val="0"/>
              </a:spcAft>
              <a:buClrTx/>
              <a:buSzTx/>
              <a:buFontTx/>
              <a:buNone/>
              <a:tabLst>
                <a:tab pos="299085" algn="l"/>
                <a:tab pos="299720" algn="l"/>
              </a:tabLst>
              <a:defRPr/>
            </a:pPr>
            <a:r>
              <a:rPr kumimoji="0" lang="en-GB" sz="1500" b="1" i="0" u="none" strike="noStrike" kern="1200" cap="none" spc="-5" normalizeH="0" baseline="0" noProof="0" err="1">
                <a:ln>
                  <a:noFill/>
                </a:ln>
                <a:solidFill>
                  <a:srgbClr val="32007D"/>
                </a:solidFill>
                <a:effectLst/>
                <a:uLnTx/>
                <a:uFillTx/>
                <a:latin typeface="Calibri"/>
                <a:ea typeface="+mn-ea"/>
                <a:cs typeface="Calibri"/>
              </a:rPr>
              <a:t>REGnosys</a:t>
            </a:r>
            <a:r>
              <a:rPr kumimoji="0" lang="en-GB" sz="1500" b="1" i="0" u="none" strike="noStrike" kern="1200" cap="none" spc="-5" normalizeH="0" baseline="0" noProof="0">
                <a:ln>
                  <a:noFill/>
                </a:ln>
                <a:solidFill>
                  <a:srgbClr val="32007D"/>
                </a:solidFill>
                <a:effectLst/>
                <a:uLnTx/>
                <a:uFillTx/>
                <a:latin typeface="Calibri"/>
                <a:ea typeface="+mn-ea"/>
                <a:cs typeface="Calibri"/>
              </a:rPr>
              <a:t> on behalf of ISDA have developed a user interface (UI) this allows you to create CDM Eligible Collateral schedule information using drop down functions. The user can create, import, share or inspect in CDM JSON and view in a tabular format. The Object Builder will be contributed to FINOS in 2023</a:t>
            </a:r>
            <a:endParaRPr kumimoji="0" sz="1500" b="1" i="0" u="none" strike="noStrike" kern="1200" cap="none" spc="-5" normalizeH="0" baseline="0" noProof="0">
              <a:ln>
                <a:noFill/>
              </a:ln>
              <a:solidFill>
                <a:srgbClr val="32007D"/>
              </a:solidFill>
              <a:effectLst/>
              <a:uLnTx/>
              <a:uFillTx/>
              <a:latin typeface="Calibri"/>
              <a:ea typeface="+mn-ea"/>
              <a:cs typeface="Calibri"/>
            </a:endParaRPr>
          </a:p>
        </p:txBody>
      </p:sp>
      <p:sp>
        <p:nvSpPr>
          <p:cNvPr id="15" name="TextBox 14">
            <a:extLst>
              <a:ext uri="{FF2B5EF4-FFF2-40B4-BE49-F238E27FC236}">
                <a16:creationId xmlns:a16="http://schemas.microsoft.com/office/drawing/2014/main" id="{CD2F4B66-C01D-49B4-74ED-D37606F3BC90}"/>
              </a:ext>
            </a:extLst>
          </p:cNvPr>
          <p:cNvSpPr txBox="1"/>
          <p:nvPr/>
        </p:nvSpPr>
        <p:spPr>
          <a:xfrm>
            <a:off x="221967" y="5924662"/>
            <a:ext cx="11411203" cy="784254"/>
          </a:xfrm>
          <a:prstGeom prst="rect">
            <a:avLst/>
          </a:prstGeom>
          <a:noFill/>
        </p:spPr>
        <p:txBody>
          <a:bodyPr wrap="square">
            <a:spAutoFit/>
          </a:bodyPr>
          <a:lstStyle/>
          <a:p>
            <a:pPr marL="12065" marR="5080" lvl="0" indent="0" algn="l" defTabSz="914400" rtl="0" eaLnBrk="1" fontAlgn="auto" latinLnBrk="0" hangingPunct="1">
              <a:lnSpc>
                <a:spcPct val="100699"/>
              </a:lnSpc>
              <a:spcBef>
                <a:spcPts val="85"/>
              </a:spcBef>
              <a:spcAft>
                <a:spcPts val="0"/>
              </a:spcAft>
              <a:buClrTx/>
              <a:buSzTx/>
              <a:buFontTx/>
              <a:buNone/>
              <a:tabLst>
                <a:tab pos="299085" algn="l"/>
                <a:tab pos="299720" algn="l"/>
              </a:tabLst>
              <a:defRPr/>
            </a:pPr>
            <a:r>
              <a:rPr kumimoji="0" lang="en-US" sz="1500" b="1" i="0" u="none" strike="noStrike" kern="1200" cap="none" spc="-5" normalizeH="0" baseline="0" noProof="0">
                <a:ln>
                  <a:noFill/>
                </a:ln>
                <a:solidFill>
                  <a:srgbClr val="32007D"/>
                </a:solidFill>
                <a:effectLst/>
                <a:uLnTx/>
                <a:uFillTx/>
                <a:latin typeface="Calibri"/>
                <a:ea typeface="+mn-ea"/>
                <a:cs typeface="Calibri"/>
              </a:rPr>
              <a:t>The UI can be used for predefined common eligibility profiles to import and edit and producing industry compatible consumable data output. The current UI gives the user the ability to also validate and construct many version of eligible collateral as CDM data and has the scope to be development further and built into services</a:t>
            </a:r>
            <a:r>
              <a:rPr lang="en-US" sz="1500" b="1" spc="-5">
                <a:solidFill>
                  <a:srgbClr val="32007D"/>
                </a:solidFill>
                <a:latin typeface="Calibri"/>
                <a:cs typeface="Calibri"/>
              </a:rPr>
              <a:t> for use cases beyond collateral</a:t>
            </a:r>
            <a:endParaRPr kumimoji="0" lang="en-US" sz="1800" b="0" i="0" u="none" strike="noStrike" kern="1200" cap="none" spc="0" normalizeH="0" baseline="0" noProof="0">
              <a:ln>
                <a:noFill/>
              </a:ln>
              <a:solidFill>
                <a:srgbClr val="32007D"/>
              </a:solidFill>
              <a:effectLst/>
              <a:uLnTx/>
              <a:uFillTx/>
              <a:latin typeface="Calibri"/>
              <a:ea typeface="+mn-ea"/>
              <a:cs typeface="+mn-cs"/>
            </a:endParaRPr>
          </a:p>
        </p:txBody>
      </p:sp>
      <p:pic>
        <p:nvPicPr>
          <p:cNvPr id="16" name="Picture 15">
            <a:extLst>
              <a:ext uri="{FF2B5EF4-FFF2-40B4-BE49-F238E27FC236}">
                <a16:creationId xmlns:a16="http://schemas.microsoft.com/office/drawing/2014/main" id="{AB4078F7-FBFA-14E0-E35B-3F7445DC251D}"/>
              </a:ext>
            </a:extLst>
          </p:cNvPr>
          <p:cNvPicPr>
            <a:picLocks noChangeAspect="1"/>
          </p:cNvPicPr>
          <p:nvPr/>
        </p:nvPicPr>
        <p:blipFill>
          <a:blip r:embed="rId4"/>
          <a:stretch>
            <a:fillRect/>
          </a:stretch>
        </p:blipFill>
        <p:spPr>
          <a:xfrm>
            <a:off x="547010" y="1907354"/>
            <a:ext cx="3788467" cy="3753568"/>
          </a:xfrm>
          <a:prstGeom prst="rect">
            <a:avLst/>
          </a:prstGeom>
          <a:ln>
            <a:noFill/>
          </a:ln>
          <a:effectLst>
            <a:outerShdw blurRad="190500" algn="tl" rotWithShape="0">
              <a:srgbClr val="000000">
                <a:alpha val="70000"/>
              </a:srgbClr>
            </a:outerShdw>
          </a:effectLst>
        </p:spPr>
      </p:pic>
      <p:pic>
        <p:nvPicPr>
          <p:cNvPr id="17" name="Picture 16">
            <a:extLst>
              <a:ext uri="{FF2B5EF4-FFF2-40B4-BE49-F238E27FC236}">
                <a16:creationId xmlns:a16="http://schemas.microsoft.com/office/drawing/2014/main" id="{11225783-6EEF-C33E-76AB-202160993236}"/>
              </a:ext>
            </a:extLst>
          </p:cNvPr>
          <p:cNvPicPr>
            <a:picLocks noChangeAspect="1"/>
          </p:cNvPicPr>
          <p:nvPr/>
        </p:nvPicPr>
        <p:blipFill>
          <a:blip r:embed="rId5"/>
          <a:stretch>
            <a:fillRect/>
          </a:stretch>
        </p:blipFill>
        <p:spPr>
          <a:xfrm>
            <a:off x="4595714" y="1847927"/>
            <a:ext cx="6949493" cy="1467649"/>
          </a:xfrm>
          <a:prstGeom prst="rect">
            <a:avLst/>
          </a:prstGeom>
        </p:spPr>
      </p:pic>
      <p:pic>
        <p:nvPicPr>
          <p:cNvPr id="18" name="Picture 17">
            <a:extLst>
              <a:ext uri="{FF2B5EF4-FFF2-40B4-BE49-F238E27FC236}">
                <a16:creationId xmlns:a16="http://schemas.microsoft.com/office/drawing/2014/main" id="{263064BC-D879-B060-C0D3-9C3F8601D08E}"/>
              </a:ext>
            </a:extLst>
          </p:cNvPr>
          <p:cNvPicPr>
            <a:picLocks noChangeAspect="1"/>
          </p:cNvPicPr>
          <p:nvPr/>
        </p:nvPicPr>
        <p:blipFill>
          <a:blip r:embed="rId6"/>
          <a:stretch>
            <a:fillRect/>
          </a:stretch>
        </p:blipFill>
        <p:spPr>
          <a:xfrm>
            <a:off x="5065872" y="3409774"/>
            <a:ext cx="2790653" cy="2310937"/>
          </a:xfrm>
          <a:prstGeom prst="rect">
            <a:avLst/>
          </a:prstGeom>
          <a:ln>
            <a:noFill/>
          </a:ln>
          <a:effectLst>
            <a:outerShdw blurRad="190500" algn="tl" rotWithShape="0">
              <a:srgbClr val="000000">
                <a:alpha val="70000"/>
              </a:srgbClr>
            </a:outerShdw>
          </a:effectLst>
        </p:spPr>
      </p:pic>
      <p:pic>
        <p:nvPicPr>
          <p:cNvPr id="19" name="Picture 18">
            <a:extLst>
              <a:ext uri="{FF2B5EF4-FFF2-40B4-BE49-F238E27FC236}">
                <a16:creationId xmlns:a16="http://schemas.microsoft.com/office/drawing/2014/main" id="{EEAACF8E-71CF-88FD-7104-94A438C64B22}"/>
              </a:ext>
            </a:extLst>
          </p:cNvPr>
          <p:cNvPicPr>
            <a:picLocks noChangeAspect="1"/>
          </p:cNvPicPr>
          <p:nvPr/>
        </p:nvPicPr>
        <p:blipFill>
          <a:blip r:embed="rId7"/>
          <a:stretch>
            <a:fillRect/>
          </a:stretch>
        </p:blipFill>
        <p:spPr>
          <a:xfrm>
            <a:off x="8153400" y="3427259"/>
            <a:ext cx="2514600" cy="226192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11893058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Collateral- Commitment to CDM Integration </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pic>
        <p:nvPicPr>
          <p:cNvPr id="2" name="Picture 1">
            <a:extLst>
              <a:ext uri="{FF2B5EF4-FFF2-40B4-BE49-F238E27FC236}">
                <a16:creationId xmlns:a16="http://schemas.microsoft.com/office/drawing/2014/main" id="{1AE65923-F354-03B5-D1B6-8AF7016CF14B}"/>
              </a:ext>
            </a:extLst>
          </p:cNvPr>
          <p:cNvPicPr>
            <a:picLocks noChangeAspect="1"/>
          </p:cNvPicPr>
          <p:nvPr/>
        </p:nvPicPr>
        <p:blipFill>
          <a:blip r:embed="rId4"/>
          <a:stretch>
            <a:fillRect/>
          </a:stretch>
        </p:blipFill>
        <p:spPr>
          <a:xfrm>
            <a:off x="1166897" y="1279533"/>
            <a:ext cx="9440144" cy="5208708"/>
          </a:xfrm>
          <a:prstGeom prst="rect">
            <a:avLst/>
          </a:prstGeom>
        </p:spPr>
      </p:pic>
    </p:spTree>
    <p:extLst>
      <p:ext uri="{BB962C8B-B14F-4D97-AF65-F5344CB8AC3E}">
        <p14:creationId xmlns:p14="http://schemas.microsoft.com/office/powerpoint/2010/main" val="45481513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0" y="98455"/>
            <a:ext cx="9211829"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Collateral- </a:t>
            </a:r>
            <a:r>
              <a:rPr kumimoji="0" lang="en-GB"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CDM Margin Call / Positions / Balances and Exposure</a:t>
            </a:r>
            <a:endPar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endParaRP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3" name="object 5">
            <a:extLst>
              <a:ext uri="{FF2B5EF4-FFF2-40B4-BE49-F238E27FC236}">
                <a16:creationId xmlns:a16="http://schemas.microsoft.com/office/drawing/2014/main" id="{73F8F119-6D3C-B8DB-481B-7251811A830B}"/>
              </a:ext>
            </a:extLst>
          </p:cNvPr>
          <p:cNvSpPr txBox="1"/>
          <p:nvPr/>
        </p:nvSpPr>
        <p:spPr>
          <a:xfrm>
            <a:off x="617970" y="1139665"/>
            <a:ext cx="10545445" cy="2319655"/>
          </a:xfrm>
          <a:prstGeom prst="rect">
            <a:avLst/>
          </a:prstGeom>
        </p:spPr>
        <p:txBody>
          <a:bodyPr vert="horz" wrap="square" lIns="0" tIns="1905" rIns="0" bIns="0" rtlCol="0">
            <a:spAutoFit/>
          </a:bodyPr>
          <a:lstStyle/>
          <a:p>
            <a:pPr marL="33020" marR="5080">
              <a:lnSpc>
                <a:spcPts val="2100"/>
              </a:lnSpc>
              <a:spcBef>
                <a:spcPts val="15"/>
              </a:spcBef>
            </a:pPr>
            <a:r>
              <a:rPr sz="1600" b="1" spc="-10">
                <a:solidFill>
                  <a:srgbClr val="32007D"/>
                </a:solidFill>
                <a:latin typeface="Calibri"/>
                <a:cs typeface="Calibri"/>
              </a:rPr>
              <a:t>Data to </a:t>
            </a:r>
            <a:r>
              <a:rPr sz="1600" b="1" spc="-5">
                <a:solidFill>
                  <a:srgbClr val="32007D"/>
                </a:solidFill>
                <a:latin typeface="Calibri"/>
                <a:cs typeface="Calibri"/>
              </a:rPr>
              <a:t>support </a:t>
            </a:r>
            <a:r>
              <a:rPr sz="1600" b="1" spc="-10">
                <a:solidFill>
                  <a:srgbClr val="32007D"/>
                </a:solidFill>
                <a:latin typeface="Calibri"/>
                <a:cs typeface="Calibri"/>
              </a:rPr>
              <a:t>the </a:t>
            </a:r>
            <a:r>
              <a:rPr sz="1600" b="1" spc="-15">
                <a:solidFill>
                  <a:srgbClr val="32007D"/>
                </a:solidFill>
                <a:latin typeface="Calibri"/>
                <a:cs typeface="Calibri"/>
              </a:rPr>
              <a:t>Collateral </a:t>
            </a:r>
            <a:r>
              <a:rPr sz="1600" b="1" u="heavy" spc="-10">
                <a:solidFill>
                  <a:srgbClr val="32007D"/>
                </a:solidFill>
                <a:uFill>
                  <a:solidFill>
                    <a:srgbClr val="375F92"/>
                  </a:solidFill>
                </a:uFill>
                <a:latin typeface="Calibri"/>
                <a:cs typeface="Calibri"/>
              </a:rPr>
              <a:t>Margin </a:t>
            </a:r>
            <a:r>
              <a:rPr sz="1600" b="1" u="heavy" spc="-5">
                <a:solidFill>
                  <a:srgbClr val="32007D"/>
                </a:solidFill>
                <a:uFill>
                  <a:solidFill>
                    <a:srgbClr val="375F92"/>
                  </a:solidFill>
                </a:uFill>
                <a:latin typeface="Calibri"/>
                <a:cs typeface="Calibri"/>
              </a:rPr>
              <a:t>Call</a:t>
            </a:r>
            <a:r>
              <a:rPr sz="1600" b="1" spc="-5">
                <a:solidFill>
                  <a:srgbClr val="32007D"/>
                </a:solidFill>
                <a:latin typeface="Calibri"/>
                <a:cs typeface="Calibri"/>
              </a:rPr>
              <a:t> </a:t>
            </a:r>
            <a:r>
              <a:rPr sz="1600" b="1" spc="-10">
                <a:solidFill>
                  <a:srgbClr val="32007D"/>
                </a:solidFill>
                <a:latin typeface="Calibri"/>
                <a:cs typeface="Calibri"/>
              </a:rPr>
              <a:t>process </a:t>
            </a:r>
            <a:r>
              <a:rPr sz="1600" b="1" spc="-5">
                <a:solidFill>
                  <a:srgbClr val="32007D"/>
                </a:solidFill>
                <a:latin typeface="Calibri"/>
                <a:cs typeface="Calibri"/>
              </a:rPr>
              <a:t>and its </a:t>
            </a:r>
            <a:r>
              <a:rPr sz="1600" b="1" spc="-15">
                <a:solidFill>
                  <a:srgbClr val="32007D"/>
                </a:solidFill>
                <a:latin typeface="Calibri"/>
                <a:cs typeface="Calibri"/>
              </a:rPr>
              <a:t>related </a:t>
            </a:r>
            <a:r>
              <a:rPr sz="1600" b="1" spc="-10">
                <a:solidFill>
                  <a:srgbClr val="32007D"/>
                </a:solidFill>
                <a:latin typeface="Calibri"/>
                <a:cs typeface="Calibri"/>
              </a:rPr>
              <a:t>components for </a:t>
            </a:r>
            <a:r>
              <a:rPr sz="1600" b="1" u="heavy" spc="-10">
                <a:solidFill>
                  <a:srgbClr val="32007D"/>
                </a:solidFill>
                <a:uFill>
                  <a:solidFill>
                    <a:srgbClr val="375F92"/>
                  </a:solidFill>
                </a:uFill>
                <a:latin typeface="Calibri"/>
                <a:cs typeface="Calibri"/>
              </a:rPr>
              <a:t>Collateral </a:t>
            </a:r>
            <a:r>
              <a:rPr sz="1600" b="1" u="heavy" spc="-5">
                <a:solidFill>
                  <a:srgbClr val="32007D"/>
                </a:solidFill>
                <a:uFill>
                  <a:solidFill>
                    <a:srgbClr val="375F92"/>
                  </a:solidFill>
                </a:uFill>
                <a:latin typeface="Calibri"/>
                <a:cs typeface="Calibri"/>
              </a:rPr>
              <a:t>Balance , </a:t>
            </a:r>
            <a:r>
              <a:rPr sz="1600" b="1" u="heavy" spc="-10">
                <a:solidFill>
                  <a:srgbClr val="32007D"/>
                </a:solidFill>
                <a:uFill>
                  <a:solidFill>
                    <a:srgbClr val="375F92"/>
                  </a:solidFill>
                </a:uFill>
                <a:latin typeface="Calibri"/>
                <a:cs typeface="Calibri"/>
              </a:rPr>
              <a:t>Collateral </a:t>
            </a:r>
            <a:r>
              <a:rPr sz="1600" b="1" u="heavy" spc="-5">
                <a:solidFill>
                  <a:srgbClr val="32007D"/>
                </a:solidFill>
                <a:uFill>
                  <a:solidFill>
                    <a:srgbClr val="375F92"/>
                  </a:solidFill>
                </a:uFill>
                <a:latin typeface="Calibri"/>
                <a:cs typeface="Calibri"/>
              </a:rPr>
              <a:t>Positions and </a:t>
            </a:r>
            <a:r>
              <a:rPr sz="1600" b="1" spc="-5">
                <a:solidFill>
                  <a:srgbClr val="32007D"/>
                </a:solidFill>
                <a:latin typeface="Calibri"/>
                <a:cs typeface="Calibri"/>
              </a:rPr>
              <a:t> </a:t>
            </a:r>
            <a:r>
              <a:rPr sz="1600" b="1" u="heavy" spc="-10">
                <a:solidFill>
                  <a:srgbClr val="32007D"/>
                </a:solidFill>
                <a:uFill>
                  <a:solidFill>
                    <a:srgbClr val="375F92"/>
                  </a:solidFill>
                </a:uFill>
                <a:latin typeface="Calibri"/>
                <a:cs typeface="Calibri"/>
              </a:rPr>
              <a:t>Exposure</a:t>
            </a:r>
            <a:r>
              <a:rPr sz="1600" b="1" spc="-10">
                <a:solidFill>
                  <a:srgbClr val="32007D"/>
                </a:solidFill>
                <a:latin typeface="Calibri"/>
                <a:cs typeface="Calibri"/>
              </a:rPr>
              <a:t> are </a:t>
            </a:r>
            <a:r>
              <a:rPr sz="1600" b="1" spc="-5">
                <a:solidFill>
                  <a:srgbClr val="32007D"/>
                </a:solidFill>
                <a:latin typeface="Calibri"/>
                <a:cs typeface="Calibri"/>
              </a:rPr>
              <a:t>now </a:t>
            </a:r>
            <a:r>
              <a:rPr sz="1600" b="1" spc="-15">
                <a:solidFill>
                  <a:srgbClr val="32007D"/>
                </a:solidFill>
                <a:latin typeface="Calibri"/>
                <a:cs typeface="Calibri"/>
              </a:rPr>
              <a:t>represented </a:t>
            </a:r>
            <a:r>
              <a:rPr sz="1600" b="1" spc="-5">
                <a:solidFill>
                  <a:srgbClr val="32007D"/>
                </a:solidFill>
                <a:latin typeface="Calibri"/>
                <a:cs typeface="Calibri"/>
              </a:rPr>
              <a:t>in </a:t>
            </a:r>
            <a:r>
              <a:rPr sz="1600" b="1" spc="-10">
                <a:solidFill>
                  <a:srgbClr val="32007D"/>
                </a:solidFill>
                <a:latin typeface="Calibri"/>
                <a:cs typeface="Calibri"/>
              </a:rPr>
              <a:t>the</a:t>
            </a:r>
            <a:r>
              <a:rPr sz="1600" b="1" spc="85">
                <a:solidFill>
                  <a:srgbClr val="32007D"/>
                </a:solidFill>
                <a:latin typeface="Calibri"/>
                <a:cs typeface="Calibri"/>
              </a:rPr>
              <a:t> </a:t>
            </a:r>
            <a:r>
              <a:rPr sz="1600" b="1" spc="-5">
                <a:solidFill>
                  <a:srgbClr val="32007D"/>
                </a:solidFill>
                <a:latin typeface="Calibri"/>
                <a:cs typeface="Calibri"/>
              </a:rPr>
              <a:t>CDM</a:t>
            </a:r>
            <a:r>
              <a:rPr sz="1800" b="1" spc="-5">
                <a:solidFill>
                  <a:srgbClr val="32007D"/>
                </a:solidFill>
                <a:latin typeface="Calibri"/>
                <a:cs typeface="Calibri"/>
              </a:rPr>
              <a:t>.</a:t>
            </a:r>
            <a:endParaRPr sz="1800">
              <a:solidFill>
                <a:srgbClr val="32007D"/>
              </a:solidFill>
              <a:latin typeface="Calibri"/>
              <a:cs typeface="Calibri"/>
            </a:endParaRPr>
          </a:p>
          <a:p>
            <a:pPr>
              <a:lnSpc>
                <a:spcPct val="100000"/>
              </a:lnSpc>
              <a:spcBef>
                <a:spcPts val="15"/>
              </a:spcBef>
            </a:pPr>
            <a:endParaRPr sz="1700">
              <a:solidFill>
                <a:srgbClr val="32007D"/>
              </a:solidFill>
              <a:latin typeface="Calibri"/>
              <a:cs typeface="Calibri"/>
            </a:endParaRPr>
          </a:p>
          <a:p>
            <a:pPr marL="12700">
              <a:lnSpc>
                <a:spcPct val="100000"/>
              </a:lnSpc>
            </a:pPr>
            <a:r>
              <a:rPr sz="1400" b="1">
                <a:solidFill>
                  <a:srgbClr val="32007D"/>
                </a:solidFill>
                <a:latin typeface="Calibri"/>
                <a:cs typeface="Calibri"/>
              </a:rPr>
              <a:t>A</a:t>
            </a:r>
            <a:r>
              <a:rPr sz="1400" b="1" spc="-5">
                <a:solidFill>
                  <a:srgbClr val="32007D"/>
                </a:solidFill>
                <a:latin typeface="Calibri"/>
                <a:cs typeface="Calibri"/>
              </a:rPr>
              <a:t> foundational</a:t>
            </a:r>
            <a:r>
              <a:rPr sz="1400" b="1" spc="-40">
                <a:solidFill>
                  <a:srgbClr val="32007D"/>
                </a:solidFill>
                <a:latin typeface="Calibri"/>
                <a:cs typeface="Calibri"/>
              </a:rPr>
              <a:t> </a:t>
            </a:r>
            <a:r>
              <a:rPr sz="1400" b="1">
                <a:solidFill>
                  <a:srgbClr val="32007D"/>
                </a:solidFill>
                <a:latin typeface="Calibri"/>
                <a:cs typeface="Calibri"/>
              </a:rPr>
              <a:t>structure</a:t>
            </a:r>
            <a:r>
              <a:rPr sz="1400" b="1" spc="-55">
                <a:solidFill>
                  <a:srgbClr val="32007D"/>
                </a:solidFill>
                <a:latin typeface="Calibri"/>
                <a:cs typeface="Calibri"/>
              </a:rPr>
              <a:t> </a:t>
            </a:r>
            <a:r>
              <a:rPr sz="1400" b="1" spc="-5">
                <a:solidFill>
                  <a:srgbClr val="32007D"/>
                </a:solidFill>
                <a:latin typeface="Calibri"/>
                <a:cs typeface="Calibri"/>
              </a:rPr>
              <a:t>to</a:t>
            </a:r>
            <a:r>
              <a:rPr sz="1400" b="1" spc="-20">
                <a:solidFill>
                  <a:srgbClr val="32007D"/>
                </a:solidFill>
                <a:latin typeface="Calibri"/>
                <a:cs typeface="Calibri"/>
              </a:rPr>
              <a:t> </a:t>
            </a:r>
            <a:r>
              <a:rPr sz="1400" b="1">
                <a:solidFill>
                  <a:srgbClr val="32007D"/>
                </a:solidFill>
                <a:latin typeface="Calibri"/>
                <a:cs typeface="Calibri"/>
              </a:rPr>
              <a:t>support</a:t>
            </a:r>
            <a:r>
              <a:rPr sz="1400" b="1" spc="-25">
                <a:solidFill>
                  <a:srgbClr val="32007D"/>
                </a:solidFill>
                <a:latin typeface="Calibri"/>
                <a:cs typeface="Calibri"/>
              </a:rPr>
              <a:t> </a:t>
            </a:r>
            <a:r>
              <a:rPr sz="1400" b="1">
                <a:solidFill>
                  <a:srgbClr val="32007D"/>
                </a:solidFill>
                <a:latin typeface="Calibri"/>
                <a:cs typeface="Calibri"/>
              </a:rPr>
              <a:t>the</a:t>
            </a:r>
            <a:r>
              <a:rPr sz="1400" b="1" spc="-30">
                <a:solidFill>
                  <a:srgbClr val="32007D"/>
                </a:solidFill>
                <a:latin typeface="Calibri"/>
                <a:cs typeface="Calibri"/>
              </a:rPr>
              <a:t> </a:t>
            </a:r>
            <a:r>
              <a:rPr sz="1400" b="1" spc="-5">
                <a:solidFill>
                  <a:srgbClr val="32007D"/>
                </a:solidFill>
                <a:latin typeface="Calibri"/>
                <a:cs typeface="Calibri"/>
              </a:rPr>
              <a:t>data</a:t>
            </a:r>
            <a:r>
              <a:rPr sz="1400" b="1" spc="-25">
                <a:solidFill>
                  <a:srgbClr val="32007D"/>
                </a:solidFill>
                <a:latin typeface="Calibri"/>
                <a:cs typeface="Calibri"/>
              </a:rPr>
              <a:t> </a:t>
            </a:r>
            <a:r>
              <a:rPr sz="1400" b="1" spc="-5">
                <a:solidFill>
                  <a:srgbClr val="32007D"/>
                </a:solidFill>
                <a:latin typeface="Calibri"/>
                <a:cs typeface="Calibri"/>
              </a:rPr>
              <a:t>required</a:t>
            </a:r>
            <a:r>
              <a:rPr sz="1400" b="1" spc="-40">
                <a:solidFill>
                  <a:srgbClr val="32007D"/>
                </a:solidFill>
                <a:latin typeface="Calibri"/>
                <a:cs typeface="Calibri"/>
              </a:rPr>
              <a:t> </a:t>
            </a:r>
            <a:r>
              <a:rPr sz="1400" b="1" spc="-10">
                <a:solidFill>
                  <a:srgbClr val="32007D"/>
                </a:solidFill>
                <a:latin typeface="Calibri"/>
                <a:cs typeface="Calibri"/>
              </a:rPr>
              <a:t>for</a:t>
            </a:r>
            <a:r>
              <a:rPr sz="1400" b="1" spc="-15">
                <a:solidFill>
                  <a:srgbClr val="32007D"/>
                </a:solidFill>
                <a:latin typeface="Calibri"/>
                <a:cs typeface="Calibri"/>
              </a:rPr>
              <a:t> </a:t>
            </a:r>
            <a:r>
              <a:rPr sz="1400" b="1">
                <a:solidFill>
                  <a:srgbClr val="32007D"/>
                </a:solidFill>
                <a:latin typeface="Calibri"/>
                <a:cs typeface="Calibri"/>
              </a:rPr>
              <a:t>the</a:t>
            </a:r>
            <a:r>
              <a:rPr sz="1400" b="1" spc="-30">
                <a:solidFill>
                  <a:srgbClr val="32007D"/>
                </a:solidFill>
                <a:latin typeface="Calibri"/>
                <a:cs typeface="Calibri"/>
              </a:rPr>
              <a:t> </a:t>
            </a:r>
            <a:r>
              <a:rPr sz="1400" b="1" spc="-5">
                <a:solidFill>
                  <a:srgbClr val="32007D"/>
                </a:solidFill>
                <a:latin typeface="Calibri"/>
                <a:cs typeface="Calibri"/>
              </a:rPr>
              <a:t>margin</a:t>
            </a:r>
            <a:r>
              <a:rPr sz="1400" b="1" spc="-30">
                <a:solidFill>
                  <a:srgbClr val="32007D"/>
                </a:solidFill>
                <a:latin typeface="Calibri"/>
                <a:cs typeface="Calibri"/>
              </a:rPr>
              <a:t> </a:t>
            </a:r>
            <a:r>
              <a:rPr sz="1400" b="1" spc="-5">
                <a:solidFill>
                  <a:srgbClr val="32007D"/>
                </a:solidFill>
                <a:latin typeface="Calibri"/>
                <a:cs typeface="Calibri"/>
              </a:rPr>
              <a:t>call</a:t>
            </a:r>
            <a:r>
              <a:rPr sz="1400" b="1">
                <a:solidFill>
                  <a:srgbClr val="32007D"/>
                </a:solidFill>
                <a:latin typeface="Calibri"/>
                <a:cs typeface="Calibri"/>
              </a:rPr>
              <a:t> process</a:t>
            </a:r>
            <a:r>
              <a:rPr sz="1400" b="1" spc="-25">
                <a:solidFill>
                  <a:srgbClr val="32007D"/>
                </a:solidFill>
                <a:latin typeface="Calibri"/>
                <a:cs typeface="Calibri"/>
              </a:rPr>
              <a:t> </a:t>
            </a:r>
            <a:r>
              <a:rPr sz="1400" b="1">
                <a:solidFill>
                  <a:srgbClr val="32007D"/>
                </a:solidFill>
                <a:latin typeface="Calibri"/>
                <a:cs typeface="Calibri"/>
              </a:rPr>
              <a:t>including:</a:t>
            </a:r>
            <a:endParaRPr sz="1400">
              <a:solidFill>
                <a:srgbClr val="32007D"/>
              </a:solidFill>
              <a:latin typeface="Calibri"/>
              <a:cs typeface="Calibri"/>
            </a:endParaRPr>
          </a:p>
          <a:p>
            <a:pPr marL="756285" indent="-287655">
              <a:lnSpc>
                <a:spcPct val="100000"/>
              </a:lnSpc>
              <a:spcBef>
                <a:spcPts val="1055"/>
              </a:spcBef>
              <a:buFont typeface="Courier New"/>
              <a:buChar char="o"/>
              <a:tabLst>
                <a:tab pos="756285" algn="l"/>
                <a:tab pos="756920" algn="l"/>
              </a:tabLst>
            </a:pPr>
            <a:r>
              <a:rPr sz="1400" b="1" spc="-5">
                <a:solidFill>
                  <a:srgbClr val="32007D"/>
                </a:solidFill>
                <a:latin typeface="Calibri"/>
                <a:cs typeface="Calibri"/>
              </a:rPr>
              <a:t>Standard margin call </a:t>
            </a:r>
            <a:r>
              <a:rPr sz="1400" b="1">
                <a:solidFill>
                  <a:srgbClr val="32007D"/>
                </a:solidFill>
                <a:latin typeface="Calibri"/>
                <a:cs typeface="Calibri"/>
              </a:rPr>
              <a:t>action</a:t>
            </a:r>
            <a:r>
              <a:rPr sz="1400" b="1" spc="-105">
                <a:solidFill>
                  <a:srgbClr val="32007D"/>
                </a:solidFill>
                <a:latin typeface="Calibri"/>
                <a:cs typeface="Calibri"/>
              </a:rPr>
              <a:t> </a:t>
            </a:r>
            <a:r>
              <a:rPr sz="1400" b="1">
                <a:solidFill>
                  <a:srgbClr val="32007D"/>
                </a:solidFill>
                <a:latin typeface="Calibri"/>
                <a:cs typeface="Calibri"/>
              </a:rPr>
              <a:t>labels</a:t>
            </a:r>
            <a:endParaRPr sz="1400">
              <a:solidFill>
                <a:srgbClr val="32007D"/>
              </a:solidFill>
              <a:latin typeface="Calibri"/>
              <a:cs typeface="Calibri"/>
            </a:endParaRPr>
          </a:p>
          <a:p>
            <a:pPr marL="756285" indent="-287655">
              <a:lnSpc>
                <a:spcPct val="100000"/>
              </a:lnSpc>
              <a:spcBef>
                <a:spcPts val="805"/>
              </a:spcBef>
              <a:buFont typeface="Courier New"/>
              <a:buChar char="o"/>
              <a:tabLst>
                <a:tab pos="756285" algn="l"/>
                <a:tab pos="756920" algn="l"/>
              </a:tabLst>
            </a:pPr>
            <a:r>
              <a:rPr sz="1400" b="1">
                <a:solidFill>
                  <a:srgbClr val="32007D"/>
                </a:solidFill>
                <a:latin typeface="Calibri"/>
                <a:cs typeface="Calibri"/>
              </a:rPr>
              <a:t>Base</a:t>
            </a:r>
            <a:r>
              <a:rPr sz="1400" b="1" spc="-30">
                <a:solidFill>
                  <a:srgbClr val="32007D"/>
                </a:solidFill>
                <a:latin typeface="Calibri"/>
                <a:cs typeface="Calibri"/>
              </a:rPr>
              <a:t> </a:t>
            </a:r>
            <a:r>
              <a:rPr sz="1400" b="1" spc="-5">
                <a:solidFill>
                  <a:srgbClr val="32007D"/>
                </a:solidFill>
                <a:latin typeface="Calibri"/>
                <a:cs typeface="Calibri"/>
              </a:rPr>
              <a:t>details</a:t>
            </a:r>
            <a:r>
              <a:rPr sz="1400" b="1" spc="-25">
                <a:solidFill>
                  <a:srgbClr val="32007D"/>
                </a:solidFill>
                <a:latin typeface="Calibri"/>
                <a:cs typeface="Calibri"/>
              </a:rPr>
              <a:t> </a:t>
            </a:r>
            <a:r>
              <a:rPr sz="1400" b="1" spc="-10">
                <a:solidFill>
                  <a:srgbClr val="32007D"/>
                </a:solidFill>
                <a:latin typeface="Calibri"/>
                <a:cs typeface="Calibri"/>
              </a:rPr>
              <a:t>for </a:t>
            </a:r>
            <a:r>
              <a:rPr sz="1400" b="1" spc="-5">
                <a:solidFill>
                  <a:srgbClr val="32007D"/>
                </a:solidFill>
                <a:latin typeface="Calibri"/>
                <a:cs typeface="Calibri"/>
              </a:rPr>
              <a:t>margin</a:t>
            </a:r>
            <a:r>
              <a:rPr sz="1400" b="1" spc="-30">
                <a:solidFill>
                  <a:srgbClr val="32007D"/>
                </a:solidFill>
                <a:latin typeface="Calibri"/>
                <a:cs typeface="Calibri"/>
              </a:rPr>
              <a:t> </a:t>
            </a:r>
            <a:r>
              <a:rPr sz="1400" b="1" spc="-5">
                <a:solidFill>
                  <a:srgbClr val="32007D"/>
                </a:solidFill>
                <a:latin typeface="Calibri"/>
                <a:cs typeface="Calibri"/>
              </a:rPr>
              <a:t>call data</a:t>
            </a:r>
            <a:r>
              <a:rPr sz="1400" b="1" spc="-20">
                <a:solidFill>
                  <a:srgbClr val="32007D"/>
                </a:solidFill>
                <a:latin typeface="Calibri"/>
                <a:cs typeface="Calibri"/>
              </a:rPr>
              <a:t> </a:t>
            </a:r>
            <a:r>
              <a:rPr sz="1400" b="1">
                <a:solidFill>
                  <a:srgbClr val="32007D"/>
                </a:solidFill>
                <a:latin typeface="Calibri"/>
                <a:cs typeface="Calibri"/>
              </a:rPr>
              <a:t>types</a:t>
            </a:r>
            <a:r>
              <a:rPr sz="1400" b="1" spc="-15">
                <a:solidFill>
                  <a:srgbClr val="32007D"/>
                </a:solidFill>
                <a:latin typeface="Calibri"/>
                <a:cs typeface="Calibri"/>
              </a:rPr>
              <a:t> </a:t>
            </a:r>
            <a:r>
              <a:rPr sz="1400" b="1">
                <a:solidFill>
                  <a:srgbClr val="32007D"/>
                </a:solidFill>
                <a:latin typeface="Calibri"/>
                <a:cs typeface="Calibri"/>
              </a:rPr>
              <a:t>and</a:t>
            </a:r>
            <a:r>
              <a:rPr sz="1400" b="1" spc="-30">
                <a:solidFill>
                  <a:srgbClr val="32007D"/>
                </a:solidFill>
                <a:latin typeface="Calibri"/>
                <a:cs typeface="Calibri"/>
              </a:rPr>
              <a:t> </a:t>
            </a:r>
            <a:r>
              <a:rPr sz="1400" b="1" spc="-5">
                <a:solidFill>
                  <a:srgbClr val="32007D"/>
                </a:solidFill>
                <a:latin typeface="Calibri"/>
                <a:cs typeface="Calibri"/>
              </a:rPr>
              <a:t>attributes</a:t>
            </a:r>
            <a:r>
              <a:rPr sz="1400" b="1" spc="-35">
                <a:solidFill>
                  <a:srgbClr val="32007D"/>
                </a:solidFill>
                <a:latin typeface="Calibri"/>
                <a:cs typeface="Calibri"/>
              </a:rPr>
              <a:t> </a:t>
            </a:r>
            <a:r>
              <a:rPr sz="1400" b="1" spc="-5">
                <a:solidFill>
                  <a:srgbClr val="32007D"/>
                </a:solidFill>
                <a:latin typeface="Calibri"/>
                <a:cs typeface="Calibri"/>
              </a:rPr>
              <a:t>to</a:t>
            </a:r>
            <a:r>
              <a:rPr sz="1400" b="1" spc="-20">
                <a:solidFill>
                  <a:srgbClr val="32007D"/>
                </a:solidFill>
                <a:latin typeface="Calibri"/>
                <a:cs typeface="Calibri"/>
              </a:rPr>
              <a:t> </a:t>
            </a:r>
            <a:r>
              <a:rPr sz="1400" b="1">
                <a:solidFill>
                  <a:srgbClr val="32007D"/>
                </a:solidFill>
                <a:latin typeface="Calibri"/>
                <a:cs typeface="Calibri"/>
              </a:rPr>
              <a:t>support</a:t>
            </a:r>
            <a:r>
              <a:rPr sz="1400" b="1" spc="-25">
                <a:solidFill>
                  <a:srgbClr val="32007D"/>
                </a:solidFill>
                <a:latin typeface="Calibri"/>
                <a:cs typeface="Calibri"/>
              </a:rPr>
              <a:t> </a:t>
            </a:r>
            <a:r>
              <a:rPr sz="1400" b="1">
                <a:solidFill>
                  <a:srgbClr val="32007D"/>
                </a:solidFill>
                <a:latin typeface="Calibri"/>
                <a:cs typeface="Calibri"/>
              </a:rPr>
              <a:t>unique</a:t>
            </a:r>
            <a:r>
              <a:rPr sz="1400" b="1" spc="-35">
                <a:solidFill>
                  <a:srgbClr val="32007D"/>
                </a:solidFill>
                <a:latin typeface="Calibri"/>
                <a:cs typeface="Calibri"/>
              </a:rPr>
              <a:t> </a:t>
            </a:r>
            <a:r>
              <a:rPr sz="1400" b="1" spc="-10">
                <a:solidFill>
                  <a:srgbClr val="32007D"/>
                </a:solidFill>
                <a:latin typeface="Calibri"/>
                <a:cs typeface="Calibri"/>
              </a:rPr>
              <a:t>features</a:t>
            </a:r>
            <a:r>
              <a:rPr sz="1400" b="1" spc="-40">
                <a:solidFill>
                  <a:srgbClr val="32007D"/>
                </a:solidFill>
                <a:latin typeface="Calibri"/>
                <a:cs typeface="Calibri"/>
              </a:rPr>
              <a:t> </a:t>
            </a:r>
            <a:r>
              <a:rPr sz="1400" b="1" spc="-10">
                <a:solidFill>
                  <a:srgbClr val="32007D"/>
                </a:solidFill>
                <a:latin typeface="Calibri"/>
                <a:cs typeface="Calibri"/>
              </a:rPr>
              <a:t>for</a:t>
            </a:r>
            <a:r>
              <a:rPr sz="1400" b="1" spc="-15">
                <a:solidFill>
                  <a:srgbClr val="32007D"/>
                </a:solidFill>
                <a:latin typeface="Calibri"/>
                <a:cs typeface="Calibri"/>
              </a:rPr>
              <a:t> </a:t>
            </a:r>
            <a:r>
              <a:rPr sz="1400" b="1">
                <a:solidFill>
                  <a:srgbClr val="32007D"/>
                </a:solidFill>
                <a:latin typeface="Calibri"/>
                <a:cs typeface="Calibri"/>
              </a:rPr>
              <a:t>issuance</a:t>
            </a:r>
            <a:r>
              <a:rPr sz="1400" b="1" spc="-35">
                <a:solidFill>
                  <a:srgbClr val="32007D"/>
                </a:solidFill>
                <a:latin typeface="Calibri"/>
                <a:cs typeface="Calibri"/>
              </a:rPr>
              <a:t> </a:t>
            </a:r>
            <a:r>
              <a:rPr sz="1400" b="1">
                <a:solidFill>
                  <a:srgbClr val="32007D"/>
                </a:solidFill>
                <a:latin typeface="Calibri"/>
                <a:cs typeface="Calibri"/>
              </a:rPr>
              <a:t>and</a:t>
            </a:r>
            <a:r>
              <a:rPr sz="1400" b="1" spc="-15">
                <a:solidFill>
                  <a:srgbClr val="32007D"/>
                </a:solidFill>
                <a:latin typeface="Calibri"/>
                <a:cs typeface="Calibri"/>
              </a:rPr>
              <a:t> </a:t>
            </a:r>
            <a:r>
              <a:rPr sz="1400" b="1">
                <a:solidFill>
                  <a:srgbClr val="32007D"/>
                </a:solidFill>
                <a:latin typeface="Calibri"/>
                <a:cs typeface="Calibri"/>
              </a:rPr>
              <a:t>response</a:t>
            </a:r>
            <a:endParaRPr sz="1400">
              <a:solidFill>
                <a:srgbClr val="32007D"/>
              </a:solidFill>
              <a:latin typeface="Calibri"/>
              <a:cs typeface="Calibri"/>
            </a:endParaRPr>
          </a:p>
          <a:p>
            <a:pPr marL="756285" indent="-287655">
              <a:lnSpc>
                <a:spcPct val="100000"/>
              </a:lnSpc>
              <a:spcBef>
                <a:spcPts val="790"/>
              </a:spcBef>
              <a:buFont typeface="Courier New"/>
              <a:buChar char="o"/>
              <a:tabLst>
                <a:tab pos="756285" algn="l"/>
                <a:tab pos="756920" algn="l"/>
              </a:tabLst>
            </a:pPr>
            <a:r>
              <a:rPr sz="1400" b="1" spc="-5">
                <a:solidFill>
                  <a:srgbClr val="32007D"/>
                </a:solidFill>
                <a:latin typeface="Calibri"/>
                <a:cs typeface="Calibri"/>
              </a:rPr>
              <a:t>Collateral</a:t>
            </a:r>
            <a:r>
              <a:rPr sz="1400" b="1" spc="-25">
                <a:solidFill>
                  <a:srgbClr val="32007D"/>
                </a:solidFill>
                <a:latin typeface="Calibri"/>
                <a:cs typeface="Calibri"/>
              </a:rPr>
              <a:t> </a:t>
            </a:r>
            <a:r>
              <a:rPr sz="1400" b="1">
                <a:solidFill>
                  <a:srgbClr val="32007D"/>
                </a:solidFill>
                <a:latin typeface="Calibri"/>
                <a:cs typeface="Calibri"/>
              </a:rPr>
              <a:t>positions</a:t>
            </a:r>
            <a:r>
              <a:rPr sz="1400" b="1" spc="-35">
                <a:solidFill>
                  <a:srgbClr val="32007D"/>
                </a:solidFill>
                <a:latin typeface="Calibri"/>
                <a:cs typeface="Calibri"/>
              </a:rPr>
              <a:t> </a:t>
            </a:r>
            <a:r>
              <a:rPr sz="1400" b="1">
                <a:solidFill>
                  <a:srgbClr val="32007D"/>
                </a:solidFill>
                <a:latin typeface="Calibri"/>
                <a:cs typeface="Calibri"/>
              </a:rPr>
              <a:t>and</a:t>
            </a:r>
            <a:r>
              <a:rPr sz="1400" b="1" spc="-10">
                <a:solidFill>
                  <a:srgbClr val="32007D"/>
                </a:solidFill>
                <a:latin typeface="Calibri"/>
                <a:cs typeface="Calibri"/>
              </a:rPr>
              <a:t> </a:t>
            </a:r>
            <a:r>
              <a:rPr sz="1400" b="1">
                <a:solidFill>
                  <a:srgbClr val="32007D"/>
                </a:solidFill>
                <a:latin typeface="Calibri"/>
                <a:cs typeface="Calibri"/>
              </a:rPr>
              <a:t>ability</a:t>
            </a:r>
            <a:r>
              <a:rPr sz="1400" b="1" spc="-25">
                <a:solidFill>
                  <a:srgbClr val="32007D"/>
                </a:solidFill>
                <a:latin typeface="Calibri"/>
                <a:cs typeface="Calibri"/>
              </a:rPr>
              <a:t> </a:t>
            </a:r>
            <a:r>
              <a:rPr sz="1400" b="1" spc="-5">
                <a:solidFill>
                  <a:srgbClr val="32007D"/>
                </a:solidFill>
                <a:latin typeface="Calibri"/>
                <a:cs typeface="Calibri"/>
              </a:rPr>
              <a:t>to</a:t>
            </a:r>
            <a:r>
              <a:rPr sz="1400" b="1" spc="-10">
                <a:solidFill>
                  <a:srgbClr val="32007D"/>
                </a:solidFill>
                <a:latin typeface="Calibri"/>
                <a:cs typeface="Calibri"/>
              </a:rPr>
              <a:t> </a:t>
            </a:r>
            <a:r>
              <a:rPr sz="1400" b="1" spc="-5">
                <a:solidFill>
                  <a:srgbClr val="32007D"/>
                </a:solidFill>
                <a:latin typeface="Calibri"/>
                <a:cs typeface="Calibri"/>
              </a:rPr>
              <a:t>list</a:t>
            </a:r>
            <a:r>
              <a:rPr sz="1400" b="1" spc="5">
                <a:solidFill>
                  <a:srgbClr val="32007D"/>
                </a:solidFill>
                <a:latin typeface="Calibri"/>
                <a:cs typeface="Calibri"/>
              </a:rPr>
              <a:t> </a:t>
            </a:r>
            <a:r>
              <a:rPr sz="1400" b="1" spc="-10">
                <a:solidFill>
                  <a:srgbClr val="32007D"/>
                </a:solidFill>
                <a:latin typeface="Calibri"/>
                <a:cs typeface="Calibri"/>
              </a:rPr>
              <a:t>collateral</a:t>
            </a:r>
            <a:r>
              <a:rPr sz="1400" b="1" spc="-35">
                <a:solidFill>
                  <a:srgbClr val="32007D"/>
                </a:solidFill>
                <a:latin typeface="Calibri"/>
                <a:cs typeface="Calibri"/>
              </a:rPr>
              <a:t> </a:t>
            </a:r>
            <a:r>
              <a:rPr sz="1400" b="1">
                <a:solidFill>
                  <a:srgbClr val="32007D"/>
                </a:solidFill>
                <a:latin typeface="Calibri"/>
                <a:cs typeface="Calibri"/>
              </a:rPr>
              <a:t>assets</a:t>
            </a:r>
            <a:r>
              <a:rPr sz="1400" b="1" spc="-25">
                <a:solidFill>
                  <a:srgbClr val="32007D"/>
                </a:solidFill>
                <a:latin typeface="Calibri"/>
                <a:cs typeface="Calibri"/>
              </a:rPr>
              <a:t> </a:t>
            </a:r>
            <a:r>
              <a:rPr sz="1400" b="1" spc="-10">
                <a:solidFill>
                  <a:srgbClr val="32007D"/>
                </a:solidFill>
                <a:latin typeface="Calibri"/>
                <a:cs typeface="Calibri"/>
              </a:rPr>
              <a:t>for </a:t>
            </a:r>
            <a:r>
              <a:rPr sz="1400" b="1" spc="-5">
                <a:solidFill>
                  <a:srgbClr val="32007D"/>
                </a:solidFill>
                <a:latin typeface="Calibri"/>
                <a:cs typeface="Calibri"/>
              </a:rPr>
              <a:t>responding</a:t>
            </a:r>
            <a:r>
              <a:rPr sz="1400" b="1" spc="-30">
                <a:solidFill>
                  <a:srgbClr val="32007D"/>
                </a:solidFill>
                <a:latin typeface="Calibri"/>
                <a:cs typeface="Calibri"/>
              </a:rPr>
              <a:t> </a:t>
            </a:r>
            <a:r>
              <a:rPr sz="1400" b="1" spc="-5">
                <a:solidFill>
                  <a:srgbClr val="32007D"/>
                </a:solidFill>
                <a:latin typeface="Calibri"/>
                <a:cs typeface="Calibri"/>
              </a:rPr>
              <a:t>to</a:t>
            </a:r>
            <a:r>
              <a:rPr sz="1400" b="1" spc="-10">
                <a:solidFill>
                  <a:srgbClr val="32007D"/>
                </a:solidFill>
                <a:latin typeface="Calibri"/>
                <a:cs typeface="Calibri"/>
              </a:rPr>
              <a:t> </a:t>
            </a:r>
            <a:r>
              <a:rPr sz="1400" b="1" spc="-5">
                <a:solidFill>
                  <a:srgbClr val="32007D"/>
                </a:solidFill>
                <a:latin typeface="Calibri"/>
                <a:cs typeface="Calibri"/>
              </a:rPr>
              <a:t>margin</a:t>
            </a:r>
            <a:r>
              <a:rPr sz="1400" b="1" spc="-30">
                <a:solidFill>
                  <a:srgbClr val="32007D"/>
                </a:solidFill>
                <a:latin typeface="Calibri"/>
                <a:cs typeface="Calibri"/>
              </a:rPr>
              <a:t> </a:t>
            </a:r>
            <a:r>
              <a:rPr sz="1400" b="1">
                <a:solidFill>
                  <a:srgbClr val="32007D"/>
                </a:solidFill>
                <a:latin typeface="Calibri"/>
                <a:cs typeface="Calibri"/>
              </a:rPr>
              <a:t>demands</a:t>
            </a:r>
            <a:r>
              <a:rPr sz="1400" b="1" spc="-35">
                <a:solidFill>
                  <a:srgbClr val="32007D"/>
                </a:solidFill>
                <a:latin typeface="Calibri"/>
                <a:cs typeface="Calibri"/>
              </a:rPr>
              <a:t> </a:t>
            </a:r>
            <a:r>
              <a:rPr sz="1400" b="1">
                <a:solidFill>
                  <a:srgbClr val="32007D"/>
                </a:solidFill>
                <a:latin typeface="Calibri"/>
                <a:cs typeface="Calibri"/>
              </a:rPr>
              <a:t>and</a:t>
            </a:r>
            <a:r>
              <a:rPr sz="1400" b="1" spc="-25">
                <a:solidFill>
                  <a:srgbClr val="32007D"/>
                </a:solidFill>
                <a:latin typeface="Calibri"/>
                <a:cs typeface="Calibri"/>
              </a:rPr>
              <a:t> </a:t>
            </a:r>
            <a:r>
              <a:rPr sz="1400" b="1" spc="-10">
                <a:solidFill>
                  <a:srgbClr val="32007D"/>
                </a:solidFill>
                <a:latin typeface="Calibri"/>
                <a:cs typeface="Calibri"/>
              </a:rPr>
              <a:t>for</a:t>
            </a:r>
            <a:r>
              <a:rPr sz="1400" b="1" spc="-15">
                <a:solidFill>
                  <a:srgbClr val="32007D"/>
                </a:solidFill>
                <a:latin typeface="Calibri"/>
                <a:cs typeface="Calibri"/>
              </a:rPr>
              <a:t> </a:t>
            </a:r>
            <a:r>
              <a:rPr sz="1400" b="1" spc="-5">
                <a:solidFill>
                  <a:srgbClr val="32007D"/>
                </a:solidFill>
                <a:latin typeface="Calibri"/>
                <a:cs typeface="Calibri"/>
              </a:rPr>
              <a:t>information</a:t>
            </a:r>
            <a:r>
              <a:rPr sz="1400" b="1" spc="-35">
                <a:solidFill>
                  <a:srgbClr val="32007D"/>
                </a:solidFill>
                <a:latin typeface="Calibri"/>
                <a:cs typeface="Calibri"/>
              </a:rPr>
              <a:t> </a:t>
            </a:r>
            <a:r>
              <a:rPr sz="1400" b="1">
                <a:solidFill>
                  <a:srgbClr val="32007D"/>
                </a:solidFill>
                <a:latin typeface="Calibri"/>
                <a:cs typeface="Calibri"/>
              </a:rPr>
              <a:t>purposes</a:t>
            </a:r>
            <a:endParaRPr sz="1400">
              <a:solidFill>
                <a:srgbClr val="32007D"/>
              </a:solidFill>
              <a:latin typeface="Calibri"/>
              <a:cs typeface="Calibri"/>
            </a:endParaRPr>
          </a:p>
          <a:p>
            <a:pPr marL="756285" indent="-287655">
              <a:lnSpc>
                <a:spcPct val="100000"/>
              </a:lnSpc>
              <a:spcBef>
                <a:spcPts val="805"/>
              </a:spcBef>
              <a:buFont typeface="Courier New"/>
              <a:buChar char="o"/>
              <a:tabLst>
                <a:tab pos="756285" algn="l"/>
                <a:tab pos="756920" algn="l"/>
              </a:tabLst>
            </a:pPr>
            <a:r>
              <a:rPr sz="1400" b="1" spc="-5">
                <a:solidFill>
                  <a:srgbClr val="32007D"/>
                </a:solidFill>
                <a:latin typeface="Calibri"/>
                <a:cs typeface="Calibri"/>
              </a:rPr>
              <a:t>Collateral</a:t>
            </a:r>
            <a:r>
              <a:rPr sz="1400" b="1" spc="-25">
                <a:solidFill>
                  <a:srgbClr val="32007D"/>
                </a:solidFill>
                <a:latin typeface="Calibri"/>
                <a:cs typeface="Calibri"/>
              </a:rPr>
              <a:t> </a:t>
            </a:r>
            <a:r>
              <a:rPr sz="1400" b="1">
                <a:solidFill>
                  <a:srgbClr val="32007D"/>
                </a:solidFill>
                <a:latin typeface="Calibri"/>
                <a:cs typeface="Calibri"/>
              </a:rPr>
              <a:t>balance</a:t>
            </a:r>
            <a:r>
              <a:rPr sz="1400" b="1" spc="-40">
                <a:solidFill>
                  <a:srgbClr val="32007D"/>
                </a:solidFill>
                <a:latin typeface="Calibri"/>
                <a:cs typeface="Calibri"/>
              </a:rPr>
              <a:t> </a:t>
            </a:r>
            <a:r>
              <a:rPr sz="1400" b="1" spc="-5">
                <a:solidFill>
                  <a:srgbClr val="32007D"/>
                </a:solidFill>
                <a:latin typeface="Calibri"/>
                <a:cs typeface="Calibri"/>
              </a:rPr>
              <a:t>data</a:t>
            </a:r>
            <a:r>
              <a:rPr sz="1400" b="1" spc="-40">
                <a:solidFill>
                  <a:srgbClr val="32007D"/>
                </a:solidFill>
                <a:latin typeface="Calibri"/>
                <a:cs typeface="Calibri"/>
              </a:rPr>
              <a:t> </a:t>
            </a:r>
            <a:r>
              <a:rPr sz="1400" b="1" spc="-5">
                <a:solidFill>
                  <a:srgbClr val="32007D"/>
                </a:solidFill>
                <a:latin typeface="Calibri"/>
                <a:cs typeface="Calibri"/>
              </a:rPr>
              <a:t>requirements</a:t>
            </a:r>
            <a:r>
              <a:rPr sz="1400" b="1" spc="-40">
                <a:solidFill>
                  <a:srgbClr val="32007D"/>
                </a:solidFill>
                <a:latin typeface="Calibri"/>
                <a:cs typeface="Calibri"/>
              </a:rPr>
              <a:t> </a:t>
            </a:r>
            <a:r>
              <a:rPr sz="1400" b="1">
                <a:solidFill>
                  <a:srgbClr val="32007D"/>
                </a:solidFill>
                <a:latin typeface="Calibri"/>
                <a:cs typeface="Calibri"/>
              </a:rPr>
              <a:t>and</a:t>
            </a:r>
            <a:r>
              <a:rPr sz="1400" b="1" spc="-30">
                <a:solidFill>
                  <a:srgbClr val="32007D"/>
                </a:solidFill>
                <a:latin typeface="Calibri"/>
                <a:cs typeface="Calibri"/>
              </a:rPr>
              <a:t> </a:t>
            </a:r>
            <a:r>
              <a:rPr sz="1400" b="1" spc="-10">
                <a:solidFill>
                  <a:srgbClr val="32007D"/>
                </a:solidFill>
                <a:latin typeface="Calibri"/>
                <a:cs typeface="Calibri"/>
              </a:rPr>
              <a:t>aggregate</a:t>
            </a:r>
            <a:r>
              <a:rPr sz="1400" b="1" spc="-40">
                <a:solidFill>
                  <a:srgbClr val="32007D"/>
                </a:solidFill>
                <a:latin typeface="Calibri"/>
                <a:cs typeface="Calibri"/>
              </a:rPr>
              <a:t> </a:t>
            </a:r>
            <a:r>
              <a:rPr sz="1400" b="1" spc="-5">
                <a:solidFill>
                  <a:srgbClr val="32007D"/>
                </a:solidFill>
                <a:latin typeface="Calibri"/>
                <a:cs typeface="Calibri"/>
              </a:rPr>
              <a:t>values</a:t>
            </a:r>
            <a:r>
              <a:rPr sz="1400" b="1" spc="-20">
                <a:solidFill>
                  <a:srgbClr val="32007D"/>
                </a:solidFill>
                <a:latin typeface="Calibri"/>
                <a:cs typeface="Calibri"/>
              </a:rPr>
              <a:t> </a:t>
            </a:r>
            <a:r>
              <a:rPr sz="1400" b="1" spc="-10">
                <a:solidFill>
                  <a:srgbClr val="32007D"/>
                </a:solidFill>
                <a:latin typeface="Calibri"/>
                <a:cs typeface="Calibri"/>
              </a:rPr>
              <a:t>for</a:t>
            </a:r>
            <a:r>
              <a:rPr sz="1400" b="1" spc="-15">
                <a:solidFill>
                  <a:srgbClr val="32007D"/>
                </a:solidFill>
                <a:latin typeface="Calibri"/>
                <a:cs typeface="Calibri"/>
              </a:rPr>
              <a:t> </a:t>
            </a:r>
            <a:r>
              <a:rPr sz="1400" b="1" spc="-5">
                <a:solidFill>
                  <a:srgbClr val="32007D"/>
                </a:solidFill>
                <a:latin typeface="Calibri"/>
                <a:cs typeface="Calibri"/>
              </a:rPr>
              <a:t>margin</a:t>
            </a:r>
            <a:r>
              <a:rPr sz="1400" b="1" spc="-15">
                <a:solidFill>
                  <a:srgbClr val="32007D"/>
                </a:solidFill>
                <a:latin typeface="Calibri"/>
                <a:cs typeface="Calibri"/>
              </a:rPr>
              <a:t> </a:t>
            </a:r>
            <a:r>
              <a:rPr sz="1400" b="1" spc="-5">
                <a:solidFill>
                  <a:srgbClr val="32007D"/>
                </a:solidFill>
                <a:latin typeface="Calibri"/>
                <a:cs typeface="Calibri"/>
              </a:rPr>
              <a:t>call data</a:t>
            </a:r>
            <a:r>
              <a:rPr sz="1400" b="1" spc="-40">
                <a:solidFill>
                  <a:srgbClr val="32007D"/>
                </a:solidFill>
                <a:latin typeface="Calibri"/>
                <a:cs typeface="Calibri"/>
              </a:rPr>
              <a:t> </a:t>
            </a:r>
            <a:r>
              <a:rPr sz="1400" b="1">
                <a:solidFill>
                  <a:srgbClr val="32007D"/>
                </a:solidFill>
                <a:latin typeface="Calibri"/>
                <a:cs typeface="Calibri"/>
              </a:rPr>
              <a:t>and</a:t>
            </a:r>
            <a:r>
              <a:rPr sz="1400" b="1" spc="-30">
                <a:solidFill>
                  <a:srgbClr val="32007D"/>
                </a:solidFill>
                <a:latin typeface="Calibri"/>
                <a:cs typeface="Calibri"/>
              </a:rPr>
              <a:t> </a:t>
            </a:r>
            <a:r>
              <a:rPr sz="1400" b="1">
                <a:solidFill>
                  <a:srgbClr val="32007D"/>
                </a:solidFill>
                <a:latin typeface="Calibri"/>
                <a:cs typeface="Calibri"/>
              </a:rPr>
              <a:t>reporting</a:t>
            </a:r>
            <a:endParaRPr sz="1400">
              <a:solidFill>
                <a:srgbClr val="32007D"/>
              </a:solidFill>
              <a:latin typeface="Calibri"/>
              <a:cs typeface="Calibri"/>
            </a:endParaRPr>
          </a:p>
        </p:txBody>
      </p:sp>
      <p:sp>
        <p:nvSpPr>
          <p:cNvPr id="4" name="object 6">
            <a:extLst>
              <a:ext uri="{FF2B5EF4-FFF2-40B4-BE49-F238E27FC236}">
                <a16:creationId xmlns:a16="http://schemas.microsoft.com/office/drawing/2014/main" id="{0CFEA66A-BFFF-0F60-070E-759A9E99164D}"/>
              </a:ext>
            </a:extLst>
          </p:cNvPr>
          <p:cNvSpPr/>
          <p:nvPr/>
        </p:nvSpPr>
        <p:spPr>
          <a:xfrm>
            <a:off x="1740823" y="5058894"/>
            <a:ext cx="4358155" cy="1312239"/>
          </a:xfrm>
          <a:prstGeom prst="rect">
            <a:avLst/>
          </a:prstGeom>
          <a:blipFill>
            <a:blip r:embed="rId4" cstate="print"/>
            <a:stretch>
              <a:fillRect/>
            </a:stretch>
          </a:blipFill>
        </p:spPr>
        <p:txBody>
          <a:bodyPr wrap="square" lIns="0" tIns="0" rIns="0" bIns="0" rtlCol="0"/>
          <a:lstStyle/>
          <a:p>
            <a:endParaRPr/>
          </a:p>
        </p:txBody>
      </p:sp>
      <p:sp>
        <p:nvSpPr>
          <p:cNvPr id="6" name="object 7">
            <a:extLst>
              <a:ext uri="{FF2B5EF4-FFF2-40B4-BE49-F238E27FC236}">
                <a16:creationId xmlns:a16="http://schemas.microsoft.com/office/drawing/2014/main" id="{7A1D9D8D-A7DF-9949-D49A-B337154F3A2B}"/>
              </a:ext>
            </a:extLst>
          </p:cNvPr>
          <p:cNvSpPr/>
          <p:nvPr/>
        </p:nvSpPr>
        <p:spPr>
          <a:xfrm>
            <a:off x="184818" y="3572984"/>
            <a:ext cx="4475987" cy="1476755"/>
          </a:xfrm>
          <a:prstGeom prst="rect">
            <a:avLst/>
          </a:prstGeom>
          <a:blipFill>
            <a:blip r:embed="rId5" cstate="print"/>
            <a:stretch>
              <a:fillRect/>
            </a:stretch>
          </a:blipFill>
        </p:spPr>
        <p:txBody>
          <a:bodyPr wrap="square" lIns="0" tIns="0" rIns="0" bIns="0" rtlCol="0"/>
          <a:lstStyle/>
          <a:p>
            <a:endParaRPr/>
          </a:p>
        </p:txBody>
      </p:sp>
      <p:sp>
        <p:nvSpPr>
          <p:cNvPr id="8" name="object 8">
            <a:extLst>
              <a:ext uri="{FF2B5EF4-FFF2-40B4-BE49-F238E27FC236}">
                <a16:creationId xmlns:a16="http://schemas.microsoft.com/office/drawing/2014/main" id="{D4E17EFD-E0D1-3273-362D-CAF5C885A404}"/>
              </a:ext>
            </a:extLst>
          </p:cNvPr>
          <p:cNvSpPr/>
          <p:nvPr/>
        </p:nvSpPr>
        <p:spPr>
          <a:xfrm>
            <a:off x="6474801" y="4246278"/>
            <a:ext cx="5375937" cy="2099983"/>
          </a:xfrm>
          <a:prstGeom prst="rect">
            <a:avLst/>
          </a:prstGeom>
          <a:blipFill>
            <a:blip r:embed="rId6"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85150555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8515638"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Collateral- </a:t>
            </a:r>
            <a:r>
              <a:rPr kumimoji="0" lang="en-GB"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Margin Call connection to other CDM components</a:t>
            </a:r>
            <a:endPar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endParaRP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pic>
        <p:nvPicPr>
          <p:cNvPr id="75" name="Picture 74">
            <a:extLst>
              <a:ext uri="{FF2B5EF4-FFF2-40B4-BE49-F238E27FC236}">
                <a16:creationId xmlns:a16="http://schemas.microsoft.com/office/drawing/2014/main" id="{7CB26142-82EA-6597-A723-E9AAAB7B156F}"/>
              </a:ext>
            </a:extLst>
          </p:cNvPr>
          <p:cNvPicPr>
            <a:picLocks noChangeAspect="1"/>
          </p:cNvPicPr>
          <p:nvPr/>
        </p:nvPicPr>
        <p:blipFill>
          <a:blip r:embed="rId4"/>
          <a:stretch>
            <a:fillRect/>
          </a:stretch>
        </p:blipFill>
        <p:spPr>
          <a:xfrm>
            <a:off x="691427" y="1194325"/>
            <a:ext cx="10809145" cy="5663675"/>
          </a:xfrm>
          <a:prstGeom prst="rect">
            <a:avLst/>
          </a:prstGeom>
        </p:spPr>
      </p:pic>
    </p:spTree>
    <p:extLst>
      <p:ext uri="{BB962C8B-B14F-4D97-AF65-F5344CB8AC3E}">
        <p14:creationId xmlns:p14="http://schemas.microsoft.com/office/powerpoint/2010/main" val="273859605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8515638"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Collateral- </a:t>
            </a:r>
            <a:r>
              <a:rPr kumimoji="0" lang="en-GB"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Processing Standards in CDM- What next?</a:t>
            </a:r>
            <a:endPar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endParaRP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object 3">
            <a:extLst>
              <a:ext uri="{FF2B5EF4-FFF2-40B4-BE49-F238E27FC236}">
                <a16:creationId xmlns:a16="http://schemas.microsoft.com/office/drawing/2014/main" id="{1C394BAA-5DC6-A404-46C0-C298E60E9D41}"/>
              </a:ext>
            </a:extLst>
          </p:cNvPr>
          <p:cNvSpPr txBox="1"/>
          <p:nvPr/>
        </p:nvSpPr>
        <p:spPr>
          <a:xfrm>
            <a:off x="483279" y="1082351"/>
            <a:ext cx="5050790" cy="689291"/>
          </a:xfrm>
          <a:prstGeom prst="rect">
            <a:avLst/>
          </a:prstGeom>
        </p:spPr>
        <p:txBody>
          <a:bodyPr vert="horz" wrap="square" lIns="0" tIns="12065" rIns="0" bIns="0" rtlCol="0">
            <a:spAutoFit/>
          </a:bodyPr>
          <a:lstStyle/>
          <a:p>
            <a:pPr marL="12700">
              <a:lnSpc>
                <a:spcPct val="100000"/>
              </a:lnSpc>
              <a:spcBef>
                <a:spcPts val="95"/>
              </a:spcBef>
            </a:pPr>
            <a:r>
              <a:rPr sz="2200" b="1" spc="-5">
                <a:solidFill>
                  <a:srgbClr val="32007D"/>
                </a:solidFill>
                <a:latin typeface="Calibri"/>
                <a:cs typeface="Calibri"/>
              </a:rPr>
              <a:t>202</a:t>
            </a:r>
            <a:r>
              <a:rPr lang="en-US" sz="2200" b="1" spc="-5">
                <a:solidFill>
                  <a:srgbClr val="32007D"/>
                </a:solidFill>
                <a:latin typeface="Calibri"/>
                <a:cs typeface="Calibri"/>
              </a:rPr>
              <a:t>3/2024</a:t>
            </a:r>
            <a:r>
              <a:rPr sz="2200" b="1" spc="-5">
                <a:solidFill>
                  <a:srgbClr val="32007D"/>
                </a:solidFill>
                <a:latin typeface="Calibri"/>
                <a:cs typeface="Calibri"/>
              </a:rPr>
              <a:t> - </a:t>
            </a:r>
            <a:r>
              <a:rPr sz="2200" b="1" spc="-10">
                <a:solidFill>
                  <a:srgbClr val="32007D"/>
                </a:solidFill>
                <a:latin typeface="Calibri"/>
                <a:cs typeface="Calibri"/>
              </a:rPr>
              <a:t>CDM </a:t>
            </a:r>
            <a:r>
              <a:rPr sz="2200" b="1" spc="-30">
                <a:solidFill>
                  <a:srgbClr val="32007D"/>
                </a:solidFill>
                <a:latin typeface="Calibri"/>
                <a:cs typeface="Calibri"/>
              </a:rPr>
              <a:t>Collateral </a:t>
            </a:r>
            <a:r>
              <a:rPr sz="2200" b="1" spc="-25">
                <a:solidFill>
                  <a:srgbClr val="32007D"/>
                </a:solidFill>
                <a:latin typeface="Calibri"/>
                <a:cs typeface="Calibri"/>
              </a:rPr>
              <a:t>Initiatives</a:t>
            </a:r>
            <a:r>
              <a:rPr sz="2200" b="1" spc="150">
                <a:solidFill>
                  <a:srgbClr val="32007D"/>
                </a:solidFill>
                <a:latin typeface="Calibri"/>
                <a:cs typeface="Calibri"/>
              </a:rPr>
              <a:t> </a:t>
            </a:r>
            <a:r>
              <a:rPr sz="2200" b="1" spc="-20">
                <a:solidFill>
                  <a:srgbClr val="32007D"/>
                </a:solidFill>
                <a:latin typeface="Calibri"/>
                <a:cs typeface="Calibri"/>
              </a:rPr>
              <a:t>Objectives:</a:t>
            </a:r>
            <a:endParaRPr sz="2200">
              <a:solidFill>
                <a:srgbClr val="32007D"/>
              </a:solidFill>
              <a:latin typeface="Calibri"/>
              <a:cs typeface="Calibri"/>
            </a:endParaRPr>
          </a:p>
        </p:txBody>
      </p:sp>
      <p:sp>
        <p:nvSpPr>
          <p:cNvPr id="3" name="object 4">
            <a:extLst>
              <a:ext uri="{FF2B5EF4-FFF2-40B4-BE49-F238E27FC236}">
                <a16:creationId xmlns:a16="http://schemas.microsoft.com/office/drawing/2014/main" id="{B65CD164-CC85-96A4-D165-BE5B668798D2}"/>
              </a:ext>
            </a:extLst>
          </p:cNvPr>
          <p:cNvSpPr txBox="1"/>
          <p:nvPr/>
        </p:nvSpPr>
        <p:spPr>
          <a:xfrm>
            <a:off x="2304288" y="1589532"/>
            <a:ext cx="3264535" cy="1960245"/>
          </a:xfrm>
          <a:prstGeom prst="rect">
            <a:avLst/>
          </a:prstGeom>
          <a:ln w="9525">
            <a:solidFill>
              <a:srgbClr val="4470C4"/>
            </a:solidFill>
          </a:ln>
        </p:spPr>
        <p:txBody>
          <a:bodyPr vert="horz" wrap="square" lIns="0" tIns="186690" rIns="0" bIns="0" rtlCol="0">
            <a:spAutoFit/>
          </a:bodyPr>
          <a:lstStyle/>
          <a:p>
            <a:pPr marL="998219" marR="352425" indent="-671195">
              <a:lnSpc>
                <a:spcPct val="127200"/>
              </a:lnSpc>
              <a:spcBef>
                <a:spcPts val="1470"/>
              </a:spcBef>
            </a:pPr>
            <a:r>
              <a:rPr sz="1800" b="1" spc="-15">
                <a:solidFill>
                  <a:srgbClr val="1F4E79"/>
                </a:solidFill>
                <a:latin typeface="Calibri"/>
                <a:cs typeface="Calibri"/>
              </a:rPr>
              <a:t>Documentation</a:t>
            </a:r>
            <a:r>
              <a:rPr sz="1800" b="1" spc="-114">
                <a:solidFill>
                  <a:srgbClr val="1F4E79"/>
                </a:solidFill>
                <a:latin typeface="Calibri"/>
                <a:cs typeface="Calibri"/>
              </a:rPr>
              <a:t> </a:t>
            </a:r>
            <a:r>
              <a:rPr sz="1800" b="1" spc="-15">
                <a:solidFill>
                  <a:srgbClr val="1F4E79"/>
                </a:solidFill>
                <a:latin typeface="Calibri"/>
                <a:cs typeface="Calibri"/>
              </a:rPr>
              <a:t>Extensions:</a:t>
            </a:r>
            <a:r>
              <a:rPr lang="en-GB" sz="1800" b="1" spc="-15">
                <a:solidFill>
                  <a:srgbClr val="1F4E79"/>
                </a:solidFill>
                <a:latin typeface="Calibri"/>
                <a:cs typeface="Calibri"/>
              </a:rPr>
              <a:t>  </a:t>
            </a:r>
            <a:r>
              <a:rPr sz="1800" b="1">
                <a:solidFill>
                  <a:srgbClr val="1F4E79"/>
                </a:solidFill>
                <a:latin typeface="Calibri"/>
                <a:cs typeface="Calibri"/>
              </a:rPr>
              <a:t>1995 VM</a:t>
            </a:r>
            <a:r>
              <a:rPr sz="1800" b="1" spc="-35">
                <a:solidFill>
                  <a:srgbClr val="1F4E79"/>
                </a:solidFill>
                <a:latin typeface="Calibri"/>
                <a:cs typeface="Calibri"/>
              </a:rPr>
              <a:t> </a:t>
            </a:r>
            <a:r>
              <a:rPr sz="1800" b="1" spc="-20">
                <a:solidFill>
                  <a:srgbClr val="1F4E79"/>
                </a:solidFill>
                <a:latin typeface="Calibri"/>
                <a:cs typeface="Calibri"/>
              </a:rPr>
              <a:t>CSA</a:t>
            </a:r>
            <a:endParaRPr sz="1800">
              <a:latin typeface="Calibri"/>
              <a:cs typeface="Calibri"/>
            </a:endParaRPr>
          </a:p>
          <a:p>
            <a:pPr marL="487680" marR="405765" indent="1270">
              <a:lnSpc>
                <a:spcPct val="126699"/>
              </a:lnSpc>
              <a:spcBef>
                <a:spcPts val="10"/>
              </a:spcBef>
            </a:pPr>
            <a:r>
              <a:rPr sz="1800" b="1" spc="-20">
                <a:solidFill>
                  <a:srgbClr val="1F4E79"/>
                </a:solidFill>
                <a:latin typeface="Calibri"/>
                <a:cs typeface="Calibri"/>
              </a:rPr>
              <a:t>ISDA Master </a:t>
            </a:r>
            <a:r>
              <a:rPr sz="1800" b="1" spc="-10">
                <a:solidFill>
                  <a:srgbClr val="1F4E79"/>
                </a:solidFill>
                <a:latin typeface="Calibri"/>
                <a:cs typeface="Calibri"/>
              </a:rPr>
              <a:t>Agreement  </a:t>
            </a:r>
            <a:r>
              <a:rPr sz="1800" b="1" spc="-5">
                <a:solidFill>
                  <a:srgbClr val="1F4E79"/>
                </a:solidFill>
                <a:latin typeface="Calibri"/>
                <a:cs typeface="Calibri"/>
              </a:rPr>
              <a:t>Amendment</a:t>
            </a:r>
            <a:r>
              <a:rPr sz="1800" b="1" spc="-210">
                <a:solidFill>
                  <a:srgbClr val="1F4E79"/>
                </a:solidFill>
                <a:latin typeface="Calibri"/>
                <a:cs typeface="Calibri"/>
              </a:rPr>
              <a:t> </a:t>
            </a:r>
            <a:r>
              <a:rPr sz="1800" b="1" spc="-10">
                <a:solidFill>
                  <a:srgbClr val="1F4E79"/>
                </a:solidFill>
                <a:latin typeface="Calibri"/>
                <a:cs typeface="Calibri"/>
              </a:rPr>
              <a:t>Agreements</a:t>
            </a:r>
            <a:endParaRPr sz="1800">
              <a:latin typeface="Calibri"/>
              <a:cs typeface="Calibri"/>
            </a:endParaRPr>
          </a:p>
        </p:txBody>
      </p:sp>
      <p:sp>
        <p:nvSpPr>
          <p:cNvPr id="4" name="object 5">
            <a:extLst>
              <a:ext uri="{FF2B5EF4-FFF2-40B4-BE49-F238E27FC236}">
                <a16:creationId xmlns:a16="http://schemas.microsoft.com/office/drawing/2014/main" id="{43678376-2491-C9C6-65AB-D4791F94CC49}"/>
              </a:ext>
            </a:extLst>
          </p:cNvPr>
          <p:cNvSpPr txBox="1"/>
          <p:nvPr/>
        </p:nvSpPr>
        <p:spPr>
          <a:xfrm>
            <a:off x="5907023" y="1592580"/>
            <a:ext cx="3264535" cy="1960245"/>
          </a:xfrm>
          <a:prstGeom prst="rect">
            <a:avLst/>
          </a:prstGeom>
          <a:ln w="9525">
            <a:solidFill>
              <a:srgbClr val="5B9BD3"/>
            </a:solidFill>
          </a:ln>
        </p:spPr>
        <p:txBody>
          <a:bodyPr vert="horz" wrap="square" lIns="0" tIns="0" rIns="0" bIns="0" rtlCol="0">
            <a:spAutoFit/>
          </a:bodyPr>
          <a:lstStyle/>
          <a:p>
            <a:pPr>
              <a:lnSpc>
                <a:spcPct val="100000"/>
              </a:lnSpc>
            </a:pPr>
            <a:endParaRPr sz="1800">
              <a:latin typeface="Times New Roman"/>
              <a:cs typeface="Times New Roman"/>
            </a:endParaRPr>
          </a:p>
          <a:p>
            <a:pPr marL="299720" marR="287020" indent="-635" algn="ctr">
              <a:lnSpc>
                <a:spcPct val="92100"/>
              </a:lnSpc>
              <a:spcBef>
                <a:spcPts val="1565"/>
              </a:spcBef>
            </a:pPr>
            <a:r>
              <a:rPr sz="1800" b="1">
                <a:solidFill>
                  <a:srgbClr val="1F4E79"/>
                </a:solidFill>
                <a:latin typeface="Calibri"/>
                <a:cs typeface="Calibri"/>
              </a:rPr>
              <a:t>Support </a:t>
            </a:r>
            <a:r>
              <a:rPr sz="1800" b="1" spc="-5">
                <a:solidFill>
                  <a:srgbClr val="1F4E79"/>
                </a:solidFill>
                <a:latin typeface="Calibri"/>
                <a:cs typeface="Calibri"/>
              </a:rPr>
              <a:t>Adoption </a:t>
            </a:r>
            <a:r>
              <a:rPr sz="1800" b="1">
                <a:solidFill>
                  <a:srgbClr val="1F4E79"/>
                </a:solidFill>
                <a:latin typeface="Calibri"/>
                <a:cs typeface="Calibri"/>
              </a:rPr>
              <a:t>of CDM  </a:t>
            </a:r>
            <a:r>
              <a:rPr sz="1800" b="1" spc="-15">
                <a:solidFill>
                  <a:srgbClr val="1F4E79"/>
                </a:solidFill>
                <a:latin typeface="Calibri"/>
                <a:cs typeface="Calibri"/>
              </a:rPr>
              <a:t>Documentation </a:t>
            </a:r>
            <a:r>
              <a:rPr sz="1800" b="1">
                <a:solidFill>
                  <a:srgbClr val="1F4E79"/>
                </a:solidFill>
                <a:latin typeface="Calibri"/>
                <a:cs typeface="Calibri"/>
              </a:rPr>
              <a:t>and </a:t>
            </a:r>
            <a:r>
              <a:rPr sz="1800" b="1" spc="-20">
                <a:solidFill>
                  <a:srgbClr val="1F4E79"/>
                </a:solidFill>
                <a:latin typeface="Calibri"/>
                <a:cs typeface="Calibri"/>
              </a:rPr>
              <a:t>ECS</a:t>
            </a:r>
            <a:r>
              <a:rPr sz="1800" b="1" spc="-200">
                <a:solidFill>
                  <a:srgbClr val="1F4E79"/>
                </a:solidFill>
                <a:latin typeface="Calibri"/>
                <a:cs typeface="Calibri"/>
              </a:rPr>
              <a:t> </a:t>
            </a:r>
            <a:r>
              <a:rPr sz="1800" b="1" spc="-15">
                <a:solidFill>
                  <a:srgbClr val="1F4E79"/>
                </a:solidFill>
                <a:latin typeface="Calibri"/>
                <a:cs typeface="Calibri"/>
              </a:rPr>
              <a:t>into  </a:t>
            </a:r>
            <a:r>
              <a:rPr sz="1800" b="1" spc="-10">
                <a:solidFill>
                  <a:srgbClr val="1F4E79"/>
                </a:solidFill>
                <a:latin typeface="Calibri"/>
                <a:cs typeface="Calibri"/>
              </a:rPr>
              <a:t>Production </a:t>
            </a:r>
            <a:r>
              <a:rPr sz="1800" b="1" spc="-15">
                <a:solidFill>
                  <a:srgbClr val="1F4E79"/>
                </a:solidFill>
                <a:latin typeface="Calibri"/>
                <a:cs typeface="Calibri"/>
              </a:rPr>
              <a:t>Environments </a:t>
            </a:r>
            <a:r>
              <a:rPr sz="1800" b="1">
                <a:solidFill>
                  <a:srgbClr val="1F4E79"/>
                </a:solidFill>
                <a:latin typeface="Calibri"/>
                <a:cs typeface="Calibri"/>
              </a:rPr>
              <a:t>of  </a:t>
            </a:r>
            <a:r>
              <a:rPr sz="1800" b="1" spc="-10">
                <a:solidFill>
                  <a:srgbClr val="1F4E79"/>
                </a:solidFill>
                <a:latin typeface="Calibri"/>
                <a:cs typeface="Calibri"/>
              </a:rPr>
              <a:t>External</a:t>
            </a:r>
            <a:r>
              <a:rPr sz="1800" b="1" spc="-40">
                <a:solidFill>
                  <a:srgbClr val="1F4E79"/>
                </a:solidFill>
                <a:latin typeface="Calibri"/>
                <a:cs typeface="Calibri"/>
              </a:rPr>
              <a:t> </a:t>
            </a:r>
            <a:r>
              <a:rPr sz="1800" b="1" spc="-20">
                <a:solidFill>
                  <a:srgbClr val="1F4E79"/>
                </a:solidFill>
                <a:latin typeface="Calibri"/>
                <a:cs typeface="Calibri"/>
              </a:rPr>
              <a:t>Platforms</a:t>
            </a:r>
            <a:endParaRPr sz="1800">
              <a:latin typeface="Calibri"/>
              <a:cs typeface="Calibri"/>
            </a:endParaRPr>
          </a:p>
        </p:txBody>
      </p:sp>
      <p:sp>
        <p:nvSpPr>
          <p:cNvPr id="6" name="object 6">
            <a:extLst>
              <a:ext uri="{FF2B5EF4-FFF2-40B4-BE49-F238E27FC236}">
                <a16:creationId xmlns:a16="http://schemas.microsoft.com/office/drawing/2014/main" id="{6EEC86AE-E40C-6F71-DFDD-79B28959EEFF}"/>
              </a:ext>
            </a:extLst>
          </p:cNvPr>
          <p:cNvSpPr txBox="1"/>
          <p:nvPr/>
        </p:nvSpPr>
        <p:spPr>
          <a:xfrm>
            <a:off x="2304288" y="3718559"/>
            <a:ext cx="3264535" cy="2033270"/>
          </a:xfrm>
          <a:prstGeom prst="rect">
            <a:avLst/>
          </a:prstGeom>
          <a:ln w="9525">
            <a:solidFill>
              <a:srgbClr val="5B9BD3"/>
            </a:solidFill>
          </a:ln>
        </p:spPr>
        <p:txBody>
          <a:bodyPr vert="horz" wrap="square" lIns="0" tIns="3175" rIns="0" bIns="0" rtlCol="0">
            <a:spAutoFit/>
          </a:bodyPr>
          <a:lstStyle/>
          <a:p>
            <a:pPr>
              <a:lnSpc>
                <a:spcPct val="100000"/>
              </a:lnSpc>
              <a:spcBef>
                <a:spcPts val="25"/>
              </a:spcBef>
            </a:pPr>
            <a:endParaRPr sz="1950">
              <a:latin typeface="Times New Roman"/>
              <a:cs typeface="Times New Roman"/>
            </a:endParaRPr>
          </a:p>
          <a:p>
            <a:pPr marL="289560" marR="276225" algn="ctr">
              <a:lnSpc>
                <a:spcPts val="1970"/>
              </a:lnSpc>
              <a:spcBef>
                <a:spcPts val="5"/>
              </a:spcBef>
            </a:pPr>
            <a:r>
              <a:rPr sz="1800" b="1" spc="-25">
                <a:solidFill>
                  <a:srgbClr val="1F4E79"/>
                </a:solidFill>
                <a:latin typeface="Calibri"/>
                <a:cs typeface="Calibri"/>
              </a:rPr>
              <a:t>Validate </a:t>
            </a:r>
            <a:r>
              <a:rPr sz="1800" b="1">
                <a:solidFill>
                  <a:srgbClr val="1F4E79"/>
                </a:solidFill>
                <a:latin typeface="Calibri"/>
                <a:cs typeface="Calibri"/>
              </a:rPr>
              <a:t>CDM </a:t>
            </a:r>
            <a:r>
              <a:rPr sz="1800" b="1" spc="-15">
                <a:solidFill>
                  <a:srgbClr val="1F4E79"/>
                </a:solidFill>
                <a:latin typeface="Calibri"/>
                <a:cs typeface="Calibri"/>
              </a:rPr>
              <a:t>Data</a:t>
            </a:r>
            <a:r>
              <a:rPr sz="1800" b="1" spc="-195">
                <a:solidFill>
                  <a:srgbClr val="1F4E79"/>
                </a:solidFill>
                <a:latin typeface="Calibri"/>
                <a:cs typeface="Calibri"/>
              </a:rPr>
              <a:t> </a:t>
            </a:r>
            <a:r>
              <a:rPr sz="1800" b="1" spc="-10">
                <a:solidFill>
                  <a:srgbClr val="1F4E79"/>
                </a:solidFill>
                <a:latin typeface="Calibri"/>
                <a:cs typeface="Calibri"/>
              </a:rPr>
              <a:t>Structure  </a:t>
            </a:r>
            <a:r>
              <a:rPr sz="1800" b="1" spc="-20">
                <a:solidFill>
                  <a:srgbClr val="1F4E79"/>
                </a:solidFill>
                <a:latin typeface="Calibri"/>
                <a:cs typeface="Calibri"/>
              </a:rPr>
              <a:t>for Margin </a:t>
            </a:r>
            <a:r>
              <a:rPr sz="1800" b="1" spc="-5">
                <a:solidFill>
                  <a:srgbClr val="1F4E79"/>
                </a:solidFill>
                <a:latin typeface="Calibri"/>
                <a:cs typeface="Calibri"/>
              </a:rPr>
              <a:t>Call Issuance </a:t>
            </a:r>
            <a:r>
              <a:rPr sz="1800" b="1">
                <a:solidFill>
                  <a:srgbClr val="1F4E79"/>
                </a:solidFill>
                <a:latin typeface="Calibri"/>
                <a:cs typeface="Calibri"/>
              </a:rPr>
              <a:t>and  </a:t>
            </a:r>
            <a:r>
              <a:rPr sz="1800" b="1" spc="-10">
                <a:solidFill>
                  <a:srgbClr val="1F4E79"/>
                </a:solidFill>
                <a:latin typeface="Calibri"/>
                <a:cs typeface="Calibri"/>
              </a:rPr>
              <a:t>Response</a:t>
            </a:r>
            <a:r>
              <a:rPr sz="1800" b="1" spc="-100">
                <a:solidFill>
                  <a:srgbClr val="1F4E79"/>
                </a:solidFill>
                <a:latin typeface="Calibri"/>
                <a:cs typeface="Calibri"/>
              </a:rPr>
              <a:t> </a:t>
            </a:r>
            <a:r>
              <a:rPr sz="1800" b="1" spc="-10">
                <a:solidFill>
                  <a:srgbClr val="1F4E79"/>
                </a:solidFill>
                <a:latin typeface="Calibri"/>
                <a:cs typeface="Calibri"/>
              </a:rPr>
              <a:t>Standards</a:t>
            </a:r>
            <a:endParaRPr sz="1800">
              <a:latin typeface="Calibri"/>
              <a:cs typeface="Calibri"/>
            </a:endParaRPr>
          </a:p>
          <a:p>
            <a:pPr marL="433705" marR="420370" algn="ctr">
              <a:lnSpc>
                <a:spcPts val="2000"/>
              </a:lnSpc>
              <a:spcBef>
                <a:spcPts val="795"/>
              </a:spcBef>
            </a:pPr>
            <a:r>
              <a:rPr sz="1800" b="1" spc="-25">
                <a:solidFill>
                  <a:srgbClr val="1F4E79"/>
                </a:solidFill>
                <a:latin typeface="Calibri"/>
                <a:cs typeface="Calibri"/>
              </a:rPr>
              <a:t>Engage </a:t>
            </a:r>
            <a:r>
              <a:rPr sz="1800" b="1" spc="-5">
                <a:solidFill>
                  <a:srgbClr val="1F4E79"/>
                </a:solidFill>
                <a:latin typeface="Calibri"/>
                <a:cs typeface="Calibri"/>
              </a:rPr>
              <a:t>with </a:t>
            </a:r>
            <a:r>
              <a:rPr sz="1800" b="1" spc="-10">
                <a:solidFill>
                  <a:srgbClr val="1F4E79"/>
                </a:solidFill>
                <a:latin typeface="Calibri"/>
                <a:cs typeface="Calibri"/>
              </a:rPr>
              <a:t>Members</a:t>
            </a:r>
            <a:r>
              <a:rPr sz="1800" b="1" spc="-195">
                <a:solidFill>
                  <a:srgbClr val="1F4E79"/>
                </a:solidFill>
                <a:latin typeface="Calibri"/>
                <a:cs typeface="Calibri"/>
              </a:rPr>
              <a:t> </a:t>
            </a:r>
            <a:r>
              <a:rPr sz="1800" b="1" spc="-20">
                <a:solidFill>
                  <a:srgbClr val="1F4E79"/>
                </a:solidFill>
                <a:latin typeface="Calibri"/>
                <a:cs typeface="Calibri"/>
              </a:rPr>
              <a:t>for  </a:t>
            </a:r>
            <a:r>
              <a:rPr sz="1800" b="1">
                <a:solidFill>
                  <a:srgbClr val="1F4E79"/>
                </a:solidFill>
                <a:latin typeface="Calibri"/>
                <a:cs typeface="Calibri"/>
              </a:rPr>
              <a:t>Support and</a:t>
            </a:r>
            <a:r>
              <a:rPr sz="1800" b="1" spc="-70">
                <a:solidFill>
                  <a:srgbClr val="1F4E79"/>
                </a:solidFill>
                <a:latin typeface="Calibri"/>
                <a:cs typeface="Calibri"/>
              </a:rPr>
              <a:t> </a:t>
            </a:r>
            <a:r>
              <a:rPr sz="1800" b="1" spc="-5">
                <a:solidFill>
                  <a:srgbClr val="1F4E79"/>
                </a:solidFill>
                <a:latin typeface="Calibri"/>
                <a:cs typeface="Calibri"/>
              </a:rPr>
              <a:t>Adoption</a:t>
            </a:r>
            <a:endParaRPr sz="1800">
              <a:latin typeface="Calibri"/>
              <a:cs typeface="Calibri"/>
            </a:endParaRPr>
          </a:p>
        </p:txBody>
      </p:sp>
      <p:sp>
        <p:nvSpPr>
          <p:cNvPr id="9" name="object 10">
            <a:extLst>
              <a:ext uri="{FF2B5EF4-FFF2-40B4-BE49-F238E27FC236}">
                <a16:creationId xmlns:a16="http://schemas.microsoft.com/office/drawing/2014/main" id="{A7CDBF70-E07F-ED54-D883-813AE4BC353A}"/>
              </a:ext>
            </a:extLst>
          </p:cNvPr>
          <p:cNvSpPr txBox="1"/>
          <p:nvPr/>
        </p:nvSpPr>
        <p:spPr>
          <a:xfrm>
            <a:off x="5907023" y="3718559"/>
            <a:ext cx="3264535" cy="2033270"/>
          </a:xfrm>
          <a:prstGeom prst="rect">
            <a:avLst/>
          </a:prstGeom>
          <a:ln w="9525">
            <a:solidFill>
              <a:srgbClr val="5B9BD3"/>
            </a:solidFill>
          </a:ln>
        </p:spPr>
        <p:txBody>
          <a:bodyPr vert="horz" wrap="square" lIns="0" tIns="3175" rIns="0" bIns="0" rtlCol="0">
            <a:spAutoFit/>
          </a:bodyPr>
          <a:lstStyle/>
          <a:p>
            <a:pPr>
              <a:lnSpc>
                <a:spcPct val="100000"/>
              </a:lnSpc>
              <a:spcBef>
                <a:spcPts val="25"/>
              </a:spcBef>
            </a:pPr>
            <a:endParaRPr sz="1950">
              <a:latin typeface="Times New Roman"/>
              <a:cs typeface="Times New Roman"/>
            </a:endParaRPr>
          </a:p>
          <a:p>
            <a:pPr marL="287655" marR="274955" indent="-1270" algn="ctr">
              <a:lnSpc>
                <a:spcPts val="1970"/>
              </a:lnSpc>
              <a:spcBef>
                <a:spcPts val="5"/>
              </a:spcBef>
            </a:pPr>
            <a:r>
              <a:rPr sz="1800" b="1" spc="-15">
                <a:solidFill>
                  <a:srgbClr val="1F4E79"/>
                </a:solidFill>
                <a:latin typeface="Calibri"/>
                <a:cs typeface="Calibri"/>
              </a:rPr>
              <a:t>Collaboration </a:t>
            </a:r>
            <a:r>
              <a:rPr sz="1800" b="1">
                <a:solidFill>
                  <a:srgbClr val="1F4E79"/>
                </a:solidFill>
                <a:latin typeface="Calibri"/>
                <a:cs typeface="Calibri"/>
              </a:rPr>
              <a:t>with </a:t>
            </a:r>
            <a:r>
              <a:rPr sz="1800" b="1" spc="-5">
                <a:solidFill>
                  <a:srgbClr val="1F4E79"/>
                </a:solidFill>
                <a:latin typeface="Calibri"/>
                <a:cs typeface="Calibri"/>
              </a:rPr>
              <a:t>other  </a:t>
            </a:r>
            <a:r>
              <a:rPr sz="1800" b="1" spc="-30">
                <a:solidFill>
                  <a:srgbClr val="1F4E79"/>
                </a:solidFill>
                <a:latin typeface="Calibri"/>
                <a:cs typeface="Calibri"/>
              </a:rPr>
              <a:t>Trade </a:t>
            </a:r>
            <a:r>
              <a:rPr sz="1800" b="1" spc="-10">
                <a:solidFill>
                  <a:srgbClr val="1F4E79"/>
                </a:solidFill>
                <a:latin typeface="Calibri"/>
                <a:cs typeface="Calibri"/>
              </a:rPr>
              <a:t>Associations to</a:t>
            </a:r>
            <a:r>
              <a:rPr sz="1800" b="1" spc="-110">
                <a:solidFill>
                  <a:srgbClr val="1F4E79"/>
                </a:solidFill>
                <a:latin typeface="Calibri"/>
                <a:cs typeface="Calibri"/>
              </a:rPr>
              <a:t> </a:t>
            </a:r>
            <a:r>
              <a:rPr sz="1800" b="1" spc="-15">
                <a:solidFill>
                  <a:srgbClr val="1F4E79"/>
                </a:solidFill>
                <a:latin typeface="Calibri"/>
                <a:cs typeface="Calibri"/>
              </a:rPr>
              <a:t>extend  </a:t>
            </a:r>
            <a:r>
              <a:rPr sz="1800" b="1">
                <a:solidFill>
                  <a:srgbClr val="1F4E79"/>
                </a:solidFill>
                <a:latin typeface="Calibri"/>
                <a:cs typeface="Calibri"/>
              </a:rPr>
              <a:t>CDM</a:t>
            </a:r>
            <a:endParaRPr sz="1800">
              <a:latin typeface="Calibri"/>
              <a:cs typeface="Calibri"/>
            </a:endParaRPr>
          </a:p>
          <a:p>
            <a:pPr marL="426084" marR="413384" indent="1270" algn="ctr">
              <a:lnSpc>
                <a:spcPts val="2000"/>
              </a:lnSpc>
              <a:spcBef>
                <a:spcPts val="795"/>
              </a:spcBef>
            </a:pPr>
            <a:r>
              <a:rPr sz="1800" b="1" spc="-20">
                <a:solidFill>
                  <a:srgbClr val="1F4E79"/>
                </a:solidFill>
                <a:latin typeface="Calibri"/>
                <a:cs typeface="Calibri"/>
              </a:rPr>
              <a:t>Repo </a:t>
            </a:r>
            <a:r>
              <a:rPr sz="1800" b="1" spc="-10">
                <a:solidFill>
                  <a:srgbClr val="1F4E79"/>
                </a:solidFill>
                <a:latin typeface="Calibri"/>
                <a:cs typeface="Calibri"/>
              </a:rPr>
              <a:t>and </a:t>
            </a:r>
            <a:r>
              <a:rPr sz="1800" b="1" spc="-15">
                <a:solidFill>
                  <a:srgbClr val="1F4E79"/>
                </a:solidFill>
                <a:latin typeface="Calibri"/>
                <a:cs typeface="Calibri"/>
              </a:rPr>
              <a:t>Securities  Lending </a:t>
            </a:r>
            <a:r>
              <a:rPr sz="1800" b="1" spc="-25">
                <a:solidFill>
                  <a:srgbClr val="1F4E79"/>
                </a:solidFill>
                <a:latin typeface="Calibri"/>
                <a:cs typeface="Calibri"/>
              </a:rPr>
              <a:t>Collateral</a:t>
            </a:r>
            <a:r>
              <a:rPr sz="1800" b="1" spc="-190">
                <a:solidFill>
                  <a:srgbClr val="1F4E79"/>
                </a:solidFill>
                <a:latin typeface="Calibri"/>
                <a:cs typeface="Calibri"/>
              </a:rPr>
              <a:t> </a:t>
            </a:r>
            <a:r>
              <a:rPr sz="1800" b="1" spc="-15">
                <a:solidFill>
                  <a:srgbClr val="1F4E79"/>
                </a:solidFill>
                <a:latin typeface="Calibri"/>
                <a:cs typeface="Calibri"/>
              </a:rPr>
              <a:t>Process</a:t>
            </a:r>
            <a:endParaRPr sz="1800">
              <a:latin typeface="Calibri"/>
              <a:cs typeface="Calibri"/>
            </a:endParaRPr>
          </a:p>
        </p:txBody>
      </p:sp>
    </p:spTree>
    <p:extLst>
      <p:ext uri="{BB962C8B-B14F-4D97-AF65-F5344CB8AC3E}">
        <p14:creationId xmlns:p14="http://schemas.microsoft.com/office/powerpoint/2010/main" val="221265649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Digital Regulatory Reporting</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TextBox 1">
            <a:extLst>
              <a:ext uri="{FF2B5EF4-FFF2-40B4-BE49-F238E27FC236}">
                <a16:creationId xmlns:a16="http://schemas.microsoft.com/office/drawing/2014/main" id="{2EFE41D3-4721-36C6-4044-3E8CF32519C1}"/>
              </a:ext>
            </a:extLst>
          </p:cNvPr>
          <p:cNvSpPr txBox="1"/>
          <p:nvPr/>
        </p:nvSpPr>
        <p:spPr>
          <a:xfrm>
            <a:off x="388834" y="1137737"/>
            <a:ext cx="4190850" cy="307777"/>
          </a:xfrm>
          <a:prstGeom prst="rect">
            <a:avLst/>
          </a:prstGeom>
          <a:noFill/>
        </p:spPr>
        <p:txBody>
          <a:bodyPr wrap="square">
            <a:spAutoFit/>
          </a:bodyPr>
          <a:lstStyle/>
          <a:p>
            <a:pPr>
              <a:defRPr/>
            </a:pPr>
            <a:r>
              <a:rPr kumimoji="0" lang="en-US" sz="1400" b="1" i="0" u="none" strike="noStrike" kern="0" cap="none" spc="0" normalizeH="0" baseline="0" noProof="0">
                <a:ln>
                  <a:noFill/>
                </a:ln>
                <a:solidFill>
                  <a:srgbClr val="32007C"/>
                </a:solidFill>
                <a:effectLst/>
                <a:uLnTx/>
                <a:uFillTx/>
                <a:latin typeface="+mj-lt"/>
                <a:ea typeface="Helvetica Light" charset="0"/>
                <a:cs typeface="Helvetica Light" charset="0"/>
              </a:rPr>
              <a:t>Trade Reporting Rule Implementation Today</a:t>
            </a:r>
            <a:endParaRPr kumimoji="0" lang="en-GB" sz="1400" b="1"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pic>
        <p:nvPicPr>
          <p:cNvPr id="44" name="Picture 43">
            <a:extLst>
              <a:ext uri="{FF2B5EF4-FFF2-40B4-BE49-F238E27FC236}">
                <a16:creationId xmlns:a16="http://schemas.microsoft.com/office/drawing/2014/main" id="{E81EBF6C-655E-5CC3-31B0-3BE7FD45145C}"/>
              </a:ext>
            </a:extLst>
          </p:cNvPr>
          <p:cNvPicPr>
            <a:picLocks noChangeAspect="1"/>
          </p:cNvPicPr>
          <p:nvPr/>
        </p:nvPicPr>
        <p:blipFill>
          <a:blip r:embed="rId4"/>
          <a:stretch>
            <a:fillRect/>
          </a:stretch>
        </p:blipFill>
        <p:spPr>
          <a:xfrm>
            <a:off x="1291788" y="1629016"/>
            <a:ext cx="8872742" cy="4829959"/>
          </a:xfrm>
          <a:prstGeom prst="rect">
            <a:avLst/>
          </a:prstGeom>
        </p:spPr>
      </p:pic>
    </p:spTree>
    <p:extLst>
      <p:ext uri="{BB962C8B-B14F-4D97-AF65-F5344CB8AC3E}">
        <p14:creationId xmlns:p14="http://schemas.microsoft.com/office/powerpoint/2010/main" val="55545111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Digital Regulatory Reporting</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TextBox 1">
            <a:extLst>
              <a:ext uri="{FF2B5EF4-FFF2-40B4-BE49-F238E27FC236}">
                <a16:creationId xmlns:a16="http://schemas.microsoft.com/office/drawing/2014/main" id="{2EFE41D3-4721-36C6-4044-3E8CF32519C1}"/>
              </a:ext>
            </a:extLst>
          </p:cNvPr>
          <p:cNvSpPr txBox="1"/>
          <p:nvPr/>
        </p:nvSpPr>
        <p:spPr>
          <a:xfrm>
            <a:off x="388834" y="1137737"/>
            <a:ext cx="4190850" cy="307777"/>
          </a:xfrm>
          <a:prstGeom prst="rect">
            <a:avLst/>
          </a:prstGeom>
          <a:noFill/>
        </p:spPr>
        <p:txBody>
          <a:bodyPr wrap="square">
            <a:spAutoFit/>
          </a:bodyPr>
          <a:lstStyle/>
          <a:p>
            <a:pPr>
              <a:defRPr/>
            </a:pPr>
            <a:r>
              <a:rPr kumimoji="0" lang="en-US" sz="1400" b="1" i="0" u="none" strike="noStrike" kern="0" cap="none" spc="0" normalizeH="0" baseline="0" noProof="0">
                <a:ln>
                  <a:noFill/>
                </a:ln>
                <a:solidFill>
                  <a:srgbClr val="32007C"/>
                </a:solidFill>
                <a:effectLst/>
                <a:uLnTx/>
                <a:uFillTx/>
                <a:latin typeface="+mj-lt"/>
                <a:ea typeface="Helvetica Light" charset="0"/>
                <a:cs typeface="Helvetica Light" charset="0"/>
              </a:rPr>
              <a:t>Trade Reporting Rule Implementation Using the DRR</a:t>
            </a:r>
            <a:endParaRPr kumimoji="0" lang="en-GB" sz="1400" b="1"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pic>
        <p:nvPicPr>
          <p:cNvPr id="50" name="Picture 49">
            <a:extLst>
              <a:ext uri="{FF2B5EF4-FFF2-40B4-BE49-F238E27FC236}">
                <a16:creationId xmlns:a16="http://schemas.microsoft.com/office/drawing/2014/main" id="{9340CAD5-D41F-78D9-9BD5-5A333B06E9A9}"/>
              </a:ext>
            </a:extLst>
          </p:cNvPr>
          <p:cNvPicPr>
            <a:picLocks noChangeAspect="1"/>
          </p:cNvPicPr>
          <p:nvPr/>
        </p:nvPicPr>
        <p:blipFill>
          <a:blip r:embed="rId4"/>
          <a:stretch>
            <a:fillRect/>
          </a:stretch>
        </p:blipFill>
        <p:spPr>
          <a:xfrm>
            <a:off x="179754" y="1499683"/>
            <a:ext cx="10245969" cy="4763344"/>
          </a:xfrm>
          <a:prstGeom prst="rect">
            <a:avLst/>
          </a:prstGeom>
        </p:spPr>
      </p:pic>
    </p:spTree>
    <p:extLst>
      <p:ext uri="{BB962C8B-B14F-4D97-AF65-F5344CB8AC3E}">
        <p14:creationId xmlns:p14="http://schemas.microsoft.com/office/powerpoint/2010/main" val="183861420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Digital Regulatory Reporting</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TextBox 1">
            <a:extLst>
              <a:ext uri="{FF2B5EF4-FFF2-40B4-BE49-F238E27FC236}">
                <a16:creationId xmlns:a16="http://schemas.microsoft.com/office/drawing/2014/main" id="{2EFE41D3-4721-36C6-4044-3E8CF32519C1}"/>
              </a:ext>
            </a:extLst>
          </p:cNvPr>
          <p:cNvSpPr txBox="1"/>
          <p:nvPr/>
        </p:nvSpPr>
        <p:spPr>
          <a:xfrm>
            <a:off x="388834" y="1137737"/>
            <a:ext cx="4190850" cy="307777"/>
          </a:xfrm>
          <a:prstGeom prst="rect">
            <a:avLst/>
          </a:prstGeom>
          <a:noFill/>
        </p:spPr>
        <p:txBody>
          <a:bodyPr wrap="square">
            <a:spAutoFit/>
          </a:bodyPr>
          <a:lstStyle/>
          <a:p>
            <a:pPr>
              <a:defRPr/>
            </a:pPr>
            <a:r>
              <a:rPr kumimoji="0" lang="en-US" sz="1400" b="1" i="0" u="none" strike="noStrike" kern="0" cap="none" spc="0" normalizeH="0" baseline="0" noProof="0" dirty="0">
                <a:ln>
                  <a:noFill/>
                </a:ln>
                <a:solidFill>
                  <a:srgbClr val="32007C"/>
                </a:solidFill>
                <a:effectLst/>
                <a:uLnTx/>
                <a:uFillTx/>
                <a:latin typeface="+mj-lt"/>
                <a:ea typeface="Helvetica Light" charset="0"/>
                <a:cs typeface="Helvetica Light" charset="0"/>
              </a:rPr>
              <a:t>Trade Reporting Rule Implementation Using the DRR</a:t>
            </a:r>
            <a:endParaRPr kumimoji="0" lang="en-GB" sz="1400" b="1" i="0" u="none" strike="noStrike" kern="0" cap="none" spc="0" normalizeH="0" baseline="0" noProof="0" dirty="0">
              <a:ln>
                <a:noFill/>
              </a:ln>
              <a:solidFill>
                <a:srgbClr val="32007C"/>
              </a:solidFill>
              <a:effectLst/>
              <a:uLnTx/>
              <a:uFillTx/>
              <a:latin typeface="+mj-lt"/>
              <a:ea typeface="Helvetica Light" charset="0"/>
              <a:cs typeface="Helvetica Light" charset="0"/>
            </a:endParaRPr>
          </a:p>
        </p:txBody>
      </p:sp>
      <p:graphicFrame>
        <p:nvGraphicFramePr>
          <p:cNvPr id="4" name="Diagram 3">
            <a:extLst>
              <a:ext uri="{FF2B5EF4-FFF2-40B4-BE49-F238E27FC236}">
                <a16:creationId xmlns:a16="http://schemas.microsoft.com/office/drawing/2014/main" id="{9F01583A-7255-94C0-0CBD-2B16004F7D92}"/>
              </a:ext>
            </a:extLst>
          </p:cNvPr>
          <p:cNvGraphicFramePr/>
          <p:nvPr>
            <p:extLst>
              <p:ext uri="{D42A27DB-BD31-4B8C-83A1-F6EECF244321}">
                <p14:modId xmlns:p14="http://schemas.microsoft.com/office/powerpoint/2010/main" val="2556703028"/>
              </p:ext>
            </p:extLst>
          </p:nvPr>
        </p:nvGraphicFramePr>
        <p:xfrm>
          <a:off x="1631403" y="1656862"/>
          <a:ext cx="9216350" cy="46874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9398131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Digital Regulatory Reporting</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TextBox 1">
            <a:extLst>
              <a:ext uri="{FF2B5EF4-FFF2-40B4-BE49-F238E27FC236}">
                <a16:creationId xmlns:a16="http://schemas.microsoft.com/office/drawing/2014/main" id="{2EFE41D3-4721-36C6-4044-3E8CF32519C1}"/>
              </a:ext>
            </a:extLst>
          </p:cNvPr>
          <p:cNvSpPr txBox="1"/>
          <p:nvPr/>
        </p:nvSpPr>
        <p:spPr>
          <a:xfrm>
            <a:off x="388834" y="1137737"/>
            <a:ext cx="4190850" cy="307777"/>
          </a:xfrm>
          <a:prstGeom prst="rect">
            <a:avLst/>
          </a:prstGeom>
          <a:noFill/>
        </p:spPr>
        <p:txBody>
          <a:bodyPr wrap="square">
            <a:spAutoFit/>
          </a:bodyPr>
          <a:lstStyle/>
          <a:p>
            <a:pPr>
              <a:defRPr/>
            </a:pPr>
            <a:r>
              <a:rPr kumimoji="0" lang="en-US" sz="1400" b="1" i="0" u="none" strike="noStrike" kern="0" cap="none" spc="0" normalizeH="0" baseline="0" noProof="0">
                <a:ln>
                  <a:noFill/>
                </a:ln>
                <a:solidFill>
                  <a:srgbClr val="32007C"/>
                </a:solidFill>
                <a:effectLst/>
                <a:uLnTx/>
                <a:uFillTx/>
                <a:latin typeface="+mj-lt"/>
                <a:ea typeface="Helvetica Light" charset="0"/>
                <a:cs typeface="Helvetica Light" charset="0"/>
              </a:rPr>
              <a:t>DRR Roadmap</a:t>
            </a:r>
            <a:endParaRPr kumimoji="0" lang="en-GB" sz="1400" b="1"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pic>
        <p:nvPicPr>
          <p:cNvPr id="3" name="Picture 2">
            <a:extLst>
              <a:ext uri="{FF2B5EF4-FFF2-40B4-BE49-F238E27FC236}">
                <a16:creationId xmlns:a16="http://schemas.microsoft.com/office/drawing/2014/main" id="{0141DC0F-BC12-3A86-027C-CEF9EF214108}"/>
              </a:ext>
            </a:extLst>
          </p:cNvPr>
          <p:cNvPicPr>
            <a:picLocks noChangeAspect="1"/>
          </p:cNvPicPr>
          <p:nvPr/>
        </p:nvPicPr>
        <p:blipFill>
          <a:blip r:embed="rId4"/>
          <a:stretch>
            <a:fillRect/>
          </a:stretch>
        </p:blipFill>
        <p:spPr>
          <a:xfrm>
            <a:off x="459759" y="1445514"/>
            <a:ext cx="11272481" cy="4505334"/>
          </a:xfrm>
          <a:prstGeom prst="rect">
            <a:avLst/>
          </a:prstGeom>
        </p:spPr>
      </p:pic>
    </p:spTree>
    <p:extLst>
      <p:ext uri="{BB962C8B-B14F-4D97-AF65-F5344CB8AC3E}">
        <p14:creationId xmlns:p14="http://schemas.microsoft.com/office/powerpoint/2010/main" val="381822356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Integrating CDM and Legal Agreements</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 name="Slide Number Placeholder 6">
            <a:extLst>
              <a:ext uri="{FF2B5EF4-FFF2-40B4-BE49-F238E27FC236}">
                <a16:creationId xmlns:a16="http://schemas.microsoft.com/office/drawing/2014/main" id="{809FC5C4-8D46-7960-3426-AC0E77C3DFFC}"/>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751C141-602F-4B7A-80FC-46E874AB684B}" type="slidenum">
              <a:rPr lang="en-GB" sz="1200" smtClean="0">
                <a:solidFill>
                  <a:srgbClr val="32007C"/>
                </a:solidFill>
                <a:latin typeface="Daytona Condensed" panose="020B0506030503040204" pitchFamily="34" charset="0"/>
              </a:rPr>
              <a:pPr algn="r"/>
              <a:t>32</a:t>
            </a:fld>
            <a:endParaRPr lang="en-GB" sz="1200">
              <a:solidFill>
                <a:srgbClr val="32007C"/>
              </a:solidFill>
              <a:latin typeface="Daytona Condensed" panose="020B0506030503040204" pitchFamily="34" charset="0"/>
            </a:endParaRPr>
          </a:p>
        </p:txBody>
      </p:sp>
      <p:grpSp>
        <p:nvGrpSpPr>
          <p:cNvPr id="3" name="Group 2">
            <a:extLst>
              <a:ext uri="{FF2B5EF4-FFF2-40B4-BE49-F238E27FC236}">
                <a16:creationId xmlns:a16="http://schemas.microsoft.com/office/drawing/2014/main" id="{2278B5B0-E28C-6EA6-9F3A-D156FBADCBB3}"/>
              </a:ext>
            </a:extLst>
          </p:cNvPr>
          <p:cNvGrpSpPr/>
          <p:nvPr/>
        </p:nvGrpSpPr>
        <p:grpSpPr>
          <a:xfrm>
            <a:off x="9109859" y="1497026"/>
            <a:ext cx="2075969" cy="530450"/>
            <a:chOff x="2825750" y="1247793"/>
            <a:chExt cx="2476500" cy="990600"/>
          </a:xfrm>
        </p:grpSpPr>
        <p:sp>
          <p:nvSpPr>
            <p:cNvPr id="4" name="Rectangle 3">
              <a:extLst>
                <a:ext uri="{FF2B5EF4-FFF2-40B4-BE49-F238E27FC236}">
                  <a16:creationId xmlns:a16="http://schemas.microsoft.com/office/drawing/2014/main" id="{64ABFC7B-2F68-A963-FC6A-854A3CF25DD6}"/>
                </a:ext>
              </a:extLst>
            </p:cNvPr>
            <p:cNvSpPr/>
            <p:nvPr/>
          </p:nvSpPr>
          <p:spPr>
            <a:xfrm>
              <a:off x="2825750" y="1247793"/>
              <a:ext cx="2476500" cy="990600"/>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6" name="TextBox 5">
              <a:extLst>
                <a:ext uri="{FF2B5EF4-FFF2-40B4-BE49-F238E27FC236}">
                  <a16:creationId xmlns:a16="http://schemas.microsoft.com/office/drawing/2014/main" id="{DBE4559E-8BF2-15B8-D7CE-6EB35A253393}"/>
                </a:ext>
              </a:extLst>
            </p:cNvPr>
            <p:cNvSpPr txBox="1"/>
            <p:nvPr/>
          </p:nvSpPr>
          <p:spPr>
            <a:xfrm>
              <a:off x="2825750" y="1247793"/>
              <a:ext cx="2476500" cy="9906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12928" tIns="178816" rIns="312928" bIns="178816" numCol="1" spcCol="1270" anchor="ctr" anchorCtr="0">
              <a:noAutofit/>
            </a:bodyPr>
            <a:lstStyle/>
            <a:p>
              <a:pPr marL="0" lvl="0" indent="0" defTabSz="1955800">
                <a:lnSpc>
                  <a:spcPct val="90000"/>
                </a:lnSpc>
                <a:spcBef>
                  <a:spcPct val="0"/>
                </a:spcBef>
                <a:spcAft>
                  <a:spcPct val="35000"/>
                </a:spcAft>
                <a:buNone/>
              </a:pPr>
              <a:r>
                <a:rPr lang="en-GB" sz="1400">
                  <a:latin typeface="Daytona Condensed" panose="020B0506030503040204" pitchFamily="34" charset="0"/>
                </a:rPr>
                <a:t>Securities loan</a:t>
              </a:r>
              <a:endParaRPr lang="en-GB" sz="1400" kern="1200">
                <a:latin typeface="Daytona Condensed" panose="020B0506030503040204" pitchFamily="34" charset="0"/>
              </a:endParaRPr>
            </a:p>
          </p:txBody>
        </p:sp>
      </p:grpSp>
      <p:grpSp>
        <p:nvGrpSpPr>
          <p:cNvPr id="8" name="Group 7">
            <a:extLst>
              <a:ext uri="{FF2B5EF4-FFF2-40B4-BE49-F238E27FC236}">
                <a16:creationId xmlns:a16="http://schemas.microsoft.com/office/drawing/2014/main" id="{16A11AC7-5B93-1258-290F-E9C629760F5A}"/>
              </a:ext>
            </a:extLst>
          </p:cNvPr>
          <p:cNvGrpSpPr/>
          <p:nvPr/>
        </p:nvGrpSpPr>
        <p:grpSpPr>
          <a:xfrm>
            <a:off x="9109859" y="2027476"/>
            <a:ext cx="2075969" cy="1557295"/>
            <a:chOff x="2825750" y="2238393"/>
            <a:chExt cx="2476500" cy="1932480"/>
          </a:xfrm>
        </p:grpSpPr>
        <p:sp>
          <p:nvSpPr>
            <p:cNvPr id="9" name="Rectangle 8">
              <a:extLst>
                <a:ext uri="{FF2B5EF4-FFF2-40B4-BE49-F238E27FC236}">
                  <a16:creationId xmlns:a16="http://schemas.microsoft.com/office/drawing/2014/main" id="{577DC68F-6F5F-9331-041F-E71BC96DD568}"/>
                </a:ext>
              </a:extLst>
            </p:cNvPr>
            <p:cNvSpPr/>
            <p:nvPr/>
          </p:nvSpPr>
          <p:spPr>
            <a:xfrm>
              <a:off x="2825750" y="2238393"/>
              <a:ext cx="2476500" cy="1932480"/>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nchor="t"/>
            <a:lstStyle/>
            <a:p>
              <a:endParaRPr lang="en-GB" sz="1000">
                <a:latin typeface="Daytona Condensed" panose="020B0506030503040204" pitchFamily="34" charset="0"/>
              </a:endParaRPr>
            </a:p>
          </p:txBody>
        </p:sp>
        <p:sp>
          <p:nvSpPr>
            <p:cNvPr id="10" name="TextBox 9">
              <a:extLst>
                <a:ext uri="{FF2B5EF4-FFF2-40B4-BE49-F238E27FC236}">
                  <a16:creationId xmlns:a16="http://schemas.microsoft.com/office/drawing/2014/main" id="{B4C3539A-DCE6-471D-B81D-DE4C26FED021}"/>
                </a:ext>
              </a:extLst>
            </p:cNvPr>
            <p:cNvSpPr txBox="1"/>
            <p:nvPr/>
          </p:nvSpPr>
          <p:spPr>
            <a:xfrm>
              <a:off x="2825750" y="2238393"/>
              <a:ext cx="2476500" cy="19324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34696" tIns="234696" rIns="312928" bIns="352044" numCol="1" spcCol="1270" anchor="t" anchorCtr="0">
              <a:noAutofit/>
            </a:bodyPr>
            <a:lstStyle/>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Quantity</a:t>
              </a:r>
            </a:p>
            <a:p>
              <a:pPr marL="285750" lvl="1" indent="-285750" defTabSz="1955800">
                <a:lnSpc>
                  <a:spcPct val="90000"/>
                </a:lnSpc>
                <a:spcBef>
                  <a:spcPct val="0"/>
                </a:spcBef>
                <a:spcAft>
                  <a:spcPct val="15000"/>
                </a:spcAft>
                <a:buFont typeface="Arial" panose="020B0604020202020204" pitchFamily="34" charset="0"/>
                <a:buChar char="•"/>
              </a:pPr>
              <a:r>
                <a:rPr lang="en-GB" sz="1000">
                  <a:latin typeface="Daytona Condensed" panose="020B0506030503040204" pitchFamily="34" charset="0"/>
                </a:rPr>
                <a:t>Security</a:t>
              </a:r>
            </a:p>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Collateral Type</a:t>
              </a:r>
            </a:p>
            <a:p>
              <a:pPr marL="285750" lvl="1" indent="-285750" defTabSz="1955800">
                <a:lnSpc>
                  <a:spcPct val="90000"/>
                </a:lnSpc>
                <a:spcBef>
                  <a:spcPct val="0"/>
                </a:spcBef>
                <a:spcAft>
                  <a:spcPct val="15000"/>
                </a:spcAft>
                <a:buFont typeface="Arial" panose="020B0604020202020204" pitchFamily="34" charset="0"/>
                <a:buChar char="•"/>
              </a:pPr>
              <a:r>
                <a:rPr lang="en-GB" sz="1000">
                  <a:latin typeface="Daytona Condensed" panose="020B0506030503040204" pitchFamily="34" charset="0"/>
                </a:rPr>
                <a:t>Duration</a:t>
              </a:r>
            </a:p>
            <a:p>
              <a:pPr marL="285750" lvl="1" indent="-285750" defTabSz="1955800">
                <a:lnSpc>
                  <a:spcPct val="90000"/>
                </a:lnSpc>
                <a:spcBef>
                  <a:spcPct val="0"/>
                </a:spcBef>
                <a:spcAft>
                  <a:spcPct val="15000"/>
                </a:spcAft>
                <a:buFont typeface="Arial" panose="020B0604020202020204" pitchFamily="34" charset="0"/>
                <a:buChar char="•"/>
              </a:pPr>
              <a:r>
                <a:rPr lang="en-GB" sz="1000">
                  <a:latin typeface="Daytona Condensed" panose="020B0506030503040204" pitchFamily="34" charset="0"/>
                </a:rPr>
                <a:t>Legal Agreement</a:t>
              </a:r>
            </a:p>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a:t>
              </a:r>
            </a:p>
          </p:txBody>
        </p:sp>
      </p:grpSp>
      <p:grpSp>
        <p:nvGrpSpPr>
          <p:cNvPr id="12" name="Group 11">
            <a:extLst>
              <a:ext uri="{FF2B5EF4-FFF2-40B4-BE49-F238E27FC236}">
                <a16:creationId xmlns:a16="http://schemas.microsoft.com/office/drawing/2014/main" id="{8A3BEEA2-2815-F870-1CF8-B3ECD62841AB}"/>
              </a:ext>
            </a:extLst>
          </p:cNvPr>
          <p:cNvGrpSpPr/>
          <p:nvPr/>
        </p:nvGrpSpPr>
        <p:grpSpPr>
          <a:xfrm>
            <a:off x="6187287" y="1497026"/>
            <a:ext cx="2075969" cy="530450"/>
            <a:chOff x="2825750" y="1247793"/>
            <a:chExt cx="2476500" cy="990600"/>
          </a:xfrm>
        </p:grpSpPr>
        <p:sp>
          <p:nvSpPr>
            <p:cNvPr id="13" name="Rectangle 12">
              <a:extLst>
                <a:ext uri="{FF2B5EF4-FFF2-40B4-BE49-F238E27FC236}">
                  <a16:creationId xmlns:a16="http://schemas.microsoft.com/office/drawing/2014/main" id="{D828A667-40B2-C733-8A28-919A957BA32B}"/>
                </a:ext>
              </a:extLst>
            </p:cNvPr>
            <p:cNvSpPr/>
            <p:nvPr/>
          </p:nvSpPr>
          <p:spPr>
            <a:xfrm>
              <a:off x="2825750" y="1247793"/>
              <a:ext cx="2476500" cy="990600"/>
            </a:xfrm>
            <a:prstGeom prst="rect">
              <a:avLst/>
            </a:prstGeom>
            <a:ln>
              <a:solidFill>
                <a:srgbClr val="F36B22"/>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14" name="TextBox 13">
              <a:extLst>
                <a:ext uri="{FF2B5EF4-FFF2-40B4-BE49-F238E27FC236}">
                  <a16:creationId xmlns:a16="http://schemas.microsoft.com/office/drawing/2014/main" id="{34A42DF1-FF7C-4C31-A7D8-36C250D82BC5}"/>
                </a:ext>
              </a:extLst>
            </p:cNvPr>
            <p:cNvSpPr txBox="1"/>
            <p:nvPr/>
          </p:nvSpPr>
          <p:spPr>
            <a:xfrm>
              <a:off x="2825750" y="1247793"/>
              <a:ext cx="2476500" cy="990600"/>
            </a:xfrm>
            <a:prstGeom prst="rect">
              <a:avLst/>
            </a:prstGeom>
            <a:ln>
              <a:solidFill>
                <a:srgbClr val="F36B22"/>
              </a:solidFill>
            </a:ln>
          </p:spPr>
          <p:style>
            <a:lnRef idx="0">
              <a:scrgbClr r="0" g="0" b="0"/>
            </a:lnRef>
            <a:fillRef idx="0">
              <a:scrgbClr r="0" g="0" b="0"/>
            </a:fillRef>
            <a:effectRef idx="0">
              <a:scrgbClr r="0" g="0" b="0"/>
            </a:effectRef>
            <a:fontRef idx="minor">
              <a:schemeClr val="lt1"/>
            </a:fontRef>
          </p:style>
          <p:txBody>
            <a:bodyPr spcFirstLastPara="0" vert="horz" wrap="square" lIns="312928" tIns="178816" rIns="312928" bIns="178816" numCol="1" spcCol="1270" anchor="ctr" anchorCtr="0">
              <a:noAutofit/>
            </a:bodyPr>
            <a:lstStyle/>
            <a:p>
              <a:pPr marL="0" lvl="0" indent="0" defTabSz="1955800">
                <a:lnSpc>
                  <a:spcPct val="90000"/>
                </a:lnSpc>
                <a:spcBef>
                  <a:spcPct val="0"/>
                </a:spcBef>
                <a:spcAft>
                  <a:spcPct val="35000"/>
                </a:spcAft>
                <a:buNone/>
              </a:pPr>
              <a:r>
                <a:rPr lang="en-GB">
                  <a:latin typeface="Daytona Condensed" panose="020B0506030503040204" pitchFamily="34" charset="0"/>
                </a:rPr>
                <a:t>Legal </a:t>
              </a:r>
              <a:r>
                <a:rPr lang="en-GB" err="1">
                  <a:latin typeface="Daytona Condensed" panose="020B0506030503040204" pitchFamily="34" charset="0"/>
                </a:rPr>
                <a:t>Agmt</a:t>
              </a:r>
              <a:endParaRPr lang="en-GB" kern="1200">
                <a:latin typeface="Daytona Condensed" panose="020B0506030503040204" pitchFamily="34" charset="0"/>
              </a:endParaRPr>
            </a:p>
          </p:txBody>
        </p:sp>
      </p:grpSp>
      <p:grpSp>
        <p:nvGrpSpPr>
          <p:cNvPr id="15" name="Group 14">
            <a:extLst>
              <a:ext uri="{FF2B5EF4-FFF2-40B4-BE49-F238E27FC236}">
                <a16:creationId xmlns:a16="http://schemas.microsoft.com/office/drawing/2014/main" id="{FE546688-DD31-D948-4133-64F5FED0EC0E}"/>
              </a:ext>
            </a:extLst>
          </p:cNvPr>
          <p:cNvGrpSpPr/>
          <p:nvPr/>
        </p:nvGrpSpPr>
        <p:grpSpPr>
          <a:xfrm>
            <a:off x="6187287" y="2027476"/>
            <a:ext cx="2075969" cy="1557295"/>
            <a:chOff x="2825750" y="2238393"/>
            <a:chExt cx="2476500" cy="1932480"/>
          </a:xfrm>
        </p:grpSpPr>
        <p:sp>
          <p:nvSpPr>
            <p:cNvPr id="16" name="Rectangle 15">
              <a:extLst>
                <a:ext uri="{FF2B5EF4-FFF2-40B4-BE49-F238E27FC236}">
                  <a16:creationId xmlns:a16="http://schemas.microsoft.com/office/drawing/2014/main" id="{96FCC53D-9386-69CA-D4F0-84B4282BDC3E}"/>
                </a:ext>
              </a:extLst>
            </p:cNvPr>
            <p:cNvSpPr/>
            <p:nvPr/>
          </p:nvSpPr>
          <p:spPr>
            <a:xfrm>
              <a:off x="2825750" y="2238393"/>
              <a:ext cx="2476500" cy="1932480"/>
            </a:xfrm>
            <a:prstGeom prst="rect">
              <a:avLst/>
            </a:prstGeom>
            <a:ln>
              <a:solidFill>
                <a:srgbClr val="F36B22"/>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nchor="t"/>
            <a:lstStyle/>
            <a:p>
              <a:endParaRPr lang="en-GB" sz="1000">
                <a:latin typeface="Daytona Condensed" panose="020B0506030503040204" pitchFamily="34" charset="0"/>
              </a:endParaRPr>
            </a:p>
          </p:txBody>
        </p:sp>
        <p:sp>
          <p:nvSpPr>
            <p:cNvPr id="17" name="TextBox 16">
              <a:extLst>
                <a:ext uri="{FF2B5EF4-FFF2-40B4-BE49-F238E27FC236}">
                  <a16:creationId xmlns:a16="http://schemas.microsoft.com/office/drawing/2014/main" id="{F6A434B3-DF50-C6DC-DFB8-EB81CC842083}"/>
                </a:ext>
              </a:extLst>
            </p:cNvPr>
            <p:cNvSpPr txBox="1"/>
            <p:nvPr/>
          </p:nvSpPr>
          <p:spPr>
            <a:xfrm>
              <a:off x="2825750" y="2238393"/>
              <a:ext cx="2318419" cy="1932480"/>
            </a:xfrm>
            <a:prstGeom prst="rect">
              <a:avLst/>
            </a:prstGeom>
            <a:ln>
              <a:solidFill>
                <a:srgbClr val="F36B22"/>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34696" tIns="234696" rIns="312928" bIns="352044" numCol="1" spcCol="1270" anchor="t" anchorCtr="0">
              <a:noAutofit/>
            </a:bodyPr>
            <a:lstStyle/>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Version</a:t>
              </a:r>
            </a:p>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Auto Early Term</a:t>
              </a:r>
              <a:r>
                <a:rPr lang="en-GB" sz="1000">
                  <a:latin typeface="Daytona Condensed" panose="020B0506030503040204" pitchFamily="34" charset="0"/>
                </a:rPr>
                <a:t> variant 1  business outcome</a:t>
              </a:r>
            </a:p>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Aggregation variant 5</a:t>
              </a:r>
              <a:r>
                <a:rPr lang="en-GB" sz="1000">
                  <a:latin typeface="Daytona Condensed" panose="020B0506030503040204" pitchFamily="34" charset="0"/>
                </a:rPr>
                <a:t> business outcome</a:t>
              </a:r>
            </a:p>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Corp Action variant 3</a:t>
              </a:r>
            </a:p>
            <a:p>
              <a:pPr marL="285750" lvl="1" indent="-285750" defTabSz="1955800">
                <a:lnSpc>
                  <a:spcPct val="90000"/>
                </a:lnSpc>
                <a:spcBef>
                  <a:spcPct val="0"/>
                </a:spcBef>
                <a:spcAft>
                  <a:spcPct val="15000"/>
                </a:spcAft>
                <a:buFont typeface="Arial" panose="020B0604020202020204" pitchFamily="34" charset="0"/>
                <a:buChar char="•"/>
              </a:pPr>
              <a:r>
                <a:rPr lang="en-GB" sz="1000">
                  <a:latin typeface="Daytona Condensed" panose="020B0506030503040204" pitchFamily="34" charset="0"/>
                </a:rPr>
                <a:t>…….</a:t>
              </a:r>
              <a:endParaRPr lang="en-GB" sz="1000" kern="1200">
                <a:latin typeface="Daytona Condensed" panose="020B0506030503040204" pitchFamily="34" charset="0"/>
              </a:endParaRPr>
            </a:p>
          </p:txBody>
        </p:sp>
      </p:grpSp>
      <p:grpSp>
        <p:nvGrpSpPr>
          <p:cNvPr id="18" name="Group 17">
            <a:extLst>
              <a:ext uri="{FF2B5EF4-FFF2-40B4-BE49-F238E27FC236}">
                <a16:creationId xmlns:a16="http://schemas.microsoft.com/office/drawing/2014/main" id="{41707585-D67B-B3B4-9675-0AC9C8518D84}"/>
              </a:ext>
            </a:extLst>
          </p:cNvPr>
          <p:cNvGrpSpPr/>
          <p:nvPr/>
        </p:nvGrpSpPr>
        <p:grpSpPr>
          <a:xfrm>
            <a:off x="3359316" y="1476795"/>
            <a:ext cx="2034941" cy="530450"/>
            <a:chOff x="2825750" y="1247793"/>
            <a:chExt cx="2476500" cy="990600"/>
          </a:xfrm>
          <a:solidFill>
            <a:schemeClr val="accent2">
              <a:lumMod val="50000"/>
              <a:lumOff val="50000"/>
            </a:schemeClr>
          </a:solidFill>
        </p:grpSpPr>
        <p:sp>
          <p:nvSpPr>
            <p:cNvPr id="19" name="Rectangle 18">
              <a:extLst>
                <a:ext uri="{FF2B5EF4-FFF2-40B4-BE49-F238E27FC236}">
                  <a16:creationId xmlns:a16="http://schemas.microsoft.com/office/drawing/2014/main" id="{E1156FD3-4AD9-3200-13B7-49C3A939A8F6}"/>
                </a:ext>
              </a:extLst>
            </p:cNvPr>
            <p:cNvSpPr/>
            <p:nvPr/>
          </p:nvSpPr>
          <p:spPr>
            <a:xfrm>
              <a:off x="2825750" y="1247793"/>
              <a:ext cx="2476500" cy="990600"/>
            </a:xfrm>
            <a:prstGeom prst="rect">
              <a:avLst/>
            </a:prstGeom>
            <a:grp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20" name="TextBox 19">
              <a:extLst>
                <a:ext uri="{FF2B5EF4-FFF2-40B4-BE49-F238E27FC236}">
                  <a16:creationId xmlns:a16="http://schemas.microsoft.com/office/drawing/2014/main" id="{E50C0327-2FF8-D752-262E-3A8FBAECB2EE}"/>
                </a:ext>
              </a:extLst>
            </p:cNvPr>
            <p:cNvSpPr txBox="1"/>
            <p:nvPr/>
          </p:nvSpPr>
          <p:spPr>
            <a:xfrm>
              <a:off x="2825750" y="1247793"/>
              <a:ext cx="2476500" cy="99060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312928" tIns="178816" rIns="312928" bIns="178816" numCol="1" spcCol="1270" anchor="ctr" anchorCtr="0">
              <a:noAutofit/>
            </a:bodyPr>
            <a:lstStyle/>
            <a:p>
              <a:pPr marL="0" lvl="0" indent="0" defTabSz="1955800">
                <a:lnSpc>
                  <a:spcPct val="90000"/>
                </a:lnSpc>
                <a:spcBef>
                  <a:spcPct val="0"/>
                </a:spcBef>
                <a:spcAft>
                  <a:spcPct val="35000"/>
                </a:spcAft>
                <a:buNone/>
              </a:pPr>
              <a:r>
                <a:rPr lang="en-GB">
                  <a:latin typeface="Daytona Condensed" panose="020B0506030503040204" pitchFamily="34" charset="0"/>
                </a:rPr>
                <a:t>Legal </a:t>
              </a:r>
              <a:r>
                <a:rPr lang="en-GB" err="1">
                  <a:latin typeface="Daytona Condensed" panose="020B0506030503040204" pitchFamily="34" charset="0"/>
                </a:rPr>
                <a:t>Agmt</a:t>
              </a:r>
              <a:endParaRPr lang="en-GB" kern="1200">
                <a:latin typeface="Daytona Condensed" panose="020B0506030503040204" pitchFamily="34" charset="0"/>
              </a:endParaRPr>
            </a:p>
          </p:txBody>
        </p:sp>
      </p:grpSp>
      <p:grpSp>
        <p:nvGrpSpPr>
          <p:cNvPr id="21" name="Group 20">
            <a:extLst>
              <a:ext uri="{FF2B5EF4-FFF2-40B4-BE49-F238E27FC236}">
                <a16:creationId xmlns:a16="http://schemas.microsoft.com/office/drawing/2014/main" id="{90F507A6-36D2-43A6-1AD0-55A9340CCBBF}"/>
              </a:ext>
            </a:extLst>
          </p:cNvPr>
          <p:cNvGrpSpPr/>
          <p:nvPr/>
        </p:nvGrpSpPr>
        <p:grpSpPr>
          <a:xfrm>
            <a:off x="3361820" y="2027476"/>
            <a:ext cx="2034940" cy="1557295"/>
            <a:chOff x="2825750" y="2238393"/>
            <a:chExt cx="2476500" cy="1932480"/>
          </a:xfrm>
          <a:solidFill>
            <a:srgbClr val="AAB5E4"/>
          </a:solidFill>
        </p:grpSpPr>
        <p:sp>
          <p:nvSpPr>
            <p:cNvPr id="22" name="Rectangle 21">
              <a:extLst>
                <a:ext uri="{FF2B5EF4-FFF2-40B4-BE49-F238E27FC236}">
                  <a16:creationId xmlns:a16="http://schemas.microsoft.com/office/drawing/2014/main" id="{925EF40E-5B31-62C9-E39E-95C55C7E0FA2}"/>
                </a:ext>
              </a:extLst>
            </p:cNvPr>
            <p:cNvSpPr/>
            <p:nvPr/>
          </p:nvSpPr>
          <p:spPr>
            <a:xfrm>
              <a:off x="2825750" y="2238393"/>
              <a:ext cx="2476500" cy="1932480"/>
            </a:xfrm>
            <a:prstGeom prst="rect">
              <a:avLst/>
            </a:prstGeom>
            <a:grp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nchor="t"/>
            <a:lstStyle/>
            <a:p>
              <a:endParaRPr lang="en-GB">
                <a:latin typeface="Daytona Condensed" panose="020B0506030503040204" pitchFamily="34" charset="0"/>
              </a:endParaRPr>
            </a:p>
          </p:txBody>
        </p:sp>
        <p:sp>
          <p:nvSpPr>
            <p:cNvPr id="23" name="TextBox 22">
              <a:extLst>
                <a:ext uri="{FF2B5EF4-FFF2-40B4-BE49-F238E27FC236}">
                  <a16:creationId xmlns:a16="http://schemas.microsoft.com/office/drawing/2014/main" id="{D6A0E65B-D708-8193-79F1-9DA42028EF0B}"/>
                </a:ext>
              </a:extLst>
            </p:cNvPr>
            <p:cNvSpPr txBox="1"/>
            <p:nvPr/>
          </p:nvSpPr>
          <p:spPr>
            <a:xfrm>
              <a:off x="2825751" y="2238393"/>
              <a:ext cx="2108595" cy="1932480"/>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34696" tIns="234696" rIns="312928" bIns="352044" numCol="1" spcCol="1270" anchor="t" anchorCtr="0">
              <a:noAutofit/>
            </a:bodyPr>
            <a:lstStyle/>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Auto Early Term</a:t>
              </a:r>
              <a:r>
                <a:rPr lang="en-GB" sz="1000">
                  <a:latin typeface="Daytona Condensed" panose="020B0506030503040204" pitchFamily="34" charset="0"/>
                </a:rPr>
                <a:t> variant 1 wording</a:t>
              </a:r>
            </a:p>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Aggregation variant 5</a:t>
              </a:r>
              <a:r>
                <a:rPr lang="en-GB" sz="1000">
                  <a:latin typeface="Daytona Condensed" panose="020B0506030503040204" pitchFamily="34" charset="0"/>
                </a:rPr>
                <a:t> wording</a:t>
              </a:r>
            </a:p>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Corp Action variant 3 wording</a:t>
              </a:r>
            </a:p>
            <a:p>
              <a:pPr marL="285750" lvl="1" indent="-285750" defTabSz="1955800">
                <a:lnSpc>
                  <a:spcPct val="90000"/>
                </a:lnSpc>
                <a:spcBef>
                  <a:spcPct val="0"/>
                </a:spcBef>
                <a:spcAft>
                  <a:spcPct val="15000"/>
                </a:spcAft>
                <a:buFont typeface="Arial" panose="020B0604020202020204" pitchFamily="34" charset="0"/>
                <a:buChar char="•"/>
              </a:pPr>
              <a:r>
                <a:rPr lang="en-GB" sz="1000">
                  <a:latin typeface="Daytona Condensed" panose="020B0506030503040204" pitchFamily="34" charset="0"/>
                </a:rPr>
                <a:t>…….</a:t>
              </a:r>
              <a:endParaRPr lang="en-GB" sz="1000" kern="1200">
                <a:latin typeface="Daytona Condensed" panose="020B0506030503040204" pitchFamily="34" charset="0"/>
              </a:endParaRPr>
            </a:p>
          </p:txBody>
        </p:sp>
      </p:grpSp>
      <p:grpSp>
        <p:nvGrpSpPr>
          <p:cNvPr id="24" name="Group 23">
            <a:extLst>
              <a:ext uri="{FF2B5EF4-FFF2-40B4-BE49-F238E27FC236}">
                <a16:creationId xmlns:a16="http://schemas.microsoft.com/office/drawing/2014/main" id="{B3A10072-DAA1-09EA-8CE8-F6F455942510}"/>
              </a:ext>
            </a:extLst>
          </p:cNvPr>
          <p:cNvGrpSpPr/>
          <p:nvPr/>
        </p:nvGrpSpPr>
        <p:grpSpPr>
          <a:xfrm>
            <a:off x="180301" y="1497026"/>
            <a:ext cx="1551395" cy="530450"/>
            <a:chOff x="2825750" y="1247793"/>
            <a:chExt cx="2476500" cy="990600"/>
          </a:xfrm>
          <a:solidFill>
            <a:schemeClr val="accent5">
              <a:lumMod val="50000"/>
            </a:schemeClr>
          </a:solidFill>
        </p:grpSpPr>
        <p:sp>
          <p:nvSpPr>
            <p:cNvPr id="25" name="Rectangle 24">
              <a:extLst>
                <a:ext uri="{FF2B5EF4-FFF2-40B4-BE49-F238E27FC236}">
                  <a16:creationId xmlns:a16="http://schemas.microsoft.com/office/drawing/2014/main" id="{67A064F3-0833-A09E-665B-C14C65DDE2B5}"/>
                </a:ext>
              </a:extLst>
            </p:cNvPr>
            <p:cNvSpPr/>
            <p:nvPr/>
          </p:nvSpPr>
          <p:spPr>
            <a:xfrm>
              <a:off x="2825750" y="1247793"/>
              <a:ext cx="2476500" cy="990600"/>
            </a:xfrm>
            <a:prstGeom prst="rect">
              <a:avLst/>
            </a:prstGeom>
            <a:grp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26" name="TextBox 25">
              <a:extLst>
                <a:ext uri="{FF2B5EF4-FFF2-40B4-BE49-F238E27FC236}">
                  <a16:creationId xmlns:a16="http://schemas.microsoft.com/office/drawing/2014/main" id="{D2E4BE3C-E4FC-5B10-7768-1CEEB8A4D1E1}"/>
                </a:ext>
              </a:extLst>
            </p:cNvPr>
            <p:cNvSpPr txBox="1"/>
            <p:nvPr/>
          </p:nvSpPr>
          <p:spPr>
            <a:xfrm>
              <a:off x="2825750" y="1247793"/>
              <a:ext cx="2476500" cy="99060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312928" tIns="178816" rIns="312928" bIns="178816" numCol="1" spcCol="1270" anchor="ctr" anchorCtr="0">
              <a:noAutofit/>
            </a:bodyPr>
            <a:lstStyle/>
            <a:p>
              <a:pPr marL="0" lvl="0" indent="0" defTabSz="1955800">
                <a:lnSpc>
                  <a:spcPct val="90000"/>
                </a:lnSpc>
                <a:spcBef>
                  <a:spcPct val="0"/>
                </a:spcBef>
                <a:spcAft>
                  <a:spcPct val="35000"/>
                </a:spcAft>
                <a:buNone/>
              </a:pPr>
              <a:r>
                <a:rPr lang="en-GB" sz="1400">
                  <a:latin typeface="Daytona Condensed" panose="020B0506030503040204" pitchFamily="34" charset="0"/>
                </a:rPr>
                <a:t>Legal </a:t>
              </a:r>
            </a:p>
            <a:p>
              <a:pPr marL="0" lvl="0" indent="0" defTabSz="1955800">
                <a:lnSpc>
                  <a:spcPct val="90000"/>
                </a:lnSpc>
                <a:spcBef>
                  <a:spcPct val="0"/>
                </a:spcBef>
                <a:spcAft>
                  <a:spcPct val="35000"/>
                </a:spcAft>
                <a:buNone/>
              </a:pPr>
              <a:r>
                <a:rPr lang="en-GB" sz="1400" err="1">
                  <a:latin typeface="Daytona Condensed" panose="020B0506030503040204" pitchFamily="34" charset="0"/>
                </a:rPr>
                <a:t>Agmt</a:t>
              </a:r>
              <a:endParaRPr lang="en-GB" sz="1400" kern="1200">
                <a:latin typeface="Daytona Condensed" panose="020B0506030503040204" pitchFamily="34" charset="0"/>
              </a:endParaRPr>
            </a:p>
          </p:txBody>
        </p:sp>
      </p:grpSp>
      <p:grpSp>
        <p:nvGrpSpPr>
          <p:cNvPr id="27" name="Group 26">
            <a:extLst>
              <a:ext uri="{FF2B5EF4-FFF2-40B4-BE49-F238E27FC236}">
                <a16:creationId xmlns:a16="http://schemas.microsoft.com/office/drawing/2014/main" id="{6C0FF938-913D-EC20-1AB9-434CB4B9EDD7}"/>
              </a:ext>
            </a:extLst>
          </p:cNvPr>
          <p:cNvGrpSpPr/>
          <p:nvPr/>
        </p:nvGrpSpPr>
        <p:grpSpPr>
          <a:xfrm>
            <a:off x="180301" y="2027476"/>
            <a:ext cx="1551395" cy="1557295"/>
            <a:chOff x="2825750" y="2238393"/>
            <a:chExt cx="2476500" cy="1932480"/>
          </a:xfrm>
          <a:solidFill>
            <a:schemeClr val="accent5">
              <a:lumMod val="50000"/>
            </a:schemeClr>
          </a:solidFill>
        </p:grpSpPr>
        <p:sp>
          <p:nvSpPr>
            <p:cNvPr id="28" name="Rectangle 27">
              <a:extLst>
                <a:ext uri="{FF2B5EF4-FFF2-40B4-BE49-F238E27FC236}">
                  <a16:creationId xmlns:a16="http://schemas.microsoft.com/office/drawing/2014/main" id="{9569B20F-6002-4640-6AD6-63F819E49607}"/>
                </a:ext>
              </a:extLst>
            </p:cNvPr>
            <p:cNvSpPr/>
            <p:nvPr/>
          </p:nvSpPr>
          <p:spPr>
            <a:xfrm>
              <a:off x="2825750" y="2238393"/>
              <a:ext cx="2476500" cy="1932480"/>
            </a:xfrm>
            <a:prstGeom prst="rect">
              <a:avLst/>
            </a:prstGeom>
            <a:grp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nchor="t"/>
            <a:lstStyle/>
            <a:p>
              <a:endParaRPr lang="en-GB" sz="1400">
                <a:latin typeface="Daytona Condensed" panose="020B0506030503040204" pitchFamily="34" charset="0"/>
              </a:endParaRPr>
            </a:p>
          </p:txBody>
        </p:sp>
        <p:sp>
          <p:nvSpPr>
            <p:cNvPr id="29" name="TextBox 28">
              <a:extLst>
                <a:ext uri="{FF2B5EF4-FFF2-40B4-BE49-F238E27FC236}">
                  <a16:creationId xmlns:a16="http://schemas.microsoft.com/office/drawing/2014/main" id="{C5EBBF46-9BBD-BBD4-CD86-1643144A89A2}"/>
                </a:ext>
              </a:extLst>
            </p:cNvPr>
            <p:cNvSpPr txBox="1"/>
            <p:nvPr/>
          </p:nvSpPr>
          <p:spPr>
            <a:xfrm>
              <a:off x="2825750" y="2238393"/>
              <a:ext cx="2467760" cy="1932480"/>
            </a:xfrm>
            <a:prstGeom prst="rect">
              <a:avLst/>
            </a:prstGeom>
            <a:solidFill>
              <a:schemeClr val="accent4">
                <a:lumMod val="40000"/>
                <a:lumOff val="60000"/>
              </a:schemeClr>
            </a:solid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34696" tIns="234696" rIns="312928" bIns="352044" numCol="1" spcCol="1270" anchor="t" anchorCtr="0">
              <a:noAutofit/>
            </a:bodyPr>
            <a:lstStyle/>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Auto Early Term</a:t>
              </a:r>
              <a:r>
                <a:rPr lang="en-GB" sz="1000">
                  <a:latin typeface="Daytona Condensed" panose="020B0506030503040204" pitchFamily="34" charset="0"/>
                </a:rPr>
                <a:t> wording</a:t>
              </a:r>
            </a:p>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Aggregation wording</a:t>
              </a:r>
              <a:endParaRPr lang="en-GB" sz="1000">
                <a:latin typeface="Daytona Condensed" panose="020B0506030503040204" pitchFamily="34" charset="0"/>
              </a:endParaRPr>
            </a:p>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Corp Action wording</a:t>
              </a:r>
            </a:p>
            <a:p>
              <a:pPr marL="285750" lvl="1" indent="-285750" defTabSz="1955800">
                <a:lnSpc>
                  <a:spcPct val="90000"/>
                </a:lnSpc>
                <a:spcBef>
                  <a:spcPct val="0"/>
                </a:spcBef>
                <a:spcAft>
                  <a:spcPct val="15000"/>
                </a:spcAft>
                <a:buFont typeface="Arial" panose="020B0604020202020204" pitchFamily="34" charset="0"/>
                <a:buChar char="•"/>
              </a:pPr>
              <a:r>
                <a:rPr lang="en-GB" sz="1000">
                  <a:latin typeface="Daytona Condensed" panose="020B0506030503040204" pitchFamily="34" charset="0"/>
                </a:rPr>
                <a:t>……</a:t>
              </a:r>
              <a:endParaRPr lang="en-GB" sz="1000" kern="1200">
                <a:latin typeface="Daytona Condensed" panose="020B0506030503040204" pitchFamily="34" charset="0"/>
              </a:endParaRPr>
            </a:p>
          </p:txBody>
        </p:sp>
      </p:grpSp>
      <p:pic>
        <p:nvPicPr>
          <p:cNvPr id="30" name="Graphic 29" descr="Remote learning language outline">
            <a:extLst>
              <a:ext uri="{FF2B5EF4-FFF2-40B4-BE49-F238E27FC236}">
                <a16:creationId xmlns:a16="http://schemas.microsoft.com/office/drawing/2014/main" id="{EE7DABCB-F1DE-AFD4-1D2C-94384B701D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23995" y="1817083"/>
            <a:ext cx="914400" cy="914400"/>
          </a:xfrm>
          <a:prstGeom prst="rect">
            <a:avLst/>
          </a:prstGeom>
        </p:spPr>
      </p:pic>
      <p:pic>
        <p:nvPicPr>
          <p:cNvPr id="31" name="Graphic 30" descr="Scroll with solid fill">
            <a:extLst>
              <a:ext uri="{FF2B5EF4-FFF2-40B4-BE49-F238E27FC236}">
                <a16:creationId xmlns:a16="http://schemas.microsoft.com/office/drawing/2014/main" id="{6BE271D3-665A-A9E9-3078-87A9D7CCFE8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7215" y="1570000"/>
            <a:ext cx="377103" cy="377103"/>
          </a:xfrm>
          <a:prstGeom prst="rect">
            <a:avLst/>
          </a:prstGeom>
        </p:spPr>
      </p:pic>
      <p:pic>
        <p:nvPicPr>
          <p:cNvPr id="32" name="Graphic 31" descr="Document with solid fill">
            <a:extLst>
              <a:ext uri="{FF2B5EF4-FFF2-40B4-BE49-F238E27FC236}">
                <a16:creationId xmlns:a16="http://schemas.microsoft.com/office/drawing/2014/main" id="{622CD408-EDAA-51AA-3FA6-03303BB9093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88990" y="1571159"/>
            <a:ext cx="375944" cy="375944"/>
          </a:xfrm>
          <a:prstGeom prst="rect">
            <a:avLst/>
          </a:prstGeom>
        </p:spPr>
      </p:pic>
      <p:pic>
        <p:nvPicPr>
          <p:cNvPr id="33" name="Graphic 32" descr="Barcode with solid fill">
            <a:extLst>
              <a:ext uri="{FF2B5EF4-FFF2-40B4-BE49-F238E27FC236}">
                <a16:creationId xmlns:a16="http://schemas.microsoft.com/office/drawing/2014/main" id="{19B4BD27-0AEC-B1D5-55CE-634BE2AF874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65577" y="1493326"/>
            <a:ext cx="530450" cy="530450"/>
          </a:xfrm>
          <a:prstGeom prst="rect">
            <a:avLst/>
          </a:prstGeom>
        </p:spPr>
      </p:pic>
      <p:sp>
        <p:nvSpPr>
          <p:cNvPr id="34" name="Arrow: Left-Right 33">
            <a:extLst>
              <a:ext uri="{FF2B5EF4-FFF2-40B4-BE49-F238E27FC236}">
                <a16:creationId xmlns:a16="http://schemas.microsoft.com/office/drawing/2014/main" id="{944F7EEF-D6A7-7AA3-3FB3-82C2628EFD4C}"/>
              </a:ext>
            </a:extLst>
          </p:cNvPr>
          <p:cNvSpPr/>
          <p:nvPr/>
        </p:nvSpPr>
        <p:spPr>
          <a:xfrm>
            <a:off x="2001865" y="2756351"/>
            <a:ext cx="1026702" cy="329750"/>
          </a:xfrm>
          <a:prstGeom prst="leftRightArrow">
            <a:avLst/>
          </a:prstGeom>
          <a:solidFill>
            <a:schemeClr val="accent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latin typeface="Daytona Condensed" panose="020B0506030503040204" pitchFamily="34" charset="0"/>
            </a:endParaRPr>
          </a:p>
        </p:txBody>
      </p:sp>
      <p:cxnSp>
        <p:nvCxnSpPr>
          <p:cNvPr id="35" name="Straight Arrow Connector 34">
            <a:extLst>
              <a:ext uri="{FF2B5EF4-FFF2-40B4-BE49-F238E27FC236}">
                <a16:creationId xmlns:a16="http://schemas.microsoft.com/office/drawing/2014/main" id="{273C596E-2461-E05B-285E-B5B9159DEDC1}"/>
              </a:ext>
            </a:extLst>
          </p:cNvPr>
          <p:cNvCxnSpPr>
            <a:cxnSpLocks/>
          </p:cNvCxnSpPr>
          <p:nvPr/>
        </p:nvCxnSpPr>
        <p:spPr>
          <a:xfrm>
            <a:off x="5030802" y="2806123"/>
            <a:ext cx="1383412" cy="0"/>
          </a:xfrm>
          <a:prstGeom prst="straightConnector1">
            <a:avLst/>
          </a:prstGeom>
          <a:ln w="38100">
            <a:solidFill>
              <a:srgbClr val="F36B2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6" name="Graphic 35" descr="Binary with solid fill">
            <a:extLst>
              <a:ext uri="{FF2B5EF4-FFF2-40B4-BE49-F238E27FC236}">
                <a16:creationId xmlns:a16="http://schemas.microsoft.com/office/drawing/2014/main" id="{1FF257A8-0F4D-27A3-9C60-1631604ED87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651442" y="1476795"/>
            <a:ext cx="548487" cy="548487"/>
          </a:xfrm>
          <a:prstGeom prst="rect">
            <a:avLst/>
          </a:prstGeom>
        </p:spPr>
      </p:pic>
      <p:pic>
        <p:nvPicPr>
          <p:cNvPr id="37" name="Graphic 36" descr="Binary with solid fill">
            <a:extLst>
              <a:ext uri="{FF2B5EF4-FFF2-40B4-BE49-F238E27FC236}">
                <a16:creationId xmlns:a16="http://schemas.microsoft.com/office/drawing/2014/main" id="{91AE7AB1-1EE2-D328-8D30-85666038D8B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637341" y="1499605"/>
            <a:ext cx="548487" cy="548487"/>
          </a:xfrm>
          <a:prstGeom prst="rect">
            <a:avLst/>
          </a:prstGeom>
        </p:spPr>
      </p:pic>
      <p:sp>
        <p:nvSpPr>
          <p:cNvPr id="38" name="Right Brace 37">
            <a:extLst>
              <a:ext uri="{FF2B5EF4-FFF2-40B4-BE49-F238E27FC236}">
                <a16:creationId xmlns:a16="http://schemas.microsoft.com/office/drawing/2014/main" id="{A7A4578D-92BF-94EB-F881-97013E363E6F}"/>
              </a:ext>
            </a:extLst>
          </p:cNvPr>
          <p:cNvSpPr/>
          <p:nvPr/>
        </p:nvSpPr>
        <p:spPr>
          <a:xfrm>
            <a:off x="8326703" y="1497026"/>
            <a:ext cx="1084333" cy="2087745"/>
          </a:xfrm>
          <a:prstGeom prst="rightBrace">
            <a:avLst>
              <a:gd name="adj1" fmla="val 8333"/>
              <a:gd name="adj2" fmla="val 71318"/>
            </a:avLst>
          </a:prstGeom>
          <a:ln w="38100">
            <a:solidFill>
              <a:srgbClr val="F36B2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Daytona Condensed" panose="020B0506030503040204" pitchFamily="34" charset="0"/>
            </a:endParaRPr>
          </a:p>
        </p:txBody>
      </p:sp>
      <p:sp>
        <p:nvSpPr>
          <p:cNvPr id="39" name="TextBox 38">
            <a:extLst>
              <a:ext uri="{FF2B5EF4-FFF2-40B4-BE49-F238E27FC236}">
                <a16:creationId xmlns:a16="http://schemas.microsoft.com/office/drawing/2014/main" id="{DFE86F7D-FB78-EDD6-154C-2E6730FDC90B}"/>
              </a:ext>
            </a:extLst>
          </p:cNvPr>
          <p:cNvSpPr txBox="1"/>
          <p:nvPr/>
        </p:nvSpPr>
        <p:spPr>
          <a:xfrm>
            <a:off x="110346" y="1106186"/>
            <a:ext cx="1839180" cy="430887"/>
          </a:xfrm>
          <a:prstGeom prst="rect">
            <a:avLst/>
          </a:prstGeom>
          <a:noFill/>
        </p:spPr>
        <p:txBody>
          <a:bodyPr wrap="square" rtlCol="0">
            <a:spAutoFit/>
          </a:bodyPr>
          <a:lstStyle/>
          <a:p>
            <a:pPr algn="ctr"/>
            <a:r>
              <a:rPr lang="en-GB" sz="1100">
                <a:solidFill>
                  <a:srgbClr val="32007C"/>
                </a:solidFill>
                <a:latin typeface="Daytona Condensed" panose="020B0506030503040204" pitchFamily="34" charset="0"/>
              </a:rPr>
              <a:t>Hard Copy or</a:t>
            </a:r>
          </a:p>
          <a:p>
            <a:pPr algn="ctr"/>
            <a:r>
              <a:rPr lang="en-GB" sz="1100">
                <a:solidFill>
                  <a:srgbClr val="32007C"/>
                </a:solidFill>
                <a:latin typeface="Daytona Condensed" panose="020B0506030503040204" pitchFamily="34" charset="0"/>
              </a:rPr>
              <a:t>Unstructured Soft Copy</a:t>
            </a:r>
          </a:p>
        </p:txBody>
      </p:sp>
      <p:sp>
        <p:nvSpPr>
          <p:cNvPr id="40" name="TextBox 39">
            <a:extLst>
              <a:ext uri="{FF2B5EF4-FFF2-40B4-BE49-F238E27FC236}">
                <a16:creationId xmlns:a16="http://schemas.microsoft.com/office/drawing/2014/main" id="{AFB55D15-DDD3-671B-FCA9-3DB95F171365}"/>
              </a:ext>
            </a:extLst>
          </p:cNvPr>
          <p:cNvSpPr txBox="1"/>
          <p:nvPr/>
        </p:nvSpPr>
        <p:spPr>
          <a:xfrm>
            <a:off x="1814827" y="1481840"/>
            <a:ext cx="1399212" cy="430887"/>
          </a:xfrm>
          <a:prstGeom prst="rect">
            <a:avLst/>
          </a:prstGeom>
          <a:noFill/>
        </p:spPr>
        <p:txBody>
          <a:bodyPr wrap="square" rtlCol="0">
            <a:spAutoFit/>
          </a:bodyPr>
          <a:lstStyle/>
          <a:p>
            <a:pPr algn="ctr"/>
            <a:r>
              <a:rPr lang="en-GB" sz="1100">
                <a:solidFill>
                  <a:srgbClr val="279D9A"/>
                </a:solidFill>
                <a:latin typeface="Daytona Condensed" panose="020B0506030503040204" pitchFamily="34" charset="0"/>
              </a:rPr>
              <a:t>Clause Library &amp; Taxonomy</a:t>
            </a:r>
          </a:p>
        </p:txBody>
      </p:sp>
      <p:sp>
        <p:nvSpPr>
          <p:cNvPr id="41" name="TextBox 40">
            <a:extLst>
              <a:ext uri="{FF2B5EF4-FFF2-40B4-BE49-F238E27FC236}">
                <a16:creationId xmlns:a16="http://schemas.microsoft.com/office/drawing/2014/main" id="{363F4CE3-508D-119D-DAAD-A022ADE74F73}"/>
              </a:ext>
            </a:extLst>
          </p:cNvPr>
          <p:cNvSpPr txBox="1"/>
          <p:nvPr/>
        </p:nvSpPr>
        <p:spPr>
          <a:xfrm>
            <a:off x="3424123" y="1158965"/>
            <a:ext cx="1829764" cy="261610"/>
          </a:xfrm>
          <a:prstGeom prst="rect">
            <a:avLst/>
          </a:prstGeom>
          <a:noFill/>
        </p:spPr>
        <p:txBody>
          <a:bodyPr wrap="square" rtlCol="0">
            <a:spAutoFit/>
          </a:bodyPr>
          <a:lstStyle/>
          <a:p>
            <a:pPr algn="ctr"/>
            <a:r>
              <a:rPr lang="en-GB" sz="1100">
                <a:solidFill>
                  <a:srgbClr val="32007C"/>
                </a:solidFill>
                <a:latin typeface="Daytona Condensed" panose="020B0506030503040204" pitchFamily="34" charset="0"/>
              </a:rPr>
              <a:t>Structured Digital Document</a:t>
            </a:r>
          </a:p>
        </p:txBody>
      </p:sp>
      <p:sp>
        <p:nvSpPr>
          <p:cNvPr id="42" name="TextBox 41">
            <a:extLst>
              <a:ext uri="{FF2B5EF4-FFF2-40B4-BE49-F238E27FC236}">
                <a16:creationId xmlns:a16="http://schemas.microsoft.com/office/drawing/2014/main" id="{2CE90ABB-CD67-759B-7D5E-10CDD3819A49}"/>
              </a:ext>
            </a:extLst>
          </p:cNvPr>
          <p:cNvSpPr txBox="1"/>
          <p:nvPr/>
        </p:nvSpPr>
        <p:spPr>
          <a:xfrm>
            <a:off x="1816795" y="3086101"/>
            <a:ext cx="1399212" cy="430887"/>
          </a:xfrm>
          <a:prstGeom prst="rect">
            <a:avLst/>
          </a:prstGeom>
          <a:noFill/>
        </p:spPr>
        <p:txBody>
          <a:bodyPr wrap="square" rtlCol="0">
            <a:spAutoFit/>
          </a:bodyPr>
          <a:lstStyle/>
          <a:p>
            <a:pPr algn="ctr"/>
            <a:r>
              <a:rPr lang="en-GB" sz="1100">
                <a:solidFill>
                  <a:srgbClr val="A73090"/>
                </a:solidFill>
                <a:latin typeface="Daytona Condensed" panose="020B0506030503040204" pitchFamily="34" charset="0"/>
              </a:rPr>
              <a:t>2-way translation</a:t>
            </a:r>
          </a:p>
          <a:p>
            <a:pPr algn="ctr"/>
            <a:r>
              <a:rPr lang="en-GB" sz="1100">
                <a:solidFill>
                  <a:srgbClr val="A73090"/>
                </a:solidFill>
                <a:latin typeface="Daytona Condensed" panose="020B0506030503040204" pitchFamily="34" charset="0"/>
              </a:rPr>
              <a:t>UI &lt;-&gt; database</a:t>
            </a:r>
          </a:p>
        </p:txBody>
      </p:sp>
      <p:pic>
        <p:nvPicPr>
          <p:cNvPr id="43" name="Graphic 42" descr="List outline">
            <a:extLst>
              <a:ext uri="{FF2B5EF4-FFF2-40B4-BE49-F238E27FC236}">
                <a16:creationId xmlns:a16="http://schemas.microsoft.com/office/drawing/2014/main" id="{95D4103F-F11D-1535-4E4C-2CC9B6D137E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62655" y="2048092"/>
            <a:ext cx="765470" cy="765470"/>
          </a:xfrm>
          <a:prstGeom prst="rect">
            <a:avLst/>
          </a:prstGeom>
        </p:spPr>
      </p:pic>
      <p:sp>
        <p:nvSpPr>
          <p:cNvPr id="44" name="TextBox 43">
            <a:extLst>
              <a:ext uri="{FF2B5EF4-FFF2-40B4-BE49-F238E27FC236}">
                <a16:creationId xmlns:a16="http://schemas.microsoft.com/office/drawing/2014/main" id="{021C9CCC-4B2F-C0BF-F33A-10A85ED48248}"/>
              </a:ext>
            </a:extLst>
          </p:cNvPr>
          <p:cNvSpPr txBox="1"/>
          <p:nvPr/>
        </p:nvSpPr>
        <p:spPr>
          <a:xfrm>
            <a:off x="6466677" y="1181097"/>
            <a:ext cx="1551395" cy="261610"/>
          </a:xfrm>
          <a:prstGeom prst="rect">
            <a:avLst/>
          </a:prstGeom>
          <a:noFill/>
        </p:spPr>
        <p:txBody>
          <a:bodyPr wrap="square" rtlCol="0">
            <a:spAutoFit/>
          </a:bodyPr>
          <a:lstStyle/>
          <a:p>
            <a:pPr algn="ctr"/>
            <a:r>
              <a:rPr lang="en-GB" sz="1100">
                <a:solidFill>
                  <a:srgbClr val="F36B22"/>
                </a:solidFill>
                <a:latin typeface="Daytona Condensed" panose="020B0506030503040204" pitchFamily="34" charset="0"/>
              </a:rPr>
              <a:t>CDM Legal Agreement</a:t>
            </a:r>
          </a:p>
        </p:txBody>
      </p:sp>
      <p:sp>
        <p:nvSpPr>
          <p:cNvPr id="45" name="Rectangle 44">
            <a:extLst>
              <a:ext uri="{FF2B5EF4-FFF2-40B4-BE49-F238E27FC236}">
                <a16:creationId xmlns:a16="http://schemas.microsoft.com/office/drawing/2014/main" id="{B3933687-168C-C0DA-969A-0807A64C5E1E}"/>
              </a:ext>
            </a:extLst>
          </p:cNvPr>
          <p:cNvSpPr/>
          <p:nvPr/>
        </p:nvSpPr>
        <p:spPr>
          <a:xfrm>
            <a:off x="6020474" y="1180952"/>
            <a:ext cx="5839042" cy="5326379"/>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Daytona Condensed" panose="020B0506030503040204" pitchFamily="34" charset="0"/>
            </a:endParaRPr>
          </a:p>
        </p:txBody>
      </p:sp>
      <p:sp>
        <p:nvSpPr>
          <p:cNvPr id="46" name="TextBox 45">
            <a:extLst>
              <a:ext uri="{FF2B5EF4-FFF2-40B4-BE49-F238E27FC236}">
                <a16:creationId xmlns:a16="http://schemas.microsoft.com/office/drawing/2014/main" id="{2EFBE0BA-06AF-2086-2C82-00AA4DA5E1E0}"/>
              </a:ext>
            </a:extLst>
          </p:cNvPr>
          <p:cNvSpPr txBox="1"/>
          <p:nvPr/>
        </p:nvSpPr>
        <p:spPr>
          <a:xfrm>
            <a:off x="9212177" y="1204484"/>
            <a:ext cx="1871332" cy="261610"/>
          </a:xfrm>
          <a:prstGeom prst="rect">
            <a:avLst/>
          </a:prstGeom>
          <a:noFill/>
        </p:spPr>
        <p:txBody>
          <a:bodyPr wrap="square" rtlCol="0">
            <a:spAutoFit/>
          </a:bodyPr>
          <a:lstStyle/>
          <a:p>
            <a:pPr algn="ctr"/>
            <a:r>
              <a:rPr lang="en-GB" sz="1100">
                <a:latin typeface="Daytona Condensed" panose="020B0506030503040204" pitchFamily="34" charset="0"/>
              </a:rPr>
              <a:t>CDM Product/Transaction</a:t>
            </a:r>
          </a:p>
        </p:txBody>
      </p:sp>
      <p:sp>
        <p:nvSpPr>
          <p:cNvPr id="47" name="TextBox 46">
            <a:extLst>
              <a:ext uri="{FF2B5EF4-FFF2-40B4-BE49-F238E27FC236}">
                <a16:creationId xmlns:a16="http://schemas.microsoft.com/office/drawing/2014/main" id="{C22F3BD3-B47B-E3C2-6651-6EE63749879D}"/>
              </a:ext>
            </a:extLst>
          </p:cNvPr>
          <p:cNvSpPr txBox="1"/>
          <p:nvPr/>
        </p:nvSpPr>
        <p:spPr>
          <a:xfrm>
            <a:off x="5240499" y="2389433"/>
            <a:ext cx="977968" cy="261610"/>
          </a:xfrm>
          <a:prstGeom prst="rect">
            <a:avLst/>
          </a:prstGeom>
          <a:noFill/>
        </p:spPr>
        <p:txBody>
          <a:bodyPr wrap="square" rtlCol="0">
            <a:spAutoFit/>
          </a:bodyPr>
          <a:lstStyle/>
          <a:p>
            <a:pPr algn="ctr"/>
            <a:r>
              <a:rPr lang="en-GB" sz="1100" b="1">
                <a:solidFill>
                  <a:srgbClr val="F36B22"/>
                </a:solidFill>
                <a:latin typeface="Daytona Condensed" panose="020B0506030503040204" pitchFamily="34" charset="0"/>
              </a:rPr>
              <a:t>Encode </a:t>
            </a:r>
          </a:p>
        </p:txBody>
      </p:sp>
      <p:cxnSp>
        <p:nvCxnSpPr>
          <p:cNvPr id="48" name="Straight Arrow Connector 47">
            <a:extLst>
              <a:ext uri="{FF2B5EF4-FFF2-40B4-BE49-F238E27FC236}">
                <a16:creationId xmlns:a16="http://schemas.microsoft.com/office/drawing/2014/main" id="{6294F148-2E25-36F2-2B70-B71762291DD8}"/>
              </a:ext>
            </a:extLst>
          </p:cNvPr>
          <p:cNvCxnSpPr>
            <a:cxnSpLocks/>
          </p:cNvCxnSpPr>
          <p:nvPr/>
        </p:nvCxnSpPr>
        <p:spPr>
          <a:xfrm>
            <a:off x="5030802" y="2982799"/>
            <a:ext cx="1383412" cy="0"/>
          </a:xfrm>
          <a:prstGeom prst="straightConnector1">
            <a:avLst/>
          </a:prstGeom>
          <a:ln w="38100">
            <a:solidFill>
              <a:srgbClr val="A7309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AEC2706-F5E2-7FB9-FE3E-D0C8F032E0A2}"/>
              </a:ext>
            </a:extLst>
          </p:cNvPr>
          <p:cNvSpPr txBox="1"/>
          <p:nvPr/>
        </p:nvSpPr>
        <p:spPr>
          <a:xfrm>
            <a:off x="5209319" y="3062357"/>
            <a:ext cx="977968" cy="400110"/>
          </a:xfrm>
          <a:prstGeom prst="rect">
            <a:avLst/>
          </a:prstGeom>
          <a:noFill/>
        </p:spPr>
        <p:txBody>
          <a:bodyPr wrap="square" rtlCol="0">
            <a:spAutoFit/>
          </a:bodyPr>
          <a:lstStyle/>
          <a:p>
            <a:pPr algn="ctr"/>
            <a:r>
              <a:rPr lang="en-GB" sz="1000">
                <a:solidFill>
                  <a:srgbClr val="A73090"/>
                </a:solidFill>
                <a:latin typeface="Daytona Condensed" panose="020B0506030503040204" pitchFamily="34" charset="0"/>
              </a:rPr>
              <a:t>Machine</a:t>
            </a:r>
          </a:p>
          <a:p>
            <a:pPr algn="ctr"/>
            <a:r>
              <a:rPr lang="en-GB" sz="1000">
                <a:solidFill>
                  <a:srgbClr val="A73090"/>
                </a:solidFill>
                <a:latin typeface="Daytona Condensed" panose="020B0506030503040204" pitchFamily="34" charset="0"/>
              </a:rPr>
              <a:t>Read/Create</a:t>
            </a:r>
          </a:p>
        </p:txBody>
      </p:sp>
      <p:sp>
        <p:nvSpPr>
          <p:cNvPr id="50" name="TextBox 49">
            <a:extLst>
              <a:ext uri="{FF2B5EF4-FFF2-40B4-BE49-F238E27FC236}">
                <a16:creationId xmlns:a16="http://schemas.microsoft.com/office/drawing/2014/main" id="{13C03812-8353-BC56-F1EF-6024BB61AA8F}"/>
              </a:ext>
            </a:extLst>
          </p:cNvPr>
          <p:cNvSpPr txBox="1"/>
          <p:nvPr/>
        </p:nvSpPr>
        <p:spPr>
          <a:xfrm>
            <a:off x="8070457" y="2355120"/>
            <a:ext cx="983363" cy="707886"/>
          </a:xfrm>
          <a:prstGeom prst="rect">
            <a:avLst/>
          </a:prstGeom>
          <a:noFill/>
        </p:spPr>
        <p:txBody>
          <a:bodyPr wrap="square" rtlCol="0">
            <a:spAutoFit/>
          </a:bodyPr>
          <a:lstStyle/>
          <a:p>
            <a:pPr algn="ctr"/>
            <a:r>
              <a:rPr lang="en-GB" sz="1000">
                <a:solidFill>
                  <a:srgbClr val="F36B22"/>
                </a:solidFill>
                <a:latin typeface="Daytona Condensed" panose="020B0506030503040204" pitchFamily="34" charset="0"/>
              </a:rPr>
              <a:t>Legal agreement</a:t>
            </a:r>
          </a:p>
          <a:p>
            <a:pPr algn="ctr"/>
            <a:r>
              <a:rPr lang="en-GB" sz="1000">
                <a:solidFill>
                  <a:srgbClr val="F36B22"/>
                </a:solidFill>
                <a:latin typeface="Daytona Condensed" panose="020B0506030503040204" pitchFamily="34" charset="0"/>
              </a:rPr>
              <a:t> is linked</a:t>
            </a:r>
          </a:p>
          <a:p>
            <a:pPr algn="ctr"/>
            <a:r>
              <a:rPr lang="en-GB" sz="1000">
                <a:solidFill>
                  <a:srgbClr val="F36B22"/>
                </a:solidFill>
                <a:latin typeface="Daytona Condensed" panose="020B0506030503040204" pitchFamily="34" charset="0"/>
              </a:rPr>
              <a:t>to loan</a:t>
            </a:r>
          </a:p>
        </p:txBody>
      </p:sp>
      <p:grpSp>
        <p:nvGrpSpPr>
          <p:cNvPr id="51" name="Group 50">
            <a:extLst>
              <a:ext uri="{FF2B5EF4-FFF2-40B4-BE49-F238E27FC236}">
                <a16:creationId xmlns:a16="http://schemas.microsoft.com/office/drawing/2014/main" id="{E0EA1AA9-857A-E923-B508-FFF01DBB4209}"/>
              </a:ext>
            </a:extLst>
          </p:cNvPr>
          <p:cNvGrpSpPr/>
          <p:nvPr/>
        </p:nvGrpSpPr>
        <p:grpSpPr>
          <a:xfrm>
            <a:off x="6210201" y="4032087"/>
            <a:ext cx="2075969" cy="530450"/>
            <a:chOff x="2825750" y="1247793"/>
            <a:chExt cx="2476500" cy="990600"/>
          </a:xfrm>
        </p:grpSpPr>
        <p:sp>
          <p:nvSpPr>
            <p:cNvPr id="52" name="Rectangle 51">
              <a:extLst>
                <a:ext uri="{FF2B5EF4-FFF2-40B4-BE49-F238E27FC236}">
                  <a16:creationId xmlns:a16="http://schemas.microsoft.com/office/drawing/2014/main" id="{06C03216-E885-B968-9DE4-AF912E263781}"/>
                </a:ext>
              </a:extLst>
            </p:cNvPr>
            <p:cNvSpPr/>
            <p:nvPr/>
          </p:nvSpPr>
          <p:spPr>
            <a:xfrm>
              <a:off x="2825750" y="1247793"/>
              <a:ext cx="2476500" cy="990600"/>
            </a:xfrm>
            <a:prstGeom prst="rect">
              <a:avLst/>
            </a:prstGeom>
            <a:ln>
              <a:solidFill>
                <a:srgbClr val="002060"/>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53" name="TextBox 52">
              <a:extLst>
                <a:ext uri="{FF2B5EF4-FFF2-40B4-BE49-F238E27FC236}">
                  <a16:creationId xmlns:a16="http://schemas.microsoft.com/office/drawing/2014/main" id="{23BC0450-91F0-D11F-3F29-E09C277DF883}"/>
                </a:ext>
              </a:extLst>
            </p:cNvPr>
            <p:cNvSpPr txBox="1"/>
            <p:nvPr/>
          </p:nvSpPr>
          <p:spPr>
            <a:xfrm>
              <a:off x="2825750" y="1247793"/>
              <a:ext cx="2476500" cy="990600"/>
            </a:xfrm>
            <a:prstGeom prst="rect">
              <a:avLst/>
            </a:prstGeom>
            <a:ln>
              <a:solidFill>
                <a:srgbClr val="002060"/>
              </a:solidFill>
            </a:ln>
          </p:spPr>
          <p:style>
            <a:lnRef idx="0">
              <a:scrgbClr r="0" g="0" b="0"/>
            </a:lnRef>
            <a:fillRef idx="0">
              <a:scrgbClr r="0" g="0" b="0"/>
            </a:fillRef>
            <a:effectRef idx="0">
              <a:scrgbClr r="0" g="0" b="0"/>
            </a:effectRef>
            <a:fontRef idx="minor">
              <a:schemeClr val="lt1"/>
            </a:fontRef>
          </p:style>
          <p:txBody>
            <a:bodyPr spcFirstLastPara="0" vert="horz" wrap="square" lIns="312928" tIns="178816" rIns="312928" bIns="178816" numCol="1" spcCol="1270" anchor="ctr" anchorCtr="0">
              <a:noAutofit/>
            </a:bodyPr>
            <a:lstStyle/>
            <a:p>
              <a:pPr marL="0" lvl="0" indent="0" defTabSz="1955800">
                <a:lnSpc>
                  <a:spcPct val="90000"/>
                </a:lnSpc>
                <a:spcBef>
                  <a:spcPct val="0"/>
                </a:spcBef>
                <a:spcAft>
                  <a:spcPct val="35000"/>
                </a:spcAft>
                <a:buNone/>
              </a:pPr>
              <a:r>
                <a:rPr lang="en-GB" sz="1400" kern="1200">
                  <a:latin typeface="Daytona Condensed" panose="020B0506030503040204" pitchFamily="34" charset="0"/>
                </a:rPr>
                <a:t>Mandatory</a:t>
              </a:r>
            </a:p>
            <a:p>
              <a:pPr marL="0" lvl="0" indent="0" defTabSz="1955800">
                <a:lnSpc>
                  <a:spcPct val="90000"/>
                </a:lnSpc>
                <a:spcBef>
                  <a:spcPct val="0"/>
                </a:spcBef>
                <a:spcAft>
                  <a:spcPct val="35000"/>
                </a:spcAft>
                <a:buNone/>
              </a:pPr>
              <a:r>
                <a:rPr lang="en-GB" sz="1400" kern="1200">
                  <a:latin typeface="Daytona Condensed" panose="020B0506030503040204" pitchFamily="34" charset="0"/>
                </a:rPr>
                <a:t>Corp Action</a:t>
              </a:r>
            </a:p>
          </p:txBody>
        </p:sp>
      </p:grpSp>
      <p:grpSp>
        <p:nvGrpSpPr>
          <p:cNvPr id="54" name="Group 53">
            <a:extLst>
              <a:ext uri="{FF2B5EF4-FFF2-40B4-BE49-F238E27FC236}">
                <a16:creationId xmlns:a16="http://schemas.microsoft.com/office/drawing/2014/main" id="{E8EA880D-AAFB-BE1D-F59A-D12A5F261FB1}"/>
              </a:ext>
            </a:extLst>
          </p:cNvPr>
          <p:cNvGrpSpPr/>
          <p:nvPr/>
        </p:nvGrpSpPr>
        <p:grpSpPr>
          <a:xfrm>
            <a:off x="6210202" y="4561380"/>
            <a:ext cx="2075969" cy="1557295"/>
            <a:chOff x="2825750" y="2238393"/>
            <a:chExt cx="2476500" cy="1932480"/>
          </a:xfrm>
        </p:grpSpPr>
        <p:sp>
          <p:nvSpPr>
            <p:cNvPr id="55" name="Rectangle 54">
              <a:extLst>
                <a:ext uri="{FF2B5EF4-FFF2-40B4-BE49-F238E27FC236}">
                  <a16:creationId xmlns:a16="http://schemas.microsoft.com/office/drawing/2014/main" id="{C17B48D4-FE04-6BFF-7D61-C2FEFF5705D0}"/>
                </a:ext>
              </a:extLst>
            </p:cNvPr>
            <p:cNvSpPr/>
            <p:nvPr/>
          </p:nvSpPr>
          <p:spPr>
            <a:xfrm>
              <a:off x="2825750" y="2238393"/>
              <a:ext cx="2476500" cy="1932480"/>
            </a:xfrm>
            <a:prstGeom prst="rect">
              <a:avLst/>
            </a:prstGeom>
            <a:ln>
              <a:solidFill>
                <a:srgbClr val="002060"/>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nchor="t"/>
            <a:lstStyle/>
            <a:p>
              <a:endParaRPr lang="en-GB" sz="1000">
                <a:latin typeface="Daytona Condensed" panose="020B0506030503040204" pitchFamily="34" charset="0"/>
              </a:endParaRPr>
            </a:p>
          </p:txBody>
        </p:sp>
        <p:sp>
          <p:nvSpPr>
            <p:cNvPr id="56" name="TextBox 55">
              <a:extLst>
                <a:ext uri="{FF2B5EF4-FFF2-40B4-BE49-F238E27FC236}">
                  <a16:creationId xmlns:a16="http://schemas.microsoft.com/office/drawing/2014/main" id="{4B4C5096-8628-AF5A-BE5F-31D0D05B1AC3}"/>
                </a:ext>
              </a:extLst>
            </p:cNvPr>
            <p:cNvSpPr txBox="1"/>
            <p:nvPr/>
          </p:nvSpPr>
          <p:spPr>
            <a:xfrm>
              <a:off x="2825750" y="2238393"/>
              <a:ext cx="2476500" cy="1932480"/>
            </a:xfrm>
            <a:prstGeom prst="rect">
              <a:avLst/>
            </a:prstGeom>
            <a:ln>
              <a:solidFill>
                <a:srgbClr val="002060"/>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34696" tIns="234696" rIns="312928" bIns="352044" numCol="1" spcCol="1270" anchor="t" anchorCtr="0">
              <a:noAutofit/>
            </a:bodyPr>
            <a:lstStyle/>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Input transaction</a:t>
              </a:r>
            </a:p>
            <a:p>
              <a:pPr marL="285750" lvl="1" indent="-285750" defTabSz="1955800">
                <a:lnSpc>
                  <a:spcPct val="90000"/>
                </a:lnSpc>
                <a:spcBef>
                  <a:spcPct val="0"/>
                </a:spcBef>
                <a:spcAft>
                  <a:spcPct val="15000"/>
                </a:spcAft>
                <a:buFont typeface="Arial" panose="020B0604020202020204" pitchFamily="34" charset="0"/>
                <a:buChar char="•"/>
              </a:pPr>
              <a:r>
                <a:rPr lang="en-GB" sz="1000">
                  <a:latin typeface="Daytona Condensed" panose="020B0506030503040204" pitchFamily="34" charset="0"/>
                </a:rPr>
                <a:t>Input ref data</a:t>
              </a:r>
            </a:p>
            <a:p>
              <a:pPr marL="285750" lvl="1" indent="-285750" defTabSz="1955800">
                <a:lnSpc>
                  <a:spcPct val="90000"/>
                </a:lnSpc>
                <a:spcBef>
                  <a:spcPct val="0"/>
                </a:spcBef>
                <a:spcAft>
                  <a:spcPct val="15000"/>
                </a:spcAft>
                <a:buFont typeface="Arial" panose="020B0604020202020204" pitchFamily="34" charset="0"/>
                <a:buChar char="•"/>
              </a:pPr>
              <a:r>
                <a:rPr lang="en-GB" sz="1000">
                  <a:latin typeface="Daytona Condensed" panose="020B0506030503040204" pitchFamily="34" charset="0"/>
                </a:rPr>
                <a:t>Input legal agreement</a:t>
              </a:r>
            </a:p>
            <a:p>
              <a:pPr marL="285750" lvl="1" indent="-285750" defTabSz="1955800">
                <a:lnSpc>
                  <a:spcPct val="90000"/>
                </a:lnSpc>
                <a:spcBef>
                  <a:spcPct val="0"/>
                </a:spcBef>
                <a:spcAft>
                  <a:spcPct val="15000"/>
                </a:spcAft>
                <a:buFont typeface="Arial" panose="020B0604020202020204" pitchFamily="34" charset="0"/>
                <a:buChar char="•"/>
              </a:pPr>
              <a:r>
                <a:rPr lang="en-GB" sz="1000">
                  <a:latin typeface="Daytona Condensed" panose="020B0506030503040204" pitchFamily="34" charset="0"/>
                </a:rPr>
                <a:t>Transformation function</a:t>
              </a:r>
            </a:p>
            <a:p>
              <a:pPr marL="285750" lvl="1" indent="-285750" defTabSz="1955800">
                <a:lnSpc>
                  <a:spcPct val="90000"/>
                </a:lnSpc>
                <a:spcBef>
                  <a:spcPct val="0"/>
                </a:spcBef>
                <a:spcAft>
                  <a:spcPct val="15000"/>
                </a:spcAft>
                <a:buFont typeface="Arial" panose="020B0604020202020204" pitchFamily="34" charset="0"/>
                <a:buChar char="•"/>
              </a:pPr>
              <a:r>
                <a:rPr lang="en-GB" sz="1000" kern="1200">
                  <a:latin typeface="Daytona Condensed" panose="020B0506030503040204" pitchFamily="34" charset="0"/>
                </a:rPr>
                <a:t>………</a:t>
              </a:r>
            </a:p>
          </p:txBody>
        </p:sp>
      </p:grpSp>
      <p:pic>
        <p:nvPicPr>
          <p:cNvPr id="57" name="Graphic 56" descr="Binary with solid fill">
            <a:extLst>
              <a:ext uri="{FF2B5EF4-FFF2-40B4-BE49-F238E27FC236}">
                <a16:creationId xmlns:a16="http://schemas.microsoft.com/office/drawing/2014/main" id="{D9DFB4D6-2005-27F4-A875-9BDFA775382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53867" y="4006893"/>
            <a:ext cx="548487" cy="548487"/>
          </a:xfrm>
          <a:prstGeom prst="rect">
            <a:avLst/>
          </a:prstGeom>
        </p:spPr>
      </p:pic>
      <p:sp>
        <p:nvSpPr>
          <p:cNvPr id="58" name="TextBox 57">
            <a:extLst>
              <a:ext uri="{FF2B5EF4-FFF2-40B4-BE49-F238E27FC236}">
                <a16:creationId xmlns:a16="http://schemas.microsoft.com/office/drawing/2014/main" id="{8041A4CD-6320-D201-E1CD-4B88DA105225}"/>
              </a:ext>
            </a:extLst>
          </p:cNvPr>
          <p:cNvSpPr txBox="1"/>
          <p:nvPr/>
        </p:nvSpPr>
        <p:spPr>
          <a:xfrm>
            <a:off x="6519062" y="3742555"/>
            <a:ext cx="1551395" cy="261610"/>
          </a:xfrm>
          <a:prstGeom prst="rect">
            <a:avLst/>
          </a:prstGeom>
          <a:noFill/>
        </p:spPr>
        <p:txBody>
          <a:bodyPr wrap="square" rtlCol="0">
            <a:spAutoFit/>
          </a:bodyPr>
          <a:lstStyle/>
          <a:p>
            <a:pPr algn="ctr"/>
            <a:r>
              <a:rPr lang="en-GB" sz="1100">
                <a:latin typeface="Daytona Condensed" panose="020B0506030503040204" pitchFamily="34" charset="0"/>
              </a:rPr>
              <a:t>CDM Event Function</a:t>
            </a:r>
          </a:p>
        </p:txBody>
      </p:sp>
      <p:pic>
        <p:nvPicPr>
          <p:cNvPr id="59" name="Graphic 58" descr="Single gear outline">
            <a:extLst>
              <a:ext uri="{FF2B5EF4-FFF2-40B4-BE49-F238E27FC236}">
                <a16:creationId xmlns:a16="http://schemas.microsoft.com/office/drawing/2014/main" id="{216906F0-D1C7-1577-2492-588AF329F28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521508" y="4129390"/>
            <a:ext cx="334687" cy="334687"/>
          </a:xfrm>
          <a:prstGeom prst="rect">
            <a:avLst/>
          </a:prstGeom>
        </p:spPr>
      </p:pic>
      <p:sp>
        <p:nvSpPr>
          <p:cNvPr id="60" name="TextBox 59">
            <a:extLst>
              <a:ext uri="{FF2B5EF4-FFF2-40B4-BE49-F238E27FC236}">
                <a16:creationId xmlns:a16="http://schemas.microsoft.com/office/drawing/2014/main" id="{50AD009C-6C29-6653-D137-16664E4EC755}"/>
              </a:ext>
            </a:extLst>
          </p:cNvPr>
          <p:cNvSpPr txBox="1"/>
          <p:nvPr/>
        </p:nvSpPr>
        <p:spPr>
          <a:xfrm>
            <a:off x="1823905" y="3802900"/>
            <a:ext cx="1399212" cy="430887"/>
          </a:xfrm>
          <a:prstGeom prst="rect">
            <a:avLst/>
          </a:prstGeom>
          <a:noFill/>
        </p:spPr>
        <p:txBody>
          <a:bodyPr wrap="square" rtlCol="0">
            <a:spAutoFit/>
          </a:bodyPr>
          <a:lstStyle/>
          <a:p>
            <a:pPr algn="ctr"/>
            <a:r>
              <a:rPr lang="en-GB" sz="1100">
                <a:latin typeface="Daytona Condensed" panose="020B0506030503040204" pitchFamily="34" charset="0"/>
              </a:rPr>
              <a:t>Current document software capability</a:t>
            </a:r>
          </a:p>
        </p:txBody>
      </p:sp>
      <p:cxnSp>
        <p:nvCxnSpPr>
          <p:cNvPr id="61" name="Straight Arrow Connector 60">
            <a:extLst>
              <a:ext uri="{FF2B5EF4-FFF2-40B4-BE49-F238E27FC236}">
                <a16:creationId xmlns:a16="http://schemas.microsoft.com/office/drawing/2014/main" id="{631D45B5-F56A-A488-B4BA-958DD31F0762}"/>
              </a:ext>
            </a:extLst>
          </p:cNvPr>
          <p:cNvCxnSpPr>
            <a:cxnSpLocks/>
          </p:cNvCxnSpPr>
          <p:nvPr/>
        </p:nvCxnSpPr>
        <p:spPr>
          <a:xfrm flipV="1">
            <a:off x="2856488" y="3493245"/>
            <a:ext cx="0" cy="3096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5B4DB9FB-0E9B-0F37-9527-40E68B2F999E}"/>
              </a:ext>
            </a:extLst>
          </p:cNvPr>
          <p:cNvSpPr txBox="1"/>
          <p:nvPr/>
        </p:nvSpPr>
        <p:spPr>
          <a:xfrm>
            <a:off x="4617381" y="3813356"/>
            <a:ext cx="1399212" cy="430887"/>
          </a:xfrm>
          <a:prstGeom prst="rect">
            <a:avLst/>
          </a:prstGeom>
          <a:noFill/>
        </p:spPr>
        <p:txBody>
          <a:bodyPr wrap="square" rtlCol="0">
            <a:spAutoFit/>
          </a:bodyPr>
          <a:lstStyle/>
          <a:p>
            <a:pPr algn="ctr"/>
            <a:r>
              <a:rPr lang="en-GB" sz="1100">
                <a:latin typeface="Daytona Condensed" panose="020B0506030503040204" pitchFamily="34" charset="0"/>
              </a:rPr>
              <a:t>Future document software capability </a:t>
            </a:r>
          </a:p>
        </p:txBody>
      </p:sp>
      <p:cxnSp>
        <p:nvCxnSpPr>
          <p:cNvPr id="63" name="Straight Arrow Connector 62">
            <a:extLst>
              <a:ext uri="{FF2B5EF4-FFF2-40B4-BE49-F238E27FC236}">
                <a16:creationId xmlns:a16="http://schemas.microsoft.com/office/drawing/2014/main" id="{A5F93F4E-1B78-1C38-7E5B-D4D866398C4C}"/>
              </a:ext>
            </a:extLst>
          </p:cNvPr>
          <p:cNvCxnSpPr>
            <a:cxnSpLocks/>
          </p:cNvCxnSpPr>
          <p:nvPr/>
        </p:nvCxnSpPr>
        <p:spPr>
          <a:xfrm flipV="1">
            <a:off x="5598340" y="3493244"/>
            <a:ext cx="0" cy="3096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64" name="Graphic 63" descr="School girl with solid fill">
            <a:extLst>
              <a:ext uri="{FF2B5EF4-FFF2-40B4-BE49-F238E27FC236}">
                <a16:creationId xmlns:a16="http://schemas.microsoft.com/office/drawing/2014/main" id="{3940A13A-4082-4004-3C52-5A32C343F898}"/>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11821" y="4785155"/>
            <a:ext cx="914400" cy="914400"/>
          </a:xfrm>
          <a:prstGeom prst="rect">
            <a:avLst/>
          </a:prstGeom>
        </p:spPr>
      </p:pic>
      <p:cxnSp>
        <p:nvCxnSpPr>
          <p:cNvPr id="65" name="Straight Connector 64">
            <a:extLst>
              <a:ext uri="{FF2B5EF4-FFF2-40B4-BE49-F238E27FC236}">
                <a16:creationId xmlns:a16="http://schemas.microsoft.com/office/drawing/2014/main" id="{07623618-EFDC-65AF-D7C9-419AEF44061F}"/>
              </a:ext>
            </a:extLst>
          </p:cNvPr>
          <p:cNvCxnSpPr/>
          <p:nvPr/>
        </p:nvCxnSpPr>
        <p:spPr>
          <a:xfrm>
            <a:off x="2523511" y="4464077"/>
            <a:ext cx="0" cy="1654598"/>
          </a:xfrm>
          <a:prstGeom prst="line">
            <a:avLst/>
          </a:prstGeom>
          <a:ln w="76200">
            <a:solidFill>
              <a:schemeClr val="accent2"/>
            </a:solidFill>
          </a:ln>
        </p:spPr>
        <p:style>
          <a:lnRef idx="1">
            <a:schemeClr val="dk1"/>
          </a:lnRef>
          <a:fillRef idx="0">
            <a:schemeClr val="dk1"/>
          </a:fillRef>
          <a:effectRef idx="0">
            <a:schemeClr val="dk1"/>
          </a:effectRef>
          <a:fontRef idx="minor">
            <a:schemeClr val="tx1"/>
          </a:fontRef>
        </p:style>
      </p:cxnSp>
      <p:sp>
        <p:nvSpPr>
          <p:cNvPr id="66" name="TextBox 65">
            <a:extLst>
              <a:ext uri="{FF2B5EF4-FFF2-40B4-BE49-F238E27FC236}">
                <a16:creationId xmlns:a16="http://schemas.microsoft.com/office/drawing/2014/main" id="{7BF7EAE9-88F0-1F7D-4930-FEEC12D5F8D3}"/>
              </a:ext>
            </a:extLst>
          </p:cNvPr>
          <p:cNvSpPr txBox="1"/>
          <p:nvPr/>
        </p:nvSpPr>
        <p:spPr>
          <a:xfrm>
            <a:off x="638858" y="5730745"/>
            <a:ext cx="1399212" cy="430887"/>
          </a:xfrm>
          <a:prstGeom prst="rect">
            <a:avLst/>
          </a:prstGeom>
          <a:noFill/>
        </p:spPr>
        <p:txBody>
          <a:bodyPr wrap="square" rtlCol="0">
            <a:spAutoFit/>
          </a:bodyPr>
          <a:lstStyle/>
          <a:p>
            <a:pPr algn="ctr"/>
            <a:r>
              <a:rPr lang="en-GB" sz="1100">
                <a:latin typeface="Daytona Condensed" panose="020B0506030503040204" pitchFamily="34" charset="0"/>
              </a:rPr>
              <a:t>Human user-based world</a:t>
            </a:r>
          </a:p>
        </p:txBody>
      </p:sp>
      <p:sp>
        <p:nvSpPr>
          <p:cNvPr id="67" name="TextBox 66">
            <a:extLst>
              <a:ext uri="{FF2B5EF4-FFF2-40B4-BE49-F238E27FC236}">
                <a16:creationId xmlns:a16="http://schemas.microsoft.com/office/drawing/2014/main" id="{C43648F6-3569-2B79-9E3F-6164ED808256}"/>
              </a:ext>
            </a:extLst>
          </p:cNvPr>
          <p:cNvSpPr txBox="1"/>
          <p:nvPr/>
        </p:nvSpPr>
        <p:spPr>
          <a:xfrm>
            <a:off x="3736965" y="5730744"/>
            <a:ext cx="1592982" cy="430887"/>
          </a:xfrm>
          <a:prstGeom prst="rect">
            <a:avLst/>
          </a:prstGeom>
          <a:noFill/>
        </p:spPr>
        <p:txBody>
          <a:bodyPr wrap="square" rtlCol="0">
            <a:spAutoFit/>
          </a:bodyPr>
          <a:lstStyle/>
          <a:p>
            <a:pPr algn="ctr"/>
            <a:r>
              <a:rPr lang="en-GB" sz="1100">
                <a:latin typeface="Daytona Condensed" panose="020B0506030503040204" pitchFamily="34" charset="0"/>
              </a:rPr>
              <a:t>Digital computer-based world</a:t>
            </a:r>
          </a:p>
        </p:txBody>
      </p:sp>
      <p:pic>
        <p:nvPicPr>
          <p:cNvPr id="68" name="Graphic 67" descr="Computer outline">
            <a:extLst>
              <a:ext uri="{FF2B5EF4-FFF2-40B4-BE49-F238E27FC236}">
                <a16:creationId xmlns:a16="http://schemas.microsoft.com/office/drawing/2014/main" id="{9F4DC4F9-CECF-DE83-BCA6-5D8E2AFDABFA}"/>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942603" y="4776309"/>
            <a:ext cx="914400" cy="914400"/>
          </a:xfrm>
          <a:prstGeom prst="rect">
            <a:avLst/>
          </a:prstGeom>
        </p:spPr>
      </p:pic>
      <p:sp>
        <p:nvSpPr>
          <p:cNvPr id="69" name="Arrow: Left 68">
            <a:extLst>
              <a:ext uri="{FF2B5EF4-FFF2-40B4-BE49-F238E27FC236}">
                <a16:creationId xmlns:a16="http://schemas.microsoft.com/office/drawing/2014/main" id="{8AF058A1-9B82-2D6D-6226-A454732E2BA3}"/>
              </a:ext>
            </a:extLst>
          </p:cNvPr>
          <p:cNvSpPr/>
          <p:nvPr/>
        </p:nvSpPr>
        <p:spPr>
          <a:xfrm>
            <a:off x="1915949" y="5071272"/>
            <a:ext cx="531175" cy="551333"/>
          </a:xfrm>
          <a:prstGeom prst="leftArrow">
            <a:avLst/>
          </a:prstGeom>
          <a:solidFill>
            <a:schemeClr val="accent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Daytona Condensed" panose="020B0506030503040204" pitchFamily="34" charset="0"/>
            </a:endParaRPr>
          </a:p>
        </p:txBody>
      </p:sp>
      <p:sp>
        <p:nvSpPr>
          <p:cNvPr id="70" name="Arrow: Left 69">
            <a:extLst>
              <a:ext uri="{FF2B5EF4-FFF2-40B4-BE49-F238E27FC236}">
                <a16:creationId xmlns:a16="http://schemas.microsoft.com/office/drawing/2014/main" id="{F6A5F814-F241-0C83-2907-D0DBE8B7622D}"/>
              </a:ext>
            </a:extLst>
          </p:cNvPr>
          <p:cNvSpPr/>
          <p:nvPr/>
        </p:nvSpPr>
        <p:spPr>
          <a:xfrm flipH="1">
            <a:off x="2621935" y="5064360"/>
            <a:ext cx="531175" cy="551333"/>
          </a:xfrm>
          <a:prstGeom prst="leftArrow">
            <a:avLst/>
          </a:prstGeom>
          <a:solidFill>
            <a:schemeClr val="accent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Daytona Condensed" panose="020B0506030503040204" pitchFamily="34" charset="0"/>
            </a:endParaRPr>
          </a:p>
        </p:txBody>
      </p:sp>
      <p:cxnSp>
        <p:nvCxnSpPr>
          <p:cNvPr id="71" name="Straight Arrow Connector 70">
            <a:extLst>
              <a:ext uri="{FF2B5EF4-FFF2-40B4-BE49-F238E27FC236}">
                <a16:creationId xmlns:a16="http://schemas.microsoft.com/office/drawing/2014/main" id="{5AC117AC-5B8B-215D-8948-BB5657779BC3}"/>
              </a:ext>
            </a:extLst>
          </p:cNvPr>
          <p:cNvCxnSpPr>
            <a:cxnSpLocks/>
          </p:cNvCxnSpPr>
          <p:nvPr/>
        </p:nvCxnSpPr>
        <p:spPr>
          <a:xfrm>
            <a:off x="7521508" y="3286664"/>
            <a:ext cx="2780788" cy="1035536"/>
          </a:xfrm>
          <a:prstGeom prst="straightConnector1">
            <a:avLst/>
          </a:prstGeom>
          <a:ln w="38100">
            <a:solidFill>
              <a:srgbClr val="F36B2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AA4DC969-6D8A-3691-8B62-44271F6CC5D9}"/>
              </a:ext>
            </a:extLst>
          </p:cNvPr>
          <p:cNvSpPr/>
          <p:nvPr/>
        </p:nvSpPr>
        <p:spPr>
          <a:xfrm>
            <a:off x="8302354" y="4028799"/>
            <a:ext cx="3480778" cy="14449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Daytona Condensed" panose="020B0506030503040204" pitchFamily="34" charset="0"/>
            </a:endParaRPr>
          </a:p>
        </p:txBody>
      </p:sp>
      <p:sp>
        <p:nvSpPr>
          <p:cNvPr id="73" name="TextBox 72">
            <a:extLst>
              <a:ext uri="{FF2B5EF4-FFF2-40B4-BE49-F238E27FC236}">
                <a16:creationId xmlns:a16="http://schemas.microsoft.com/office/drawing/2014/main" id="{C19CE55D-0D2A-FF98-AB8E-FA64552A97A9}"/>
              </a:ext>
            </a:extLst>
          </p:cNvPr>
          <p:cNvSpPr txBox="1"/>
          <p:nvPr/>
        </p:nvSpPr>
        <p:spPr>
          <a:xfrm>
            <a:off x="9358148" y="3657916"/>
            <a:ext cx="2424984" cy="430887"/>
          </a:xfrm>
          <a:prstGeom prst="rect">
            <a:avLst/>
          </a:prstGeom>
          <a:noFill/>
        </p:spPr>
        <p:txBody>
          <a:bodyPr wrap="square" rtlCol="0">
            <a:spAutoFit/>
          </a:bodyPr>
          <a:lstStyle/>
          <a:p>
            <a:pPr algn="ctr"/>
            <a:r>
              <a:rPr lang="en-GB" sz="1100" b="1">
                <a:solidFill>
                  <a:srgbClr val="F36B22"/>
                </a:solidFill>
                <a:latin typeface="Daytona Condensed" panose="020B0506030503040204" pitchFamily="34" charset="0"/>
              </a:rPr>
              <a:t>Component in legal agreement informs functional behaviour</a:t>
            </a:r>
          </a:p>
        </p:txBody>
      </p:sp>
      <p:pic>
        <p:nvPicPr>
          <p:cNvPr id="74" name="Picture 73">
            <a:extLst>
              <a:ext uri="{FF2B5EF4-FFF2-40B4-BE49-F238E27FC236}">
                <a16:creationId xmlns:a16="http://schemas.microsoft.com/office/drawing/2014/main" id="{8E37EA3C-9201-CA66-E1CE-39024126F395}"/>
              </a:ext>
            </a:extLst>
          </p:cNvPr>
          <p:cNvPicPr>
            <a:picLocks noChangeAspect="1"/>
          </p:cNvPicPr>
          <p:nvPr/>
        </p:nvPicPr>
        <p:blipFill>
          <a:blip r:embed="rId22"/>
          <a:stretch>
            <a:fillRect/>
          </a:stretch>
        </p:blipFill>
        <p:spPr>
          <a:xfrm>
            <a:off x="8637689" y="4253490"/>
            <a:ext cx="2769066" cy="1210984"/>
          </a:xfrm>
          <a:prstGeom prst="rect">
            <a:avLst/>
          </a:prstGeom>
        </p:spPr>
      </p:pic>
      <p:sp>
        <p:nvSpPr>
          <p:cNvPr id="75" name="TextBox 74">
            <a:extLst>
              <a:ext uri="{FF2B5EF4-FFF2-40B4-BE49-F238E27FC236}">
                <a16:creationId xmlns:a16="http://schemas.microsoft.com/office/drawing/2014/main" id="{7B3CE292-1BA9-7E83-2474-EDF3F229DC27}"/>
              </a:ext>
            </a:extLst>
          </p:cNvPr>
          <p:cNvSpPr txBox="1"/>
          <p:nvPr/>
        </p:nvSpPr>
        <p:spPr>
          <a:xfrm>
            <a:off x="8186005" y="5834984"/>
            <a:ext cx="2052343" cy="261610"/>
          </a:xfrm>
          <a:prstGeom prst="rect">
            <a:avLst/>
          </a:prstGeom>
          <a:noFill/>
        </p:spPr>
        <p:txBody>
          <a:bodyPr wrap="square" rtlCol="0">
            <a:spAutoFit/>
          </a:bodyPr>
          <a:lstStyle/>
          <a:p>
            <a:pPr algn="ctr"/>
            <a:r>
              <a:rPr lang="en-GB" sz="1100">
                <a:solidFill>
                  <a:srgbClr val="002060"/>
                </a:solidFill>
                <a:latin typeface="Daytona Condensed" panose="020B0506030503040204" pitchFamily="34" charset="0"/>
              </a:rPr>
              <a:t>Future Development Work</a:t>
            </a:r>
          </a:p>
        </p:txBody>
      </p:sp>
      <p:pic>
        <p:nvPicPr>
          <p:cNvPr id="78" name="Picture 77" descr="A blue and white logo&#10;&#10;Description automatically generated with medium confidence">
            <a:extLst>
              <a:ext uri="{FF2B5EF4-FFF2-40B4-BE49-F238E27FC236}">
                <a16:creationId xmlns:a16="http://schemas.microsoft.com/office/drawing/2014/main" id="{236C76A4-A652-7E85-682B-52E0245D8BF0}"/>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0536373" y="5530829"/>
            <a:ext cx="843806" cy="830716"/>
          </a:xfrm>
          <a:prstGeom prst="rect">
            <a:avLst/>
          </a:prstGeom>
        </p:spPr>
      </p:pic>
    </p:spTree>
    <p:extLst>
      <p:ext uri="{BB962C8B-B14F-4D97-AF65-F5344CB8AC3E}">
        <p14:creationId xmlns:p14="http://schemas.microsoft.com/office/powerpoint/2010/main" val="280187047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Further Use Cases: Ecosystem</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pic>
        <p:nvPicPr>
          <p:cNvPr id="32" name="Picture 31">
            <a:extLst>
              <a:ext uri="{FF2B5EF4-FFF2-40B4-BE49-F238E27FC236}">
                <a16:creationId xmlns:a16="http://schemas.microsoft.com/office/drawing/2014/main" id="{52EEA9A8-E91D-49BC-4F1E-A5B6F918175D}"/>
              </a:ext>
            </a:extLst>
          </p:cNvPr>
          <p:cNvPicPr>
            <a:picLocks noChangeAspect="1"/>
          </p:cNvPicPr>
          <p:nvPr/>
        </p:nvPicPr>
        <p:blipFill>
          <a:blip r:embed="rId4"/>
          <a:stretch>
            <a:fillRect/>
          </a:stretch>
        </p:blipFill>
        <p:spPr>
          <a:xfrm>
            <a:off x="-1133475" y="969650"/>
            <a:ext cx="12192000" cy="5081278"/>
          </a:xfrm>
          <a:prstGeom prst="rect">
            <a:avLst/>
          </a:prstGeom>
        </p:spPr>
      </p:pic>
      <p:sp>
        <p:nvSpPr>
          <p:cNvPr id="33" name="TextBox 32">
            <a:extLst>
              <a:ext uri="{FF2B5EF4-FFF2-40B4-BE49-F238E27FC236}">
                <a16:creationId xmlns:a16="http://schemas.microsoft.com/office/drawing/2014/main" id="{8FB8084C-8953-022D-75DA-B3EEE0092061}"/>
              </a:ext>
            </a:extLst>
          </p:cNvPr>
          <p:cNvSpPr txBox="1"/>
          <p:nvPr/>
        </p:nvSpPr>
        <p:spPr>
          <a:xfrm>
            <a:off x="388834" y="1137737"/>
            <a:ext cx="4190850" cy="738664"/>
          </a:xfrm>
          <a:prstGeom prst="rect">
            <a:avLst/>
          </a:prstGeom>
          <a:noFill/>
        </p:spPr>
        <p:txBody>
          <a:bodyPr wrap="square">
            <a:spAutoFit/>
          </a:bodyPr>
          <a:lstStyle/>
          <a:p>
            <a:pPr>
              <a:defRPr/>
            </a:pPr>
            <a:r>
              <a:rPr kumimoji="0" lang="en-US" sz="1400" b="1" i="0" u="none" strike="noStrike" kern="0" cap="none" spc="0" normalizeH="0" baseline="0" noProof="0">
                <a:ln>
                  <a:noFill/>
                </a:ln>
                <a:solidFill>
                  <a:srgbClr val="32007C"/>
                </a:solidFill>
                <a:effectLst/>
                <a:uLnTx/>
                <a:uFillTx/>
                <a:latin typeface="+mj-lt"/>
                <a:ea typeface="Helvetica Light" charset="0"/>
                <a:cs typeface="Helvetica Light" charset="0"/>
              </a:rPr>
              <a:t>CDM presents opportunities to interact with entire eco system of other applications and standards provided by trade bodies</a:t>
            </a:r>
            <a:endParaRPr kumimoji="0" lang="en-GB" sz="1400" b="1" i="0" u="none" strike="noStrike" kern="0" cap="none" spc="0" normalizeH="0" baseline="0" noProof="0">
              <a:ln>
                <a:noFill/>
              </a:ln>
              <a:solidFill>
                <a:srgbClr val="32007C"/>
              </a:solidFill>
              <a:effectLst/>
              <a:uLnTx/>
              <a:uFillTx/>
              <a:latin typeface="+mj-lt"/>
              <a:ea typeface="Helvetica Light" charset="0"/>
              <a:cs typeface="Helvetica Light" charset="0"/>
            </a:endParaRPr>
          </a:p>
        </p:txBody>
      </p:sp>
    </p:spTree>
    <p:extLst>
      <p:ext uri="{BB962C8B-B14F-4D97-AF65-F5344CB8AC3E}">
        <p14:creationId xmlns:p14="http://schemas.microsoft.com/office/powerpoint/2010/main" val="340589286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Further Use Cases: Smart contract technology support</a:t>
            </a:r>
          </a:p>
        </p:txBody>
      </p: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pic>
        <p:nvPicPr>
          <p:cNvPr id="2" name="Picture 1">
            <a:extLst>
              <a:ext uri="{FF2B5EF4-FFF2-40B4-BE49-F238E27FC236}">
                <a16:creationId xmlns:a16="http://schemas.microsoft.com/office/drawing/2014/main" id="{B72AD7A2-F0E8-6C3C-1F5F-973FDE5977EF}"/>
              </a:ext>
            </a:extLst>
          </p:cNvPr>
          <p:cNvPicPr>
            <a:picLocks noChangeAspect="1"/>
          </p:cNvPicPr>
          <p:nvPr/>
        </p:nvPicPr>
        <p:blipFill>
          <a:blip r:embed="rId4"/>
          <a:stretch>
            <a:fillRect/>
          </a:stretch>
        </p:blipFill>
        <p:spPr>
          <a:xfrm>
            <a:off x="528735" y="994410"/>
            <a:ext cx="10924979" cy="5864860"/>
          </a:xfrm>
          <a:prstGeom prst="rect">
            <a:avLst/>
          </a:prstGeom>
        </p:spPr>
      </p:pic>
      <p:cxnSp>
        <p:nvCxnSpPr>
          <p:cNvPr id="3" name="Straight Connector 2">
            <a:extLst>
              <a:ext uri="{FF2B5EF4-FFF2-40B4-BE49-F238E27FC236}">
                <a16:creationId xmlns:a16="http://schemas.microsoft.com/office/drawing/2014/main" id="{D1CDCEEE-3429-A2FF-593B-7FBF9BFC109E}"/>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606749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Further Use Cases</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34" name="Rectangle: Rounded Corners 33">
            <a:extLst>
              <a:ext uri="{FF2B5EF4-FFF2-40B4-BE49-F238E27FC236}">
                <a16:creationId xmlns:a16="http://schemas.microsoft.com/office/drawing/2014/main" id="{D1803C99-936C-0907-F913-D36A24F5696F}"/>
              </a:ext>
            </a:extLst>
          </p:cNvPr>
          <p:cNvSpPr/>
          <p:nvPr/>
        </p:nvSpPr>
        <p:spPr>
          <a:xfrm>
            <a:off x="1390650" y="1752598"/>
            <a:ext cx="2505075" cy="9905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i="0" u="none" strike="noStrike" baseline="0">
                <a:solidFill>
                  <a:schemeClr val="bg1"/>
                </a:solidFill>
              </a:rPr>
              <a:t>Integration with CRIF standard for FRTB, SIMM, and SA-CVA reporting</a:t>
            </a:r>
            <a:endParaRPr lang="en-GB" sz="1600">
              <a:solidFill>
                <a:schemeClr val="bg1"/>
              </a:solidFill>
            </a:endParaRPr>
          </a:p>
        </p:txBody>
      </p:sp>
      <p:sp>
        <p:nvSpPr>
          <p:cNvPr id="35" name="Rectangle: Rounded Corners 34">
            <a:extLst>
              <a:ext uri="{FF2B5EF4-FFF2-40B4-BE49-F238E27FC236}">
                <a16:creationId xmlns:a16="http://schemas.microsoft.com/office/drawing/2014/main" id="{0646153E-3009-84F5-960E-FEBF48FD8BE5}"/>
              </a:ext>
            </a:extLst>
          </p:cNvPr>
          <p:cNvSpPr/>
          <p:nvPr/>
        </p:nvSpPr>
        <p:spPr>
          <a:xfrm>
            <a:off x="4662488" y="1752598"/>
            <a:ext cx="2505075" cy="9905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GB" sz="1200" b="0" i="0" u="none" strike="noStrike" kern="1200" cap="none" spc="0" normalizeH="0" baseline="0" noProof="0">
                <a:ln>
                  <a:noFill/>
                </a:ln>
                <a:solidFill>
                  <a:schemeClr val="bg1"/>
                </a:solidFill>
                <a:effectLst/>
                <a:uLnTx/>
                <a:uFillTx/>
                <a:latin typeface="Calibri" panose="020F0502020204030204"/>
                <a:ea typeface="+mn-ea"/>
                <a:cs typeface="Times New Roman" panose="02020603050405020304" pitchFamily="18" charset="0"/>
              </a:rPr>
              <a:t>Transcribe legally prescribed functional clauses from ISDA Def into machine readable and human readable codified functions</a:t>
            </a:r>
            <a:endParaRPr lang="en-GB" sz="1200">
              <a:solidFill>
                <a:schemeClr val="bg1"/>
              </a:solidFill>
            </a:endParaRPr>
          </a:p>
        </p:txBody>
      </p:sp>
      <p:sp>
        <p:nvSpPr>
          <p:cNvPr id="36" name="Rectangle: Rounded Corners 35">
            <a:extLst>
              <a:ext uri="{FF2B5EF4-FFF2-40B4-BE49-F238E27FC236}">
                <a16:creationId xmlns:a16="http://schemas.microsoft.com/office/drawing/2014/main" id="{75988EA8-C5AA-2B89-1F86-1C4B6F805203}"/>
              </a:ext>
            </a:extLst>
          </p:cNvPr>
          <p:cNvSpPr/>
          <p:nvPr/>
        </p:nvSpPr>
        <p:spPr>
          <a:xfrm>
            <a:off x="7934325" y="1752598"/>
            <a:ext cx="2505075" cy="9905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GB" sz="1400" b="0" i="0" u="none" strike="noStrike" kern="1200" cap="none" spc="0" normalizeH="0" baseline="0" noProof="0">
                <a:ln>
                  <a:noFill/>
                </a:ln>
                <a:solidFill>
                  <a:schemeClr val="bg1"/>
                </a:solidFill>
                <a:effectLst/>
                <a:uLnTx/>
                <a:uFillTx/>
                <a:latin typeface="Calibri" panose="020F0502020204030204"/>
                <a:ea typeface="+mn-ea"/>
                <a:cs typeface="Times New Roman" panose="02020603050405020304" pitchFamily="18" charset="0"/>
              </a:rPr>
              <a:t>Facilitate more efficient re-use of data e</a:t>
            </a:r>
            <a:r>
              <a:rPr lang="en-GB" sz="1400">
                <a:solidFill>
                  <a:schemeClr val="bg1"/>
                </a:solidFill>
                <a:latin typeface="Calibri" panose="020F0502020204030204"/>
                <a:cs typeface="Times New Roman" panose="02020603050405020304" pitchFamily="18" charset="0"/>
              </a:rPr>
              <a:t>.g. data template for large volume of increases of an Equity portfolio swap</a:t>
            </a:r>
            <a:endParaRPr lang="en-GB" sz="1400">
              <a:solidFill>
                <a:schemeClr val="bg1"/>
              </a:solidFill>
            </a:endParaRPr>
          </a:p>
        </p:txBody>
      </p:sp>
      <p:sp>
        <p:nvSpPr>
          <p:cNvPr id="37" name="Rectangle: Rounded Corners 36">
            <a:extLst>
              <a:ext uri="{FF2B5EF4-FFF2-40B4-BE49-F238E27FC236}">
                <a16:creationId xmlns:a16="http://schemas.microsoft.com/office/drawing/2014/main" id="{E93F638B-E29C-7905-7E97-30B89BD77182}"/>
              </a:ext>
            </a:extLst>
          </p:cNvPr>
          <p:cNvSpPr/>
          <p:nvPr/>
        </p:nvSpPr>
        <p:spPr>
          <a:xfrm>
            <a:off x="1390650" y="3069744"/>
            <a:ext cx="2505075" cy="9905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GB" sz="1600" b="0" i="0" u="none" strike="noStrike" kern="1200" cap="none" spc="0" normalizeH="0" baseline="0" noProof="0">
                <a:ln>
                  <a:noFill/>
                </a:ln>
                <a:solidFill>
                  <a:schemeClr val="bg1"/>
                </a:solidFill>
                <a:effectLst/>
                <a:uLnTx/>
                <a:uFillTx/>
                <a:latin typeface="Calibri" panose="020F0502020204030204"/>
                <a:ea typeface="+mn-ea"/>
                <a:cs typeface="Times New Roman" panose="02020603050405020304" pitchFamily="18" charset="0"/>
              </a:rPr>
              <a:t>Set a standard for the efficient digitalisation of collateral related margin process</a:t>
            </a:r>
            <a:endParaRPr lang="en-GB" sz="1600">
              <a:solidFill>
                <a:schemeClr val="bg1"/>
              </a:solidFill>
            </a:endParaRPr>
          </a:p>
        </p:txBody>
      </p:sp>
      <p:sp>
        <p:nvSpPr>
          <p:cNvPr id="38" name="Rectangle: Rounded Corners 37">
            <a:extLst>
              <a:ext uri="{FF2B5EF4-FFF2-40B4-BE49-F238E27FC236}">
                <a16:creationId xmlns:a16="http://schemas.microsoft.com/office/drawing/2014/main" id="{9AA3B596-94EA-6BAC-4B77-C481893E04D1}"/>
              </a:ext>
            </a:extLst>
          </p:cNvPr>
          <p:cNvSpPr/>
          <p:nvPr/>
        </p:nvSpPr>
        <p:spPr>
          <a:xfrm>
            <a:off x="4662488" y="3069744"/>
            <a:ext cx="2505075" cy="9905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GB" sz="1200" b="0" i="0" u="none" strike="noStrike" kern="1200" cap="none" spc="0" normalizeH="0" baseline="0" noProof="0">
                <a:ln>
                  <a:noFill/>
                </a:ln>
                <a:solidFill>
                  <a:schemeClr val="bg1"/>
                </a:solidFill>
                <a:effectLst/>
                <a:uLnTx/>
                <a:uFillTx/>
                <a:latin typeface="Calibri" panose="020F0502020204030204"/>
                <a:ea typeface="+mn-ea"/>
                <a:cs typeface="Times New Roman" panose="02020603050405020304" pitchFamily="18" charset="0"/>
              </a:rPr>
              <a:t>Assert and mutualise the standardised encoding and capacity for implementation of legal clauses supporting the life cycle events of derivative transactions.</a:t>
            </a:r>
            <a:endParaRPr lang="en-GB" sz="1200">
              <a:solidFill>
                <a:schemeClr val="bg1"/>
              </a:solidFill>
            </a:endParaRPr>
          </a:p>
        </p:txBody>
      </p:sp>
      <p:sp>
        <p:nvSpPr>
          <p:cNvPr id="39" name="Rectangle: Rounded Corners 38">
            <a:extLst>
              <a:ext uri="{FF2B5EF4-FFF2-40B4-BE49-F238E27FC236}">
                <a16:creationId xmlns:a16="http://schemas.microsoft.com/office/drawing/2014/main" id="{202BD73A-2AF0-A2D9-D10D-D1D691012755}"/>
              </a:ext>
            </a:extLst>
          </p:cNvPr>
          <p:cNvSpPr/>
          <p:nvPr/>
        </p:nvSpPr>
        <p:spPr>
          <a:xfrm>
            <a:off x="7934325" y="3069744"/>
            <a:ext cx="2505075" cy="9905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GB" sz="1100" b="0" i="0" u="none" strike="noStrike" kern="1200" cap="none" spc="0" normalizeH="0" baseline="0" noProof="0">
                <a:ln>
                  <a:noFill/>
                </a:ln>
                <a:solidFill>
                  <a:schemeClr val="bg1"/>
                </a:solidFill>
                <a:effectLst/>
                <a:uLnTx/>
                <a:uFillTx/>
                <a:latin typeface="Calibri" panose="020F0502020204030204"/>
                <a:ea typeface="+mn-ea"/>
                <a:cs typeface="+mn-cs"/>
              </a:rPr>
              <a:t>Express the CCP clearing handbook book that  regulates the registration and clearing of a transaction into a machine readable and executable code that can be automatically generated.</a:t>
            </a:r>
            <a:endParaRPr lang="en-GB" sz="1100">
              <a:solidFill>
                <a:schemeClr val="bg1"/>
              </a:solidFill>
            </a:endParaRPr>
          </a:p>
        </p:txBody>
      </p:sp>
      <p:sp>
        <p:nvSpPr>
          <p:cNvPr id="40" name="Rectangle: Rounded Corners 39">
            <a:extLst>
              <a:ext uri="{FF2B5EF4-FFF2-40B4-BE49-F238E27FC236}">
                <a16:creationId xmlns:a16="http://schemas.microsoft.com/office/drawing/2014/main" id="{CF5F2BDD-E270-32A0-0B84-7AF993DC0C9F}"/>
              </a:ext>
            </a:extLst>
          </p:cNvPr>
          <p:cNvSpPr/>
          <p:nvPr/>
        </p:nvSpPr>
        <p:spPr>
          <a:xfrm>
            <a:off x="1390650" y="4419604"/>
            <a:ext cx="2505075" cy="9905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bg1"/>
                </a:solidFill>
                <a:effectLst/>
                <a:uLnTx/>
                <a:uFillTx/>
                <a:latin typeface="Calibri" panose="020F0502020204030204"/>
                <a:ea typeface="+mn-ea"/>
                <a:cs typeface="Times New Roman" panose="02020603050405020304" pitchFamily="18" charset="0"/>
              </a:rPr>
              <a:t>Support more consistent implementation of market infrastructures processes such as clearing in tally with upcoming new innovative technologies (DLT, Cloud, Smart Contract, etc)</a:t>
            </a:r>
          </a:p>
        </p:txBody>
      </p:sp>
      <p:sp>
        <p:nvSpPr>
          <p:cNvPr id="41" name="Rectangle: Rounded Corners 40">
            <a:extLst>
              <a:ext uri="{FF2B5EF4-FFF2-40B4-BE49-F238E27FC236}">
                <a16:creationId xmlns:a16="http://schemas.microsoft.com/office/drawing/2014/main" id="{798EC4B2-AB6C-53DB-B493-75487E0434CC}"/>
              </a:ext>
            </a:extLst>
          </p:cNvPr>
          <p:cNvSpPr/>
          <p:nvPr/>
        </p:nvSpPr>
        <p:spPr>
          <a:xfrm>
            <a:off x="4662488" y="4419604"/>
            <a:ext cx="2505075" cy="9905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altLang="en-US" sz="1200" b="0" i="0" u="none" strike="noStrike" kern="1200" cap="none" spc="0" normalizeH="0" baseline="0" noProof="0">
                <a:ln>
                  <a:noFill/>
                </a:ln>
                <a:solidFill>
                  <a:schemeClr val="bg1"/>
                </a:solidFill>
                <a:effectLst/>
                <a:uLnTx/>
                <a:uFillTx/>
                <a:latin typeface="Calibri" panose="020F0502020204030204"/>
                <a:ea typeface="+mn-ea"/>
                <a:cs typeface="Times New Roman" panose="02020603050405020304" pitchFamily="18" charset="0"/>
              </a:rPr>
              <a:t>Match and store consistent trade representations that feed in “real time” FO trading systems using DLT and detect inconsistencies if any.</a:t>
            </a:r>
            <a:endParaRPr lang="en-GB" sz="1200">
              <a:solidFill>
                <a:schemeClr val="bg1"/>
              </a:solidFill>
            </a:endParaRPr>
          </a:p>
        </p:txBody>
      </p:sp>
      <p:sp>
        <p:nvSpPr>
          <p:cNvPr id="42" name="Rectangle: Rounded Corners 41">
            <a:extLst>
              <a:ext uri="{FF2B5EF4-FFF2-40B4-BE49-F238E27FC236}">
                <a16:creationId xmlns:a16="http://schemas.microsoft.com/office/drawing/2014/main" id="{BEE93403-DC10-4C78-FB48-08DA8F7A988C}"/>
              </a:ext>
            </a:extLst>
          </p:cNvPr>
          <p:cNvSpPr/>
          <p:nvPr/>
        </p:nvSpPr>
        <p:spPr>
          <a:xfrm>
            <a:off x="7934325" y="4419604"/>
            <a:ext cx="2505075" cy="9905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altLang="en-US" sz="1800" b="0" i="0" u="none" strike="noStrike" kern="1200" cap="none" spc="0" normalizeH="0" baseline="0" noProof="0">
                <a:ln>
                  <a:noFill/>
                </a:ln>
                <a:solidFill>
                  <a:schemeClr val="bg1"/>
                </a:solidFill>
                <a:effectLst/>
                <a:uLnTx/>
                <a:uFillTx/>
                <a:latin typeface="Calibri" panose="020F0502020204030204"/>
                <a:ea typeface="+mn-ea"/>
                <a:cs typeface="Times New Roman" panose="02020603050405020304" pitchFamily="18" charset="0"/>
              </a:rPr>
              <a:t>Aid the standardized representation of SSIs</a:t>
            </a:r>
            <a:endParaRPr lang="en-GB">
              <a:solidFill>
                <a:schemeClr val="bg1"/>
              </a:solidFill>
            </a:endParaRPr>
          </a:p>
        </p:txBody>
      </p:sp>
    </p:spTree>
    <p:extLst>
      <p:ext uri="{BB962C8B-B14F-4D97-AF65-F5344CB8AC3E}">
        <p14:creationId xmlns:p14="http://schemas.microsoft.com/office/powerpoint/2010/main" val="142277171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Logo&#10;&#10;Description automatically generated">
            <a:extLst>
              <a:ext uri="{FF2B5EF4-FFF2-40B4-BE49-F238E27FC236}">
                <a16:creationId xmlns:a16="http://schemas.microsoft.com/office/drawing/2014/main" id="{7F4A23B7-5A0F-4164-1A36-C09EFFB0AE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6785" y="2778964"/>
            <a:ext cx="2579303" cy="1336098"/>
          </a:xfrm>
          <a:prstGeom prst="rect">
            <a:avLst/>
          </a:prstGeom>
        </p:spPr>
      </p:pic>
      <p:sp>
        <p:nvSpPr>
          <p:cNvPr id="2" name="Text Box 2">
            <a:extLst>
              <a:ext uri="{FF2B5EF4-FFF2-40B4-BE49-F238E27FC236}">
                <a16:creationId xmlns:a16="http://schemas.microsoft.com/office/drawing/2014/main" id="{52004F27-750E-9E4E-1ABF-807D8D28C031}"/>
              </a:ext>
            </a:extLst>
          </p:cNvPr>
          <p:cNvSpPr txBox="1">
            <a:spLocks noChangeArrowheads="1"/>
          </p:cNvSpPr>
          <p:nvPr/>
        </p:nvSpPr>
        <p:spPr bwMode="auto">
          <a:xfrm>
            <a:off x="514130" y="2955073"/>
            <a:ext cx="7215137" cy="983881"/>
          </a:xfrm>
          <a:prstGeom prst="rect">
            <a:avLst/>
          </a:prstGeom>
          <a:solidFill>
            <a:srgbClr val="32007D"/>
          </a:solidFill>
          <a:ln w="9525">
            <a:noFill/>
            <a:miter lim="800000"/>
            <a:headEnd/>
            <a:tailEnd/>
          </a:ln>
        </p:spPr>
        <p:txBody>
          <a:bodyPr rot="0" vert="horz" wrap="square" lIns="91435" tIns="45717" rIns="91435" bIns="45717" anchor="ctr" anchorCtr="0">
            <a:noAutofit/>
          </a:bodyPr>
          <a:lstStyle/>
          <a:p>
            <a:r>
              <a:rPr lang="en-GB" sz="2000" b="1">
                <a:solidFill>
                  <a:srgbClr val="FFFFFF"/>
                </a:solidFill>
                <a:ea typeface="Calibri"/>
              </a:rPr>
              <a:t>Get Involved</a:t>
            </a:r>
            <a:endParaRPr lang="en-GB">
              <a:solidFill>
                <a:srgbClr val="FFFFFF"/>
              </a:solidFill>
              <a:ea typeface="Calibri"/>
              <a:cs typeface="Arial"/>
            </a:endParaRPr>
          </a:p>
        </p:txBody>
      </p:sp>
    </p:spTree>
    <p:extLst>
      <p:ext uri="{BB962C8B-B14F-4D97-AF65-F5344CB8AC3E}">
        <p14:creationId xmlns:p14="http://schemas.microsoft.com/office/powerpoint/2010/main" val="18739691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How to get involved- Community Structure</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28" name="Rectangle 27">
            <a:extLst>
              <a:ext uri="{FF2B5EF4-FFF2-40B4-BE49-F238E27FC236}">
                <a16:creationId xmlns:a16="http://schemas.microsoft.com/office/drawing/2014/main" id="{4A5A5F28-8199-262C-597B-A1605141A741}"/>
              </a:ext>
            </a:extLst>
          </p:cNvPr>
          <p:cNvSpPr/>
          <p:nvPr/>
        </p:nvSpPr>
        <p:spPr>
          <a:xfrm>
            <a:off x="4936466" y="1415784"/>
            <a:ext cx="1489502" cy="559397"/>
          </a:xfrm>
          <a:prstGeom prst="rect">
            <a:avLst/>
          </a:prstGeom>
          <a:solidFill>
            <a:srgbClr val="70AD47">
              <a:lumMod val="75000"/>
            </a:srgbClr>
          </a:solidFill>
          <a:ln w="12700" cap="flat" cmpd="sng" algn="ctr">
            <a:solidFill>
              <a:srgbClr val="4472C4">
                <a:shade val="50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alibri" panose="020F0502020204030204"/>
                <a:ea typeface="+mn-ea"/>
                <a:cs typeface="+mn-cs"/>
              </a:rPr>
              <a:t>Steering WG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alibri" panose="020F0502020204030204"/>
                <a:ea typeface="+mn-ea"/>
                <a:cs typeface="+mn-cs"/>
              </a:rPr>
              <a:t>(SWG)</a:t>
            </a:r>
            <a:endParaRPr kumimoji="0" lang="en-CA"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725A3535-4016-3179-BBD8-C4A3A190AAC9}"/>
              </a:ext>
            </a:extLst>
          </p:cNvPr>
          <p:cNvSpPr/>
          <p:nvPr/>
        </p:nvSpPr>
        <p:spPr>
          <a:xfrm>
            <a:off x="3398450" y="2654863"/>
            <a:ext cx="1299730" cy="724418"/>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alibri" panose="020F0502020204030204"/>
                <a:ea typeface="+mn-ea"/>
                <a:cs typeface="+mn-cs"/>
              </a:rPr>
              <a:t>Contribution Review Working Group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alibri" panose="020F0502020204030204"/>
                <a:ea typeface="+mn-ea"/>
                <a:cs typeface="+mn-cs"/>
              </a:rPr>
              <a:t>(CRWG)</a:t>
            </a:r>
            <a:endParaRPr kumimoji="0" lang="en-CA"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7B109E16-34EB-2182-3A74-4E5FCC27D1C2}"/>
              </a:ext>
            </a:extLst>
          </p:cNvPr>
          <p:cNvSpPr/>
          <p:nvPr/>
        </p:nvSpPr>
        <p:spPr>
          <a:xfrm>
            <a:off x="6740444" y="2674705"/>
            <a:ext cx="1299731" cy="713361"/>
          </a:xfrm>
          <a:prstGeom prst="rect">
            <a:avLst/>
          </a:prstGeom>
          <a:solidFill>
            <a:sysClr val="windowText" lastClr="000000">
              <a:lumMod val="65000"/>
              <a:lumOff val="35000"/>
            </a:sysClr>
          </a:solidFill>
          <a:ln w="12700" cap="flat" cmpd="sng" algn="ctr">
            <a:solidFill>
              <a:srgbClr val="4472C4">
                <a:shade val="50000"/>
              </a:srgbClr>
            </a:solidFill>
            <a:prstDash val="solid"/>
            <a:miter lim="800000"/>
          </a:ln>
          <a:effectLst>
            <a:softEdge rad="0"/>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alibri" panose="020F0502020204030204"/>
                <a:ea typeface="+mn-ea"/>
                <a:cs typeface="+mn-cs"/>
              </a:rPr>
              <a:t>Technology Architecture WG (TAWG)</a:t>
            </a:r>
            <a:endParaRPr kumimoji="0" lang="en-CA"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TextBox 39">
            <a:extLst>
              <a:ext uri="{FF2B5EF4-FFF2-40B4-BE49-F238E27FC236}">
                <a16:creationId xmlns:a16="http://schemas.microsoft.com/office/drawing/2014/main" id="{E8408C46-3FB0-700C-7201-D4092576C0AE}"/>
              </a:ext>
            </a:extLst>
          </p:cNvPr>
          <p:cNvSpPr txBox="1"/>
          <p:nvPr/>
        </p:nvSpPr>
        <p:spPr>
          <a:xfrm>
            <a:off x="6739834" y="1193005"/>
            <a:ext cx="4207114" cy="9233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Defines and monitors overall roadmap, setting annual priorities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Decides support for resourcing initiatives proposed by TAWG, CRWG or DWGs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Approves new FINOS WGs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Decides matters of Governance &amp; Operating Model for FINOS CDM WGs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Final release approval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Monthly</a:t>
            </a:r>
            <a:endParaRPr kumimoji="0" lang="en-CA"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Box 63">
            <a:extLst>
              <a:ext uri="{FF2B5EF4-FFF2-40B4-BE49-F238E27FC236}">
                <a16:creationId xmlns:a16="http://schemas.microsoft.com/office/drawing/2014/main" id="{62B5FE69-66F7-E4CC-22D4-113E915DD830}"/>
              </a:ext>
            </a:extLst>
          </p:cNvPr>
          <p:cNvSpPr txBox="1"/>
          <p:nvPr/>
        </p:nvSpPr>
        <p:spPr>
          <a:xfrm>
            <a:off x="7248087" y="3929427"/>
            <a:ext cx="3857725" cy="7848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Modelling, design and execution of work items within their domain scope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Contributions compliant with guidelines and consistency across CDM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Updates on/feeds domain based work items and plans into overall roadmap set by steering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Meets around every 2 weeks as needed</a:t>
            </a:r>
          </a:p>
        </p:txBody>
      </p:sp>
      <p:sp>
        <p:nvSpPr>
          <p:cNvPr id="33" name="TextBox 61">
            <a:extLst>
              <a:ext uri="{FF2B5EF4-FFF2-40B4-BE49-F238E27FC236}">
                <a16:creationId xmlns:a16="http://schemas.microsoft.com/office/drawing/2014/main" id="{FF4E0B63-6E92-0BEC-6F54-ECBB29AC26D8}"/>
              </a:ext>
            </a:extLst>
          </p:cNvPr>
          <p:cNvSpPr txBox="1"/>
          <p:nvPr/>
        </p:nvSpPr>
        <p:spPr>
          <a:xfrm>
            <a:off x="590550" y="2584184"/>
            <a:ext cx="2848469" cy="106182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Assembles releases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Initial release proposal approval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0" i="0" u="none" strike="noStrike" kern="1200" cap="none" spc="0" normalizeH="0" baseline="0" noProof="0">
                <a:ln>
                  <a:noFill/>
                </a:ln>
                <a:solidFill>
                  <a:prstClr val="black"/>
                </a:solidFill>
                <a:effectLst/>
                <a:uLnTx/>
                <a:uFillTx/>
                <a:latin typeface="Calibri" panose="020F0502020204030204"/>
                <a:ea typeface="+mn-ea"/>
                <a:cs typeface="+mn-cs"/>
              </a:rPr>
              <a:t>Arbitrates disputes arising from DWG contributions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0" i="0" u="none" strike="noStrike" kern="1200" cap="none" spc="0" normalizeH="0" baseline="0" noProof="0">
                <a:ln>
                  <a:noFill/>
                </a:ln>
                <a:solidFill>
                  <a:prstClr val="black"/>
                </a:solidFill>
                <a:effectLst/>
                <a:uLnTx/>
                <a:uFillTx/>
                <a:latin typeface="Calibri" panose="020F0502020204030204"/>
                <a:ea typeface="+mn-ea"/>
                <a:cs typeface="+mn-cs"/>
              </a:rPr>
              <a:t>Guardians and enforcers of design principles and guidelines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0" i="0" u="none" strike="noStrike" kern="1200" cap="none" spc="0" normalizeH="0" baseline="0" noProof="0">
                <a:ln>
                  <a:noFill/>
                </a:ln>
                <a:solidFill>
                  <a:prstClr val="black"/>
                </a:solidFill>
                <a:effectLst/>
                <a:uLnTx/>
                <a:uFillTx/>
                <a:latin typeface="Calibri" panose="020F0502020204030204"/>
                <a:ea typeface="+mn-ea"/>
                <a:cs typeface="+mn-cs"/>
              </a:rPr>
              <a:t>Triages and facilitates long-dated PRs and Issues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0" i="0" u="none" strike="noStrike" kern="1200" cap="none" spc="0" normalizeH="0" baseline="0" noProof="0">
                <a:ln>
                  <a:noFill/>
                </a:ln>
                <a:solidFill>
                  <a:prstClr val="black"/>
                </a:solidFill>
                <a:effectLst/>
                <a:uLnTx/>
                <a:uFillTx/>
                <a:latin typeface="Calibri" panose="020F0502020204030204"/>
                <a:ea typeface="+mn-ea"/>
                <a:cs typeface="+mn-cs"/>
              </a:rPr>
              <a:t>Fortnightly, with sub-groups as required</a:t>
            </a:r>
          </a:p>
        </p:txBody>
      </p:sp>
      <p:sp>
        <p:nvSpPr>
          <p:cNvPr id="34" name="Rectangle 33">
            <a:extLst>
              <a:ext uri="{FF2B5EF4-FFF2-40B4-BE49-F238E27FC236}">
                <a16:creationId xmlns:a16="http://schemas.microsoft.com/office/drawing/2014/main" id="{420DBEBF-396C-C6D2-9E92-58114A4B2F5D}"/>
              </a:ext>
            </a:extLst>
          </p:cNvPr>
          <p:cNvSpPr/>
          <p:nvPr/>
        </p:nvSpPr>
        <p:spPr>
          <a:xfrm>
            <a:off x="4418598" y="3910689"/>
            <a:ext cx="2829489" cy="329892"/>
          </a:xfrm>
          <a:prstGeom prst="rect">
            <a:avLst/>
          </a:prstGeom>
          <a:solidFill>
            <a:srgbClr val="ED7D31">
              <a:lumMod val="75000"/>
            </a:srgbClr>
          </a:solidFill>
          <a:ln w="12700" cap="flat" cmpd="sng" algn="ctr">
            <a:solidFill>
              <a:srgbClr val="4472C4">
                <a:shade val="50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alibri" panose="020F0502020204030204"/>
                <a:ea typeface="+mn-ea"/>
                <a:cs typeface="+mn-cs"/>
              </a:rPr>
              <a:t>Domain WGs (DWGs)</a:t>
            </a:r>
            <a:endParaRPr kumimoji="0" lang="en-CA"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BFF6C8F7-90C1-0680-160E-44562326B2F3}"/>
              </a:ext>
            </a:extLst>
          </p:cNvPr>
          <p:cNvSpPr txBox="1"/>
          <p:nvPr/>
        </p:nvSpPr>
        <p:spPr>
          <a:xfrm>
            <a:off x="590550" y="4885646"/>
            <a:ext cx="7984832" cy="1815882"/>
          </a:xfrm>
          <a:prstGeom prst="rect">
            <a:avLst/>
          </a:prstGeom>
          <a:noFill/>
        </p:spPr>
        <p:txBody>
          <a:bodyPr wrap="square">
            <a:spAutoFit/>
          </a:bodyPr>
          <a:lstStyle/>
          <a:p>
            <a:pPr>
              <a:defRPr/>
            </a:pPr>
            <a:r>
              <a:rPr lang="en-GB" sz="1400" b="1" kern="0">
                <a:solidFill>
                  <a:srgbClr val="32007C"/>
                </a:solidFill>
                <a:latin typeface="Calibri Light" panose="020F0302020204030204"/>
                <a:ea typeface="Lato" panose="020F0502020204030203" pitchFamily="34" charset="0"/>
                <a:cs typeface="Helvetica" panose="020B0604020202020204" pitchFamily="34" charset="0"/>
              </a:rPr>
              <a:t>List of </a:t>
            </a:r>
            <a:r>
              <a:rPr lang="en-GB" sz="1400" b="1" kern="0">
                <a:solidFill>
                  <a:srgbClr val="32007C"/>
                </a:solidFill>
                <a:latin typeface="Calibri Light" panose="020F0302020204030204"/>
                <a:ea typeface="Helvetica Light" charset="0"/>
                <a:cs typeface="Helvetica Light" charset="0"/>
              </a:rPr>
              <a:t>DWGs &amp; their Scope as at Oct 23:</a:t>
            </a:r>
          </a:p>
          <a:p>
            <a:pPr marL="285750" indent="-285750">
              <a:buFont typeface="Arial" panose="020B0604020202020204" pitchFamily="34" charset="0"/>
              <a:buChar char="•"/>
              <a:defRPr/>
            </a:pPr>
            <a:r>
              <a:rPr lang="en-GB" sz="1400" b="1" kern="0">
                <a:solidFill>
                  <a:srgbClr val="32007C"/>
                </a:solidFill>
                <a:latin typeface="Calibri Light" panose="020F0302020204030204"/>
                <a:ea typeface="Helvetica Light" charset="0"/>
                <a:cs typeface="Helvetica Light" charset="0"/>
              </a:rPr>
              <a:t>Collateral- </a:t>
            </a:r>
            <a:r>
              <a:rPr lang="en-GB" sz="1400" i="1" kern="0">
                <a:solidFill>
                  <a:srgbClr val="32007C"/>
                </a:solidFill>
                <a:latin typeface="Calibri Light" panose="020F0302020204030204"/>
                <a:ea typeface="Helvetica Light" charset="0"/>
                <a:cs typeface="Helvetica Light" charset="0"/>
              </a:rPr>
              <a:t>Collateral schedules &amp; processes</a:t>
            </a:r>
            <a:endParaRPr lang="en-GB" sz="1400" b="1" kern="0">
              <a:solidFill>
                <a:srgbClr val="32007C"/>
              </a:solidFill>
              <a:latin typeface="Calibri Light" panose="020F0302020204030204"/>
              <a:ea typeface="Helvetica Light" charset="0"/>
              <a:cs typeface="Helvetica Light" charset="0"/>
            </a:endParaRPr>
          </a:p>
          <a:p>
            <a:pPr marL="285750" indent="-285750">
              <a:buFont typeface="Arial" panose="020B0604020202020204" pitchFamily="34" charset="0"/>
              <a:buChar char="•"/>
              <a:defRPr/>
            </a:pPr>
            <a:r>
              <a:rPr lang="en-GB" sz="1400" b="1" kern="0">
                <a:solidFill>
                  <a:srgbClr val="32007C"/>
                </a:solidFill>
                <a:latin typeface="Calibri Light" panose="020F0302020204030204"/>
                <a:ea typeface="Helvetica Light" charset="0"/>
                <a:cs typeface="Helvetica Light" charset="0"/>
              </a:rPr>
              <a:t>Repo &amp; Bonds- </a:t>
            </a:r>
            <a:r>
              <a:rPr lang="en-GB" sz="1400" i="1" kern="0">
                <a:solidFill>
                  <a:srgbClr val="32007C"/>
                </a:solidFill>
                <a:latin typeface="Calibri Light" panose="020F0302020204030204"/>
                <a:ea typeface="Helvetica Light" charset="0"/>
                <a:cs typeface="Helvetica Light" charset="0"/>
              </a:rPr>
              <a:t>Repo &amp; bond products</a:t>
            </a:r>
          </a:p>
          <a:p>
            <a:pPr marL="285750" indent="-285750">
              <a:buFont typeface="Arial" panose="020B0604020202020204" pitchFamily="34" charset="0"/>
              <a:buChar char="•"/>
              <a:defRPr/>
            </a:pPr>
            <a:r>
              <a:rPr lang="en-GB" sz="1400" b="1" kern="0">
                <a:solidFill>
                  <a:srgbClr val="32007C"/>
                </a:solidFill>
                <a:latin typeface="Calibri Light" panose="020F0302020204030204"/>
                <a:ea typeface="Helvetica Light" charset="0"/>
                <a:cs typeface="Helvetica Light" charset="0"/>
              </a:rPr>
              <a:t>Securities Lending</a:t>
            </a:r>
            <a:r>
              <a:rPr lang="en-GB" sz="1400" kern="0">
                <a:solidFill>
                  <a:srgbClr val="32007C"/>
                </a:solidFill>
                <a:latin typeface="Calibri Light" panose="020F0302020204030204"/>
                <a:ea typeface="Helvetica Light" charset="0"/>
                <a:cs typeface="Helvetica Light" charset="0"/>
              </a:rPr>
              <a:t>- </a:t>
            </a:r>
            <a:r>
              <a:rPr lang="en-GB" sz="1400" i="1" kern="0">
                <a:solidFill>
                  <a:srgbClr val="32007C"/>
                </a:solidFill>
                <a:latin typeface="Calibri Light" panose="020F0302020204030204"/>
                <a:ea typeface="Helvetica Light" charset="0"/>
                <a:cs typeface="Helvetica Light" charset="0"/>
              </a:rPr>
              <a:t>Securities Lending</a:t>
            </a:r>
            <a:endParaRPr lang="en-GB" sz="1400" b="1" i="1" kern="0">
              <a:solidFill>
                <a:srgbClr val="32007C"/>
              </a:solidFill>
              <a:latin typeface="Calibri Light" panose="020F0302020204030204"/>
              <a:ea typeface="Helvetica Light" charset="0"/>
              <a:cs typeface="Helvetica Light" charset="0"/>
            </a:endParaRPr>
          </a:p>
          <a:p>
            <a:pPr marL="285750" indent="-285750">
              <a:buFont typeface="Arial" panose="020B0604020202020204" pitchFamily="34" charset="0"/>
              <a:buChar char="•"/>
              <a:defRPr/>
            </a:pPr>
            <a:r>
              <a:rPr lang="en-GB" sz="1400" b="1" kern="0">
                <a:solidFill>
                  <a:srgbClr val="32007C"/>
                </a:solidFill>
                <a:latin typeface="Calibri Light" panose="020F0302020204030204"/>
                <a:ea typeface="Helvetica Light" charset="0"/>
                <a:cs typeface="Helvetica Light" charset="0"/>
              </a:rPr>
              <a:t>Derivatives Products and Business Events (DBPE)-</a:t>
            </a:r>
            <a:r>
              <a:rPr lang="en-GB" sz="1400" kern="0">
                <a:solidFill>
                  <a:srgbClr val="32007C"/>
                </a:solidFill>
                <a:latin typeface="Calibri Light" panose="020F0302020204030204"/>
                <a:ea typeface="Helvetica Light" charset="0"/>
                <a:cs typeface="Helvetica Light" charset="0"/>
              </a:rPr>
              <a:t> </a:t>
            </a:r>
            <a:r>
              <a:rPr lang="en-GB" sz="1400" i="1" kern="0">
                <a:solidFill>
                  <a:srgbClr val="32007C"/>
                </a:solidFill>
                <a:latin typeface="Calibri Light" panose="020F0302020204030204"/>
                <a:ea typeface="Helvetica Light" charset="0"/>
                <a:cs typeface="Helvetica Light" charset="0"/>
              </a:rPr>
              <a:t>Derivatives products of a non-structured/exotic nature</a:t>
            </a:r>
          </a:p>
          <a:p>
            <a:pPr marL="285750" indent="-285750">
              <a:buFont typeface="Arial" panose="020B0604020202020204" pitchFamily="34" charset="0"/>
              <a:buChar char="•"/>
              <a:defRPr/>
            </a:pPr>
            <a:r>
              <a:rPr lang="en-GB" sz="1400" b="1" kern="0">
                <a:solidFill>
                  <a:srgbClr val="32007C"/>
                </a:solidFill>
                <a:latin typeface="Calibri Light" panose="020F0302020204030204"/>
                <a:ea typeface="Helvetica Light" charset="0"/>
                <a:cs typeface="Helvetica Light" charset="0"/>
              </a:rPr>
              <a:t>Structured Products- </a:t>
            </a:r>
            <a:r>
              <a:rPr lang="en-GB" sz="1400" i="1" kern="0">
                <a:solidFill>
                  <a:srgbClr val="32007C"/>
                </a:solidFill>
                <a:latin typeface="Calibri Light" panose="020F0302020204030204"/>
                <a:ea typeface="Helvetica Light" charset="0"/>
                <a:cs typeface="Helvetica Light" charset="0"/>
              </a:rPr>
              <a:t>Structured &amp; Exotic Derivatives</a:t>
            </a:r>
          </a:p>
          <a:p>
            <a:pPr marL="285750" indent="-285750">
              <a:buFont typeface="Arial" panose="020B0604020202020204" pitchFamily="34" charset="0"/>
              <a:buChar char="•"/>
              <a:defRPr/>
            </a:pPr>
            <a:r>
              <a:rPr lang="en-GB" sz="1400" b="1" kern="0">
                <a:solidFill>
                  <a:srgbClr val="32007C"/>
                </a:solidFill>
                <a:latin typeface="Calibri Light" panose="020F0302020204030204"/>
                <a:ea typeface="Helvetica Light" charset="0"/>
                <a:cs typeface="Helvetica Light" charset="0"/>
              </a:rPr>
              <a:t>DRR Peer Review- </a:t>
            </a:r>
            <a:r>
              <a:rPr lang="en-GB" sz="1400" i="1" kern="0">
                <a:solidFill>
                  <a:srgbClr val="32007C"/>
                </a:solidFill>
                <a:latin typeface="Calibri Light" panose="020F0302020204030204"/>
                <a:ea typeface="Helvetica Light" charset="0"/>
                <a:cs typeface="Helvetica Light" charset="0"/>
              </a:rPr>
              <a:t>Digital Regulatory Reporting (Derivatives regimes)</a:t>
            </a:r>
          </a:p>
          <a:p>
            <a:pPr marL="285750" indent="-285750">
              <a:buFont typeface="Arial" panose="020B0604020202020204" pitchFamily="34" charset="0"/>
              <a:buChar char="•"/>
              <a:defRPr/>
            </a:pPr>
            <a:r>
              <a:rPr lang="en-GB" sz="1400" b="1" kern="0">
                <a:solidFill>
                  <a:srgbClr val="32007C"/>
                </a:solidFill>
                <a:latin typeface="Calibri Light" panose="020F0302020204030204"/>
                <a:ea typeface="Helvetica Light" charset="0"/>
                <a:cs typeface="Helvetica Light" charset="0"/>
              </a:rPr>
              <a:t>ISDA Legal Agreements</a:t>
            </a:r>
            <a:r>
              <a:rPr lang="en-GB" sz="1400" kern="0">
                <a:solidFill>
                  <a:srgbClr val="32007C"/>
                </a:solidFill>
                <a:latin typeface="Calibri Light" panose="020F0302020204030204"/>
                <a:ea typeface="Helvetica Light" charset="0"/>
                <a:cs typeface="Helvetica Light" charset="0"/>
              </a:rPr>
              <a:t>- </a:t>
            </a:r>
            <a:r>
              <a:rPr lang="en-GB" sz="1400" i="1" kern="0">
                <a:solidFill>
                  <a:srgbClr val="32007C"/>
                </a:solidFill>
                <a:latin typeface="Calibri Light" panose="020F0302020204030204"/>
                <a:ea typeface="Helvetica Light" charset="0"/>
                <a:cs typeface="Helvetica Light" charset="0"/>
              </a:rPr>
              <a:t>ISDA Legal Agreement modelling</a:t>
            </a:r>
            <a:endParaRPr lang="en-GB" sz="1400" b="1" kern="0">
              <a:solidFill>
                <a:srgbClr val="32007C"/>
              </a:solidFill>
              <a:latin typeface="Calibri Light" panose="020F0302020204030204"/>
              <a:ea typeface="Helvetica Light" charset="0"/>
              <a:cs typeface="Helvetica Light" charset="0"/>
            </a:endParaRPr>
          </a:p>
        </p:txBody>
      </p:sp>
      <p:sp>
        <p:nvSpPr>
          <p:cNvPr id="36" name="TextBox 39">
            <a:extLst>
              <a:ext uri="{FF2B5EF4-FFF2-40B4-BE49-F238E27FC236}">
                <a16:creationId xmlns:a16="http://schemas.microsoft.com/office/drawing/2014/main" id="{9C5C52D6-1966-3D50-C214-BECCCFAE1001}"/>
              </a:ext>
            </a:extLst>
          </p:cNvPr>
          <p:cNvSpPr txBox="1"/>
          <p:nvPr/>
        </p:nvSpPr>
        <p:spPr>
          <a:xfrm>
            <a:off x="8176644" y="2592386"/>
            <a:ext cx="3069727" cy="9233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Defines and works on items related to technical aspects and architecture e.g. language distributions, packaging, libraries, serialization, reference data architecture, integration with other data standards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Interacts with CRWG like a DWG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a:ea typeface="+mn-ea"/>
                <a:cs typeface="+mn-cs"/>
              </a:rPr>
              <a:t>Monthly, with sub-groups as required</a:t>
            </a:r>
            <a:endParaRPr kumimoji="0" lang="en-CA"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Callout: Up Arrow 36">
            <a:extLst>
              <a:ext uri="{FF2B5EF4-FFF2-40B4-BE49-F238E27FC236}">
                <a16:creationId xmlns:a16="http://schemas.microsoft.com/office/drawing/2014/main" id="{D93A2526-12B4-5771-55F0-AF1251A63323}"/>
              </a:ext>
            </a:extLst>
          </p:cNvPr>
          <p:cNvSpPr/>
          <p:nvPr/>
        </p:nvSpPr>
        <p:spPr>
          <a:xfrm>
            <a:off x="4891993" y="2057403"/>
            <a:ext cx="1607367" cy="923296"/>
          </a:xfrm>
          <a:prstGeom prst="upArrowCallout">
            <a:avLst>
              <a:gd name="adj1" fmla="val 28894"/>
              <a:gd name="adj2" fmla="val 25000"/>
              <a:gd name="adj3" fmla="val 25657"/>
              <a:gd name="adj4" fmla="val 30874"/>
            </a:avLst>
          </a:prstGeom>
          <a:solidFill>
            <a:srgbClr val="4472C4">
              <a:lumMod val="20000"/>
              <a:lumOff val="8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TextBox 39">
            <a:extLst>
              <a:ext uri="{FF2B5EF4-FFF2-40B4-BE49-F238E27FC236}">
                <a16:creationId xmlns:a16="http://schemas.microsoft.com/office/drawing/2014/main" id="{CD6B6DFA-F7EB-D514-AF29-77CC6E921A90}"/>
              </a:ext>
            </a:extLst>
          </p:cNvPr>
          <p:cNvSpPr txBox="1"/>
          <p:nvPr/>
        </p:nvSpPr>
        <p:spPr>
          <a:xfrm>
            <a:off x="4891993" y="2656864"/>
            <a:ext cx="1711982"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latin typeface="Calibri" panose="020F0502020204030204"/>
                <a:ea typeface="+mn-ea"/>
                <a:cs typeface="+mn-cs"/>
              </a:rPr>
              <a:t>Initiative Proposals, Updates, Escalation of Critical Issues</a:t>
            </a:r>
          </a:p>
        </p:txBody>
      </p:sp>
      <p:sp>
        <p:nvSpPr>
          <p:cNvPr id="39" name="Arrow: Down 38">
            <a:extLst>
              <a:ext uri="{FF2B5EF4-FFF2-40B4-BE49-F238E27FC236}">
                <a16:creationId xmlns:a16="http://schemas.microsoft.com/office/drawing/2014/main" id="{852E36D1-7881-F872-BD89-7AFFE825D213}"/>
              </a:ext>
            </a:extLst>
          </p:cNvPr>
          <p:cNvSpPr/>
          <p:nvPr/>
        </p:nvSpPr>
        <p:spPr>
          <a:xfrm rot="2813698">
            <a:off x="4503655" y="1946203"/>
            <a:ext cx="263177" cy="728424"/>
          </a:xfrm>
          <a:prstGeom prst="downArrow">
            <a:avLst/>
          </a:prstGeom>
          <a:solidFill>
            <a:srgbClr val="4472C4">
              <a:lumMod val="20000"/>
              <a:lumOff val="8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Arrow: Down 39">
            <a:extLst>
              <a:ext uri="{FF2B5EF4-FFF2-40B4-BE49-F238E27FC236}">
                <a16:creationId xmlns:a16="http://schemas.microsoft.com/office/drawing/2014/main" id="{56E79827-C1EF-C2ED-E004-C56001518142}"/>
              </a:ext>
            </a:extLst>
          </p:cNvPr>
          <p:cNvSpPr/>
          <p:nvPr/>
        </p:nvSpPr>
        <p:spPr>
          <a:xfrm rot="18673791">
            <a:off x="6497655" y="1951981"/>
            <a:ext cx="263177" cy="763987"/>
          </a:xfrm>
          <a:prstGeom prst="downArrow">
            <a:avLst/>
          </a:prstGeom>
          <a:solidFill>
            <a:srgbClr val="4472C4">
              <a:lumMod val="20000"/>
              <a:lumOff val="8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1" name="TextBox 39">
            <a:extLst>
              <a:ext uri="{FF2B5EF4-FFF2-40B4-BE49-F238E27FC236}">
                <a16:creationId xmlns:a16="http://schemas.microsoft.com/office/drawing/2014/main" id="{DDFFC862-83E5-5250-47C4-000329D1B6DE}"/>
              </a:ext>
            </a:extLst>
          </p:cNvPr>
          <p:cNvSpPr txBox="1"/>
          <p:nvPr/>
        </p:nvSpPr>
        <p:spPr>
          <a:xfrm>
            <a:off x="3596057" y="2234736"/>
            <a:ext cx="98964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latin typeface="Calibri" panose="020F0502020204030204"/>
                <a:ea typeface="+mn-ea"/>
                <a:cs typeface="+mn-cs"/>
              </a:rPr>
              <a:t>Approvals, Direction</a:t>
            </a:r>
          </a:p>
        </p:txBody>
      </p:sp>
      <p:sp>
        <p:nvSpPr>
          <p:cNvPr id="42" name="TextBox 39">
            <a:extLst>
              <a:ext uri="{FF2B5EF4-FFF2-40B4-BE49-F238E27FC236}">
                <a16:creationId xmlns:a16="http://schemas.microsoft.com/office/drawing/2014/main" id="{20C90925-27E7-0018-420C-2B9B1E32B566}"/>
              </a:ext>
            </a:extLst>
          </p:cNvPr>
          <p:cNvSpPr txBox="1"/>
          <p:nvPr/>
        </p:nvSpPr>
        <p:spPr>
          <a:xfrm>
            <a:off x="6693173" y="2223054"/>
            <a:ext cx="98964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latin typeface="Calibri" panose="020F0502020204030204"/>
                <a:ea typeface="+mn-ea"/>
                <a:cs typeface="+mn-cs"/>
              </a:rPr>
              <a:t>Approvals, Direction</a:t>
            </a:r>
          </a:p>
        </p:txBody>
      </p:sp>
      <p:sp>
        <p:nvSpPr>
          <p:cNvPr id="43" name="Arrow: Bent 42">
            <a:extLst>
              <a:ext uri="{FF2B5EF4-FFF2-40B4-BE49-F238E27FC236}">
                <a16:creationId xmlns:a16="http://schemas.microsoft.com/office/drawing/2014/main" id="{BEDA2E10-3818-0958-23FA-C88BAC12902A}"/>
              </a:ext>
            </a:extLst>
          </p:cNvPr>
          <p:cNvSpPr/>
          <p:nvPr/>
        </p:nvSpPr>
        <p:spPr>
          <a:xfrm flipH="1">
            <a:off x="4803700" y="3156790"/>
            <a:ext cx="647856" cy="546616"/>
          </a:xfrm>
          <a:prstGeom prst="bentArrow">
            <a:avLst>
              <a:gd name="adj1" fmla="val 12722"/>
              <a:gd name="adj2" fmla="val 25000"/>
              <a:gd name="adj3" fmla="val 25000"/>
              <a:gd name="adj4" fmla="val 46820"/>
            </a:avLst>
          </a:prstGeom>
          <a:solidFill>
            <a:srgbClr val="4472C4">
              <a:lumMod val="20000"/>
              <a:lumOff val="8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4" name="TextBox 39">
            <a:extLst>
              <a:ext uri="{FF2B5EF4-FFF2-40B4-BE49-F238E27FC236}">
                <a16:creationId xmlns:a16="http://schemas.microsoft.com/office/drawing/2014/main" id="{ABECC0C4-F24D-AC68-A3A0-872ACB0418AD}"/>
              </a:ext>
            </a:extLst>
          </p:cNvPr>
          <p:cNvSpPr txBox="1"/>
          <p:nvPr/>
        </p:nvSpPr>
        <p:spPr>
          <a:xfrm>
            <a:off x="5965247" y="3388150"/>
            <a:ext cx="989645" cy="5078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latin typeface="Calibri" panose="020F0502020204030204"/>
                <a:ea typeface="+mn-ea"/>
                <a:cs typeface="+mn-cs"/>
              </a:rPr>
              <a:t>Technical Issue guidance requests</a:t>
            </a:r>
          </a:p>
        </p:txBody>
      </p:sp>
      <p:sp>
        <p:nvSpPr>
          <p:cNvPr id="45" name="Arrow: Bent 44">
            <a:extLst>
              <a:ext uri="{FF2B5EF4-FFF2-40B4-BE49-F238E27FC236}">
                <a16:creationId xmlns:a16="http://schemas.microsoft.com/office/drawing/2014/main" id="{93E82D09-4655-5848-AC84-94EC921CFFB9}"/>
              </a:ext>
            </a:extLst>
          </p:cNvPr>
          <p:cNvSpPr/>
          <p:nvPr/>
        </p:nvSpPr>
        <p:spPr>
          <a:xfrm flipV="1">
            <a:off x="3546399" y="3632850"/>
            <a:ext cx="748029" cy="546616"/>
          </a:xfrm>
          <a:prstGeom prst="bentArrow">
            <a:avLst>
              <a:gd name="adj1" fmla="val 12722"/>
              <a:gd name="adj2" fmla="val 25000"/>
              <a:gd name="adj3" fmla="val 25000"/>
              <a:gd name="adj4" fmla="val 46820"/>
            </a:avLst>
          </a:prstGeom>
          <a:solidFill>
            <a:srgbClr val="4472C4">
              <a:lumMod val="20000"/>
              <a:lumOff val="8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6" name="Arrow: Down 45">
            <a:extLst>
              <a:ext uri="{FF2B5EF4-FFF2-40B4-BE49-F238E27FC236}">
                <a16:creationId xmlns:a16="http://schemas.microsoft.com/office/drawing/2014/main" id="{19ED80AD-4E7D-45F6-D119-8B9696885CB4}"/>
              </a:ext>
            </a:extLst>
          </p:cNvPr>
          <p:cNvSpPr/>
          <p:nvPr/>
        </p:nvSpPr>
        <p:spPr>
          <a:xfrm rot="2697652">
            <a:off x="7056407" y="3413174"/>
            <a:ext cx="263177" cy="439352"/>
          </a:xfrm>
          <a:prstGeom prst="downArrow">
            <a:avLst/>
          </a:prstGeom>
          <a:solidFill>
            <a:srgbClr val="4472C4">
              <a:lumMod val="20000"/>
              <a:lumOff val="8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7" name="TextBox 39">
            <a:extLst>
              <a:ext uri="{FF2B5EF4-FFF2-40B4-BE49-F238E27FC236}">
                <a16:creationId xmlns:a16="http://schemas.microsoft.com/office/drawing/2014/main" id="{6BF4CE38-D71F-2F41-065B-07451F861AB1}"/>
              </a:ext>
            </a:extLst>
          </p:cNvPr>
          <p:cNvSpPr txBox="1"/>
          <p:nvPr/>
        </p:nvSpPr>
        <p:spPr>
          <a:xfrm>
            <a:off x="7187995" y="3483052"/>
            <a:ext cx="98964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latin typeface="Calibri" panose="020F0502020204030204"/>
                <a:ea typeface="+mn-ea"/>
                <a:cs typeface="+mn-cs"/>
              </a:rPr>
              <a:t>Guidance, Solutions</a:t>
            </a:r>
          </a:p>
        </p:txBody>
      </p:sp>
      <p:sp>
        <p:nvSpPr>
          <p:cNvPr id="48" name="TextBox 39">
            <a:extLst>
              <a:ext uri="{FF2B5EF4-FFF2-40B4-BE49-F238E27FC236}">
                <a16:creationId xmlns:a16="http://schemas.microsoft.com/office/drawing/2014/main" id="{AF7B3BEA-CC04-E76F-72F2-26075FF375F3}"/>
              </a:ext>
            </a:extLst>
          </p:cNvPr>
          <p:cNvSpPr txBox="1"/>
          <p:nvPr/>
        </p:nvSpPr>
        <p:spPr>
          <a:xfrm>
            <a:off x="4127193" y="3408696"/>
            <a:ext cx="1299730" cy="5078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latin typeface="Calibri" panose="020F0502020204030204"/>
                <a:ea typeface="+mn-ea"/>
                <a:cs typeface="+mn-cs"/>
              </a:rPr>
              <a:t>Dispute Escalation, Design guidance requests</a:t>
            </a:r>
          </a:p>
        </p:txBody>
      </p:sp>
      <p:sp>
        <p:nvSpPr>
          <p:cNvPr id="49" name="TextBox 39">
            <a:extLst>
              <a:ext uri="{FF2B5EF4-FFF2-40B4-BE49-F238E27FC236}">
                <a16:creationId xmlns:a16="http://schemas.microsoft.com/office/drawing/2014/main" id="{A81C1362-180C-46B0-E3D3-85B757B60A01}"/>
              </a:ext>
            </a:extLst>
          </p:cNvPr>
          <p:cNvSpPr txBox="1"/>
          <p:nvPr/>
        </p:nvSpPr>
        <p:spPr>
          <a:xfrm>
            <a:off x="2426687" y="3863372"/>
            <a:ext cx="129867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prstClr val="black"/>
                </a:solidFill>
                <a:effectLst/>
                <a:uLnTx/>
                <a:uFillTx/>
                <a:latin typeface="Calibri" panose="020F0502020204030204"/>
                <a:ea typeface="+mn-ea"/>
                <a:cs typeface="+mn-cs"/>
              </a:rPr>
              <a:t>Guidance, Feedback, Re-work requests</a:t>
            </a:r>
          </a:p>
        </p:txBody>
      </p:sp>
      <p:sp>
        <p:nvSpPr>
          <p:cNvPr id="50" name="Arrow: Bent 49">
            <a:extLst>
              <a:ext uri="{FF2B5EF4-FFF2-40B4-BE49-F238E27FC236}">
                <a16:creationId xmlns:a16="http://schemas.microsoft.com/office/drawing/2014/main" id="{63E64691-BBA3-B630-583C-F02C25D3054C}"/>
              </a:ext>
            </a:extLst>
          </p:cNvPr>
          <p:cNvSpPr/>
          <p:nvPr/>
        </p:nvSpPr>
        <p:spPr>
          <a:xfrm>
            <a:off x="5877153" y="3159096"/>
            <a:ext cx="658859" cy="546616"/>
          </a:xfrm>
          <a:prstGeom prst="bentArrow">
            <a:avLst>
              <a:gd name="adj1" fmla="val 12722"/>
              <a:gd name="adj2" fmla="val 25000"/>
              <a:gd name="adj3" fmla="val 25000"/>
              <a:gd name="adj4" fmla="val 46820"/>
            </a:avLst>
          </a:prstGeom>
          <a:solidFill>
            <a:srgbClr val="4472C4">
              <a:lumMod val="20000"/>
              <a:lumOff val="8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FCF0F93-BC26-0E0A-A247-D1272F8DC0C5}"/>
              </a:ext>
            </a:extLst>
          </p:cNvPr>
          <p:cNvSpPr txBox="1"/>
          <p:nvPr/>
        </p:nvSpPr>
        <p:spPr>
          <a:xfrm>
            <a:off x="9619479" y="5316533"/>
            <a:ext cx="1399425" cy="954107"/>
          </a:xfrm>
          <a:prstGeom prst="rect">
            <a:avLst/>
          </a:prstGeom>
          <a:noFill/>
        </p:spPr>
        <p:txBody>
          <a:bodyPr wrap="square">
            <a:spAutoFit/>
          </a:bodyPr>
          <a:lstStyle/>
          <a:p>
            <a:pPr>
              <a:defRPr/>
            </a:pPr>
            <a:r>
              <a:rPr lang="en-GB" sz="1400" b="1" kern="0">
                <a:solidFill>
                  <a:srgbClr val="32007C"/>
                </a:solidFill>
                <a:latin typeface="Calibri Light" panose="020F0302020204030204"/>
                <a:ea typeface="Lato" panose="020F0502020204030203" pitchFamily="34" charset="0"/>
                <a:cs typeface="Helvetica" panose="020B0604020202020204" pitchFamily="34" charset="0"/>
                <a:hlinkClick r:id="rId4"/>
              </a:rPr>
              <a:t>FINOS groups</a:t>
            </a:r>
            <a:endParaRPr lang="en-GB" sz="1400" b="1" kern="0">
              <a:solidFill>
                <a:srgbClr val="32007C"/>
              </a:solidFill>
              <a:latin typeface="Calibri Light" panose="020F0302020204030204"/>
              <a:ea typeface="Lato" panose="020F0502020204030203" pitchFamily="34" charset="0"/>
              <a:cs typeface="Helvetica" panose="020B0604020202020204" pitchFamily="34" charset="0"/>
            </a:endParaRPr>
          </a:p>
          <a:p>
            <a:pPr>
              <a:defRPr/>
            </a:pPr>
            <a:r>
              <a:rPr lang="en-GB" sz="1400" b="1" kern="0">
                <a:solidFill>
                  <a:srgbClr val="32007C"/>
                </a:solidFill>
                <a:latin typeface="Calibri Light" panose="020F0302020204030204"/>
                <a:ea typeface="Lato" panose="020F0502020204030203" pitchFamily="34" charset="0"/>
                <a:cs typeface="Helvetica" panose="020B0604020202020204" pitchFamily="34" charset="0"/>
                <a:hlinkClick r:id="rId5"/>
              </a:rPr>
              <a:t>ISDA WGs</a:t>
            </a:r>
            <a:endParaRPr lang="en-GB" sz="1400" b="1" kern="0">
              <a:solidFill>
                <a:srgbClr val="32007C"/>
              </a:solidFill>
              <a:latin typeface="Calibri Light" panose="020F0302020204030204"/>
              <a:ea typeface="Lato" panose="020F0502020204030203" pitchFamily="34" charset="0"/>
              <a:cs typeface="Helvetica" panose="020B0604020202020204" pitchFamily="34" charset="0"/>
            </a:endParaRPr>
          </a:p>
          <a:p>
            <a:pPr>
              <a:defRPr/>
            </a:pPr>
            <a:r>
              <a:rPr lang="en-GB" sz="1400" b="1" kern="0">
                <a:solidFill>
                  <a:srgbClr val="32007C"/>
                </a:solidFill>
                <a:latin typeface="Calibri Light" panose="020F0302020204030204"/>
                <a:ea typeface="Lato" panose="020F0502020204030203" pitchFamily="34" charset="0"/>
                <a:cs typeface="Helvetica" panose="020B0604020202020204" pitchFamily="34" charset="0"/>
                <a:hlinkClick r:id="rId6"/>
              </a:rPr>
              <a:t>ISLA WGs</a:t>
            </a:r>
            <a:endParaRPr lang="en-GB" sz="1400" b="1" kern="0">
              <a:solidFill>
                <a:srgbClr val="32007C"/>
              </a:solidFill>
              <a:latin typeface="Calibri Light" panose="020F0302020204030204"/>
              <a:ea typeface="Lato" panose="020F0502020204030203" pitchFamily="34" charset="0"/>
              <a:cs typeface="Helvetica" panose="020B0604020202020204" pitchFamily="34" charset="0"/>
            </a:endParaRPr>
          </a:p>
          <a:p>
            <a:pPr>
              <a:defRPr/>
            </a:pPr>
            <a:r>
              <a:rPr lang="en-GB" sz="1400" b="1" kern="0">
                <a:solidFill>
                  <a:srgbClr val="32007C"/>
                </a:solidFill>
                <a:latin typeface="Calibri Light" panose="020F0302020204030204"/>
                <a:ea typeface="Lato" panose="020F0502020204030203" pitchFamily="34" charset="0"/>
                <a:cs typeface="Helvetica" panose="020B0604020202020204" pitchFamily="34" charset="0"/>
                <a:hlinkClick r:id="rId7"/>
              </a:rPr>
              <a:t>ICMA WGs</a:t>
            </a:r>
            <a:endParaRPr lang="en-GB" sz="1400" b="1" kern="0">
              <a:solidFill>
                <a:srgbClr val="32007C"/>
              </a:solidFill>
              <a:latin typeface="Calibri Light" panose="020F0302020204030204"/>
              <a:ea typeface="Lato" panose="020F0502020204030203" pitchFamily="34" charset="0"/>
              <a:cs typeface="Helvetica" panose="020B0604020202020204" pitchFamily="34" charset="0"/>
            </a:endParaRPr>
          </a:p>
        </p:txBody>
      </p:sp>
    </p:spTree>
    <p:extLst>
      <p:ext uri="{BB962C8B-B14F-4D97-AF65-F5344CB8AC3E}">
        <p14:creationId xmlns:p14="http://schemas.microsoft.com/office/powerpoint/2010/main" val="281953331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C68BE10-0978-EEE4-B48F-66B0645DBEB4}"/>
              </a:ext>
            </a:extLst>
          </p:cNvPr>
          <p:cNvSpPr txBox="1">
            <a:spLocks/>
          </p:cNvSpPr>
          <p:nvPr/>
        </p:nvSpPr>
        <p:spPr>
          <a:xfrm>
            <a:off x="617971" y="98455"/>
            <a:ext cx="7865834" cy="87119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chemeClr val="bg1"/>
                </a:solidFill>
                <a:latin typeface="Calibri"/>
                <a:ea typeface="Lato" panose="020F0502020204030203" pitchFamily="34" charset="0"/>
                <a:cs typeface="Calibri"/>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32007C"/>
                </a:solidFill>
                <a:effectLst/>
                <a:uLnTx/>
                <a:uFillTx/>
                <a:latin typeface="Helvetica" panose="020B0604020202020204" pitchFamily="34" charset="0"/>
                <a:ea typeface="Lato" panose="020F0502020204030203" pitchFamily="34" charset="0"/>
                <a:cs typeface="Helvetica" panose="020B0604020202020204" pitchFamily="34" charset="0"/>
              </a:rPr>
              <a:t>How to get involved</a:t>
            </a:r>
          </a:p>
        </p:txBody>
      </p:sp>
      <p:cxnSp>
        <p:nvCxnSpPr>
          <p:cNvPr id="7" name="Straight Connector 6">
            <a:extLst>
              <a:ext uri="{FF2B5EF4-FFF2-40B4-BE49-F238E27FC236}">
                <a16:creationId xmlns:a16="http://schemas.microsoft.com/office/drawing/2014/main" id="{E3FACFD9-E389-B754-208F-A8FE492BD573}"/>
              </a:ext>
            </a:extLst>
          </p:cNvPr>
          <p:cNvCxnSpPr>
            <a:cxnSpLocks/>
          </p:cNvCxnSpPr>
          <p:nvPr/>
        </p:nvCxnSpPr>
        <p:spPr>
          <a:xfrm>
            <a:off x="0" y="1026000"/>
            <a:ext cx="12193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9266" y="143563"/>
            <a:ext cx="1484097" cy="768773"/>
          </a:xfrm>
          <a:prstGeom prst="rect">
            <a:avLst/>
          </a:prstGeom>
        </p:spPr>
      </p:pic>
      <p:sp>
        <p:nvSpPr>
          <p:cNvPr id="35" name="TextBox 34">
            <a:extLst>
              <a:ext uri="{FF2B5EF4-FFF2-40B4-BE49-F238E27FC236}">
                <a16:creationId xmlns:a16="http://schemas.microsoft.com/office/drawing/2014/main" id="{BFF6C8F7-90C1-0680-160E-44562326B2F3}"/>
              </a:ext>
            </a:extLst>
          </p:cNvPr>
          <p:cNvSpPr txBox="1"/>
          <p:nvPr/>
        </p:nvSpPr>
        <p:spPr>
          <a:xfrm>
            <a:off x="805701" y="1335623"/>
            <a:ext cx="9959629" cy="307777"/>
          </a:xfrm>
          <a:prstGeom prst="rect">
            <a:avLst/>
          </a:prstGeom>
          <a:noFill/>
        </p:spPr>
        <p:txBody>
          <a:bodyPr wrap="square">
            <a:spAutoFit/>
          </a:bodyPr>
          <a:lstStyle/>
          <a:p>
            <a:pPr>
              <a:defRPr/>
            </a:pPr>
            <a:r>
              <a:rPr lang="en-GB" sz="1400" b="1" kern="0">
                <a:solidFill>
                  <a:srgbClr val="32007C"/>
                </a:solidFill>
                <a:latin typeface="Calibri Light" panose="020F0302020204030204"/>
                <a:ea typeface="Lato" panose="020F0502020204030203" pitchFamily="34" charset="0"/>
                <a:cs typeface="Helvetica" panose="020B0604020202020204" pitchFamily="34" charset="0"/>
              </a:rPr>
              <a:t>Info hub for FINOS including user documentation downloadable distributions: </a:t>
            </a:r>
            <a:r>
              <a:rPr lang="en-US" sz="1400">
                <a:hlinkClick r:id="rId4"/>
              </a:rPr>
              <a:t>Homepage | Common Domain Model (finos.org)</a:t>
            </a:r>
            <a:endParaRPr lang="en-GB" sz="1400" b="1" kern="0">
              <a:solidFill>
                <a:srgbClr val="32007C"/>
              </a:solidFill>
              <a:latin typeface="Calibri Light" panose="020F0302020204030204"/>
              <a:ea typeface="Helvetica Light" charset="0"/>
              <a:cs typeface="Helvetica Light" charset="0"/>
            </a:endParaRPr>
          </a:p>
        </p:txBody>
      </p:sp>
      <p:pic>
        <p:nvPicPr>
          <p:cNvPr id="52" name="Picture 51">
            <a:extLst>
              <a:ext uri="{FF2B5EF4-FFF2-40B4-BE49-F238E27FC236}">
                <a16:creationId xmlns:a16="http://schemas.microsoft.com/office/drawing/2014/main" id="{15BFFD90-8C87-60D5-559D-C35A8185F97C}"/>
              </a:ext>
            </a:extLst>
          </p:cNvPr>
          <p:cNvPicPr>
            <a:picLocks noChangeAspect="1"/>
          </p:cNvPicPr>
          <p:nvPr/>
        </p:nvPicPr>
        <p:blipFill>
          <a:blip r:embed="rId5"/>
          <a:stretch>
            <a:fillRect/>
          </a:stretch>
        </p:blipFill>
        <p:spPr>
          <a:xfrm>
            <a:off x="536761" y="2159214"/>
            <a:ext cx="5991313" cy="3941909"/>
          </a:xfrm>
          <a:prstGeom prst="rect">
            <a:avLst/>
          </a:prstGeom>
        </p:spPr>
      </p:pic>
      <p:pic>
        <p:nvPicPr>
          <p:cNvPr id="54" name="Picture 53">
            <a:extLst>
              <a:ext uri="{FF2B5EF4-FFF2-40B4-BE49-F238E27FC236}">
                <a16:creationId xmlns:a16="http://schemas.microsoft.com/office/drawing/2014/main" id="{BBD71429-FD8A-CF3A-AA6E-4329549AD7E7}"/>
              </a:ext>
            </a:extLst>
          </p:cNvPr>
          <p:cNvPicPr>
            <a:picLocks noChangeAspect="1"/>
          </p:cNvPicPr>
          <p:nvPr/>
        </p:nvPicPr>
        <p:blipFill>
          <a:blip r:embed="rId6"/>
          <a:stretch>
            <a:fillRect/>
          </a:stretch>
        </p:blipFill>
        <p:spPr>
          <a:xfrm>
            <a:off x="4035361" y="2088136"/>
            <a:ext cx="4448444" cy="2681727"/>
          </a:xfrm>
          <a:prstGeom prst="rect">
            <a:avLst/>
          </a:prstGeom>
        </p:spPr>
      </p:pic>
      <p:pic>
        <p:nvPicPr>
          <p:cNvPr id="56" name="Picture 55">
            <a:extLst>
              <a:ext uri="{FF2B5EF4-FFF2-40B4-BE49-F238E27FC236}">
                <a16:creationId xmlns:a16="http://schemas.microsoft.com/office/drawing/2014/main" id="{D91BE3FD-2102-8BB1-4BCB-262100531F3E}"/>
              </a:ext>
            </a:extLst>
          </p:cNvPr>
          <p:cNvPicPr>
            <a:picLocks noChangeAspect="1"/>
          </p:cNvPicPr>
          <p:nvPr/>
        </p:nvPicPr>
        <p:blipFill>
          <a:blip r:embed="rId7"/>
          <a:stretch>
            <a:fillRect/>
          </a:stretch>
        </p:blipFill>
        <p:spPr>
          <a:xfrm>
            <a:off x="7544500" y="4240127"/>
            <a:ext cx="3517970" cy="2120794"/>
          </a:xfrm>
          <a:prstGeom prst="rect">
            <a:avLst/>
          </a:prstGeom>
        </p:spPr>
      </p:pic>
    </p:spTree>
    <p:extLst>
      <p:ext uri="{BB962C8B-B14F-4D97-AF65-F5344CB8AC3E}">
        <p14:creationId xmlns:p14="http://schemas.microsoft.com/office/powerpoint/2010/main" val="234990822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Logo&#10;&#10;Description automatically generated">
            <a:extLst>
              <a:ext uri="{FF2B5EF4-FFF2-40B4-BE49-F238E27FC236}">
                <a16:creationId xmlns:a16="http://schemas.microsoft.com/office/drawing/2014/main" id="{8F44B99B-3AF6-ADEE-3D89-76F7F5FEF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8841" y="1210038"/>
            <a:ext cx="3252424" cy="1684779"/>
          </a:xfrm>
          <a:prstGeom prst="rect">
            <a:avLst/>
          </a:prstGeom>
        </p:spPr>
      </p:pic>
      <p:pic>
        <p:nvPicPr>
          <p:cNvPr id="2" name="Picture 1">
            <a:hlinkClick r:id="rId4"/>
            <a:extLst>
              <a:ext uri="{FF2B5EF4-FFF2-40B4-BE49-F238E27FC236}">
                <a16:creationId xmlns:a16="http://schemas.microsoft.com/office/drawing/2014/main" id="{169FDA1B-2C94-7513-5ED3-82DF76253719}"/>
              </a:ext>
            </a:extLst>
          </p:cNvPr>
          <p:cNvPicPr>
            <a:picLocks noChangeAspect="1"/>
          </p:cNvPicPr>
          <p:nvPr/>
        </p:nvPicPr>
        <p:blipFill>
          <a:blip r:embed="rId5"/>
          <a:stretch>
            <a:fillRect/>
          </a:stretch>
        </p:blipFill>
        <p:spPr>
          <a:xfrm>
            <a:off x="2429416" y="4850121"/>
            <a:ext cx="2207535" cy="542593"/>
          </a:xfrm>
          <a:prstGeom prst="rect">
            <a:avLst/>
          </a:prstGeom>
        </p:spPr>
      </p:pic>
      <p:pic>
        <p:nvPicPr>
          <p:cNvPr id="3" name="Picture 2">
            <a:hlinkClick r:id="rId6"/>
            <a:extLst>
              <a:ext uri="{FF2B5EF4-FFF2-40B4-BE49-F238E27FC236}">
                <a16:creationId xmlns:a16="http://schemas.microsoft.com/office/drawing/2014/main" id="{2ED8307D-8D5F-D5CC-0C4F-6A4C8824D8C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00222" y="4243606"/>
            <a:ext cx="2867025" cy="15906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picture containing text, clock&#10;&#10;Description automatically generated">
            <a:hlinkClick r:id="rId8"/>
            <a:extLst>
              <a:ext uri="{FF2B5EF4-FFF2-40B4-BE49-F238E27FC236}">
                <a16:creationId xmlns:a16="http://schemas.microsoft.com/office/drawing/2014/main" id="{EB20D6F2-60C4-96EC-DFCC-43CFEE1D706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357905" y="4853770"/>
            <a:ext cx="3448650" cy="535294"/>
          </a:xfrm>
          <a:prstGeom prst="rect">
            <a:avLst/>
          </a:prstGeom>
        </p:spPr>
      </p:pic>
      <p:sp>
        <p:nvSpPr>
          <p:cNvPr id="6" name="TextBox 5">
            <a:extLst>
              <a:ext uri="{FF2B5EF4-FFF2-40B4-BE49-F238E27FC236}">
                <a16:creationId xmlns:a16="http://schemas.microsoft.com/office/drawing/2014/main" id="{AAE965CC-7A9F-2933-2C9F-4C632AA51F6A}"/>
              </a:ext>
            </a:extLst>
          </p:cNvPr>
          <p:cNvSpPr txBox="1"/>
          <p:nvPr/>
        </p:nvSpPr>
        <p:spPr>
          <a:xfrm>
            <a:off x="390617" y="3844599"/>
            <a:ext cx="3249228" cy="276999"/>
          </a:xfrm>
          <a:prstGeom prst="rect">
            <a:avLst/>
          </a:prstGeom>
          <a:noFill/>
        </p:spPr>
        <p:txBody>
          <a:bodyPr wrap="square" rtlCol="0">
            <a:spAutoFit/>
          </a:bodyPr>
          <a:lstStyle/>
          <a:p>
            <a:r>
              <a:rPr lang="en-GB" sz="1200">
                <a:solidFill>
                  <a:srgbClr val="32007C"/>
                </a:solidFill>
                <a:latin typeface="Daytona Condensed" panose="020B0506030503040204" pitchFamily="34" charset="0"/>
              </a:rPr>
              <a:t>The Common Domain Model is brought to you by: </a:t>
            </a:r>
          </a:p>
        </p:txBody>
      </p:sp>
      <p:pic>
        <p:nvPicPr>
          <p:cNvPr id="8" name="Picture 2" descr="About Us">
            <a:extLst>
              <a:ext uri="{FF2B5EF4-FFF2-40B4-BE49-F238E27FC236}">
                <a16:creationId xmlns:a16="http://schemas.microsoft.com/office/drawing/2014/main" id="{EDD80BDE-F109-167A-C802-CB1242DE057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58" y="4469438"/>
            <a:ext cx="2770806" cy="1450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073324"/>
      </p:ext>
    </p:extLst>
  </p:cSld>
  <p:clrMapOvr>
    <a:masterClrMapping/>
  </p:clrMapOvr>
  <p:transition/>
</p:sld>
</file>

<file path=ppt/theme/theme1.xml><?xml version="1.0" encoding="utf-8"?>
<a:theme xmlns:a="http://schemas.openxmlformats.org/drawingml/2006/main" name="Cov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aster pag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Full imag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Master pag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Master pag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Master pag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5_Master pag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6350">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6_Master pag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1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4_ISLA 2020">
  <a:themeElements>
    <a:clrScheme name="Custom 1">
      <a:dk1>
        <a:srgbClr val="58595B"/>
      </a:dk1>
      <a:lt1>
        <a:sysClr val="window" lastClr="FFFFFF"/>
      </a:lt1>
      <a:dk2>
        <a:srgbClr val="58595B"/>
      </a:dk2>
      <a:lt2>
        <a:srgbClr val="E9E9E9"/>
      </a:lt2>
      <a:accent1>
        <a:srgbClr val="00B5E2"/>
      </a:accent1>
      <a:accent2>
        <a:srgbClr val="32007C"/>
      </a:accent2>
      <a:accent3>
        <a:srgbClr val="58595B"/>
      </a:accent3>
      <a:accent4>
        <a:srgbClr val="58595B"/>
      </a:accent4>
      <a:accent5>
        <a:srgbClr val="E9E9E9"/>
      </a:accent5>
      <a:accent6>
        <a:srgbClr val="32007C"/>
      </a:accent6>
      <a:hlink>
        <a:srgbClr val="00B5E2"/>
      </a:hlink>
      <a:folHlink>
        <a:srgbClr val="58595B"/>
      </a:folHlink>
    </a:clrScheme>
    <a:fontScheme name="ISLA PPt">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A__20200103" id="{10A46C1F-4882-4E6C-AC37-B27C6EF3EA52}" vid="{E639938D-7C2D-48ED-8A42-8AA195D0F4F5}"/>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3715467-f67e-43b3-8c17-b71b61c36e05" xsi:nil="true"/>
    <lcf76f155ced4ddcb4097134ff3c332f xmlns="95bab3d5-3d7d-4b8b-95b9-267d06f5cc30">
      <Terms xmlns="http://schemas.microsoft.com/office/infopath/2007/PartnerControls"/>
    </lcf76f155ced4ddcb4097134ff3c332f>
    <SharedWithUsers xmlns="23715467-f67e-43b3-8c17-b71b61c36e05">
      <UserInfo>
        <DisplayName>Lyteck Lynhiavu</DisplayName>
        <AccountId>62</AccountId>
        <AccountType/>
      </UserInfo>
      <UserInfo>
        <DisplayName>Alan Milligan</DisplayName>
        <AccountId>132</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2FC70BD1CF2DD4FAD7A5B9CB4B4A718" ma:contentTypeVersion="17" ma:contentTypeDescription="Create a new document." ma:contentTypeScope="" ma:versionID="d8fe89580a934f62e5ce79e10253eb0b">
  <xsd:schema xmlns:xsd="http://www.w3.org/2001/XMLSchema" xmlns:xs="http://www.w3.org/2001/XMLSchema" xmlns:p="http://schemas.microsoft.com/office/2006/metadata/properties" xmlns:ns2="95bab3d5-3d7d-4b8b-95b9-267d06f5cc30" xmlns:ns3="23715467-f67e-43b3-8c17-b71b61c36e05" targetNamespace="http://schemas.microsoft.com/office/2006/metadata/properties" ma:root="true" ma:fieldsID="012326e495cc13f89114a7c614ecbcaa" ns2:_="" ns3:_="">
    <xsd:import namespace="95bab3d5-3d7d-4b8b-95b9-267d06f5cc30"/>
    <xsd:import namespace="23715467-f67e-43b3-8c17-b71b61c36e0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bab3d5-3d7d-4b8b-95b9-267d06f5cc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445ece8-0e9f-4286-ad44-c4403c44d02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715467-f67e-43b3-8c17-b71b61c36e0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508cfc9-1d82-4e5d-b3b4-085d9f9626ae}" ma:internalName="TaxCatchAll" ma:showField="CatchAllData" ma:web="23715467-f67e-43b3-8c17-b71b61c36e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834EAC-8968-4087-BC34-53DF71B94AC2}">
  <ds:schemaRefs>
    <ds:schemaRef ds:uri="23715467-f67e-43b3-8c17-b71b61c36e05"/>
    <ds:schemaRef ds:uri="95bab3d5-3d7d-4b8b-95b9-267d06f5cc3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9D9522D-8F79-4CE9-BC33-2B9A8B22A4EA}">
  <ds:schemaRefs>
    <ds:schemaRef ds:uri="http://schemas.microsoft.com/sharepoint/v3/contenttype/forms"/>
  </ds:schemaRefs>
</ds:datastoreItem>
</file>

<file path=customXml/itemProps3.xml><?xml version="1.0" encoding="utf-8"?>
<ds:datastoreItem xmlns:ds="http://schemas.openxmlformats.org/officeDocument/2006/customXml" ds:itemID="{8EEB2EE2-34B5-498B-ADA8-CA3C7941ADE7}">
  <ds:schemaRefs>
    <ds:schemaRef ds:uri="23715467-f67e-43b3-8c17-b71b61c36e05"/>
    <ds:schemaRef ds:uri="95bab3d5-3d7d-4b8b-95b9-267d06f5cc3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3137</Words>
  <Application>Microsoft Office PowerPoint</Application>
  <PresentationFormat>Widescreen</PresentationFormat>
  <Paragraphs>516</Paragraphs>
  <Slides>39</Slides>
  <Notes>36</Notes>
  <HiddenSlides>0</HiddenSlides>
  <MMClips>0</MMClips>
  <ScaleCrop>false</ScaleCrop>
  <HeadingPairs>
    <vt:vector size="6" baseType="variant">
      <vt:variant>
        <vt:lpstr>Fonts Used</vt:lpstr>
      </vt:variant>
      <vt:variant>
        <vt:i4>13</vt:i4>
      </vt:variant>
      <vt:variant>
        <vt:lpstr>Theme</vt:lpstr>
      </vt:variant>
      <vt:variant>
        <vt:i4>11</vt:i4>
      </vt:variant>
      <vt:variant>
        <vt:lpstr>Slide Titles</vt:lpstr>
      </vt:variant>
      <vt:variant>
        <vt:i4>39</vt:i4>
      </vt:variant>
    </vt:vector>
  </HeadingPairs>
  <TitlesOfParts>
    <vt:vector size="63" baseType="lpstr">
      <vt:lpstr>AGaramondPro-Bold</vt:lpstr>
      <vt:lpstr>Arial</vt:lpstr>
      <vt:lpstr>Avenir Next Demi Bold</vt:lpstr>
      <vt:lpstr>Calibri</vt:lpstr>
      <vt:lpstr>Calibri Light</vt:lpstr>
      <vt:lpstr>Courier New</vt:lpstr>
      <vt:lpstr>Daytona Condensed</vt:lpstr>
      <vt:lpstr>DIN Condensed</vt:lpstr>
      <vt:lpstr>Helvetica</vt:lpstr>
      <vt:lpstr>Overpass</vt:lpstr>
      <vt:lpstr>Symbol</vt:lpstr>
      <vt:lpstr>Times New Roman</vt:lpstr>
      <vt:lpstr>Wingdings</vt:lpstr>
      <vt:lpstr>Cover</vt:lpstr>
      <vt:lpstr>Master pages</vt:lpstr>
      <vt:lpstr>1_Custom Design</vt:lpstr>
      <vt:lpstr>Full image</vt:lpstr>
      <vt:lpstr>1_Master pages</vt:lpstr>
      <vt:lpstr>2_Master pages</vt:lpstr>
      <vt:lpstr>4_Master pages</vt:lpstr>
      <vt:lpstr>5_Master pages</vt:lpstr>
      <vt:lpstr>6_Master pages</vt:lpstr>
      <vt:lpstr>Office Theme</vt:lpstr>
      <vt:lpstr>4_ISLA 2020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Trade Association 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Nick Sawyer</cp:lastModifiedBy>
  <cp:revision>1</cp:revision>
  <dcterms:created xsi:type="dcterms:W3CDTF">2018-11-30T11:08:58Z</dcterms:created>
  <dcterms:modified xsi:type="dcterms:W3CDTF">2023-11-23T17:20:41Z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465600</vt:r8>
  </property>
  <property fmtid="{D5CDD505-2E9C-101B-9397-08002B2CF9AE}" pid="3" name="MediaServiceImageTags">
    <vt:lpwstr/>
  </property>
  <property fmtid="{D5CDD505-2E9C-101B-9397-08002B2CF9AE}" pid="4" name="ContentTypeId">
    <vt:lpwstr>0x01010072FC70BD1CF2DD4FAD7A5B9CB4B4A718</vt:lpwstr>
  </property>
</Properties>
</file>